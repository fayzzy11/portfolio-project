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0c22981-04a8-a442-46eb-b3461cda09fe}">
          <p14:sldIdLst>
            <p14:sldId id="256"/>
          </p14:sldIdLst>
        </p14:section>
        <p14:section name="Thesis" id="{7ca91419-feb9-78dd-1601-9336c4bb1264}">
          <p14:sldIdLst>
            <p14:sldId id="257"/>
          </p14:sldIdLst>
        </p14:section>
        <p14:section name="Company" id="{4a1d2446-ea12-b5f8-3b19-82bd0ced5842}">
          <p14:sldIdLst>
            <p14:sldId id="258"/>
            <p14:sldId id="259"/>
          </p14:sldIdLst>
        </p14:section>
        <p14:section name="Screen" id="{2107447d-7133-aba0-72be-46e311a7e1a0}">
          <p14:sldIdLst>
            <p14:sldId id="260"/>
            <p14:sldId id="261"/>
          </p14:sldIdLst>
        </p14:section>
        <p14:section name="Financials" id="{a9a5d873-3f3b-f1de-af71-e95ebc862b99}">
          <p14:sldIdLst>
            <p14:sldId id="262"/>
            <p14:sldId id="263"/>
          </p14:sldIdLst>
        </p14:section>
        <p14:section name="Valuation" id="{de6b4af5-2b8b-2848-806b-9d40fd088ca7}">
          <p14:sldIdLst>
            <p14:sldId id="264"/>
          </p14:sldIdLst>
        </p14:section>
        <p14:section name="Catalysts and risks" id="{011a6224-d983-1d2f-f31c-603848bd3c17}">
          <p14:sldIdLst>
            <p14:sldId id="265"/>
            <p14:sldId id="266"/>
          </p14:sldIdLst>
        </p14:section>
        <p14:section name="Sources" id="{d1078f12-ad17-2b74-22af-abaae6e59a1b}">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Ventes TTC par pays, S1 2026 (part du total)</a:t>
            </a:r>
          </a:p>
        </c:rich>
      </c:tx>
      <c:layout/>
      <c:overlay val="0"/>
    </c:title>
    <c:autoTitleDeleted val="0"/>
    <c:plotArea>
      <c:layout/>
      <c:barChart>
        <c:barDir val="bar"/>
        <c:grouping val="clustered"/>
        <c:varyColors val="0"/>
        <c:ser>
          <c:idx val="0"/>
          <c:order val="0"/>
          <c:tx>
            <c:strRef>
              <c:f>Sheet1!$B$1</c:f>
              <c:strCache>
                <c:ptCount val="1"/>
                <c:pt idx="0">
                  <c:v>Ventes TTC par pays, S1 2026</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Sheet1!$A$2:$A$5</c:f>
              <c:multiLvlStrCache>
                <c:ptCount val="4"/>
                <c:lvl>
                  <c:pt idx="0">
                    <c:v>France</c:v>
                  </c:pt>
                  <c:pt idx="1">
                    <c:v>Brésil</c:v>
                  </c:pt>
                  <c:pt idx="2">
                    <c:v>Espagne</c:v>
                  </c:pt>
                  <c:pt idx="3">
                    <c:v>Autres pays</c:v>
                  </c:pt>
                </c:lvl>
              </c:multiLvlStrCache>
            </c:multiLvlStrRef>
          </c:cat>
          <c:val>
            <c:numRef>
              <c:f>Sheet1!$B$2:$B$5</c:f>
              <c:numCache>
                <c:formatCode>General</c:formatCode>
                <c:ptCount val="4"/>
                <c:pt idx="0">
                  <c:v>0.5228310502283104</c:v>
                </c:pt>
                <c:pt idx="1">
                  <c:v>0.23059360730593603</c:v>
                </c:pt>
                <c:pt idx="2">
                  <c:v>0.13013698630136986</c:v>
                </c:pt>
                <c:pt idx="3">
                  <c:v>0.11643835616438354</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Carrefour</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11.79</c:v>
                </c:pt>
                <c:pt idx="1">
                  <c:v>14.49</c:v>
                </c:pt>
                <c:pt idx="2">
                  <c:v>0.97</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14.86</c:v>
                </c:pt>
                <c:pt idx="1">
                  <c:v>17.2</c:v>
                </c:pt>
                <c:pt idx="2">
                  <c:v>3.27</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16.93</c:v>
                </c:pt>
                <c:pt idx="1">
                  <c:v>20.65</c:v>
                </c:pt>
                <c:pt idx="2">
                  <c:v>3.11</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0.980923703015236</c:v>
                </c:pt>
                <c:pt idx="1">
                  <c:v>2.0037165012454765</c:v>
                </c:pt>
                <c:pt idx="2">
                  <c:v>3.4805337388513684</c:v>
                </c:pt>
                <c:pt idx="3">
                  <c:v>4.680754214037913</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Carrefour</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99.59</c:v>
                </c:pt>
                <c:pt idx="2">
                  <c:v>96.4</c:v>
                </c:pt>
                <c:pt idx="3">
                  <c:v>95.75</c:v>
                </c:pt>
                <c:pt idx="4">
                  <c:v>94.02</c:v>
                </c:pt>
                <c:pt idx="5">
                  <c:v>92.33</c:v>
                </c:pt>
                <c:pt idx="6">
                  <c:v>96.58</c:v>
                </c:pt>
                <c:pt idx="7">
                  <c:v>100.21</c:v>
                </c:pt>
                <c:pt idx="8">
                  <c:v>101.95</c:v>
                </c:pt>
                <c:pt idx="9">
                  <c:v>99.65</c:v>
                </c:pt>
                <c:pt idx="10">
                  <c:v>91.57</c:v>
                </c:pt>
                <c:pt idx="11">
                  <c:v>89.92</c:v>
                </c:pt>
                <c:pt idx="12">
                  <c:v>86.73</c:v>
                </c:pt>
                <c:pt idx="13">
                  <c:v>91.63</c:v>
                </c:pt>
                <c:pt idx="14">
                  <c:v>90.54</c:v>
                </c:pt>
                <c:pt idx="15">
                  <c:v>94.52</c:v>
                </c:pt>
                <c:pt idx="16">
                  <c:v>91.36</c:v>
                </c:pt>
                <c:pt idx="17">
                  <c:v>89.98</c:v>
                </c:pt>
                <c:pt idx="18">
                  <c:v>92.31</c:v>
                </c:pt>
                <c:pt idx="19">
                  <c:v>90.98</c:v>
                </c:pt>
                <c:pt idx="20">
                  <c:v>95.05</c:v>
                </c:pt>
                <c:pt idx="21">
                  <c:v>93.57</c:v>
                </c:pt>
                <c:pt idx="22">
                  <c:v>91.24</c:v>
                </c:pt>
                <c:pt idx="23">
                  <c:v>86.32</c:v>
                </c:pt>
                <c:pt idx="24">
                  <c:v>91.86</c:v>
                </c:pt>
                <c:pt idx="25">
                  <c:v>91.92</c:v>
                </c:pt>
                <c:pt idx="26">
                  <c:v>92.25</c:v>
                </c:pt>
                <c:pt idx="27">
                  <c:v>94.96</c:v>
                </c:pt>
                <c:pt idx="28">
                  <c:v>108.23</c:v>
                </c:pt>
                <c:pt idx="29">
                  <c:v>104.16</c:v>
                </c:pt>
                <c:pt idx="30">
                  <c:v>103.54</c:v>
                </c:pt>
                <c:pt idx="31">
                  <c:v>105.37</c:v>
                </c:pt>
                <c:pt idx="32">
                  <c:v>98.88</c:v>
                </c:pt>
                <c:pt idx="33">
                  <c:v>101.06</c:v>
                </c:pt>
                <c:pt idx="34">
                  <c:v>107.19</c:v>
                </c:pt>
                <c:pt idx="35">
                  <c:v>105.78</c:v>
                </c:pt>
                <c:pt idx="36">
                  <c:v>102.74</c:v>
                </c:pt>
                <c:pt idx="37">
                  <c:v>105.69</c:v>
                </c:pt>
                <c:pt idx="38">
                  <c:v>107.46</c:v>
                </c:pt>
                <c:pt idx="39">
                  <c:v>112.03</c:v>
                </c:pt>
                <c:pt idx="40">
                  <c:v>114.09</c:v>
                </c:pt>
                <c:pt idx="41">
                  <c:v>118.93</c:v>
                </c:pt>
                <c:pt idx="42">
                  <c:v>119.04</c:v>
                </c:pt>
                <c:pt idx="43">
                  <c:v>115.8</c:v>
                </c:pt>
                <c:pt idx="44">
                  <c:v>118.87</c:v>
                </c:pt>
                <c:pt idx="45">
                  <c:v>121.4</c:v>
                </c:pt>
                <c:pt idx="46">
                  <c:v>124</c:v>
                </c:pt>
                <c:pt idx="47">
                  <c:v>112.65</c:v>
                </c:pt>
                <c:pt idx="48">
                  <c:v>112.65</c:v>
                </c:pt>
                <c:pt idx="49">
                  <c:v>116.16</c:v>
                </c:pt>
                <c:pt idx="50">
                  <c:v>111.08</c:v>
                </c:pt>
                <c:pt idx="51">
                  <c:v>110.75</c:v>
                </c:pt>
                <c:pt idx="52">
                  <c:v>103.42</c:v>
                </c:pt>
                <c:pt idx="53">
                  <c:v>102.6</c:v>
                </c:pt>
                <c:pt idx="54">
                  <c:v>103.99</c:v>
                </c:pt>
                <c:pt idx="55">
                  <c:v>99.39</c:v>
                </c:pt>
                <c:pt idx="56">
                  <c:v>102.12</c:v>
                </c:pt>
                <c:pt idx="57">
                  <c:v>100.78</c:v>
                </c:pt>
                <c:pt idx="58">
                  <c:v>99.82</c:v>
                </c:pt>
                <c:pt idx="59">
                  <c:v>102.96</c:v>
                </c:pt>
                <c:pt idx="60">
                  <c:v>105.42</c:v>
                </c:pt>
                <c:pt idx="61">
                  <c:v>102.36</c:v>
                </c:pt>
                <c:pt idx="62">
                  <c:v>100.27</c:v>
                </c:pt>
                <c:pt idx="63">
                  <c:v>100.03</c:v>
                </c:pt>
                <c:pt idx="64">
                  <c:v>99.36</c:v>
                </c:pt>
                <c:pt idx="65">
                  <c:v>89.7</c:v>
                </c:pt>
                <c:pt idx="66">
                  <c:v>86.1</c:v>
                </c:pt>
                <c:pt idx="67">
                  <c:v>87.22</c:v>
                </c:pt>
                <c:pt idx="68">
                  <c:v>89.88</c:v>
                </c:pt>
                <c:pt idx="69">
                  <c:v>92.12</c:v>
                </c:pt>
                <c:pt idx="70">
                  <c:v>97.63</c:v>
                </c:pt>
                <c:pt idx="71">
                  <c:v>99.45</c:v>
                </c:pt>
                <c:pt idx="72">
                  <c:v>97.6</c:v>
                </c:pt>
                <c:pt idx="73">
                  <c:v>98.42</c:v>
                </c:pt>
                <c:pt idx="74">
                  <c:v>100.21</c:v>
                </c:pt>
                <c:pt idx="75">
                  <c:v>101.42</c:v>
                </c:pt>
                <c:pt idx="76">
                  <c:v>100.09</c:v>
                </c:pt>
                <c:pt idx="77">
                  <c:v>94.33</c:v>
                </c:pt>
                <c:pt idx="78">
                  <c:v>97.18</c:v>
                </c:pt>
                <c:pt idx="79">
                  <c:v>94.73</c:v>
                </c:pt>
                <c:pt idx="80">
                  <c:v>97</c:v>
                </c:pt>
                <c:pt idx="81">
                  <c:v>100.33</c:v>
                </c:pt>
                <c:pt idx="82">
                  <c:v>105.05</c:v>
                </c:pt>
                <c:pt idx="83">
                  <c:v>106.08</c:v>
                </c:pt>
                <c:pt idx="84">
                  <c:v>105.75</c:v>
                </c:pt>
                <c:pt idx="85">
                  <c:v>98.69</c:v>
                </c:pt>
                <c:pt idx="86">
                  <c:v>109.93</c:v>
                </c:pt>
                <c:pt idx="87">
                  <c:v>110.6</c:v>
                </c:pt>
                <c:pt idx="88">
                  <c:v>109.69</c:v>
                </c:pt>
                <c:pt idx="89">
                  <c:v>111.57</c:v>
                </c:pt>
                <c:pt idx="90">
                  <c:v>104.81</c:v>
                </c:pt>
                <c:pt idx="91">
                  <c:v>105.93</c:v>
                </c:pt>
                <c:pt idx="92">
                  <c:v>112.84</c:v>
                </c:pt>
                <c:pt idx="93">
                  <c:v>112.38</c:v>
                </c:pt>
                <c:pt idx="94">
                  <c:v>113.05</c:v>
                </c:pt>
                <c:pt idx="95">
                  <c:v>111.32</c:v>
                </c:pt>
                <c:pt idx="96">
                  <c:v>114.23</c:v>
                </c:pt>
                <c:pt idx="97">
                  <c:v>107.9</c:v>
                </c:pt>
                <c:pt idx="98">
                  <c:v>110.84</c:v>
                </c:pt>
                <c:pt idx="99">
                  <c:v>107.75</c:v>
                </c:pt>
                <c:pt idx="100">
                  <c:v>106.6</c:v>
                </c:pt>
                <c:pt idx="101">
                  <c:v>104.87</c:v>
                </c:pt>
                <c:pt idx="102">
                  <c:v>102.96</c:v>
                </c:pt>
                <c:pt idx="103">
                  <c:v>102.99</c:v>
                </c:pt>
                <c:pt idx="104">
                  <c:v>102.68</c:v>
                </c:pt>
                <c:pt idx="105">
                  <c:v>108.62</c:v>
                </c:pt>
                <c:pt idx="106">
                  <c:v>105.68</c:v>
                </c:pt>
                <c:pt idx="107">
                  <c:v>107.06</c:v>
                </c:pt>
                <c:pt idx="108">
                  <c:v>110.84</c:v>
                </c:pt>
                <c:pt idx="109">
                  <c:v>114.32</c:v>
                </c:pt>
                <c:pt idx="110">
                  <c:v>113.66</c:v>
                </c:pt>
                <c:pt idx="111">
                  <c:v>113.41</c:v>
                </c:pt>
                <c:pt idx="112">
                  <c:v>113.38</c:v>
                </c:pt>
                <c:pt idx="113">
                  <c:v>113.97</c:v>
                </c:pt>
                <c:pt idx="114">
                  <c:v>108.18</c:v>
                </c:pt>
                <c:pt idx="115">
                  <c:v>106.31</c:v>
                </c:pt>
                <c:pt idx="116">
                  <c:v>106.15</c:v>
                </c:pt>
                <c:pt idx="117">
                  <c:v>102.89</c:v>
                </c:pt>
                <c:pt idx="118">
                  <c:v>101.93</c:v>
                </c:pt>
                <c:pt idx="119">
                  <c:v>101.21</c:v>
                </c:pt>
                <c:pt idx="120">
                  <c:v>98.76</c:v>
                </c:pt>
                <c:pt idx="121">
                  <c:v>97.51</c:v>
                </c:pt>
                <c:pt idx="122">
                  <c:v>102.96</c:v>
                </c:pt>
                <c:pt idx="123">
                  <c:v>107.21</c:v>
                </c:pt>
                <c:pt idx="124">
                  <c:v>107.06</c:v>
                </c:pt>
                <c:pt idx="125">
                  <c:v>106.49</c:v>
                </c:pt>
                <c:pt idx="126">
                  <c:v>108.68</c:v>
                </c:pt>
                <c:pt idx="127">
                  <c:v>108.25</c:v>
                </c:pt>
                <c:pt idx="128">
                  <c:v>107.59</c:v>
                </c:pt>
                <c:pt idx="129">
                  <c:v>101.93</c:v>
                </c:pt>
                <c:pt idx="130">
                  <c:v>104.02</c:v>
                </c:pt>
                <c:pt idx="131">
                  <c:v>103.68</c:v>
                </c:pt>
                <c:pt idx="132">
                  <c:v>104.58</c:v>
                </c:pt>
                <c:pt idx="133">
                  <c:v>103.18</c:v>
                </c:pt>
                <c:pt idx="134">
                  <c:v>97.7</c:v>
                </c:pt>
                <c:pt idx="135">
                  <c:v>101.08</c:v>
                </c:pt>
                <c:pt idx="136">
                  <c:v>99.67</c:v>
                </c:pt>
                <c:pt idx="137">
                  <c:v>93.54</c:v>
                </c:pt>
                <c:pt idx="138">
                  <c:v>95.2</c:v>
                </c:pt>
                <c:pt idx="139">
                  <c:v>102.74</c:v>
                </c:pt>
                <c:pt idx="140">
                  <c:v>96.1</c:v>
                </c:pt>
                <c:pt idx="141">
                  <c:v>96.26</c:v>
                </c:pt>
                <c:pt idx="142">
                  <c:v>98.26</c:v>
                </c:pt>
                <c:pt idx="143">
                  <c:v>100.55</c:v>
                </c:pt>
                <c:pt idx="144">
                  <c:v>99.36</c:v>
                </c:pt>
                <c:pt idx="145">
                  <c:v>97.86</c:v>
                </c:pt>
                <c:pt idx="146">
                  <c:v>99.23</c:v>
                </c:pt>
                <c:pt idx="147">
                  <c:v>98.64</c:v>
                </c:pt>
                <c:pt idx="148">
                  <c:v>99.64</c:v>
                </c:pt>
                <c:pt idx="149">
                  <c:v>97.76</c:v>
                </c:pt>
                <c:pt idx="150">
                  <c:v>103.21</c:v>
                </c:pt>
                <c:pt idx="151">
                  <c:v>103.3</c:v>
                </c:pt>
                <c:pt idx="152">
                  <c:v>102.02</c:v>
                </c:pt>
                <c:pt idx="153">
                  <c:v>99.1</c:v>
                </c:pt>
                <c:pt idx="154">
                  <c:v>98.24</c:v>
                </c:pt>
                <c:pt idx="155">
                  <c:v>95.23</c:v>
                </c:pt>
                <c:pt idx="156">
                  <c:v>91.04</c:v>
                </c:pt>
                <c:pt idx="157">
                  <c:v>87.27</c:v>
                </c:pt>
                <c:pt idx="158">
                  <c:v>93.68</c:v>
                </c:pt>
                <c:pt idx="159">
                  <c:v>94.04</c:v>
                </c:pt>
                <c:pt idx="160">
                  <c:v>97.12</c:v>
                </c:pt>
                <c:pt idx="161">
                  <c:v>91.93</c:v>
                </c:pt>
                <c:pt idx="162">
                  <c:v>91.7</c:v>
                </c:pt>
                <c:pt idx="163">
                  <c:v>91.1</c:v>
                </c:pt>
                <c:pt idx="164">
                  <c:v>93.09</c:v>
                </c:pt>
                <c:pt idx="165">
                  <c:v>94.27</c:v>
                </c:pt>
                <c:pt idx="166">
                  <c:v>96.39</c:v>
                </c:pt>
                <c:pt idx="167">
                  <c:v>98.18</c:v>
                </c:pt>
                <c:pt idx="168">
                  <c:v>100.62</c:v>
                </c:pt>
                <c:pt idx="169">
                  <c:v>102.77</c:v>
                </c:pt>
                <c:pt idx="170">
                  <c:v>105.94</c:v>
                </c:pt>
                <c:pt idx="171">
                  <c:v>99.76</c:v>
                </c:pt>
                <c:pt idx="172">
                  <c:v>99.17</c:v>
                </c:pt>
                <c:pt idx="173">
                  <c:v>100.03</c:v>
                </c:pt>
                <c:pt idx="174">
                  <c:v>96.52</c:v>
                </c:pt>
                <c:pt idx="175">
                  <c:v>97.65</c:v>
                </c:pt>
                <c:pt idx="176">
                  <c:v>99.7</c:v>
                </c:pt>
                <c:pt idx="177">
                  <c:v>98.04</c:v>
                </c:pt>
                <c:pt idx="178">
                  <c:v>96.03</c:v>
                </c:pt>
                <c:pt idx="179">
                  <c:v>95.2</c:v>
                </c:pt>
                <c:pt idx="180">
                  <c:v>93.51</c:v>
                </c:pt>
                <c:pt idx="181">
                  <c:v>92.75</c:v>
                </c:pt>
                <c:pt idx="182">
                  <c:v>89.08</c:v>
                </c:pt>
                <c:pt idx="183">
                  <c:v>90.08</c:v>
                </c:pt>
                <c:pt idx="184">
                  <c:v>89.48</c:v>
                </c:pt>
                <c:pt idx="185">
                  <c:v>90.54</c:v>
                </c:pt>
                <c:pt idx="186">
                  <c:v>88.23</c:v>
                </c:pt>
                <c:pt idx="187">
                  <c:v>87.93</c:v>
                </c:pt>
                <c:pt idx="188">
                  <c:v>90.51</c:v>
                </c:pt>
                <c:pt idx="189">
                  <c:v>92.29</c:v>
                </c:pt>
                <c:pt idx="190">
                  <c:v>91.73</c:v>
                </c:pt>
                <c:pt idx="191">
                  <c:v>82.71</c:v>
                </c:pt>
                <c:pt idx="192">
                  <c:v>84.66</c:v>
                </c:pt>
                <c:pt idx="193">
                  <c:v>86.14</c:v>
                </c:pt>
                <c:pt idx="194">
                  <c:v>85.45</c:v>
                </c:pt>
                <c:pt idx="195">
                  <c:v>87.56</c:v>
                </c:pt>
                <c:pt idx="196">
                  <c:v>87.63</c:v>
                </c:pt>
                <c:pt idx="197">
                  <c:v>87.56</c:v>
                </c:pt>
                <c:pt idx="198">
                  <c:v>86.57</c:v>
                </c:pt>
                <c:pt idx="199">
                  <c:v>87.3</c:v>
                </c:pt>
                <c:pt idx="200">
                  <c:v>90.9</c:v>
                </c:pt>
                <c:pt idx="201">
                  <c:v>90.34</c:v>
                </c:pt>
                <c:pt idx="202">
                  <c:v>91.23</c:v>
                </c:pt>
                <c:pt idx="203">
                  <c:v>93.68</c:v>
                </c:pt>
                <c:pt idx="204">
                  <c:v>96.52</c:v>
                </c:pt>
                <c:pt idx="205">
                  <c:v>94.69</c:v>
                </c:pt>
                <c:pt idx="206">
                  <c:v>93.07</c:v>
                </c:pt>
                <c:pt idx="207">
                  <c:v>92.17</c:v>
                </c:pt>
                <c:pt idx="208">
                  <c:v>91.67</c:v>
                </c:pt>
                <c:pt idx="209">
                  <c:v>85.12</c:v>
                </c:pt>
                <c:pt idx="210">
                  <c:v>88.32</c:v>
                </c:pt>
                <c:pt idx="211">
                  <c:v>88.36</c:v>
                </c:pt>
                <c:pt idx="212">
                  <c:v>87.46</c:v>
                </c:pt>
                <c:pt idx="213">
                  <c:v>93.25</c:v>
                </c:pt>
                <c:pt idx="214">
                  <c:v>88.83</c:v>
                </c:pt>
                <c:pt idx="215">
                  <c:v>90.98</c:v>
                </c:pt>
                <c:pt idx="216">
                  <c:v>92.1</c:v>
                </c:pt>
                <c:pt idx="217">
                  <c:v>93.97</c:v>
                </c:pt>
                <c:pt idx="218">
                  <c:v>88.93</c:v>
                </c:pt>
                <c:pt idx="219">
                  <c:v>88.47</c:v>
                </c:pt>
                <c:pt idx="220">
                  <c:v>87.46</c:v>
                </c:pt>
                <c:pt idx="221">
                  <c:v>87.53</c:v>
                </c:pt>
                <c:pt idx="222">
                  <c:v>91.63</c:v>
                </c:pt>
                <c:pt idx="223">
                  <c:v>94.29</c:v>
                </c:pt>
                <c:pt idx="224">
                  <c:v>92.96</c:v>
                </c:pt>
                <c:pt idx="225">
                  <c:v>96.05</c:v>
                </c:pt>
                <c:pt idx="226">
                  <c:v>93.29</c:v>
                </c:pt>
                <c:pt idx="227">
                  <c:v>93.86</c:v>
                </c:pt>
                <c:pt idx="228">
                  <c:v>93.75</c:v>
                </c:pt>
                <c:pt idx="229">
                  <c:v>95.44</c:v>
                </c:pt>
                <c:pt idx="230">
                  <c:v>93.39</c:v>
                </c:pt>
                <c:pt idx="231">
                  <c:v>95.41</c:v>
                </c:pt>
                <c:pt idx="232">
                  <c:v>97.1</c:v>
                </c:pt>
                <c:pt idx="233">
                  <c:v>101.92</c:v>
                </c:pt>
                <c:pt idx="234">
                  <c:v>103.32</c:v>
                </c:pt>
                <c:pt idx="235">
                  <c:v>101.59</c:v>
                </c:pt>
                <c:pt idx="236">
                  <c:v>103.64</c:v>
                </c:pt>
                <c:pt idx="237">
                  <c:v>102.46</c:v>
                </c:pt>
                <c:pt idx="238">
                  <c:v>99.18</c:v>
                </c:pt>
                <c:pt idx="239">
                  <c:v>99.61</c:v>
                </c:pt>
                <c:pt idx="240">
                  <c:v>99.54</c:v>
                </c:pt>
                <c:pt idx="241">
                  <c:v>106.81</c:v>
                </c:pt>
                <c:pt idx="242">
                  <c:v>112.78</c:v>
                </c:pt>
                <c:pt idx="243">
                  <c:v>110.12</c:v>
                </c:pt>
                <c:pt idx="244">
                  <c:v>115.4</c:v>
                </c:pt>
                <c:pt idx="245">
                  <c:v>109.47</c:v>
                </c:pt>
                <c:pt idx="246">
                  <c:v>111.48</c:v>
                </c:pt>
                <c:pt idx="247">
                  <c:v>109.65</c:v>
                </c:pt>
                <c:pt idx="248">
                  <c:v>110.3</c:v>
                </c:pt>
                <c:pt idx="249">
                  <c:v>116.48</c:v>
                </c:pt>
                <c:pt idx="250">
                  <c:v>117.67</c:v>
                </c:pt>
                <c:pt idx="251">
                  <c:v>119.03</c:v>
                </c:pt>
                <c:pt idx="252">
                  <c:v>119.14</c:v>
                </c:pt>
                <c:pt idx="253">
                  <c:v>121.91</c:v>
                </c:pt>
                <c:pt idx="254">
                  <c:v>123.46</c:v>
                </c:pt>
                <c:pt idx="255">
                  <c:v>122.88</c:v>
                </c:pt>
                <c:pt idx="256">
                  <c:v>122.92</c:v>
                </c:pt>
                <c:pt idx="257">
                  <c:v>122.26</c:v>
                </c:pt>
                <c:pt idx="258">
                  <c:v>124.28</c:v>
                </c:pt>
                <c:pt idx="259">
                  <c:v>127.52</c:v>
                </c:pt>
                <c:pt idx="260">
                  <c:v>118.56</c:v>
                </c:pt>
                <c:pt idx="261">
                  <c:v>124.93</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18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53" dirty="0">
                <a:solidFill>
                  <a:schemeClr val="tx2"/>
                </a:solidFill>
              </a:rPr>
              <a:t>Carrefour (Euronext Paris : CA)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Carrefour</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236" dirty="0">
                <a:solidFill>
                  <a:srgbClr val="B9C4BE"/>
                </a:solidFill>
              </a:rPr>
              <a:t>Euronext Paris : CA  ·  Consommation de base / Distribution alimentaire  ·  France</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880" dirty="0">
                <a:solidFill>
                  <a:srgbClr val="FFFFFF"/>
                </a:solidFill>
              </a:rPr>
              <a:t>Un distributeur à plus de 10 % de rendement de free cash flow, dont l'immobilier vaut plus que les fonds propres</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SURPONDÉRER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13,08 €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17,99 €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+38 %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18-24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Cours : clôture,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9,3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14,2 Md€</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Immobilier (expertise)</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7,7x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prospectif (tiers)</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7,4 %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du dividende</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44" b="1" dirty="0">
                <a:solidFill>
                  <a:schemeClr val="tx1"/>
                </a:solidFill>
              </a:rPr>
              <a:t>Un distributeur à plus de 10 % de rendement de free cash flow, dont l'immobilier vaut plus que les fonds propres</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SURPONDÉRER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17,99 €</a:t>
            </a:r>
            <a:endParaRPr lang="en-US" sz="3000" dirty="0"/>
          </a:p>
          <a:p>
            <a:pPr indent="0" marL="0">
              <a:buNone/>
            </a:pPr>
            <a:r>
              <a:rPr lang="en-US" sz="1300" dirty="0">
                <a:solidFill>
                  <a:srgbClr val="5B6660"/>
                </a:solidFill>
              </a:rPr>
              <a:t>valeur centrale, +38 % vs 13,08 €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72" dirty="0">
                <a:solidFill>
                  <a:srgbClr val="141A17"/>
                </a:solidFill>
              </a:rPr>
              <a:t>Carrefour est tombé à 13 € après avoir abaissé sa guidance 2026 à cause des émeutes en France. À ce prix, la capitalisation (9,3 Md€) est inférieure à la valeur d'expertise de son immobilier (14,2 Md€), et même un cash flow réduit offre un rendement à deux chiffres. Nous achetons le cash flow et les actifs, pas une histoire de redressement des marges.</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Un cash flow décoté</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77" dirty="0">
                <a:solidFill>
                  <a:srgbClr val="2A322E"/>
                </a:solidFill>
              </a:rPr>
              <a:t>Le free cash flow net a atteint 1,3 Md€ en 2025 (1,6 Md€ hors Italie). Même la « légère baisse » désormais attendue pour 2026 laisse un rendement de free cash flow supérieur à 10 % sur 9,3 Md€ de capitalisation.</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418" b="1" dirty="0">
                <a:solidFill>
                  <a:srgbClr val="141A17"/>
                </a:solidFill>
              </a:rPr>
              <a:t>Les actifs couvrent la valeur d'entreprise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228" dirty="0">
                <a:solidFill>
                  <a:srgbClr val="2A322E"/>
                </a:solidFill>
              </a:rPr>
              <a:t>Le patrimoine immobilier en France, en Espagne et au Brésil a été expertisé à 14,2 Md€ fin 2025, au-dessus de la capitalisation plus la dette nette de fin d'année (environ 13,2 Md€). Les cessions-bails de 35 magasins en octobre 2026 en cristallisent une partie.</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Un groupe simplifié</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226" dirty="0">
                <a:solidFill>
                  <a:srgbClr val="2A322E"/>
                </a:solidFill>
              </a:rPr>
              <a:t>L'Italie et la Roumanie sont cédées, le Brésil est détenu à 100 %, et les trois pays clés font environ 85 % des ventes et 99 % du résultat opérationnel courant. La Belgique, la Pologne et l'Argentine sont à l'étude pour cession.</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Carrefour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France (n° 2)</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155" dirty="0">
                <a:solidFill>
                  <a:srgbClr val="2A322E"/>
                </a:solidFill>
              </a:rPr>
              <a:t>Environ la moitié des ventes : hypermarchés, supermarchés, proximité et e-commerce, en transition vers la franchise et la location-gérance. Marge opérationnelle courante de 1,5 % au S1 2026.</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Brésil (n° 1)</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200" dirty="0">
                <a:solidFill>
                  <a:srgbClr val="2A322E"/>
                </a:solidFill>
              </a:rPr>
              <a:t>Cash &amp; carry Atacadão et distribution ; la meilleure marge (4,0 % au S1 2026) mais exposée à des taux proches de 15 % et au réal.</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Espagne (n° 2)</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205" dirty="0">
                <a:solidFill>
                  <a:srgbClr val="2A322E"/>
                </a:solidFill>
              </a:rPr>
              <a:t>Croissance régulière et marge de 3,3 % au S1 2026.</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Autres pays</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Belgique, Pologne et Argentine : en perte au S1 2026 (−34 M€) et en revue stratégique.</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58" i="1" dirty="0">
                <a:solidFill>
                  <a:schemeClr val="tx2"/>
                </a:solidFill>
              </a:rPr>
              <a:t>Source : publications de la société ; Ventes TTC par pays, S1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80-200 M€</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Troubles en France</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235" dirty="0">
                <a:solidFill>
                  <a:srgbClr val="2A322E"/>
                </a:solidFill>
              </a:rPr>
              <a:t>Impact estimé sur le résultat opérationnel courant 2026 des émeutes, pillages et couvre-feux d'octobre.</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200</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Guerre des prix alimentaire</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178" dirty="0">
                <a:solidFill>
                  <a:srgbClr val="2A322E"/>
                </a:solidFill>
              </a:rPr>
              <a:t>Produits à marque propre vendus à prix coûtant aux clients fidèles dans le plan 2030 : l'investissement prix plafonne les marges.</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~15 %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Taux directeur brésilien</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131" dirty="0">
                <a:solidFill>
                  <a:srgbClr val="2A322E"/>
                </a:solidFill>
              </a:rPr>
              <a:t>Les taux élevés ont pesé sur les volumes du cash &amp; carry en 2025 ; des baisses aideraient Atacadão.</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−102 M€</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Devises</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246" dirty="0">
                <a:solidFill>
                  <a:srgbClr val="2A322E"/>
                </a:solidFill>
              </a:rPr>
              <a:t>Effet de change négatif sur le résultat 2025 lié au réal brésilien et au peso argentin.</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23" b="1" dirty="0">
                <a:solidFill>
                  <a:schemeClr val="tx1"/>
                </a:solidFill>
              </a:rPr>
              <a:t>Classé 1 sur 76 en Consommation de base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2,79, 1er sur 76 dans son secteur. </a:t>
            </a:r>
            <a:pPr indent="0" marL="0">
              <a:buNone/>
            </a:pPr>
            <a:r>
              <a:rPr lang="en-US" sz="1217" dirty="0">
                <a:solidFill>
                  <a:srgbClr val="2A322E"/>
                </a:solidFill>
              </a:rPr>
              <a:t>Le score fait la moyenne des z-scores ci-dessus (quatre ratios exprimés en rendements). Les comptes ne sont utilisés qu'à partir de la clôture + 6 mois : en décembre 2025, le screen lisait les comptes de l'exercice clos en décembre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Ahold Delhaize, Tesco, Kroger, Jerónimo Martins (pairs du pipeline).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07" b="1" dirty="0">
                <a:solidFill>
                  <a:schemeClr val="tx1"/>
                </a:solidFill>
              </a:rPr>
              <a:t>Détenu à 8 rebalancements sur 10 depuis juin 2022</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0E6B4F"/>
                </a:solidFill>
              </a:rPr>
              <a:t>+20,3 %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4,0 % / 0,5 %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S1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2026 (oct.)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Ventes TTC (avant IAS 29)</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91,5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43,8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230" b="1" dirty="0">
                          <a:solidFill>
                            <a:srgbClr val="141A17"/>
                          </a:solidFill>
                          <a:latin typeface="Arial" pitchFamily="34" charset="0"/>
                          <a:ea typeface="Arial" pitchFamily="34" charset="-122"/>
                          <a:cs typeface="Arial" pitchFamily="34" charset="-120"/>
                        </a:rPr>
                        <a:t>Résultat opérationnel courant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2,28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2,16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0,76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croissance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Marge opérationnelle courante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 à +15 pb</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 ajusté</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1,74 €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1,60 €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0,49 €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stable à légère hausse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Free cash flow net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1,31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−1,99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légère baisse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Dette financière nette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3,97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5,85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par action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0,97 € + 0,21 €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distribution 50-60 %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bl>
          </a:graphicData>
        </a:graphic>
      </p:graphicFrame>
      <p:sp>
        <p:nvSpPr>
          <p:cNvPr id="5" name="Text 2"/>
          <p:cNvSpPr txBox="1"/>
          <p:nvPr/>
        </p:nvSpPr>
        <p:spPr>
          <a:xfrm>
            <a:off x="548640" y="5385816"/>
            <a:ext cx="11094415" cy="548640"/>
          </a:xfrm>
          <a:prstGeom prst="rect">
            <a:avLst/>
          </a:prstGeom>
          <a:noFill/>
          <a:ln/>
        </p:spPr>
        <p:txBody>
          <a:bodyPr wrap="square" lIns="0" tIns="0" rIns="0" bIns="0" rtlCol="0" anchor="t"/>
          <a:lstStyle/>
          <a:p>
            <a:pPr indent="0" marL="0">
              <a:buNone/>
            </a:pPr>
            <a:r>
              <a:rPr lang="en-US" sz="1100" dirty="0">
                <a:solidFill>
                  <a:srgbClr val="5B6660"/>
                </a:solidFill>
              </a:rPr>
              <a:t>*Saisonnier : le BFR s'inverse au S2. ROC 2024 déduit du −5,4 % publié pour 2025. Sources : communiqués Carrefour 2025, S1 2026 et T3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96" i="1" dirty="0">
                <a:solidFill>
                  <a:srgbClr val="141A17"/>
                </a:solidFill>
              </a:rPr>
              <a:t>« Le marché français est structurellement cassé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229" dirty="0">
                <a:solidFill>
                  <a:srgbClr val="141A17"/>
                </a:solidFill>
              </a:rPr>
              <a:t>La France est un marché à faibles marges et en guerre des prix, mais Carrefour est n° 2 et le plan intègre déjà 1 Md€ d'économies par an, dont la moitié réalisée mi-2026.</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256" i="1" dirty="0">
                <a:solidFill>
                  <a:srgbClr val="141A17"/>
                </a:solidFill>
              </a:rPr>
              <a:t>« Les émeutes sont un choc durable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245" dirty="0">
                <a:solidFill>
                  <a:srgbClr val="141A17"/>
                </a:solidFill>
              </a:rPr>
              <a:t>La direction estime 80 à 200 M€ de résultat opérationnel courant à risque en 2026. C'est un choc d'un an sur 2,2 Md€ de profit, pas un changement de capacité bénéficiaire.</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Le dividende va baisser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147" dirty="0">
                <a:solidFill>
                  <a:srgbClr val="141A17"/>
                </a:solidFill>
              </a:rPr>
              <a:t>C'est le vrai risque : 50-60 % de distribution sur un BPA stable implique 0,80-0,96 € contre 0,97 € versé. Nous supposons une baisse dans le scénario central.</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81" b="1" dirty="0">
                <a:solidFill>
                  <a:schemeClr val="tx1"/>
                </a:solidFill>
              </a:rPr>
              <a:t>Valeur centrale 17,99 € par action, +38 %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300" b="1" dirty="0">
                <a:solidFill>
                  <a:srgbClr val="0E6B4F"/>
                </a:solidFill>
              </a:rPr>
              <a:t>Méthode : Rendement de free cash flow sur un FCF net normalisé</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1,0 Md€ à 12,0 % de rendement</a:t>
                      </a:r>
                      <a:endParaRPr lang="en-US" sz="1100" dirty="0">
                        <a:latin typeface="Arial" charset="0"/>
                        <a:ea typeface="Arial" charset="0"/>
                        <a:cs typeface="Arial" charset="0"/>
                      </a:endParaRPr>
                    </a:p>
                    <a:p>
                      <a:pPr indent="0" marL="0">
                        <a:buNone/>
                      </a:pPr>
                      <a:r>
                        <a:rPr lang="en-US" sz="958" dirty="0">
                          <a:solidFill>
                            <a:srgbClr val="2A322E"/>
                          </a:solidFill>
                          <a:latin typeface="Arial" pitchFamily="34" charset="0"/>
                          <a:ea typeface="Arial" pitchFamily="34" charset="-122"/>
                          <a:cs typeface="Arial" pitchFamily="34" charset="-120"/>
                        </a:rPr>
                        <a:t>La marge France continue de baisser ; dividende réduit</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11,78 €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1,4 Md€ à 11,0 % de rendement</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FCF revenu près du niveau 2025 ; plan décalé d'un an</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17,99 €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+38 %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FCF 1,7 Md€ à 10,0 % de rendement</a:t>
                      </a:r>
                      <a:endParaRPr lang="en-US" sz="1100" dirty="0">
                        <a:latin typeface="Arial" charset="0"/>
                        <a:ea typeface="Arial" charset="0"/>
                        <a:cs typeface="Arial" charset="0"/>
                      </a:endParaRPr>
                    </a:p>
                    <a:p>
                      <a:pPr indent="0" marL="0">
                        <a:buNone/>
                      </a:pPr>
                      <a:r>
                        <a:rPr lang="en-US" sz="1030" dirty="0">
                          <a:solidFill>
                            <a:srgbClr val="2A322E"/>
                          </a:solidFill>
                          <a:latin typeface="Arial" pitchFamily="34" charset="0"/>
                          <a:ea typeface="Arial" pitchFamily="34" charset="-122"/>
                          <a:cs typeface="Arial" pitchFamily="34" charset="-120"/>
                        </a:rPr>
                        <a:t>Objectif de 5 Md€ de FCF 2026-28 atteint ; cessions d'autres pays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24,02 €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+84 %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65" dirty="0">
                <a:solidFill>
                  <a:srgbClr val="2A322E"/>
                </a:solidFill>
              </a:rPr>
              <a:t>La valeur d'un distributeur, c'est son cash récurrent. Nous divisons un free cash flow net normalisé par le rendement qu'un investisseur doit exiger d'un distributeur endetté à faible croissance (10-12 %), puis par 707,6 millions d'actions. L'expertise immobilière est un contrôle de plancher, pas une composante de l'objectif.</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8240475" y="2542032"/>
            <a:ext cx="1221318"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12,63 € - 17,54 €</a:t>
            </a:r>
            <a:endParaRPr lang="en-US" sz="1000" dirty="0"/>
          </a:p>
        </p:txBody>
      </p:sp>
      <p:sp>
        <p:nvSpPr>
          <p:cNvPr id="11" name="Shape 8"/>
          <p:cNvSpPr/>
          <p:nvPr/>
        </p:nvSpPr>
        <p:spPr>
          <a:xfrm>
            <a:off x="8352409" y="2478024"/>
            <a:ext cx="0" cy="438912"/>
          </a:xfrm>
          <a:prstGeom prst="line">
            <a:avLst/>
          </a:prstGeom>
          <a:noFill/>
          <a:ln w="25400">
            <a:solidFill>
              <a:srgbClr val="141A17"/>
            </a:solidFill>
            <a:prstDash val="solid"/>
          </a:ln>
        </p:spPr>
        <p:txBody>
          <a:bodyPr/>
          <a:p/>
        </p:txBody>
      </p:sp>
      <p:sp>
        <p:nvSpPr>
          <p:cNvPr id="12" name="Shape 9"/>
          <p:cNvSpPr/>
          <p:nvPr/>
        </p:nvSpPr>
        <p:spPr>
          <a:xfrm>
            <a:off x="9573727"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029045" y="3502152"/>
            <a:ext cx="3044589"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11,78 € - 24,02 €</a:t>
            </a:r>
            <a:endParaRPr lang="en-US" sz="1000" dirty="0"/>
          </a:p>
        </p:txBody>
      </p:sp>
      <p:sp>
        <p:nvSpPr>
          <p:cNvPr id="16" name="Shape 13"/>
          <p:cNvSpPr/>
          <p:nvPr/>
        </p:nvSpPr>
        <p:spPr>
          <a:xfrm>
            <a:off x="8352409" y="3438144"/>
            <a:ext cx="0" cy="438912"/>
          </a:xfrm>
          <a:prstGeom prst="line">
            <a:avLst/>
          </a:prstGeom>
          <a:noFill/>
          <a:ln w="25400">
            <a:solidFill>
              <a:srgbClr val="141A17"/>
            </a:solidFill>
            <a:prstDash val="solid"/>
          </a:ln>
        </p:spPr>
        <p:txBody>
          <a:bodyPr/>
          <a:p/>
        </p:txBody>
      </p:sp>
      <p:sp>
        <p:nvSpPr>
          <p:cNvPr id="17" name="Shape 14"/>
          <p:cNvSpPr/>
          <p:nvPr/>
        </p:nvSpPr>
        <p:spPr>
          <a:xfrm>
            <a:off x="9573727"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8939437"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15,44 €</a:t>
            </a:r>
            <a:endParaRPr lang="en-US" sz="1000" dirty="0"/>
          </a:p>
        </p:txBody>
      </p:sp>
      <p:sp>
        <p:nvSpPr>
          <p:cNvPr id="21" name="Shape 18"/>
          <p:cNvSpPr/>
          <p:nvPr/>
        </p:nvSpPr>
        <p:spPr>
          <a:xfrm>
            <a:off x="8352409" y="4398264"/>
            <a:ext cx="0" cy="438912"/>
          </a:xfrm>
          <a:prstGeom prst="line">
            <a:avLst/>
          </a:prstGeom>
          <a:noFill/>
          <a:ln w="25400">
            <a:solidFill>
              <a:srgbClr val="141A17"/>
            </a:solidFill>
            <a:prstDash val="solid"/>
          </a:ln>
        </p:spPr>
        <p:txBody>
          <a:bodyPr/>
          <a:p/>
        </p:txBody>
      </p:sp>
      <p:sp>
        <p:nvSpPr>
          <p:cNvPr id="22" name="Shape 19"/>
          <p:cNvSpPr/>
          <p:nvPr/>
        </p:nvSpPr>
        <p:spPr>
          <a:xfrm>
            <a:off x="9573727" y="4398264"/>
            <a:ext cx="0" cy="438912"/>
          </a:xfrm>
          <a:prstGeom prst="line">
            <a:avLst/>
          </a:prstGeom>
          <a:noFill/>
          <a:ln w="25400">
            <a:solidFill>
              <a:srgbClr val="0E6B4F"/>
            </a:solidFill>
            <a:prstDash val="dash"/>
          </a:ln>
        </p:spPr>
        <p:txBody>
          <a:bodyPr/>
          <a:p/>
        </p:txBody>
      </p:sp>
      <p:sp>
        <p:nvSpPr>
          <p:cNvPr id="23" name="Text 20"/>
          <p:cNvSpPr txBox="1"/>
          <p:nvPr/>
        </p:nvSpPr>
        <p:spPr>
          <a:xfrm>
            <a:off x="7529449"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13,08 €</a:t>
            </a:r>
            <a:endParaRPr lang="en-US" sz="1000" dirty="0"/>
          </a:p>
        </p:txBody>
      </p:sp>
      <p:sp>
        <p:nvSpPr>
          <p:cNvPr id="24" name="Text 21"/>
          <p:cNvSpPr txBox="1"/>
          <p:nvPr/>
        </p:nvSpPr>
        <p:spPr>
          <a:xfrm>
            <a:off x="8750767"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17,99 €</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Nov.-déc.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84" dirty="0">
                <a:solidFill>
                  <a:srgbClr val="141A17"/>
                </a:solidFill>
              </a:rPr>
              <a:t>Évolution des troubles en France ; indemnisation des assurances et de l'État</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Févr. 2027</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Résultats 2026 : dividende selon la nouvelle politique ; réévaluation immobilière</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T1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58" dirty="0">
                <a:solidFill>
                  <a:srgbClr val="141A17"/>
                </a:solidFill>
              </a:rPr>
              <a:t>Décisions sur la Belgique, la Pologne et l'Argentine</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Juil. 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12" dirty="0">
                <a:solidFill>
                  <a:srgbClr val="141A17"/>
                </a:solidFill>
              </a:rPr>
              <a:t>S1 2027 : premier test de la trajectoire vers 3,2 % de marge en 2028</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Baisses de taux au Brésil favorables aux volumes d'Atacadão</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290" dirty="0">
                <a:solidFill>
                  <a:srgbClr val="141A17"/>
                </a:solidFill>
              </a:rPr>
              <a:t>Marge opérationnelle 2027 pas au-dessus des 2,6 % de 2025</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Troubles en France jusqu'en 2027</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67" dirty="0">
                          <a:solidFill>
                            <a:srgbClr val="2A322E"/>
                          </a:solidFill>
                          <a:latin typeface="Arial" pitchFamily="34" charset="0"/>
                          <a:ea typeface="Arial" pitchFamily="34" charset="-122"/>
                          <a:cs typeface="Arial" pitchFamily="34" charset="-120"/>
                        </a:rPr>
                        <a:t>Parc de magasins diversifié ; coûts de sécurité ponctuels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74" b="1" dirty="0">
                          <a:solidFill>
                            <a:srgbClr val="141A17"/>
                          </a:solidFill>
                          <a:latin typeface="Arial" pitchFamily="34" charset="0"/>
                          <a:ea typeface="Arial" pitchFamily="34" charset="-122"/>
                          <a:cs typeface="Arial" pitchFamily="34" charset="-120"/>
                        </a:rPr>
                        <a:t>L'investissement prix érode les marges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1 Md€ d'économies par an ; la franchise réduit les coûts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Baisse du dividende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48" dirty="0">
                          <a:solidFill>
                            <a:srgbClr val="2A322E"/>
                          </a:solidFill>
                          <a:latin typeface="Arial" pitchFamily="34" charset="0"/>
                          <a:ea typeface="Arial" pitchFamily="34" charset="-122"/>
                          <a:cs typeface="Arial" pitchFamily="34" charset="-120"/>
                        </a:rPr>
                        <a:t>Déjà intégrée dans notre scénario central</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Macro et change brésiliens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13" dirty="0">
                          <a:solidFill>
                            <a:srgbClr val="2A322E"/>
                          </a:solidFill>
                          <a:latin typeface="Arial" pitchFamily="34" charset="0"/>
                          <a:ea typeface="Arial" pitchFamily="34" charset="-122"/>
                          <a:cs typeface="Arial" pitchFamily="34" charset="-120"/>
                        </a:rPr>
                        <a:t>Brésil détenu à 100 %, position de n° 1</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VENDONS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204" dirty="0">
                <a:solidFill>
                  <a:srgbClr val="141A17"/>
                </a:solidFill>
              </a:rPr>
              <a:t>Marge opérationnelle 2027 pas au-dessus des 2,6 % de 2025</a:t>
            </a:r>
            <a:endParaRPr lang="en-US" sz="1400" dirty="0"/>
          </a:p>
          <a:p>
            <a:pPr marL="342900" indent="-342900">
              <a:spcAft>
                <a:spcPts val="1000"/>
              </a:spcAft>
              <a:buSzPct val="100000"/>
              <a:buChar char="•"/>
            </a:pPr>
            <a:r>
              <a:rPr lang="en-US" sz="1280" dirty="0">
                <a:solidFill>
                  <a:srgbClr val="141A17"/>
                </a:solidFill>
              </a:rPr>
              <a:t>FCF net cumulé 2026-28 nettement sous la trajectoire de 5 Md€</a:t>
            </a:r>
            <a:endParaRPr lang="en-US" sz="1400" dirty="0"/>
          </a:p>
          <a:p>
            <a:pPr marL="342900" indent="-342900">
              <a:spcAft>
                <a:spcPts val="1000"/>
              </a:spcAft>
              <a:buSzPct val="100000"/>
              <a:buChar char="•"/>
            </a:pPr>
            <a:r>
              <a:rPr lang="en-US" sz="1400" dirty="0">
                <a:solidFill>
                  <a:srgbClr val="141A17"/>
                </a:solidFill>
              </a:rPr>
              <a:t>Perspective S&amp;P négative, ou cessions qui diluent le BPA sans désendetter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[1] Carrefour, "T4 2025 sales and FY 2025 results", press release, 17 Feb 2026</a:t>
            </a:r>
            <a:endParaRPr lang="en-US" sz="1000" dirty="0"/>
          </a:p>
          <a:p>
            <a:pPr indent="0" marL="0">
              <a:spcAft>
                <a:spcPts val="500"/>
              </a:spcAft>
              <a:buNone/>
            </a:pPr>
            <a:r>
              <a:rPr lang="en-US" sz="1000" dirty="0">
                <a:solidFill>
                  <a:srgbClr val="2A322E"/>
                </a:solidFill>
              </a:rPr>
              <a:t>[2] Carrefour, "Carrefour 2030 Strategic Plan", press release, 18 Feb 2026</a:t>
            </a:r>
            <a:endParaRPr lang="en-US" sz="1000" dirty="0"/>
          </a:p>
          <a:p>
            <a:pPr indent="0" marL="0">
              <a:spcAft>
                <a:spcPts val="500"/>
              </a:spcAft>
              <a:buNone/>
            </a:pPr>
            <a:r>
              <a:rPr lang="en-US" sz="1000" dirty="0">
                <a:solidFill>
                  <a:srgbClr val="2A322E"/>
                </a:solidFill>
              </a:rPr>
              <a:t>[3] Carrefour, "T2 and S1 2026 results", press release, 23 Jul 2026 (via WebDisclosure)</a:t>
            </a:r>
            <a:endParaRPr lang="en-US" sz="1000" dirty="0"/>
          </a:p>
          <a:p>
            <a:pPr indent="0" marL="0">
              <a:spcAft>
                <a:spcPts val="500"/>
              </a:spcAft>
              <a:buNone/>
            </a:pPr>
            <a:r>
              <a:rPr lang="en-US" sz="1000" dirty="0">
                <a:solidFill>
                  <a:srgbClr val="2A322E"/>
                </a:solidFill>
              </a:rPr>
              <a:t>[4] Carrefour, "Sales T3 2026", press release, 20 Oct 2026 (via WebDisclosure)</a:t>
            </a:r>
            <a:endParaRPr lang="en-US" sz="1000" dirty="0"/>
          </a:p>
          <a:p>
            <a:pPr indent="0" marL="0">
              <a:spcAft>
                <a:spcPts val="500"/>
              </a:spcAft>
              <a:buNone/>
            </a:pPr>
            <a:r>
              <a:rPr lang="en-US" sz="1000" dirty="0">
                <a:solidFill>
                  <a:srgbClr val="2A322E"/>
                </a:solidFill>
              </a:rPr>
              <a:t>[5] Reuters via Business Day, "Carrefour cuts outlook as French riots hit profits", 20 Oct 2026</a:t>
            </a:r>
            <a:endParaRPr lang="en-US" sz="1000" dirty="0"/>
          </a:p>
          <a:p>
            <a:pPr indent="0" marL="0">
              <a:spcAft>
                <a:spcPts val="500"/>
              </a:spcAft>
              <a:buNone/>
            </a:pPr>
            <a:r>
              <a:rPr lang="en-US" sz="1000" dirty="0">
                <a:solidFill>
                  <a:srgbClr val="2A322E"/>
                </a:solidFill>
              </a:rPr>
              <a:t>[6] Il Sole 24 Ore, "Carrefour slumps in Paris, 2026 target revised downwards", Oct 2026</a:t>
            </a:r>
            <a:endParaRPr lang="en-US" sz="1000" dirty="0"/>
          </a:p>
          <a:p>
            <a:pPr indent="0" marL="0">
              <a:spcAft>
                <a:spcPts val="500"/>
              </a:spcAft>
              <a:buNone/>
            </a:pPr>
            <a:r>
              <a:rPr lang="en-US" sz="1000" dirty="0">
                <a:solidFill>
                  <a:srgbClr val="2A322E"/>
                </a:solidFill>
              </a:rPr>
              <a:t>[7] BFM Bourse / Tradingsat, Carrefour 2030 plan market reaction, 18 Feb 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[8] AFP via Fortuneo, "Carrefour chute de plus de 12 % en Bourse", 21 Oct 2026</a:t>
            </a:r>
            <a:endParaRPr lang="en-US" sz="1000" dirty="0"/>
          </a:p>
          <a:p>
            <a:pPr indent="0" marL="0">
              <a:spcAft>
                <a:spcPts val="500"/>
              </a:spcAft>
              <a:buNone/>
            </a:pPr>
            <a:r>
              <a:rPr lang="en-US" sz="1000" dirty="0">
                <a:solidFill>
                  <a:srgbClr val="2A322E"/>
                </a:solidFill>
              </a:rPr>
              <a:t>[9] stockanalysis.com, Carrefour SA (EPA:CA) quote page, data as of 29 Oct 2026 (third-party)</a:t>
            </a:r>
            <a:endParaRPr lang="en-US" sz="1000" dirty="0"/>
          </a:p>
          <a:p>
            <a:pPr indent="0" marL="0">
              <a:spcAft>
                <a:spcPts val="500"/>
              </a:spcAft>
              <a:buNone/>
            </a:pPr>
            <a:r>
              <a:rPr lang="en-US" sz="1000" dirty="0">
                <a:solidFill>
                  <a:srgbClr val="2A322E"/>
                </a:solidFill>
              </a:rPr>
              <a:t>[10] Rallies.ai, "Carrefour T1 like-for-like sales rise 2,2 % to 21,14 Md€, confirms 2026 targets", Apr 2026 (secondary; TO VERIFY against company release)</a:t>
            </a:r>
            <a:endParaRPr lang="en-US" sz="1000" dirty="0"/>
          </a:p>
          <a:p>
            <a:pPr indent="0" marL="0">
              <a:spcAft>
                <a:spcPts val="500"/>
              </a:spcAft>
              <a:buNone/>
            </a:pPr>
            <a:r>
              <a:rPr lang="en-US" sz="1000" dirty="0">
                <a:solidFill>
                  <a:srgbClr val="2A322E"/>
                </a:solidFill>
              </a:rPr>
              <a:t>[11] ESM Magazine, "Carrefour to sell Italian unit to NewPrinces Group", Jul 2025</a:t>
            </a:r>
            <a:endParaRPr lang="en-US" sz="1000" dirty="0"/>
          </a:p>
          <a:p>
            <a:pPr indent="0" marL="0">
              <a:spcAft>
                <a:spcPts val="500"/>
              </a:spcAft>
              <a:buNone/>
            </a:pPr>
            <a:r>
              <a:rPr lang="en-US" sz="1000" dirty="0">
                <a:solidFill>
                  <a:srgbClr val="2A322E"/>
                </a:solidFill>
              </a:rPr>
              <a:t>[12] Carrefour, "Carrefour announces the sale of Carrefour Romania to Paval Holding", press release, Feb 2026</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Carrefour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