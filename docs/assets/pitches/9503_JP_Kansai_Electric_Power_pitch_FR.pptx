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924863ab-7a23-894d-f7ef-725197b7110e}">
          <p14:sldIdLst>
            <p14:sldId id="256"/>
          </p14:sldIdLst>
        </p14:section>
        <p14:section name="Thesis" id="{eb0cf7c3-3fe3-5ea4-24c2-2c1b66773d37}">
          <p14:sldIdLst>
            <p14:sldId id="257"/>
          </p14:sldIdLst>
        </p14:section>
        <p14:section name="Company" id="{3ccef227-25e9-9870-3ff3-a07ceaa2820a}">
          <p14:sldIdLst>
            <p14:sldId id="258"/>
            <p14:sldId id="259"/>
          </p14:sldIdLst>
        </p14:section>
        <p14:section name="Screen" id="{4fd3d31c-4510-3493-520f-e61bab675c37}">
          <p14:sldIdLst>
            <p14:sldId id="260"/>
            <p14:sldId id="261"/>
          </p14:sldIdLst>
        </p14:section>
        <p14:section name="Financials" id="{23d749dd-ebf0-2b61-6fb7-584938450fd4}">
          <p14:sldIdLst>
            <p14:sldId id="262"/>
            <p14:sldId id="263"/>
          </p14:sldIdLst>
        </p14:section>
        <p14:section name="Valuation" id="{5cc2be93-fdca-9779-caed-0e3aae344d0b}">
          <p14:sldIdLst>
            <p14:sldId id="264"/>
          </p14:sldIdLst>
        </p14:section>
        <p14:section name="Catalysts and risks" id="{b8372142-1c09-e921-8f69-5e83ea3dac09}">
          <p14:sldIdLst>
            <p14:sldId id="265"/>
            <p14:sldId id="266"/>
          </p14:sldIdLst>
        </p14:section>
        <p14:section name="Sources" id="{0de5dd9d-54a2-a864-459f-c7caa069b95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Mix de production propre, ex. 2025 (94,2 TWh) (part du total)</a:t>
            </a:r>
          </a:p>
        </c:rich>
      </c:tx>
      <c:layout/>
      <c:overlay val="0"/>
    </c:title>
    <c:autoTitleDeleted val="0"/>
    <c:plotArea>
      <c:layout/>
      <c:barChart>
        <c:barDir val="bar"/>
        <c:grouping val="clustered"/>
        <c:varyColors val="0"/>
        <c:ser>
          <c:idx val="0"/>
          <c:order val="0"/>
          <c:tx>
            <c:strRef>
              <c:f>Sheet1!$B$1</c:f>
              <c:strCache>
                <c:ptCount val="1"/>
                <c:pt idx="0">
                  <c:v>Mix de production propre, ex. 2025 (94,2 TWh)</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Nucléaire</c:v>
                  </c:pt>
                  <c:pt idx="1">
                    <c:v>Thermique</c:v>
                  </c:pt>
                  <c:pt idx="2">
                    <c:v>Hydraulique</c:v>
                  </c:pt>
                </c:lvl>
              </c:multiLvlStrCache>
            </c:multiLvlStrRef>
          </c:cat>
          <c:val>
            <c:numRef>
              <c:f>Sheet1!$B$2:$B$4</c:f>
              <c:numCache>
                <c:formatCode>General</c:formatCode>
                <c:ptCount val="3"/>
                <c:pt idx="0">
                  <c:v>0.49</c:v>
                </c:pt>
                <c:pt idx="1">
                  <c:v>0.37</c:v>
                </c:pt>
                <c:pt idx="2">
                  <c:v>0.14</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Kansai Electric Power</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Sheet1!$B$2:$B$4</c:f>
              <c:numCache>
                <c:formatCode>General</c:formatCode>
                <c:ptCount val="3"/>
                <c:pt idx="0">
                  <c:v>12.96</c:v>
                </c:pt>
                <c:pt idx="1">
                  <c:v>5.79</c:v>
                </c:pt>
                <c:pt idx="2">
                  <c:v>0.79</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Sheet1!$C$2:$C$4</c:f>
              <c:numCache>
                <c:formatCode>General</c:formatCode>
                <c:ptCount val="3"/>
                <c:pt idx="0">
                  <c:v>19.18</c:v>
                </c:pt>
                <c:pt idx="1">
                  <c:v>18.44</c:v>
                </c:pt>
                <c:pt idx="2">
                  <c:v>1.9</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Sheet1!$D$2:$D$4</c:f>
              <c:numCache>
                <c:formatCode>General</c:formatCode>
                <c:ptCount val="3"/>
                <c:pt idx="0">
                  <c:v>22.47</c:v>
                </c:pt>
                <c:pt idx="1">
                  <c:v>20.08</c:v>
                </c:pt>
                <c:pt idx="2">
                  <c:v>2.02</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dPt>
            <c:idx val="2"/>
            <c:invertIfNegative val="0"/>
            <c:bubble3D val="0"/>
            <c:spPr>
              <a:solidFill>
                <a:srgbClr val="0E6B4F"/>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1.2749326735729731</c:v>
                </c:pt>
                <c:pt idx="1">
                  <c:v>3.31165594060876</c:v>
                </c:pt>
                <c:pt idx="2">
                  <c:v>0.9024902560621832</c:v>
                </c:pt>
                <c:pt idx="3">
                  <c:v>1.7663412368999243</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Kansai Electric Power</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99.13</c:v>
                </c:pt>
                <c:pt idx="2">
                  <c:v>98.9</c:v>
                </c:pt>
                <c:pt idx="3">
                  <c:v>99.61</c:v>
                </c:pt>
                <c:pt idx="4">
                  <c:v>98.96</c:v>
                </c:pt>
                <c:pt idx="5">
                  <c:v>97.74</c:v>
                </c:pt>
                <c:pt idx="6">
                  <c:v>101.77</c:v>
                </c:pt>
                <c:pt idx="7">
                  <c:v>104.84</c:v>
                </c:pt>
                <c:pt idx="8">
                  <c:v>104.62</c:v>
                </c:pt>
                <c:pt idx="9">
                  <c:v>105.14</c:v>
                </c:pt>
                <c:pt idx="10">
                  <c:v>104.03</c:v>
                </c:pt>
                <c:pt idx="11">
                  <c:v>106.79</c:v>
                </c:pt>
                <c:pt idx="12">
                  <c:v>109.78</c:v>
                </c:pt>
                <c:pt idx="13">
                  <c:v>107.41</c:v>
                </c:pt>
                <c:pt idx="14">
                  <c:v>104.38</c:v>
                </c:pt>
                <c:pt idx="15">
                  <c:v>107.04</c:v>
                </c:pt>
                <c:pt idx="16">
                  <c:v>101.83</c:v>
                </c:pt>
                <c:pt idx="17">
                  <c:v>102.09</c:v>
                </c:pt>
                <c:pt idx="18">
                  <c:v>100.06</c:v>
                </c:pt>
                <c:pt idx="19">
                  <c:v>100.62</c:v>
                </c:pt>
                <c:pt idx="20">
                  <c:v>101.2</c:v>
                </c:pt>
                <c:pt idx="21">
                  <c:v>100.34</c:v>
                </c:pt>
                <c:pt idx="22">
                  <c:v>101.88</c:v>
                </c:pt>
                <c:pt idx="23">
                  <c:v>103.41</c:v>
                </c:pt>
                <c:pt idx="24">
                  <c:v>104.34</c:v>
                </c:pt>
                <c:pt idx="25">
                  <c:v>106.3</c:v>
                </c:pt>
                <c:pt idx="26">
                  <c:v>103.25</c:v>
                </c:pt>
                <c:pt idx="27">
                  <c:v>103.58</c:v>
                </c:pt>
                <c:pt idx="28">
                  <c:v>105.2</c:v>
                </c:pt>
                <c:pt idx="29">
                  <c:v>105.67</c:v>
                </c:pt>
                <c:pt idx="30">
                  <c:v>107.62</c:v>
                </c:pt>
                <c:pt idx="31">
                  <c:v>104.46</c:v>
                </c:pt>
                <c:pt idx="32">
                  <c:v>102.17</c:v>
                </c:pt>
                <c:pt idx="33">
                  <c:v>106.21</c:v>
                </c:pt>
                <c:pt idx="34">
                  <c:v>112.3</c:v>
                </c:pt>
                <c:pt idx="35">
                  <c:v>110.99</c:v>
                </c:pt>
                <c:pt idx="36">
                  <c:v>116.57</c:v>
                </c:pt>
                <c:pt idx="37">
                  <c:v>111.61</c:v>
                </c:pt>
                <c:pt idx="38">
                  <c:v>114.17</c:v>
                </c:pt>
                <c:pt idx="39">
                  <c:v>111.36</c:v>
                </c:pt>
                <c:pt idx="40">
                  <c:v>108.78</c:v>
                </c:pt>
                <c:pt idx="41">
                  <c:v>107.99</c:v>
                </c:pt>
                <c:pt idx="42">
                  <c:v>113.32</c:v>
                </c:pt>
                <c:pt idx="43">
                  <c:v>111.77</c:v>
                </c:pt>
                <c:pt idx="44">
                  <c:v>106.25</c:v>
                </c:pt>
                <c:pt idx="45">
                  <c:v>113.94</c:v>
                </c:pt>
                <c:pt idx="46">
                  <c:v>121.7</c:v>
                </c:pt>
                <c:pt idx="47">
                  <c:v>119.36</c:v>
                </c:pt>
                <c:pt idx="48">
                  <c:v>120.44</c:v>
                </c:pt>
                <c:pt idx="49">
                  <c:v>114.75</c:v>
                </c:pt>
                <c:pt idx="50">
                  <c:v>111.47</c:v>
                </c:pt>
                <c:pt idx="51">
                  <c:v>116.93</c:v>
                </c:pt>
                <c:pt idx="52">
                  <c:v>118.55</c:v>
                </c:pt>
                <c:pt idx="53">
                  <c:v>121.84</c:v>
                </c:pt>
                <c:pt idx="54">
                  <c:v>127.45</c:v>
                </c:pt>
                <c:pt idx="55">
                  <c:v>128.81</c:v>
                </c:pt>
                <c:pt idx="56">
                  <c:v>121.53</c:v>
                </c:pt>
                <c:pt idx="57">
                  <c:v>127.45</c:v>
                </c:pt>
                <c:pt idx="58">
                  <c:v>114.61</c:v>
                </c:pt>
                <c:pt idx="59">
                  <c:v>118.47</c:v>
                </c:pt>
                <c:pt idx="60">
                  <c:v>119.76</c:v>
                </c:pt>
                <c:pt idx="61">
                  <c:v>123.5</c:v>
                </c:pt>
                <c:pt idx="62">
                  <c:v>121.16</c:v>
                </c:pt>
                <c:pt idx="63">
                  <c:v>119.98</c:v>
                </c:pt>
                <c:pt idx="64">
                  <c:v>117.9</c:v>
                </c:pt>
                <c:pt idx="65">
                  <c:v>117.63</c:v>
                </c:pt>
                <c:pt idx="66">
                  <c:v>112.02</c:v>
                </c:pt>
                <c:pt idx="67">
                  <c:v>105.92</c:v>
                </c:pt>
                <c:pt idx="68">
                  <c:v>101.03</c:v>
                </c:pt>
                <c:pt idx="69">
                  <c:v>101.69</c:v>
                </c:pt>
                <c:pt idx="70">
                  <c:v>99.54</c:v>
                </c:pt>
                <c:pt idx="71">
                  <c:v>100.01</c:v>
                </c:pt>
                <c:pt idx="72">
                  <c:v>105.1</c:v>
                </c:pt>
                <c:pt idx="73">
                  <c:v>102.56</c:v>
                </c:pt>
                <c:pt idx="74">
                  <c:v>109.97</c:v>
                </c:pt>
                <c:pt idx="75">
                  <c:v>105.13</c:v>
                </c:pt>
                <c:pt idx="76">
                  <c:v>107.45</c:v>
                </c:pt>
                <c:pt idx="77">
                  <c:v>105.89</c:v>
                </c:pt>
                <c:pt idx="78">
                  <c:v>116.63</c:v>
                </c:pt>
                <c:pt idx="79">
                  <c:v>119.35</c:v>
                </c:pt>
                <c:pt idx="80">
                  <c:v>116.84</c:v>
                </c:pt>
                <c:pt idx="81">
                  <c:v>115.34</c:v>
                </c:pt>
                <c:pt idx="82">
                  <c:v>112.16</c:v>
                </c:pt>
                <c:pt idx="83">
                  <c:v>115.76</c:v>
                </c:pt>
                <c:pt idx="84">
                  <c:v>112.15</c:v>
                </c:pt>
                <c:pt idx="85">
                  <c:v>114.07</c:v>
                </c:pt>
                <c:pt idx="86">
                  <c:v>116.9</c:v>
                </c:pt>
                <c:pt idx="87">
                  <c:v>118.65</c:v>
                </c:pt>
                <c:pt idx="88">
                  <c:v>112.91</c:v>
                </c:pt>
                <c:pt idx="89">
                  <c:v>119.06</c:v>
                </c:pt>
                <c:pt idx="90">
                  <c:v>118.06</c:v>
                </c:pt>
                <c:pt idx="91">
                  <c:v>118.88</c:v>
                </c:pt>
                <c:pt idx="92">
                  <c:v>119.47</c:v>
                </c:pt>
                <c:pt idx="93">
                  <c:v>120.49</c:v>
                </c:pt>
                <c:pt idx="94">
                  <c:v>119.67</c:v>
                </c:pt>
                <c:pt idx="95">
                  <c:v>122.34</c:v>
                </c:pt>
                <c:pt idx="96">
                  <c:v>130.78</c:v>
                </c:pt>
                <c:pt idx="97">
                  <c:v>130.35</c:v>
                </c:pt>
                <c:pt idx="98">
                  <c:v>136.53</c:v>
                </c:pt>
                <c:pt idx="99">
                  <c:v>135.78</c:v>
                </c:pt>
                <c:pt idx="100">
                  <c:v>141.32</c:v>
                </c:pt>
                <c:pt idx="101">
                  <c:v>143.6</c:v>
                </c:pt>
                <c:pt idx="102">
                  <c:v>154.07</c:v>
                </c:pt>
                <c:pt idx="103">
                  <c:v>153.47</c:v>
                </c:pt>
                <c:pt idx="104">
                  <c:v>154.85</c:v>
                </c:pt>
                <c:pt idx="105">
                  <c:v>153.02</c:v>
                </c:pt>
                <c:pt idx="106">
                  <c:v>152.54</c:v>
                </c:pt>
                <c:pt idx="107">
                  <c:v>143.36</c:v>
                </c:pt>
                <c:pt idx="108">
                  <c:v>148.89</c:v>
                </c:pt>
                <c:pt idx="109">
                  <c:v>154.95</c:v>
                </c:pt>
                <c:pt idx="110">
                  <c:v>157.01</c:v>
                </c:pt>
                <c:pt idx="111">
                  <c:v>158.45</c:v>
                </c:pt>
                <c:pt idx="112">
                  <c:v>157.14</c:v>
                </c:pt>
                <c:pt idx="113">
                  <c:v>166.8</c:v>
                </c:pt>
                <c:pt idx="114">
                  <c:v>176.84</c:v>
                </c:pt>
                <c:pt idx="115">
                  <c:v>183.24</c:v>
                </c:pt>
                <c:pt idx="116">
                  <c:v>199.3</c:v>
                </c:pt>
                <c:pt idx="117">
                  <c:v>187.66</c:v>
                </c:pt>
                <c:pt idx="118">
                  <c:v>177.58</c:v>
                </c:pt>
                <c:pt idx="119">
                  <c:v>167.01</c:v>
                </c:pt>
                <c:pt idx="120">
                  <c:v>170.9</c:v>
                </c:pt>
                <c:pt idx="121">
                  <c:v>165.4</c:v>
                </c:pt>
                <c:pt idx="122">
                  <c:v>168.57</c:v>
                </c:pt>
                <c:pt idx="123">
                  <c:v>165.89</c:v>
                </c:pt>
                <c:pt idx="124">
                  <c:v>160</c:v>
                </c:pt>
                <c:pt idx="125">
                  <c:v>163.66</c:v>
                </c:pt>
                <c:pt idx="126">
                  <c:v>160.48</c:v>
                </c:pt>
                <c:pt idx="127">
                  <c:v>168.31</c:v>
                </c:pt>
                <c:pt idx="128">
                  <c:v>176.19</c:v>
                </c:pt>
                <c:pt idx="129">
                  <c:v>169.51</c:v>
                </c:pt>
                <c:pt idx="130">
                  <c:v>156.1</c:v>
                </c:pt>
                <c:pt idx="131">
                  <c:v>162.29</c:v>
                </c:pt>
                <c:pt idx="132">
                  <c:v>166.81</c:v>
                </c:pt>
                <c:pt idx="133">
                  <c:v>169.53</c:v>
                </c:pt>
                <c:pt idx="134">
                  <c:v>163.31</c:v>
                </c:pt>
                <c:pt idx="135">
                  <c:v>161.58</c:v>
                </c:pt>
                <c:pt idx="136">
                  <c:v>164.84</c:v>
                </c:pt>
                <c:pt idx="137">
                  <c:v>157.28</c:v>
                </c:pt>
                <c:pt idx="138">
                  <c:v>161.4</c:v>
                </c:pt>
                <c:pt idx="139">
                  <c:v>162.89</c:v>
                </c:pt>
                <c:pt idx="140">
                  <c:v>161.46</c:v>
                </c:pt>
                <c:pt idx="141">
                  <c:v>166.31</c:v>
                </c:pt>
                <c:pt idx="142">
                  <c:v>177.09</c:v>
                </c:pt>
                <c:pt idx="143">
                  <c:v>179.2</c:v>
                </c:pt>
                <c:pt idx="144">
                  <c:v>183.75</c:v>
                </c:pt>
                <c:pt idx="145">
                  <c:v>188.26</c:v>
                </c:pt>
                <c:pt idx="146">
                  <c:v>197.49</c:v>
                </c:pt>
                <c:pt idx="147">
                  <c:v>191.58</c:v>
                </c:pt>
                <c:pt idx="148">
                  <c:v>186.6</c:v>
                </c:pt>
                <c:pt idx="149">
                  <c:v>208.21</c:v>
                </c:pt>
                <c:pt idx="150">
                  <c:v>197.98</c:v>
                </c:pt>
                <c:pt idx="151">
                  <c:v>198.8</c:v>
                </c:pt>
                <c:pt idx="152">
                  <c:v>205.96</c:v>
                </c:pt>
                <c:pt idx="153">
                  <c:v>227.47</c:v>
                </c:pt>
                <c:pt idx="154">
                  <c:v>226.03</c:v>
                </c:pt>
                <c:pt idx="155">
                  <c:v>225.46</c:v>
                </c:pt>
                <c:pt idx="156">
                  <c:v>220.23</c:v>
                </c:pt>
                <c:pt idx="157">
                  <c:v>214.29</c:v>
                </c:pt>
                <c:pt idx="158">
                  <c:v>209.82</c:v>
                </c:pt>
                <c:pt idx="159">
                  <c:v>213.07</c:v>
                </c:pt>
                <c:pt idx="160">
                  <c:v>221.03</c:v>
                </c:pt>
                <c:pt idx="161">
                  <c:v>205.27</c:v>
                </c:pt>
                <c:pt idx="162">
                  <c:v>208.75</c:v>
                </c:pt>
                <c:pt idx="163">
                  <c:v>203.88</c:v>
                </c:pt>
                <c:pt idx="164">
                  <c:v>212.53</c:v>
                </c:pt>
                <c:pt idx="165">
                  <c:v>214.7</c:v>
                </c:pt>
                <c:pt idx="166">
                  <c:v>218.69</c:v>
                </c:pt>
                <c:pt idx="167">
                  <c:v>216.28</c:v>
                </c:pt>
                <c:pt idx="168">
                  <c:v>208.59</c:v>
                </c:pt>
                <c:pt idx="169">
                  <c:v>199.91</c:v>
                </c:pt>
                <c:pt idx="170">
                  <c:v>220.85</c:v>
                </c:pt>
                <c:pt idx="171">
                  <c:v>209.55</c:v>
                </c:pt>
                <c:pt idx="172">
                  <c:v>217.47</c:v>
                </c:pt>
                <c:pt idx="173">
                  <c:v>222.16</c:v>
                </c:pt>
                <c:pt idx="174">
                  <c:v>206.99</c:v>
                </c:pt>
                <c:pt idx="175">
                  <c:v>203.94</c:v>
                </c:pt>
                <c:pt idx="176">
                  <c:v>212.03</c:v>
                </c:pt>
                <c:pt idx="177">
                  <c:v>168.07</c:v>
                </c:pt>
                <c:pt idx="178">
                  <c:v>158.7</c:v>
                </c:pt>
                <c:pt idx="179">
                  <c:v>168.46</c:v>
                </c:pt>
                <c:pt idx="180">
                  <c:v>160.85</c:v>
                </c:pt>
                <c:pt idx="181">
                  <c:v>148.9</c:v>
                </c:pt>
                <c:pt idx="182">
                  <c:v>141.37</c:v>
                </c:pt>
                <c:pt idx="183">
                  <c:v>147.68</c:v>
                </c:pt>
                <c:pt idx="184">
                  <c:v>148.49</c:v>
                </c:pt>
                <c:pt idx="185">
                  <c:v>143.34</c:v>
                </c:pt>
                <c:pt idx="186">
                  <c:v>146.33</c:v>
                </c:pt>
                <c:pt idx="187">
                  <c:v>143</c:v>
                </c:pt>
                <c:pt idx="188">
                  <c:v>147.19</c:v>
                </c:pt>
                <c:pt idx="189">
                  <c:v>153.34</c:v>
                </c:pt>
                <c:pt idx="190">
                  <c:v>147.12</c:v>
                </c:pt>
                <c:pt idx="191">
                  <c:v>151.49</c:v>
                </c:pt>
                <c:pt idx="192">
                  <c:v>153.28</c:v>
                </c:pt>
                <c:pt idx="193">
                  <c:v>155.73</c:v>
                </c:pt>
                <c:pt idx="194">
                  <c:v>158.37</c:v>
                </c:pt>
                <c:pt idx="195">
                  <c:v>162.16</c:v>
                </c:pt>
                <c:pt idx="196">
                  <c:v>157.28</c:v>
                </c:pt>
                <c:pt idx="197">
                  <c:v>146.86</c:v>
                </c:pt>
                <c:pt idx="198">
                  <c:v>139.84</c:v>
                </c:pt>
                <c:pt idx="199">
                  <c:v>141.84</c:v>
                </c:pt>
                <c:pt idx="200">
                  <c:v>147.76</c:v>
                </c:pt>
                <c:pt idx="201">
                  <c:v>142.54</c:v>
                </c:pt>
                <c:pt idx="202">
                  <c:v>145.77</c:v>
                </c:pt>
                <c:pt idx="203">
                  <c:v>145.77</c:v>
                </c:pt>
                <c:pt idx="204">
                  <c:v>140.62</c:v>
                </c:pt>
                <c:pt idx="205">
                  <c:v>141.25</c:v>
                </c:pt>
                <c:pt idx="206">
                  <c:v>135.03</c:v>
                </c:pt>
                <c:pt idx="207">
                  <c:v>137.81</c:v>
                </c:pt>
                <c:pt idx="208">
                  <c:v>137.54</c:v>
                </c:pt>
                <c:pt idx="209">
                  <c:v>138.34</c:v>
                </c:pt>
                <c:pt idx="210">
                  <c:v>147.9</c:v>
                </c:pt>
                <c:pt idx="211">
                  <c:v>138.26</c:v>
                </c:pt>
                <c:pt idx="212">
                  <c:v>139.6</c:v>
                </c:pt>
                <c:pt idx="213">
                  <c:v>150.68</c:v>
                </c:pt>
                <c:pt idx="214">
                  <c:v>155.27</c:v>
                </c:pt>
                <c:pt idx="215">
                  <c:v>162.01</c:v>
                </c:pt>
                <c:pt idx="216">
                  <c:v>169.77</c:v>
                </c:pt>
                <c:pt idx="217">
                  <c:v>170.73</c:v>
                </c:pt>
                <c:pt idx="218">
                  <c:v>168.21</c:v>
                </c:pt>
                <c:pt idx="219">
                  <c:v>170.23</c:v>
                </c:pt>
                <c:pt idx="220">
                  <c:v>185.31</c:v>
                </c:pt>
                <c:pt idx="221">
                  <c:v>175.8</c:v>
                </c:pt>
                <c:pt idx="222">
                  <c:v>177.43</c:v>
                </c:pt>
                <c:pt idx="223">
                  <c:v>173.21</c:v>
                </c:pt>
                <c:pt idx="224">
                  <c:v>177.62</c:v>
                </c:pt>
                <c:pt idx="225">
                  <c:v>183.61</c:v>
                </c:pt>
                <c:pt idx="226">
                  <c:v>182.67</c:v>
                </c:pt>
                <c:pt idx="227">
                  <c:v>193.22</c:v>
                </c:pt>
                <c:pt idx="228">
                  <c:v>190.93</c:v>
                </c:pt>
                <c:pt idx="229">
                  <c:v>200.06</c:v>
                </c:pt>
                <c:pt idx="230">
                  <c:v>201.17</c:v>
                </c:pt>
                <c:pt idx="231">
                  <c:v>209.87</c:v>
                </c:pt>
                <c:pt idx="232">
                  <c:v>195.47</c:v>
                </c:pt>
                <c:pt idx="233">
                  <c:v>192.98</c:v>
                </c:pt>
                <c:pt idx="234">
                  <c:v>193.58</c:v>
                </c:pt>
                <c:pt idx="235">
                  <c:v>189.91</c:v>
                </c:pt>
                <c:pt idx="236">
                  <c:v>190.37</c:v>
                </c:pt>
                <c:pt idx="237">
                  <c:v>191.91</c:v>
                </c:pt>
                <c:pt idx="238">
                  <c:v>196.79</c:v>
                </c:pt>
                <c:pt idx="239">
                  <c:v>195.3</c:v>
                </c:pt>
                <c:pt idx="240">
                  <c:v>191.83</c:v>
                </c:pt>
                <c:pt idx="241">
                  <c:v>198.46</c:v>
                </c:pt>
                <c:pt idx="242">
                  <c:v>215.64</c:v>
                </c:pt>
                <c:pt idx="243">
                  <c:v>209.35</c:v>
                </c:pt>
                <c:pt idx="244">
                  <c:v>218.17</c:v>
                </c:pt>
                <c:pt idx="245">
                  <c:v>197.06</c:v>
                </c:pt>
                <c:pt idx="246">
                  <c:v>201.75</c:v>
                </c:pt>
                <c:pt idx="247">
                  <c:v>201.72</c:v>
                </c:pt>
                <c:pt idx="248">
                  <c:v>206.53</c:v>
                </c:pt>
                <c:pt idx="249">
                  <c:v>212.37</c:v>
                </c:pt>
                <c:pt idx="250">
                  <c:v>201.39</c:v>
                </c:pt>
                <c:pt idx="251">
                  <c:v>194.43</c:v>
                </c:pt>
                <c:pt idx="252">
                  <c:v>190.81</c:v>
                </c:pt>
                <c:pt idx="253">
                  <c:v>189.17</c:v>
                </c:pt>
                <c:pt idx="254">
                  <c:v>189.28</c:v>
                </c:pt>
                <c:pt idx="255">
                  <c:v>183.27</c:v>
                </c:pt>
                <c:pt idx="256">
                  <c:v>176.86</c:v>
                </c:pt>
                <c:pt idx="257">
                  <c:v>182.2</c:v>
                </c:pt>
                <c:pt idx="258">
                  <c:v>183.6</c:v>
                </c:pt>
                <c:pt idx="259">
                  <c:v>181.02</c:v>
                </c:pt>
                <c:pt idx="260">
                  <c:v>182.18</c:v>
                </c:pt>
                <c:pt idx="261">
                  <c:v>178.72</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240"/>
          <c:min val="8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900" dirty="0">
                <a:solidFill>
                  <a:schemeClr val="tx2"/>
                </a:solidFill>
              </a:rPr>
              <a:t>Kansai Electric Power (Bourse de Tokyo : 9503)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29.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30.xml"/><Relationship Id="rId2" Type="http://schemas.openxmlformats.org/officeDocument/2006/relationships/chart" Target="../charts/chart31.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3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3200" b="1" dirty="0">
                <a:solidFill>
                  <a:srgbClr val="FFFFFF"/>
                </a:solidFill>
              </a:rPr>
              <a:t>Kansai Electric Power</a:t>
            </a:r>
            <a:endParaRPr lang="en-US" sz="32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344" dirty="0">
                <a:solidFill>
                  <a:srgbClr val="B9C4BE"/>
                </a:solidFill>
              </a:rPr>
              <a:t>Bourse de Tokyo : 9503  ·  Services aux collectivités / Électricité  ·  Japon</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732" dirty="0">
                <a:solidFill>
                  <a:srgbClr val="FFFFFF"/>
                </a:solidFill>
              </a:rPr>
              <a:t>Le leader japonais du nucléaire est légèrement bon marché, une fois les bénéfices records de 2025 normalisés</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B07A12"/>
          </a:solidFill>
          <a:ln w="12700">
            <a:solidFill>
              <a:srgbClr val="B07A12"/>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NEUTRE</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Conviction moyenne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2754 ¥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2970 ¥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+8 %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911" dirty="0">
                <a:solidFill>
                  <a:srgbClr val="8E9A94"/>
                </a:solidFill>
              </a:rPr>
              <a:t>Cours : clôture, 29 oct. 2026, avant les résultats S1</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3 070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0,85x</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P/B (tiers)</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290 Md¥ (−44 %)</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136" dirty="0">
                <a:solidFill>
                  <a:srgbClr val="B9C4BE"/>
                </a:solidFill>
              </a:rPr>
              <a:t>Résultat ordinaire guidé 2026</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2,9 %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du dividende</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251" b="1" dirty="0">
                <a:solidFill>
                  <a:schemeClr val="tx1"/>
                </a:solidFill>
              </a:rPr>
              <a:t>Le leader japonais du nucléaire est légèrement bon marché, une fois les bénéfices records de 2025 normalisés</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B07A12"/>
          </a:solidFill>
          <a:ln w="12700">
            <a:solidFill>
              <a:srgbClr val="B07A12"/>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NEUTRE</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2970 ¥</a:t>
            </a:r>
            <a:endParaRPr lang="en-US" sz="3000" dirty="0"/>
          </a:p>
          <a:p>
            <a:pPr indent="0" marL="0">
              <a:buNone/>
            </a:pPr>
            <a:r>
              <a:rPr lang="en-US" sz="1300" dirty="0">
                <a:solidFill>
                  <a:srgbClr val="5B6660"/>
                </a:solidFill>
              </a:rPr>
              <a:t>valeur centrale, +8 % vs 2754 ¥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45" dirty="0">
                <a:solidFill>
                  <a:srgbClr val="141A17"/>
                </a:solidFill>
              </a:rPr>
              <a:t>Kansai exploite 45 % de la capacité nucléaire en service au Japon et se traite 0,85x ses fonds propres. Mais l'exercice 2025 était un pic (taux de disponibilité nucléaire de 84 %, gains de décalage sur le combustible), et le plan de la société guide un résultat ordinaire en baisse de 44 % en 2026 et un ROE d'environ 8-9 %. Sur des rendements normalisés, le potentiel est à un chiffre : nous gardons le poids du modèle.</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Un actif unique</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232" dirty="0">
                <a:solidFill>
                  <a:srgbClr val="2A322E"/>
                </a:solidFill>
              </a:rPr>
              <a:t>Sept réacteurs à eau pressurisée (6 578 MW), 45 % de la capacité nucléaire en service au Japon. Chaque point de taux de disponibilité vaut environ 5,7 Md¥ de résultat ordinaire.</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Mais les bénéfices passés sont un pic</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126" dirty="0">
                <a:solidFill>
                  <a:srgbClr val="2A322E"/>
                </a:solidFill>
              </a:rPr>
              <a:t>Le résultat ordinaire de 518,5 Md¥ de l'exercice 2025 a profité d'une disponibilité de 84 % et de gains de décalage sur le combustible. La guidance 2026 est de 290 Md¥ et le plan 2026-28 tourne autour de 270 Md¥ en moyenne. Le PER passé surestime la valeur.</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Une distribution régulière, pas élevée</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183" dirty="0">
                <a:solidFill>
                  <a:srgbClr val="2A322E"/>
                </a:solidFill>
              </a:rPr>
              <a:t>Un taux de distribution de 25-35 %, un dividende progressif (80 ¥ guidés) et au moins 270 Md¥ rendus sur 2026-28, financés en partie par des cessions. Rendement de 2,9 %.</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Kansai Electric Power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Énergie</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250" dirty="0">
                <a:solidFill>
                  <a:srgbClr val="2A322E"/>
                </a:solidFill>
              </a:rPr>
              <a:t>Production, vente et gaz : 377 Md¥ sur les 519 Md¥ de résultat ordinaire 2025. Mix : 49 % nucléaire, 37 % thermique, 14 % hydraulique.</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Transport et distribution</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214" dirty="0">
                <a:solidFill>
                  <a:srgbClr val="2A322E"/>
                </a:solidFill>
              </a:rPr>
              <a:t>Réseau régulé (Kansai T&amp;D) : 63 Md¥. Plafond de revenus relevé de 149,6 Md¥ à partir de novembre 2026.</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Télécoms et numérique</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Fibre Optage et data centers : 47 Md¥.</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Immobilier</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Kanden Realty : 36 Md¥ ; plus de 550 Md¥ d'immobilier à céder dans le cadre du plan 2026.</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777" i="1" dirty="0">
                <a:solidFill>
                  <a:schemeClr val="tx2"/>
                </a:solidFill>
              </a:rPr>
              <a:t>Source : publications de la société ; Mix de production propre, ex. 2025 (94,2 TWh)</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62,7 %</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Disponibilité nucléaire</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136" dirty="0">
                <a:solidFill>
                  <a:srgbClr val="2A322E"/>
                </a:solidFill>
              </a:rPr>
              <a:t>Taux de disponibilité S1 ex. 2026 (77,2 % un an plus tôt) : les arrêts sont le principal facteur de variation.</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108 $/bbl</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Pétrole brut</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170" dirty="0">
                <a:solidFill>
                  <a:srgbClr val="2A322E"/>
                </a:solidFill>
              </a:rPr>
              <a:t>Moyenne S1 ex. 2026 contre 80 $ dans le plan ; les coûts du combustible sont répercutés avec 3 à 5 mois de décalage.</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160 ¥/$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Yen</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226" dirty="0">
                <a:solidFill>
                  <a:srgbClr val="2A322E"/>
                </a:solidFill>
              </a:rPr>
              <a:t>Chaque yen de variation contre le dollar vaut environ −1,2 Md¥ de profit.</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1er nov. 2026</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Réglementation</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198" dirty="0">
                <a:solidFill>
                  <a:srgbClr val="2A322E"/>
                </a:solidFill>
              </a:rPr>
              <a:t>Nouveaux tarifs d'acheminement après l'approbation du plafond de revenus.</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236" b="1" dirty="0">
                <a:solidFill>
                  <a:schemeClr val="tx1"/>
                </a:solidFill>
              </a:rPr>
              <a:t>Classé 1 sur 59 en Services aux collectivités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1,81, 1er sur 59 dans son secteur. </a:t>
            </a:r>
            <a:pPr indent="0" marL="0">
              <a:buNone/>
            </a:pPr>
            <a:r>
              <a:rPr lang="en-US" sz="1219" dirty="0">
                <a:solidFill>
                  <a:srgbClr val="2A322E"/>
                </a:solidFill>
              </a:rPr>
              <a:t>Le score fait la moyenne des z-scores ci-dessus (quatre ratios exprimés en rendements). Les comptes ne sont utilisés qu'à partir de la clôture + 6 mois : en décembre 2025, le screen lisait les comptes de l'exercice clos en mars 2025.</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pipeline du Portfolio Project (données Bloomberg) ; pairs : Engie, Power Assets, American Electric Power, Iberdrola, Enel, EDP (pairs du pipeline); Kyushu and Chubu Electric pour le Japon.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07" b="1" dirty="0">
                <a:solidFill>
                  <a:schemeClr val="tx1"/>
                </a:solidFill>
              </a:rPr>
              <a:t>Détenu à 2 rebalancements sur 10 depuis juin 2025</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B23A2E"/>
                </a:solidFill>
              </a:rPr>
              <a:t>−6,4 %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4,0 % / 4,0 %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S1 ex.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Guidance ex.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Chiffre d'affaires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4057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2235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4500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ordinaire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532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519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290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net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420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380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183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310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436 ¥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341 ¥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278 ¥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Dividende par action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75 ¥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40 ¥ acompte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80 ¥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Free cash flow</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233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80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−300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Dette nette / EBITDA</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3,8x</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~5x (plan)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bl>
          </a:graphicData>
        </a:graphic>
      </p:graphicFrame>
      <p:sp>
        <p:nvSpPr>
          <p:cNvPr id="5" name="Text 2"/>
          <p:cNvSpPr txBox="1"/>
          <p:nvPr/>
        </p:nvSpPr>
        <p:spPr>
          <a:xfrm>
            <a:off x="548640" y="5385816"/>
            <a:ext cx="11094415" cy="548640"/>
          </a:xfrm>
          <a:prstGeom prst="rect">
            <a:avLst/>
          </a:prstGeom>
          <a:noFill/>
          <a:ln/>
        </p:spPr>
        <p:txBody>
          <a:bodyPr wrap="square" lIns="0" tIns="0" rIns="0" bIns="0" rtlCol="0" anchor="t"/>
          <a:lstStyle/>
          <a:p>
            <a:pPr indent="0" marL="0">
              <a:buNone/>
            </a:pPr>
            <a:r>
              <a:rPr lang="en-US" sz="1019" dirty="0">
                <a:solidFill>
                  <a:srgbClr val="5B6660"/>
                </a:solidFill>
              </a:rPr>
              <a:t>*Inclut une plus-value de 105 Md¥ sur les actions Kinden. Exercice clos le 31 mars (ex. 2025 = avr. 2025-mars 2026). Sources : résultats Kansai Electric ex. 2025 et S1 ex.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Là où nous divergeons du marché</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CE QUE CROIT LE MARCHÉ</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NOTRE LECTURE</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224" i="1" dirty="0">
                <a:solidFill>
                  <a:srgbClr val="141A17"/>
                </a:solidFill>
              </a:rPr>
              <a:t>« Les data centers vont faire exploser la demande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220" dirty="0">
                <a:solidFill>
                  <a:srgbClr val="141A17"/>
                </a:solidFill>
              </a:rPr>
              <a:t>La demande de la région du Kansai est stable : 133,7 TWh en 2025 et 133,1 TWh prévus en 2026.</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334" i="1" dirty="0">
                <a:solidFill>
                  <a:srgbClr val="141A17"/>
                </a:solidFill>
              </a:rPr>
              <a:t>« La chute du S1 est temporaire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118" dirty="0">
                <a:solidFill>
                  <a:srgbClr val="141A17"/>
                </a:solidFill>
              </a:rPr>
              <a:t>En partie : le décalage de −87 Md¥ sur le combustible devrait s'inverser. Mais les arrêts (62,7 % de disponibilité) et 2 500 Md¥ d'investissements sont structurels.</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À 0,85x les fonds propres, c'est forcément bon marché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229" dirty="0">
                <a:solidFill>
                  <a:srgbClr val="141A17"/>
                </a:solidFill>
              </a:rPr>
              <a:t>Seulement si le ROE reste proche de 9 % ; le plan lui-même vise environ 8,7 %, et le ROE normalisé est plus proche de 6-7 %.</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99" b="1" dirty="0">
                <a:solidFill>
                  <a:schemeClr val="tx1"/>
                </a:solidFill>
              </a:rPr>
              <a:t>Valeur centrale 2970 ¥ par action, +8 %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212" b="1" dirty="0">
                <a:solidFill>
                  <a:srgbClr val="0E6B4F"/>
                </a:solidFill>
              </a:rPr>
              <a:t>Méthode : Multiple justifié des fonds propres (Gordon)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945" dirty="0">
                          <a:solidFill>
                            <a:srgbClr val="2A322E"/>
                          </a:solidFill>
                          <a:latin typeface="Arial" pitchFamily="34" charset="0"/>
                          <a:ea typeface="Arial" pitchFamily="34" charset="-122"/>
                          <a:cs typeface="Arial" pitchFamily="34" charset="-120"/>
                        </a:rPr>
                        <a:t>ROE 5,5 %, CoE 7,0 % → 0,75x les fonds propres</a:t>
                      </a:r>
                      <a:endParaRPr lang="en-US" sz="1100" dirty="0">
                        <a:latin typeface="Arial" charset="0"/>
                        <a:ea typeface="Arial" charset="0"/>
                        <a:cs typeface="Arial" charset="0"/>
                      </a:endParaRPr>
                    </a:p>
                    <a:p>
                      <a:pPr indent="0" marL="0">
                        <a:buNone/>
                      </a:pPr>
                      <a:r>
                        <a:rPr lang="en-US" sz="945" dirty="0">
                          <a:solidFill>
                            <a:srgbClr val="2A322E"/>
                          </a:solidFill>
                          <a:latin typeface="Arial" pitchFamily="34" charset="0"/>
                          <a:ea typeface="Arial" pitchFamily="34" charset="-122"/>
                          <a:cs typeface="Arial" pitchFamily="34" charset="-120"/>
                        </a:rPr>
                        <a:t>Les arrêts de réacteurs durent ; les investissements diluent la rentabilité</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2430 ¥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−12 %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945" dirty="0">
                          <a:solidFill>
                            <a:srgbClr val="2A322E"/>
                          </a:solidFill>
                          <a:latin typeface="Arial" pitchFamily="34" charset="0"/>
                          <a:ea typeface="Arial" pitchFamily="34" charset="-122"/>
                          <a:cs typeface="Arial" pitchFamily="34" charset="-120"/>
                        </a:rPr>
                        <a:t>ROE 6,5 %, CoE 7,0 % → 0,92x les fonds propres</a:t>
                      </a:r>
                      <a:endParaRPr lang="en-US" sz="1100" dirty="0">
                        <a:latin typeface="Arial" charset="0"/>
                        <a:ea typeface="Arial" charset="0"/>
                        <a:cs typeface="Arial" charset="0"/>
                      </a:endParaRPr>
                    </a:p>
                    <a:p>
                      <a:pPr indent="0" marL="0">
                        <a:buNone/>
                      </a:pPr>
                      <a:r>
                        <a:rPr lang="en-US" sz="990" dirty="0">
                          <a:solidFill>
                            <a:srgbClr val="2A322E"/>
                          </a:solidFill>
                          <a:latin typeface="Arial" pitchFamily="34" charset="0"/>
                          <a:ea typeface="Arial" pitchFamily="34" charset="-122"/>
                          <a:cs typeface="Arial" pitchFamily="34" charset="-120"/>
                        </a:rPr>
                        <a:t>ROE normalisé sur les profits du plan</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2970 ¥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+8 %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945" dirty="0">
                          <a:solidFill>
                            <a:srgbClr val="2A322E"/>
                          </a:solidFill>
                          <a:latin typeface="Arial" pitchFamily="34" charset="0"/>
                          <a:ea typeface="Arial" pitchFamily="34" charset="-122"/>
                          <a:cs typeface="Arial" pitchFamily="34" charset="-120"/>
                        </a:rPr>
                        <a:t>ROE 8,5 %, CoE 6,5 % → 1,36x les fonds propres</a:t>
                      </a:r>
                      <a:endParaRPr lang="en-US" sz="1100" dirty="0">
                        <a:latin typeface="Arial" charset="0"/>
                        <a:ea typeface="Arial" charset="0"/>
                        <a:cs typeface="Arial" charset="0"/>
                      </a:endParaRPr>
                    </a:p>
                    <a:p>
                      <a:pPr indent="0" marL="0">
                        <a:buNone/>
                      </a:pPr>
                      <a:r>
                        <a:rPr lang="en-US" sz="955" dirty="0">
                          <a:solidFill>
                            <a:srgbClr val="2A322E"/>
                          </a:solidFill>
                          <a:latin typeface="Arial" pitchFamily="34" charset="0"/>
                          <a:ea typeface="Arial" pitchFamily="34" charset="-122"/>
                          <a:cs typeface="Arial" pitchFamily="34" charset="-120"/>
                        </a:rPr>
                        <a:t>ROE du plan atteint ; nucléaire au-dessus de 70 %</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4418 ¥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+60 %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073" dirty="0">
                <a:solidFill>
                  <a:srgbClr val="2A322E"/>
                </a:solidFill>
              </a:rPr>
              <a:t>Un électricien mi-régulé, mi-marchand vaut (ROE − g) / (coût des fonds propres − g) fois ses fonds propres. Nous prenons les fonds propres par action implicites dans le P/B tiers de 0,85x, une croissance de long terme de 1 %, un coût des fonds propres de 6,5-7 %, et un ROE entre le niveau normalisé (~5,5-6,5 %) et les ~8,5 % du plan.</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8034594" y="2542032"/>
            <a:ext cx="1181565"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2184 ¥ - 3053 ¥</a:t>
            </a:r>
            <a:endParaRPr lang="en-US" sz="1000" dirty="0"/>
          </a:p>
        </p:txBody>
      </p:sp>
      <p:sp>
        <p:nvSpPr>
          <p:cNvPr id="11" name="Shape 8"/>
          <p:cNvSpPr/>
          <p:nvPr/>
        </p:nvSpPr>
        <p:spPr>
          <a:xfrm>
            <a:off x="8809848" y="2478024"/>
            <a:ext cx="0" cy="438912"/>
          </a:xfrm>
          <a:prstGeom prst="line">
            <a:avLst/>
          </a:prstGeom>
          <a:noFill/>
          <a:ln w="25400">
            <a:solidFill>
              <a:srgbClr val="141A17"/>
            </a:solidFill>
            <a:prstDash val="solid"/>
          </a:ln>
        </p:spPr>
        <p:txBody>
          <a:bodyPr/>
          <a:p/>
        </p:txBody>
      </p:sp>
      <p:sp>
        <p:nvSpPr>
          <p:cNvPr id="12" name="Shape 9"/>
          <p:cNvSpPr/>
          <p:nvPr/>
        </p:nvSpPr>
        <p:spPr>
          <a:xfrm>
            <a:off x="9103371"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8369564" y="3502152"/>
            <a:ext cx="2701742"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2430 ¥ - 4418 ¥</a:t>
            </a:r>
            <a:endParaRPr lang="en-US" sz="1000" dirty="0"/>
          </a:p>
        </p:txBody>
      </p:sp>
      <p:sp>
        <p:nvSpPr>
          <p:cNvPr id="16" name="Shape 13"/>
          <p:cNvSpPr/>
          <p:nvPr/>
        </p:nvSpPr>
        <p:spPr>
          <a:xfrm>
            <a:off x="8809848" y="3438144"/>
            <a:ext cx="0" cy="438912"/>
          </a:xfrm>
          <a:prstGeom prst="line">
            <a:avLst/>
          </a:prstGeom>
          <a:noFill/>
          <a:ln w="25400">
            <a:solidFill>
              <a:srgbClr val="141A17"/>
            </a:solidFill>
            <a:prstDash val="solid"/>
          </a:ln>
        </p:spPr>
        <p:txBody>
          <a:bodyPr/>
          <a:p/>
        </p:txBody>
      </p:sp>
      <p:sp>
        <p:nvSpPr>
          <p:cNvPr id="17" name="Shape 14"/>
          <p:cNvSpPr/>
          <p:nvPr/>
        </p:nvSpPr>
        <p:spPr>
          <a:xfrm>
            <a:off x="9103371" y="3438144"/>
            <a:ext cx="0" cy="438912"/>
          </a:xfrm>
          <a:prstGeom prst="line">
            <a:avLst/>
          </a:prstGeom>
          <a:noFill/>
          <a:ln w="25400">
            <a:solidFill>
              <a:srgbClr val="0E6B4F"/>
            </a:solidFill>
            <a:prstDash val="dash"/>
          </a:ln>
        </p:spPr>
        <p:txBody>
          <a:bodyPr/>
          <a:p/>
        </p:txBody>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Objectif du consensus (tiers)</a:t>
            </a:r>
            <a:endParaRPr lang="en-US" sz="1100" dirty="0"/>
          </a:p>
        </p:txBody>
      </p:sp>
      <p:sp>
        <p:nvSpPr>
          <p:cNvPr id="19" name="Shape 16"/>
          <p:cNvSpPr/>
          <p:nvPr/>
        </p:nvSpPr>
        <p:spPr>
          <a:xfrm>
            <a:off x="9087064" y="4462272"/>
            <a:ext cx="73152" cy="310896"/>
          </a:xfrm>
          <a:prstGeom prst="rect">
            <a:avLst/>
          </a:prstGeom>
          <a:solidFill>
            <a:srgbClr val="9AAAA2"/>
          </a:solidFill>
          <a:ln w="12700">
            <a:solidFill>
              <a:srgbClr val="9AAAA2"/>
            </a:solidFill>
            <a:prstDash val="solid"/>
          </a:ln>
        </p:spPr>
        <p:txBody>
          <a:bodyPr/>
          <a:p/>
        </p:txBody>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2958 ¥</a:t>
            </a:r>
            <a:endParaRPr lang="en-US" sz="1000" dirty="0"/>
          </a:p>
        </p:txBody>
      </p:sp>
      <p:sp>
        <p:nvSpPr>
          <p:cNvPr id="21" name="Shape 18"/>
          <p:cNvSpPr/>
          <p:nvPr/>
        </p:nvSpPr>
        <p:spPr>
          <a:xfrm>
            <a:off x="8809848" y="4398264"/>
            <a:ext cx="0" cy="438912"/>
          </a:xfrm>
          <a:prstGeom prst="line">
            <a:avLst/>
          </a:prstGeom>
          <a:noFill/>
          <a:ln w="25400">
            <a:solidFill>
              <a:srgbClr val="141A17"/>
            </a:solidFill>
            <a:prstDash val="solid"/>
          </a:ln>
        </p:spPr>
        <p:txBody>
          <a:bodyPr/>
          <a:p/>
        </p:txBody>
      </p:sp>
      <p:sp>
        <p:nvSpPr>
          <p:cNvPr id="22" name="Shape 19"/>
          <p:cNvSpPr/>
          <p:nvPr/>
        </p:nvSpPr>
        <p:spPr>
          <a:xfrm>
            <a:off x="9103371" y="4398264"/>
            <a:ext cx="0" cy="438912"/>
          </a:xfrm>
          <a:prstGeom prst="line">
            <a:avLst/>
          </a:prstGeom>
          <a:noFill/>
          <a:ln w="25400">
            <a:solidFill>
              <a:srgbClr val="0E6B4F"/>
            </a:solidFill>
            <a:prstDash val="dash"/>
          </a:ln>
        </p:spPr>
        <p:txBody>
          <a:bodyPr/>
          <a:p/>
        </p:txBody>
      </p:sp>
      <p:sp>
        <p:nvSpPr>
          <p:cNvPr id="23" name="Text 20"/>
          <p:cNvSpPr txBox="1"/>
          <p:nvPr/>
        </p:nvSpPr>
        <p:spPr>
          <a:xfrm>
            <a:off x="7986888"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2754 ¥</a:t>
            </a:r>
            <a:endParaRPr lang="en-US" sz="1000" dirty="0"/>
          </a:p>
        </p:txBody>
      </p:sp>
      <p:sp>
        <p:nvSpPr>
          <p:cNvPr id="24" name="Text 21"/>
          <p:cNvSpPr txBox="1"/>
          <p:nvPr/>
        </p:nvSpPr>
        <p:spPr>
          <a:xfrm>
            <a:off x="8280411"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2970 ¥</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1er nov.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Hausse des tarifs d'acheminement</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Fin janv. 2027</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T3 2026 : le décalage sur le combustible s'inverse-t-il avec la baisse du pétrole ?</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Fin avr.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328" dirty="0">
                <a:solidFill>
                  <a:srgbClr val="141A17"/>
                </a:solidFill>
              </a:rPr>
              <a:t>Résultats 2026, guidance 2027 et première année pleine à 25-35 % de distribution</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2026-28</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Nouvelles cessions de participations (230 Md¥ réalisés sur un objectif de plus de 380 Md¥)</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En continu</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48" dirty="0">
                <a:solidFill>
                  <a:srgbClr val="141A17"/>
                </a:solidFill>
              </a:rPr>
              <a:t>Dates de redémarrage des réacteurs, qui ramènent la disponibilité vers 70 % et plus</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303" dirty="0">
                <a:solidFill>
                  <a:srgbClr val="141A17"/>
                </a:solidFill>
              </a:rPr>
              <a:t>Relèvement si la guidance de ROE repasse au-dessus de 9 % avec une disponibilité au-dessus de 75 %</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39" b="1" dirty="0">
                <a:solidFill>
                  <a:schemeClr val="tx1"/>
                </a:solidFill>
              </a:rPr>
              <a:t>Risques, atténuations et ce qui nous ferait vendre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205" b="1" dirty="0">
                          <a:solidFill>
                            <a:srgbClr val="141A17"/>
                          </a:solidFill>
                          <a:latin typeface="Arial" pitchFamily="34" charset="0"/>
                          <a:ea typeface="Arial" pitchFamily="34" charset="-122"/>
                          <a:cs typeface="Arial" pitchFamily="34" charset="-120"/>
                        </a:rPr>
                        <a:t>Arrêts prolongés ou injonctions judiciaires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Plus grand parc du Japon : réparti sur 3 sites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Combustible et yen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Répercussion avec décalage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2 500 Md¥ d'investissements et augmentation de capital possible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Cessions d'actifs &gt; 550 Md¥</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Tarifs régulés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Plafond T&amp;D tout juste relevé</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NOUS CHANGEONS D'AVIS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216" dirty="0">
                <a:solidFill>
                  <a:srgbClr val="141A17"/>
                </a:solidFill>
              </a:rPr>
              <a:t>Relèvement si la guidance de ROE repasse au-dessus de 9 % avec une disponibilité au-dessus de 75 %</a:t>
            </a:r>
            <a:endParaRPr lang="en-US" sz="1400" dirty="0"/>
          </a:p>
          <a:p>
            <a:pPr marL="342900" indent="-342900">
              <a:spcAft>
                <a:spcPts val="1000"/>
              </a:spcAft>
              <a:buSzPct val="100000"/>
              <a:buChar char="•"/>
            </a:pPr>
            <a:r>
              <a:rPr lang="en-US" sz="1204" dirty="0">
                <a:solidFill>
                  <a:srgbClr val="141A17"/>
                </a:solidFill>
              </a:rPr>
              <a:t>Abaissement en cas de nouvelle augmentation de capital ou d'injonction sur un réacteur</a:t>
            </a:r>
            <a:endParaRPr lang="en-US" sz="1400" dirty="0"/>
          </a:p>
          <a:p>
            <a:pPr marL="342900" indent="-342900">
              <a:spcAft>
                <a:spcPts val="1000"/>
              </a:spcAft>
              <a:buSzPct val="100000"/>
              <a:buChar char="•"/>
            </a:pPr>
            <a:r>
              <a:rPr lang="en-US" sz="1301" dirty="0">
                <a:solidFill>
                  <a:srgbClr val="141A17"/>
                </a:solidFill>
              </a:rPr>
              <a:t>Abaissement si la politique de dividende progressif est abandonnée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[K1] Kansai Electric Power, *FY2025 Financial Report* (results presentation), 30 Apr 2026</a:t>
            </a:r>
            <a:endParaRPr lang="en-US" sz="1000" dirty="0"/>
          </a:p>
          <a:p>
            <a:pPr indent="0" marL="0">
              <a:spcAft>
                <a:spcPts val="500"/>
              </a:spcAft>
              <a:buNone/>
            </a:pPr>
            <a:r>
              <a:rPr lang="en-US" sz="1000" dirty="0">
                <a:solidFill>
                  <a:srgbClr val="2A322E"/>
                </a:solidFill>
              </a:rPr>
              <a:t>[K2] Kansai Electric Power, *T1 FY2026 Financial Report*, 31 Jul 2026</a:t>
            </a:r>
            <a:endParaRPr lang="en-US" sz="1000" dirty="0"/>
          </a:p>
          <a:p>
            <a:pPr indent="0" marL="0">
              <a:spcAft>
                <a:spcPts val="500"/>
              </a:spcAft>
              <a:buNone/>
            </a:pPr>
            <a:r>
              <a:rPr lang="en-US" sz="1000" dirty="0">
                <a:solidFill>
                  <a:srgbClr val="2A322E"/>
                </a:solidFill>
              </a:rPr>
              <a:t>[K3] Kansai Electric Power, *T2 FY2026 Financial Report*, 29 Oct 2026</a:t>
            </a:r>
            <a:endParaRPr lang="en-US" sz="1000" dirty="0"/>
          </a:p>
          <a:p>
            <a:pPr indent="0" marL="0">
              <a:spcAft>
                <a:spcPts val="500"/>
              </a:spcAft>
              <a:buNone/>
            </a:pPr>
            <a:r>
              <a:rPr lang="en-US" sz="1000" dirty="0">
                <a:solidFill>
                  <a:srgbClr val="2A322E"/>
                </a:solidFill>
              </a:rPr>
              <a:t>[K4] Kansai Electric Power Group, *Management Plan 2026: Kanden Transformation toward 2040*, April 2026</a:t>
            </a:r>
            <a:endParaRPr lang="en-US" sz="1000" dirty="0"/>
          </a:p>
          <a:p>
            <a:pPr indent="0" marL="0">
              <a:spcAft>
                <a:spcPts val="500"/>
              </a:spcAft>
              <a:buNone/>
            </a:pPr>
            <a:r>
              <a:rPr lang="en-US" sz="1000" dirty="0">
                <a:solidFill>
                  <a:srgbClr val="2A322E"/>
                </a:solidFill>
              </a:rPr>
              <a:t>[K5] Kansai Electric Power, *Notice Regarding Revision of Shareholder Return Policy*, 30 Apr 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[K6] Kansai Electric Power, notice on the sale of Kinden shares in the tender offer, 2 Jun 2026</a:t>
            </a:r>
            <a:endParaRPr lang="en-US" sz="1000" dirty="0"/>
          </a:p>
          <a:p>
            <a:pPr indent="0" marL="0">
              <a:spcAft>
                <a:spcPts val="500"/>
              </a:spcAft>
              <a:buNone/>
            </a:pPr>
            <a:r>
              <a:rPr lang="en-US" sz="1000" dirty="0">
                <a:solidFill>
                  <a:srgbClr val="2A322E"/>
                </a:solidFill>
              </a:rPr>
              <a:t>[K7] World Nuclear News, "Kansai begins surveys of Mihama site for new reactor", Nov 2025</a:t>
            </a:r>
            <a:endParaRPr lang="en-US" sz="1000" dirty="0"/>
          </a:p>
          <a:p>
            <a:pPr indent="0" marL="0">
              <a:spcAft>
                <a:spcPts val="500"/>
              </a:spcAft>
              <a:buNone/>
            </a:pPr>
            <a:r>
              <a:rPr lang="en-US" sz="1000" dirty="0">
                <a:solidFill>
                  <a:srgbClr val="2A322E"/>
                </a:solidFill>
              </a:rPr>
              <a:t>[K8] BNN Bloomberg, "Kansai Electric to raise up to 3,3 $ billion from share sale", 13 Nov 2024</a:t>
            </a:r>
            <a:endParaRPr lang="en-US" sz="1000" dirty="0"/>
          </a:p>
          <a:p>
            <a:pPr indent="0" marL="0">
              <a:spcAft>
                <a:spcPts val="500"/>
              </a:spcAft>
              <a:buNone/>
            </a:pPr>
            <a:r>
              <a:rPr lang="en-US" sz="1000" dirty="0">
                <a:solidFill>
                  <a:srgbClr val="2A322E"/>
                </a:solidFill>
              </a:rPr>
              <a:t>[K9] StockAnalysis.com, 9503 quote and statistics (third-party, delayed), 29 Oct 2026</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Kansai Electric Power stock pitch</dc:title>
  <dc:subject>PptxGenJS Presentation</dc:subject>
  <dc:creator>Noah Doose</dc:creator>
  <cp:lastModifiedBy>Noah Doose</cp:lastModifiedBy>
  <cp:revision>1</cp:revision>
  <dcterms:created xsi:type="dcterms:W3CDTF">2026-10-30T06:38:34Z</dcterms:created>
  <dcterms:modified xsi:type="dcterms:W3CDTF">2026-10-30T06:38:34Z</dcterms:modified>
</cp:coreProperties>
</file>