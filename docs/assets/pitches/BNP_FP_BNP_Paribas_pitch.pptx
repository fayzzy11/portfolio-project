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5.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8.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07f346b-1f57-7a06-d9cb-68c4d95f3367}">
          <p14:sldIdLst>
            <p14:sldId id="256"/>
          </p14:sldIdLst>
        </p14:section>
        <p14:section name="Thesis" id="{3057fc87-6cf8-676c-d2e7-7eecc4e1f0f2}">
          <p14:sldIdLst>
            <p14:sldId id="257"/>
          </p14:sldIdLst>
        </p14:section>
        <p14:section name="Company" id="{bb2dc669-ff37-65f6-3fb6-a17f45cbcae8}">
          <p14:sldIdLst>
            <p14:sldId id="258"/>
            <p14:sldId id="259"/>
          </p14:sldIdLst>
        </p14:section>
        <p14:section name="Screen" id="{545aca6d-e0be-6a4c-8694-d79fb941fde9}">
          <p14:sldIdLst>
            <p14:sldId id="260"/>
            <p14:sldId id="261"/>
          </p14:sldIdLst>
        </p14:section>
        <p14:section name="Financials" id="{59c22130-5897-5cb1-32e1-e163b3e9e971}">
          <p14:sldIdLst>
            <p14:sldId id="262"/>
            <p14:sldId id="263"/>
          </p14:sldIdLst>
        </p14:section>
        <p14:section name="Valuation" id="{6d045285-03e5-a50d-2fb6-4c242c222ca9}">
          <p14:sldIdLst>
            <p14:sldId id="264"/>
          </p14:sldIdLst>
        </p14:section>
        <p14:section name="Catalysts and risks" id="{c67e2557-de2e-03e4-9031-0b18a69559ee}">
          <p14:sldIdLst>
            <p14:sldId id="265"/>
            <p14:sldId id="266"/>
          </p14:sldIdLst>
        </p14:section>
        <p14:section name="Sources" id="{e11915c4-89a5-cffb-fa5c-6c8588a731b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Division revenues (NBI), 9M 2026 (share of total)</a:t>
            </a:r>
          </a:p>
        </c:rich>
      </c:tx>
      <c:layout/>
      <c:overlay val="0"/>
    </c:title>
    <c:autoTitleDeleted val="0"/>
    <c:plotArea>
      <c:layout/>
      <c:barChart>
        <c:barDir val="bar"/>
        <c:grouping val="clustered"/>
        <c:varyColors val="0"/>
        <c:ser>
          <c:idx val="0"/>
          <c:order val="0"/>
          <c:tx>
            <c:strRef>
              <c:f>Sheet1!$B$1</c:f>
              <c:strCache>
                <c:ptCount val="1"/>
                <c:pt idx="0">
                  <c:v>Division revenues (NBI), 9M 2026</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Commercial, Personal Banking &amp; Services</c:v>
                  </c:pt>
                  <c:pt idx="1">
                    <c:v>Corporate &amp; Institutional Banking</c:v>
                  </c:pt>
                  <c:pt idx="2">
                    <c:v>Investment &amp; Protection Services</c:v>
                  </c:pt>
                </c:lvl>
              </c:multiLvlStrCache>
            </c:multiLvlStrRef>
          </c:cat>
          <c:val>
            <c:numRef>
              <c:f>Sheet1!$B$2:$B$4</c:f>
              <c:numCache>
                <c:formatCode>General</c:formatCode>
                <c:ptCount val="3"/>
                <c:pt idx="0">
                  <c:v>0.4884160756501182</c:v>
                </c:pt>
                <c:pt idx="1">
                  <c:v>0.37174940898345155</c:v>
                </c:pt>
                <c:pt idx="2">
                  <c:v>0.13983451536643027</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at 31 Dec 2025 (last usable fiscal year)</a:t>
            </a:r>
          </a:p>
        </c:rich>
      </c:tx>
      <c:layout/>
      <c:overlay val="0"/>
    </c:title>
    <c:autoTitleDeleted val="0"/>
    <c:plotArea>
      <c:layout/>
      <c:barChart>
        <c:barDir val="col"/>
        <c:grouping val="clustered"/>
        <c:varyColors val="0"/>
        <c:ser>
          <c:idx val="0"/>
          <c:order val="0"/>
          <c:tx>
            <c:strRef>
              <c:f>Sheet1!$B$1</c:f>
              <c:strCache>
                <c:ptCount val="1"/>
                <c:pt idx="0">
                  <c:v>BNP Paribas</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P/E</c:v>
                  </c:pt>
                  <c:pt idx="1">
                    <c:v>P/B</c:v>
                  </c:pt>
                  <c:pt idx="2">
                    <c:v>EV/Sales</c:v>
                  </c:pt>
                </c:lvl>
              </c:multiLvlStrCache>
            </c:multiLvlStrRef>
          </c:cat>
          <c:val>
            <c:numRef>
              <c:f>Sheet1!$B$2:$B$4</c:f>
              <c:numCache>
                <c:formatCode>General</c:formatCode>
                <c:ptCount val="3"/>
                <c:pt idx="0">
                  <c:v>7.72</c:v>
                </c:pt>
                <c:pt idx="1">
                  <c:v>0.78</c:v>
                </c:pt>
                <c:pt idx="2">
                  <c:v>1.49</c:v>
                </c:pt>
              </c:numCache>
            </c:numRef>
          </c:val>
        </c:ser>
        <c:ser>
          <c:idx val="1"/>
          <c:order val="1"/>
          <c:tx>
            <c:strRef>
              <c:f>Sheet1!$C$1</c:f>
              <c:strCache>
                <c:ptCount val="1"/>
                <c:pt idx="0">
                  <c:v>Peer median</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P/E</c:v>
                  </c:pt>
                  <c:pt idx="1">
                    <c:v>P/B</c:v>
                  </c:pt>
                  <c:pt idx="2">
                    <c:v>EV/Sales</c:v>
                  </c:pt>
                </c:lvl>
              </c:multiLvlStrCache>
            </c:multiLvlStrRef>
          </c:cat>
          <c:val>
            <c:numRef>
              <c:f>Sheet1!$C$2:$C$4</c:f>
              <c:numCache>
                <c:formatCode>General</c:formatCode>
                <c:ptCount val="3"/>
                <c:pt idx="0">
                  <c:v>11.64</c:v>
                </c:pt>
                <c:pt idx="1">
                  <c:v>1.2</c:v>
                </c:pt>
                <c:pt idx="2">
                  <c:v>2.87</c:v>
                </c:pt>
              </c:numCache>
            </c:numRef>
          </c:val>
        </c:ser>
        <c:ser>
          <c:idx val="2"/>
          <c:order val="2"/>
          <c:tx>
            <c:strRef>
              <c:f>Sheet1!$D$1</c:f>
              <c:strCache>
                <c:ptCount val="1"/>
                <c:pt idx="0">
                  <c:v>Sector median</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P/E</c:v>
                  </c:pt>
                  <c:pt idx="1">
                    <c:v>P/B</c:v>
                  </c:pt>
                  <c:pt idx="2">
                    <c:v>EV/Sales</c:v>
                  </c:pt>
                </c:lvl>
              </c:multiLvlStrCache>
            </c:multiLvlStrRef>
          </c:cat>
          <c:val>
            <c:numRef>
              <c:f>Sheet1!$D$2:$D$4</c:f>
              <c:numCache>
                <c:formatCode>General</c:formatCode>
                <c:ptCount val="3"/>
                <c:pt idx="0">
                  <c:v>14.25</c:v>
                </c:pt>
                <c:pt idx="1">
                  <c:v>1.89</c:v>
                </c:pt>
                <c:pt idx="2">
                  <c:v>2.93</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Value z-scores within the sector (Dec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cat>
            <c:multiLvlStrRef>
              <c:f>Sheet1!$A$2:$A$3</c:f>
              <c:multiLvlStrCache>
                <c:ptCount val="2"/>
                <c:lvl>
                  <c:pt idx="0">
                    <c:v>Book / price</c:v>
                  </c:pt>
                  <c:pt idx="1">
                    <c:v>Earnings / price</c:v>
                  </c:pt>
                </c:lvl>
              </c:multiLvlStrCache>
            </c:multiLvlStrRef>
          </c:cat>
          <c:val>
            <c:numRef>
              <c:f>Sheet1!$B$2:$B$3</c:f>
              <c:numCache>
                <c:formatCode>General</c:formatCode>
                <c:ptCount val="2"/>
                <c:pt idx="0">
                  <c:v>2.080190600285275</c:v>
                </c:pt>
                <c:pt idx="1">
                  <c:v>1.9670013787186564</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Total return in EUR, rebased to 100 (Jun 2021 - Jun 2026, weekly)</a:t>
            </a:r>
          </a:p>
        </c:rich>
      </c:tx>
      <c:layout/>
      <c:overlay val="0"/>
    </c:title>
    <c:autoTitleDeleted val="0"/>
    <c:plotArea>
      <c:layout/>
      <c:lineChart>
        <c:varyColors val="0"/>
        <c:ser>
          <c:idx val="0"/>
          <c:order val="0"/>
          <c:tx>
            <c:strRef>
              <c:f>Sheet1!$B$1</c:f>
              <c:strCache>
                <c:ptCount val="1"/>
                <c:pt idx="0">
                  <c:v>BNP Paribas</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96.35</c:v>
                </c:pt>
                <c:pt idx="2">
                  <c:v>93.52</c:v>
                </c:pt>
                <c:pt idx="3">
                  <c:v>91.59</c:v>
                </c:pt>
                <c:pt idx="4">
                  <c:v>92.86</c:v>
                </c:pt>
                <c:pt idx="5">
                  <c:v>94.47</c:v>
                </c:pt>
                <c:pt idx="6">
                  <c:v>99.16</c:v>
                </c:pt>
                <c:pt idx="7">
                  <c:v>99.85</c:v>
                </c:pt>
                <c:pt idx="8">
                  <c:v>95.67</c:v>
                </c:pt>
                <c:pt idx="9">
                  <c:v>98.16</c:v>
                </c:pt>
                <c:pt idx="10">
                  <c:v>98.92</c:v>
                </c:pt>
                <c:pt idx="11">
                  <c:v>96.99</c:v>
                </c:pt>
                <c:pt idx="12">
                  <c:v>98.31</c:v>
                </c:pt>
                <c:pt idx="13">
                  <c:v>100.62</c:v>
                </c:pt>
                <c:pt idx="14">
                  <c:v>103.63</c:v>
                </c:pt>
                <c:pt idx="15">
                  <c:v>107.62</c:v>
                </c:pt>
                <c:pt idx="16">
                  <c:v>109.03</c:v>
                </c:pt>
                <c:pt idx="17">
                  <c:v>108.96</c:v>
                </c:pt>
                <c:pt idx="18">
                  <c:v>109.32</c:v>
                </c:pt>
                <c:pt idx="19">
                  <c:v>112.36</c:v>
                </c:pt>
                <c:pt idx="20">
                  <c:v>111.9</c:v>
                </c:pt>
                <c:pt idx="21">
                  <c:v>108.98</c:v>
                </c:pt>
                <c:pt idx="22">
                  <c:v>104.39</c:v>
                </c:pt>
                <c:pt idx="23">
                  <c:v>106.05</c:v>
                </c:pt>
                <c:pt idx="24">
                  <c:v>107.07</c:v>
                </c:pt>
                <c:pt idx="25">
                  <c:v>106.05</c:v>
                </c:pt>
                <c:pt idx="26">
                  <c:v>112.81</c:v>
                </c:pt>
                <c:pt idx="27">
                  <c:v>114.73</c:v>
                </c:pt>
                <c:pt idx="28">
                  <c:v>121.78</c:v>
                </c:pt>
                <c:pt idx="29">
                  <c:v>125.17</c:v>
                </c:pt>
                <c:pt idx="30">
                  <c:v>117.89</c:v>
                </c:pt>
                <c:pt idx="31">
                  <c:v>118.53</c:v>
                </c:pt>
                <c:pt idx="32">
                  <c:v>121.4</c:v>
                </c:pt>
                <c:pt idx="33">
                  <c:v>122.53</c:v>
                </c:pt>
                <c:pt idx="34">
                  <c:v>116.91</c:v>
                </c:pt>
                <c:pt idx="35">
                  <c:v>107.14</c:v>
                </c:pt>
                <c:pt idx="36">
                  <c:v>89.1</c:v>
                </c:pt>
                <c:pt idx="37">
                  <c:v>92.57</c:v>
                </c:pt>
                <c:pt idx="38">
                  <c:v>100.73</c:v>
                </c:pt>
                <c:pt idx="39">
                  <c:v>94.4</c:v>
                </c:pt>
                <c:pt idx="40">
                  <c:v>97.59</c:v>
                </c:pt>
                <c:pt idx="41">
                  <c:v>90.33</c:v>
                </c:pt>
                <c:pt idx="42">
                  <c:v>93.47</c:v>
                </c:pt>
                <c:pt idx="43">
                  <c:v>97.67</c:v>
                </c:pt>
                <c:pt idx="44">
                  <c:v>93.84</c:v>
                </c:pt>
                <c:pt idx="45">
                  <c:v>95.51</c:v>
                </c:pt>
                <c:pt idx="46">
                  <c:v>98.89</c:v>
                </c:pt>
                <c:pt idx="47">
                  <c:v>101.4</c:v>
                </c:pt>
                <c:pt idx="48">
                  <c:v>108.52</c:v>
                </c:pt>
                <c:pt idx="49">
                  <c:v>106.51</c:v>
                </c:pt>
                <c:pt idx="50">
                  <c:v>98.49</c:v>
                </c:pt>
                <c:pt idx="51">
                  <c:v>96.74</c:v>
                </c:pt>
                <c:pt idx="52">
                  <c:v>97.14</c:v>
                </c:pt>
                <c:pt idx="53">
                  <c:v>91.82</c:v>
                </c:pt>
                <c:pt idx="54">
                  <c:v>92.12</c:v>
                </c:pt>
                <c:pt idx="55">
                  <c:v>84.25</c:v>
                </c:pt>
                <c:pt idx="56">
                  <c:v>88.79</c:v>
                </c:pt>
                <c:pt idx="57">
                  <c:v>93.22</c:v>
                </c:pt>
                <c:pt idx="58">
                  <c:v>98.97</c:v>
                </c:pt>
                <c:pt idx="59">
                  <c:v>102.2</c:v>
                </c:pt>
                <c:pt idx="60">
                  <c:v>96.58</c:v>
                </c:pt>
                <c:pt idx="61">
                  <c:v>92.91</c:v>
                </c:pt>
                <c:pt idx="62">
                  <c:v>96.22</c:v>
                </c:pt>
                <c:pt idx="63">
                  <c:v>98.65</c:v>
                </c:pt>
                <c:pt idx="64">
                  <c:v>99.96</c:v>
                </c:pt>
                <c:pt idx="65">
                  <c:v>95.05</c:v>
                </c:pt>
                <c:pt idx="66">
                  <c:v>88.36</c:v>
                </c:pt>
                <c:pt idx="67">
                  <c:v>88.38</c:v>
                </c:pt>
                <c:pt idx="68">
                  <c:v>89.29</c:v>
                </c:pt>
                <c:pt idx="69">
                  <c:v>93.99</c:v>
                </c:pt>
                <c:pt idx="70">
                  <c:v>95.82</c:v>
                </c:pt>
                <c:pt idx="71">
                  <c:v>102.6</c:v>
                </c:pt>
                <c:pt idx="72">
                  <c:v>104.89</c:v>
                </c:pt>
                <c:pt idx="73">
                  <c:v>108.03</c:v>
                </c:pt>
                <c:pt idx="74">
                  <c:v>108.07</c:v>
                </c:pt>
                <c:pt idx="75">
                  <c:v>106.9</c:v>
                </c:pt>
                <c:pt idx="76">
                  <c:v>107.18</c:v>
                </c:pt>
                <c:pt idx="77">
                  <c:v>106.47</c:v>
                </c:pt>
                <c:pt idx="78">
                  <c:v>109.02</c:v>
                </c:pt>
                <c:pt idx="79">
                  <c:v>107.91</c:v>
                </c:pt>
                <c:pt idx="80">
                  <c:v>119.78</c:v>
                </c:pt>
                <c:pt idx="81">
                  <c:v>121.3</c:v>
                </c:pt>
                <c:pt idx="82">
                  <c:v>120.88</c:v>
                </c:pt>
                <c:pt idx="83">
                  <c:v>125.7</c:v>
                </c:pt>
                <c:pt idx="84">
                  <c:v>125.07</c:v>
                </c:pt>
                <c:pt idx="85">
                  <c:v>128.86</c:v>
                </c:pt>
                <c:pt idx="86">
                  <c:v>132.59</c:v>
                </c:pt>
                <c:pt idx="87">
                  <c:v>129.47</c:v>
                </c:pt>
                <c:pt idx="88">
                  <c:v>130.22</c:v>
                </c:pt>
                <c:pt idx="89">
                  <c:v>122.1</c:v>
                </c:pt>
                <c:pt idx="90">
                  <c:v>104.73</c:v>
                </c:pt>
                <c:pt idx="91">
                  <c:v>102.28</c:v>
                </c:pt>
                <c:pt idx="92">
                  <c:v>111.88</c:v>
                </c:pt>
                <c:pt idx="93">
                  <c:v>115.98</c:v>
                </c:pt>
                <c:pt idx="94">
                  <c:v>120.35</c:v>
                </c:pt>
                <c:pt idx="95">
                  <c:v>118.87</c:v>
                </c:pt>
                <c:pt idx="96">
                  <c:v>118.73</c:v>
                </c:pt>
                <c:pt idx="97">
                  <c:v>117.31</c:v>
                </c:pt>
                <c:pt idx="98">
                  <c:v>118.53</c:v>
                </c:pt>
                <c:pt idx="99">
                  <c:v>121.28</c:v>
                </c:pt>
                <c:pt idx="100">
                  <c:v>122.06</c:v>
                </c:pt>
                <c:pt idx="101">
                  <c:v>122.43</c:v>
                </c:pt>
                <c:pt idx="102">
                  <c:v>121.54</c:v>
                </c:pt>
                <c:pt idx="103">
                  <c:v>122.63</c:v>
                </c:pt>
                <c:pt idx="104">
                  <c:v>118.9</c:v>
                </c:pt>
                <c:pt idx="105">
                  <c:v>125.12</c:v>
                </c:pt>
                <c:pt idx="106">
                  <c:v>119.49</c:v>
                </c:pt>
                <c:pt idx="107">
                  <c:v>122.8</c:v>
                </c:pt>
                <c:pt idx="108">
                  <c:v>125.75</c:v>
                </c:pt>
                <c:pt idx="109">
                  <c:v>130.45</c:v>
                </c:pt>
                <c:pt idx="110">
                  <c:v>128.52</c:v>
                </c:pt>
                <c:pt idx="111">
                  <c:v>129.09</c:v>
                </c:pt>
                <c:pt idx="112">
                  <c:v>126.21</c:v>
                </c:pt>
                <c:pt idx="113">
                  <c:v>126.4</c:v>
                </c:pt>
                <c:pt idx="114">
                  <c:v>129.17</c:v>
                </c:pt>
                <c:pt idx="115">
                  <c:v>126.66</c:v>
                </c:pt>
                <c:pt idx="116">
                  <c:v>133.23</c:v>
                </c:pt>
                <c:pt idx="117">
                  <c:v>131.67</c:v>
                </c:pt>
                <c:pt idx="118">
                  <c:v>131</c:v>
                </c:pt>
                <c:pt idx="119">
                  <c:v>130.02</c:v>
                </c:pt>
                <c:pt idx="120">
                  <c:v>124.95</c:v>
                </c:pt>
                <c:pt idx="121">
                  <c:v>120.44</c:v>
                </c:pt>
                <c:pt idx="122">
                  <c:v>118.51</c:v>
                </c:pt>
                <c:pt idx="123">
                  <c:v>122.78</c:v>
                </c:pt>
                <c:pt idx="124">
                  <c:v>120.55</c:v>
                </c:pt>
                <c:pt idx="125">
                  <c:v>122.98</c:v>
                </c:pt>
                <c:pt idx="126">
                  <c:v>123.63</c:v>
                </c:pt>
                <c:pt idx="127">
                  <c:v>125.29</c:v>
                </c:pt>
                <c:pt idx="128">
                  <c:v>134.07</c:v>
                </c:pt>
                <c:pt idx="129">
                  <c:v>136.76</c:v>
                </c:pt>
                <c:pt idx="130">
                  <c:v>136.59</c:v>
                </c:pt>
                <c:pt idx="131">
                  <c:v>135.68</c:v>
                </c:pt>
                <c:pt idx="132">
                  <c:v>136.57</c:v>
                </c:pt>
                <c:pt idx="133">
                  <c:v>131.86</c:v>
                </c:pt>
                <c:pt idx="134">
                  <c:v>131.39</c:v>
                </c:pt>
                <c:pt idx="135">
                  <c:v>135.59</c:v>
                </c:pt>
                <c:pt idx="136">
                  <c:v>121.52</c:v>
                </c:pt>
                <c:pt idx="137">
                  <c:v>115.84</c:v>
                </c:pt>
                <c:pt idx="138">
                  <c:v>117.88</c:v>
                </c:pt>
                <c:pt idx="139">
                  <c:v>122.24</c:v>
                </c:pt>
                <c:pt idx="140">
                  <c:v>121.72</c:v>
                </c:pt>
                <c:pt idx="141">
                  <c:v>127.74</c:v>
                </c:pt>
                <c:pt idx="142">
                  <c:v>132.69</c:v>
                </c:pt>
                <c:pt idx="143">
                  <c:v>136.13</c:v>
                </c:pt>
                <c:pt idx="144">
                  <c:v>142.77</c:v>
                </c:pt>
                <c:pt idx="145">
                  <c:v>144.26</c:v>
                </c:pt>
                <c:pt idx="146">
                  <c:v>141.68</c:v>
                </c:pt>
                <c:pt idx="147">
                  <c:v>141.83</c:v>
                </c:pt>
                <c:pt idx="148">
                  <c:v>145.26</c:v>
                </c:pt>
                <c:pt idx="149">
                  <c:v>146.63</c:v>
                </c:pt>
                <c:pt idx="150">
                  <c:v>154.34</c:v>
                </c:pt>
                <c:pt idx="151">
                  <c:v>156.75</c:v>
                </c:pt>
                <c:pt idx="152">
                  <c:v>155.51</c:v>
                </c:pt>
                <c:pt idx="153">
                  <c:v>156.64</c:v>
                </c:pt>
                <c:pt idx="154">
                  <c:v>153.56</c:v>
                </c:pt>
                <c:pt idx="155">
                  <c:v>135.14</c:v>
                </c:pt>
                <c:pt idx="156">
                  <c:v>137.27</c:v>
                </c:pt>
                <c:pt idx="157">
                  <c:v>137.74</c:v>
                </c:pt>
                <c:pt idx="158">
                  <c:v>147.29</c:v>
                </c:pt>
                <c:pt idx="159">
                  <c:v>144.47</c:v>
                </c:pt>
                <c:pt idx="160">
                  <c:v>145.88</c:v>
                </c:pt>
                <c:pt idx="161">
                  <c:v>149.14</c:v>
                </c:pt>
                <c:pt idx="162">
                  <c:v>138.04</c:v>
                </c:pt>
                <c:pt idx="163">
                  <c:v>137.09</c:v>
                </c:pt>
                <c:pt idx="164">
                  <c:v>141.41</c:v>
                </c:pt>
                <c:pt idx="165">
                  <c:v>142.11</c:v>
                </c:pt>
                <c:pt idx="166">
                  <c:v>144.79</c:v>
                </c:pt>
                <c:pt idx="167">
                  <c:v>143.87</c:v>
                </c:pt>
                <c:pt idx="168">
                  <c:v>146.62</c:v>
                </c:pt>
                <c:pt idx="169">
                  <c:v>149.88</c:v>
                </c:pt>
                <c:pt idx="170">
                  <c:v>146.46</c:v>
                </c:pt>
                <c:pt idx="171">
                  <c:v>140.81</c:v>
                </c:pt>
                <c:pt idx="172">
                  <c:v>143.82</c:v>
                </c:pt>
                <c:pt idx="173">
                  <c:v>153.33</c:v>
                </c:pt>
                <c:pt idx="174">
                  <c:v>151.16</c:v>
                </c:pt>
                <c:pt idx="175">
                  <c:v>145.86</c:v>
                </c:pt>
                <c:pt idx="176">
                  <c:v>138.27</c:v>
                </c:pt>
                <c:pt idx="177">
                  <c:v>139.08</c:v>
                </c:pt>
                <c:pt idx="178">
                  <c:v>131.7</c:v>
                </c:pt>
                <c:pt idx="179">
                  <c:v>131.05</c:v>
                </c:pt>
                <c:pt idx="180">
                  <c:v>135.52</c:v>
                </c:pt>
                <c:pt idx="181">
                  <c:v>136.37</c:v>
                </c:pt>
                <c:pt idx="182">
                  <c:v>132.99</c:v>
                </c:pt>
                <c:pt idx="183">
                  <c:v>135.45</c:v>
                </c:pt>
                <c:pt idx="184">
                  <c:v>135.33</c:v>
                </c:pt>
                <c:pt idx="185">
                  <c:v>137.32</c:v>
                </c:pt>
                <c:pt idx="186">
                  <c:v>144.01</c:v>
                </c:pt>
                <c:pt idx="187">
                  <c:v>147.18</c:v>
                </c:pt>
                <c:pt idx="188">
                  <c:v>152.06</c:v>
                </c:pt>
                <c:pt idx="189">
                  <c:v>160.69</c:v>
                </c:pt>
                <c:pt idx="190">
                  <c:v>161.85</c:v>
                </c:pt>
                <c:pt idx="191">
                  <c:v>164.55</c:v>
                </c:pt>
                <c:pt idx="192">
                  <c:v>168.58</c:v>
                </c:pt>
                <c:pt idx="193">
                  <c:v>177.16</c:v>
                </c:pt>
                <c:pt idx="194">
                  <c:v>175.2</c:v>
                </c:pt>
                <c:pt idx="195">
                  <c:v>184.45</c:v>
                </c:pt>
                <c:pt idx="196">
                  <c:v>181.74</c:v>
                </c:pt>
                <c:pt idx="197">
                  <c:v>158.88</c:v>
                </c:pt>
                <c:pt idx="198">
                  <c:v>151.8</c:v>
                </c:pt>
                <c:pt idx="199">
                  <c:v>163.67</c:v>
                </c:pt>
                <c:pt idx="200">
                  <c:v>168.46</c:v>
                </c:pt>
                <c:pt idx="201">
                  <c:v>176.68</c:v>
                </c:pt>
                <c:pt idx="202">
                  <c:v>179.31</c:v>
                </c:pt>
                <c:pt idx="203">
                  <c:v>183.69</c:v>
                </c:pt>
                <c:pt idx="204">
                  <c:v>186.74</c:v>
                </c:pt>
                <c:pt idx="205">
                  <c:v>189.94</c:v>
                </c:pt>
                <c:pt idx="206">
                  <c:v>192.4</c:v>
                </c:pt>
                <c:pt idx="207">
                  <c:v>185.36</c:v>
                </c:pt>
                <c:pt idx="208">
                  <c:v>182.95</c:v>
                </c:pt>
                <c:pt idx="209">
                  <c:v>189.35</c:v>
                </c:pt>
                <c:pt idx="210">
                  <c:v>184.38</c:v>
                </c:pt>
                <c:pt idx="211">
                  <c:v>188.61</c:v>
                </c:pt>
                <c:pt idx="212">
                  <c:v>191.66</c:v>
                </c:pt>
                <c:pt idx="213">
                  <c:v>194.2</c:v>
                </c:pt>
                <c:pt idx="214">
                  <c:v>188.44</c:v>
                </c:pt>
                <c:pt idx="215">
                  <c:v>200.68</c:v>
                </c:pt>
                <c:pt idx="216">
                  <c:v>206.09</c:v>
                </c:pt>
                <c:pt idx="217">
                  <c:v>205.31</c:v>
                </c:pt>
                <c:pt idx="218">
                  <c:v>189.18</c:v>
                </c:pt>
                <c:pt idx="219">
                  <c:v>188.41</c:v>
                </c:pt>
                <c:pt idx="220">
                  <c:v>195.26</c:v>
                </c:pt>
                <c:pt idx="221">
                  <c:v>196</c:v>
                </c:pt>
                <c:pt idx="222">
                  <c:v>197.45</c:v>
                </c:pt>
                <c:pt idx="223">
                  <c:v>198.62</c:v>
                </c:pt>
                <c:pt idx="224">
                  <c:v>192.25</c:v>
                </c:pt>
                <c:pt idx="225">
                  <c:v>190.7</c:v>
                </c:pt>
                <c:pt idx="226">
                  <c:v>174.38</c:v>
                </c:pt>
                <c:pt idx="227">
                  <c:v>170.76</c:v>
                </c:pt>
                <c:pt idx="228">
                  <c:v>166.76</c:v>
                </c:pt>
                <c:pt idx="229">
                  <c:v>175.27</c:v>
                </c:pt>
                <c:pt idx="230">
                  <c:v>179.44</c:v>
                </c:pt>
                <c:pt idx="231">
                  <c:v>187.64</c:v>
                </c:pt>
                <c:pt idx="232">
                  <c:v>191.97</c:v>
                </c:pt>
                <c:pt idx="233">
                  <c:v>198.85</c:v>
                </c:pt>
                <c:pt idx="234">
                  <c:v>205.24</c:v>
                </c:pt>
                <c:pt idx="235">
                  <c:v>205.03</c:v>
                </c:pt>
                <c:pt idx="236">
                  <c:v>208.6</c:v>
                </c:pt>
                <c:pt idx="237">
                  <c:v>222.04</c:v>
                </c:pt>
                <c:pt idx="238">
                  <c:v>222.07</c:v>
                </c:pt>
                <c:pt idx="239">
                  <c:v>224.44</c:v>
                </c:pt>
                <c:pt idx="240">
                  <c:v>232.23</c:v>
                </c:pt>
                <c:pt idx="241">
                  <c:v>237.27</c:v>
                </c:pt>
                <c:pt idx="242">
                  <c:v>227.65</c:v>
                </c:pt>
                <c:pt idx="243">
                  <c:v>241.22</c:v>
                </c:pt>
                <c:pt idx="244">
                  <c:v>243.18</c:v>
                </c:pt>
                <c:pt idx="245">
                  <c:v>219.88</c:v>
                </c:pt>
                <c:pt idx="246">
                  <c:v>216.16</c:v>
                </c:pt>
                <c:pt idx="247">
                  <c:v>209.13</c:v>
                </c:pt>
                <c:pt idx="248">
                  <c:v>206.46</c:v>
                </c:pt>
                <c:pt idx="249">
                  <c:v>212.11</c:v>
                </c:pt>
                <c:pt idx="250">
                  <c:v>230.01</c:v>
                </c:pt>
                <c:pt idx="251">
                  <c:v>240.07</c:v>
                </c:pt>
                <c:pt idx="252">
                  <c:v>226.65</c:v>
                </c:pt>
                <c:pt idx="253">
                  <c:v>227.21</c:v>
                </c:pt>
                <c:pt idx="254">
                  <c:v>233.12</c:v>
                </c:pt>
                <c:pt idx="255">
                  <c:v>227.26</c:v>
                </c:pt>
                <c:pt idx="256">
                  <c:v>235.79</c:v>
                </c:pt>
                <c:pt idx="257">
                  <c:v>243.7</c:v>
                </c:pt>
                <c:pt idx="258">
                  <c:v>245.54</c:v>
                </c:pt>
                <c:pt idx="259">
                  <c:v>253.51</c:v>
                </c:pt>
                <c:pt idx="260">
                  <c:v>266.33</c:v>
                </c:pt>
                <c:pt idx="261">
                  <c:v>265.12</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280"/>
          <c:min val="8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900" dirty="0">
                <a:solidFill>
                  <a:schemeClr val="tx2"/>
                </a:solidFill>
              </a:rPr>
              <a:t>BNP Paribas (Euronext Paris: BNP)  ·  Noah Doose  ·  Student research, not investment advice  ·  Data as of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100" b="1" spc="150" kern="0" dirty="0">
                <a:solidFill>
                  <a:srgbClr val="D7EBE2"/>
                </a:solidFill>
              </a:rPr>
              <a:t>STOCK PITCH  ·  SYSTEMATIC VALUE PORTFOLIO  ·  29 OCTOBER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BNP Paribas</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400" dirty="0">
                <a:solidFill>
                  <a:srgbClr val="B9C4BE"/>
                </a:solidFill>
              </a:rPr>
              <a:t>Euronext Paris: BNP  ·  Financials / Banks  ·  France</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2000" dirty="0">
                <a:solidFill>
                  <a:srgbClr val="FFFFFF"/>
                </a:solidFill>
              </a:rPr>
              <a:t>A 13% return on tangible equity priced at 0.9x tangible book: the French discount has gone too far</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sp>
      <p:sp>
        <p:nvSpPr>
          <p:cNvPr id="7" name="Shape 5"/>
          <p:cNvSpPr/>
          <p:nvPr/>
        </p:nvSpPr>
        <p:spPr>
          <a:xfrm>
            <a:off x="8412480" y="1234440"/>
            <a:ext cx="1828800" cy="384048"/>
          </a:xfrm>
          <a:prstGeom prst="roundRect">
            <a:avLst>
              <a:gd name="adj" fmla="val 50000"/>
            </a:avLst>
          </a:prstGeom>
          <a:solidFill>
            <a:srgbClr val="0E6B4F"/>
          </a:solidFill>
          <a:ln w="12700">
            <a:solidFill>
              <a:srgbClr val="0E6B4F"/>
            </a:solidFill>
            <a:prstDash val="solid"/>
          </a:ln>
        </p:spPr>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OVERWEIGHT</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Medium conviction</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Price</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€87.65</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Target (base case)</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€103.89</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Upside / downside</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+19%</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 months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1000" dirty="0">
                <a:solidFill>
                  <a:srgbClr val="8E9A94"/>
                </a:solidFill>
              </a:rPr>
              <a:t>Price: close,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€96bn</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Market cap</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13.2%</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RoTE, 9M 2026</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7.1x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 2026e (consensus)</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6.8%</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Dividend yield 2026e</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Student research for educational purposes, not investment advice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EXECUTIVE SUMMARY</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A 13% return on tangible equity priced at 0.9x tangible book: the French discount has gone too far</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sp>
      <p:sp>
        <p:nvSpPr>
          <p:cNvPr id="5" name="Shape 3"/>
          <p:cNvSpPr/>
          <p:nvPr/>
        </p:nvSpPr>
        <p:spPr>
          <a:xfrm>
            <a:off x="822960" y="1920240"/>
            <a:ext cx="1737360" cy="365760"/>
          </a:xfrm>
          <a:prstGeom prst="roundRect">
            <a:avLst>
              <a:gd name="adj" fmla="val 50000"/>
            </a:avLst>
          </a:prstGeom>
          <a:solidFill>
            <a:srgbClr val="0E6B4F"/>
          </a:solidFill>
          <a:ln w="12700">
            <a:solidFill>
              <a:srgbClr val="0E6B4F"/>
            </a:solidFill>
            <a:prstDash val="solid"/>
          </a:ln>
        </p:spPr>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OVERWEIGHT</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€103.89</a:t>
            </a:r>
            <a:endParaRPr lang="en-US" sz="3000" dirty="0"/>
          </a:p>
          <a:p>
            <a:pPr indent="0" marL="0">
              <a:buNone/>
            </a:pPr>
            <a:r>
              <a:rPr lang="en-US" sz="1300" dirty="0">
                <a:solidFill>
                  <a:srgbClr val="5B6660"/>
                </a:solidFill>
              </a:rPr>
              <a:t>base-case value, +19% vs €87.65</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300" dirty="0">
                <a:solidFill>
                  <a:srgbClr val="141A17"/>
                </a:solidFill>
              </a:rPr>
              <a:t>BNP earned a 13.2% return on tangible equity over the first nine months of 2026, ahead of its own 12% target, yet trades below tangible book because the market treats it as a proxy for French sovereign risk. With CET1 at 12.9% and a €1.3bn buyback starting, we see value in the gap.</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Returns are ahead of target</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300" dirty="0">
                <a:solidFill>
                  <a:srgbClr val="2A322E"/>
                </a:solidFill>
              </a:rPr>
              <a:t>9M 2026 RoTE of 13.2% and a 59.0% cost/income ratio beat the 2026 targets (~12% and ~60%). In February 2026 the bank raised its 2028 targets to RoTE above 13% and cost/income below 56%.</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The price is a sovereign discount, not a bank discount</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300" dirty="0">
                <a:solidFill>
                  <a:srgbClr val="2A322E"/>
                </a:solidFill>
              </a:rPr>
              <a:t>Shares fell about 20% in the three months to late October 2026, to a 28-week low of €85.35, with no company-specific cause found, while French 10-year yields reached ~4.9% and the OAT-Bund spread ~155 bp. French government bonds held total about €19bn, €16bn of them at amortised cost.</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Capital comes back to shareholders</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300" dirty="0">
                <a:solidFill>
                  <a:srgbClr val="2A322E"/>
                </a:solidFill>
              </a:rPr>
              <a:t>2026 payout of 60% (at least 50% dividend, 10% buyback), a €1.3bn buyback from November 2026, and from 2027 the distribution of CET1 above 13%. A new 2030 plan is due on 2 February 2027.</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COMPANY SNAPSHOT</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BNP Paribas at a glance</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Commercial, Personal Banking &amp; Services</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Retail networks in France, Belgium, Italy and Luxembourg, Europe-Mediterranean, plus Personal Finance, Arval (car leasing, Athlon acquired July 2026) and Nickel.</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Corporate &amp; Institutional Banking</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Global Banking, Global Markets and Securities Services; the bank describes itself as the leading EMEA investment bank.</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Investment &amp; Protection Services</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Insurance, Wealth Management and Asset Management, including AXA IM, consolidated since July 2025.</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Capital</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CET1 12.9% at September 2026, against a 10.45% requirement; guided above 13% at end-2026.</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company filings; Division revenues (NBI), 9M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INDUSTRY AND MACRO BACKDROP</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What moves the stock beyond the company</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~4.9%</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French 10-year yield</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Political and budget uncertainty pushed French yields up in 2026; French banks trade as a proxy for the sovereign.</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~155 bp</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OAT-Bund spread</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A wider spread raises funding costs and the discount investors apply to French financials.</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~$115</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Oil and inflation</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Brent around $115 a barrel with the Middle East conflict: a risk to credit quality and to rate expectations.</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39 bp</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Cost of risk</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Q3 2026, at the top of the &lt;40 bp guide. Arval used-car prices are the visible pressure point.</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company releases and research brief (see Sources slide)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WHY THE SYSTEMATIC SCREEN PICKED IT</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Ranked 5 of 203 in Financials on our value score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Composite score 2.02, rank 5 of 203 in its sector. </a:t>
            </a:r>
            <a:pPr indent="0" marL="0">
              <a:buNone/>
            </a:pPr>
            <a:r>
              <a:rPr lang="en-US" sz="1300" dirty="0">
                <a:solidFill>
                  <a:srgbClr val="2A322E"/>
                </a:solidFill>
              </a:rPr>
              <a:t>The score averages the z-scores above (financials use book and earnings only). Accounts are used only from fiscal year end + 6 months, so in December 2025 the screen read the accounts for the fiscal year ended December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Portfolio Project pipeline (Bloomberg data); peers: Société Générale, Crédit Agricole SA, Deutsche Bank, Santander, ING, UniCredit (pipeline peer set).</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TRACK RECORD IN THE PORTFOLIO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Held at 1 of 10 rebalances since December 2025</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0E6B4F"/>
                </a:solidFill>
              </a:rPr>
              <a:t>+26.2%</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H1 2026 return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H1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Weight, equal weight</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0.5% / 4.0%</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Min-variance / mean-variance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pipeline weekly total returns (EUR, net of withholding tax) and portfolio weights at the 31 Dec 2025 rebalance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FINANCIAL SNAPSHOT</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Reported numbers and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9M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2026 target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Revenues (NBI)</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€48.8bn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€51.2bn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€41.9bn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5% CAGR</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Cost / income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61.2%</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59.0%</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~60%</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Cost of risk</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36 bp</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39 bp (Q3)</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&lt; 40 bp</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Net income, group share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€11.7bn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€12.2bn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€11.0bn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7% CAGR</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Return on tangible equity</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13.2%</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CET1 ratio</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12.9%</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13% (end-2026)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 per share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€5.16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€3.23 interim</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payout 60%</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bl>
          </a:graphicData>
        </a:graphic>
      </p:graphicFrame>
      <p:sp>
        <p:nvSpPr>
          <p:cNvPr id="5" name="Text 2"/>
          <p:cNvSpPr txBox="1"/>
          <p:nvPr/>
        </p:nvSpPr>
        <p:spPr>
          <a:xfrm>
            <a:off x="548640" y="5385816"/>
            <a:ext cx="11094415" cy="548640"/>
          </a:xfrm>
          <a:prstGeom prst="rect">
            <a:avLst/>
          </a:prstGeom>
          <a:noFill/>
          <a:ln/>
        </p:spPr>
        <p:txBody>
          <a:bodyPr wrap="square" lIns="0" tIns="0" rIns="0" bIns="0" rtlCol="0" anchor="t"/>
          <a:lstStyle/>
          <a:p>
            <a:pPr indent="0" marL="0">
              <a:buNone/>
            </a:pPr>
            <a:r>
              <a:rPr lang="en-US" sz="1100" dirty="0">
                <a:solidFill>
                  <a:srgbClr val="5B6660"/>
                </a:solidFill>
              </a:rPr>
              <a:t>FY2024 figures derived from the 2025 growth rates reported by the bank. RoTE methodology changed in Q4 2025. Sources: BNP Paribas FY2025 and Q3 2026 releases.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Where we differ from the market</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WHAT THE MARKET BELIEVES</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OUR VIEW</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“BNP is a leveraged bet on France”</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300" dirty="0">
                <a:solidFill>
                  <a:srgbClr val="141A17"/>
                </a:solidFill>
              </a:rPr>
              <a:t>Three of its four retail home markets are outside France, CIB is the leading EMEA investment bank, and IPS adds fee income. Earnings are more diversified than the share price implies.</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“Trading revenue is at a peak”</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300" dirty="0">
                <a:solidFill>
                  <a:srgbClr val="141A17"/>
                </a:solidFill>
              </a:rPr>
              <a:t>Global Markets is strong (+21.9% in Q3), but the RoTE target was beaten even after €408m of restructuring costs.</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“The Sudan litigation is an open-ended liability”</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300" dirty="0">
                <a:solidFill>
                  <a:srgbClr val="141A17"/>
                </a:solidFill>
              </a:rPr>
              <a:t>It is real and unprovisioned; we treat it as a tail risk that the appeal (2027) will clarify, and keep the position sized accordingly.</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VALUATION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Base-case value €103.89 per share, +19% vs today</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300" b="1" dirty="0">
                <a:solidFill>
                  <a:srgbClr val="0E6B4F"/>
                </a:solidFill>
              </a:rPr>
              <a:t>Method: Justified price to tangible book (Gordon growth)</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Scenario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Key inputs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Value / share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price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Bear</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RoTE 10.0%, CoE 12.0% → 0.80x TBV</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RoTE slips to 10%; French spread widens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€78.96</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Base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RoTE 12.0%, CoE 11.5% → 1.05x TBV</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RoTE at the 2026 target; spread stable</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€103.89</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+19%</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Bull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RoTE 13.5%, CoE 10.5% → 1.35x TBV</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2028 targets met; spread normalises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€133.54</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+52%</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200" dirty="0">
                <a:solidFill>
                  <a:srgbClr val="2A322E"/>
                </a:solidFill>
              </a:rPr>
              <a:t>A bank is worth (RoTE − g) / (cost of equity − g) times its tangible book. We use the third-party tangible book per share of €98.7 at June 2026 (third-party estimate: the bank's release does not state it), long-term growth of 2%, and a cost of equity that falls as the French risk premium normalises.</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Valuation range</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52-week range</a:t>
            </a:r>
            <a:endParaRPr lang="en-US" sz="1100" dirty="0"/>
          </a:p>
        </p:txBody>
      </p:sp>
      <p:sp>
        <p:nvSpPr>
          <p:cNvPr id="9" name="Shape 6"/>
          <p:cNvSpPr/>
          <p:nvPr/>
        </p:nvSpPr>
        <p:spPr>
          <a:xfrm>
            <a:off x="8196244" y="2542032"/>
            <a:ext cx="1795362" cy="310896"/>
          </a:xfrm>
          <a:prstGeom prst="rect">
            <a:avLst/>
          </a:prstGeom>
          <a:solidFill>
            <a:srgbClr val="9AAAA2"/>
          </a:solidFill>
          <a:ln w="12700">
            <a:solidFill>
              <a:srgbClr val="9AAAA2"/>
            </a:solidFill>
            <a:prstDash val="solid"/>
          </a:ln>
        </p:spPr>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€78.83 - €113.82</a:t>
            </a:r>
            <a:endParaRPr lang="en-US" sz="1000" dirty="0"/>
          </a:p>
        </p:txBody>
      </p:sp>
      <p:sp>
        <p:nvSpPr>
          <p:cNvPr id="11" name="Shape 8"/>
          <p:cNvSpPr/>
          <p:nvPr/>
        </p:nvSpPr>
        <p:spPr>
          <a:xfrm>
            <a:off x="8648804" y="2478024"/>
            <a:ext cx="0" cy="438912"/>
          </a:xfrm>
          <a:prstGeom prst="line">
            <a:avLst/>
          </a:prstGeom>
          <a:noFill/>
          <a:ln w="25400">
            <a:solidFill>
              <a:srgbClr val="141A17"/>
            </a:solidFill>
            <a:prstDash val="solid"/>
          </a:ln>
        </p:spPr>
      </p:sp>
      <p:sp>
        <p:nvSpPr>
          <p:cNvPr id="12" name="Shape 9"/>
          <p:cNvSpPr/>
          <p:nvPr/>
        </p:nvSpPr>
        <p:spPr>
          <a:xfrm>
            <a:off x="9482090" y="2478024"/>
            <a:ext cx="0" cy="438912"/>
          </a:xfrm>
          <a:prstGeom prst="line">
            <a:avLst/>
          </a:prstGeom>
          <a:noFill/>
          <a:ln w="25400">
            <a:solidFill>
              <a:srgbClr val="0E6B4F"/>
            </a:solidFill>
            <a:prstDash val="dash"/>
          </a:ln>
        </p:spPr>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1100" dirty="0">
                <a:solidFill>
                  <a:srgbClr val="5B6660"/>
                </a:solidFill>
              </a:rPr>
              <a:t>Scenario range (bear - bull)</a:t>
            </a:r>
            <a:endParaRPr lang="en-US" sz="1100" dirty="0"/>
          </a:p>
        </p:txBody>
      </p:sp>
      <p:sp>
        <p:nvSpPr>
          <p:cNvPr id="14" name="Shape 11"/>
          <p:cNvSpPr/>
          <p:nvPr/>
        </p:nvSpPr>
        <p:spPr>
          <a:xfrm>
            <a:off x="8202914" y="3502152"/>
            <a:ext cx="2800539" cy="310896"/>
          </a:xfrm>
          <a:prstGeom prst="rect">
            <a:avLst/>
          </a:prstGeom>
          <a:solidFill>
            <a:srgbClr val="0E6B4F"/>
          </a:solidFill>
          <a:ln w="12700">
            <a:solidFill>
              <a:srgbClr val="0E6B4F"/>
            </a:solidFill>
            <a:prstDash val="solid"/>
          </a:ln>
        </p:spPr>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€78.96 - €133.54</a:t>
            </a:r>
            <a:endParaRPr lang="en-US" sz="1000" dirty="0"/>
          </a:p>
        </p:txBody>
      </p:sp>
      <p:sp>
        <p:nvSpPr>
          <p:cNvPr id="16" name="Shape 13"/>
          <p:cNvSpPr/>
          <p:nvPr/>
        </p:nvSpPr>
        <p:spPr>
          <a:xfrm>
            <a:off x="8648804" y="3438144"/>
            <a:ext cx="0" cy="438912"/>
          </a:xfrm>
          <a:prstGeom prst="line">
            <a:avLst/>
          </a:prstGeom>
          <a:noFill/>
          <a:ln w="25400">
            <a:solidFill>
              <a:srgbClr val="141A17"/>
            </a:solidFill>
            <a:prstDash val="solid"/>
          </a:ln>
        </p:spPr>
      </p:sp>
      <p:sp>
        <p:nvSpPr>
          <p:cNvPr id="17" name="Shape 14"/>
          <p:cNvSpPr/>
          <p:nvPr/>
        </p:nvSpPr>
        <p:spPr>
          <a:xfrm>
            <a:off x="9482090" y="3438144"/>
            <a:ext cx="0" cy="438912"/>
          </a:xfrm>
          <a:prstGeom prst="line">
            <a:avLst/>
          </a:prstGeom>
          <a:noFill/>
          <a:ln w="25400">
            <a:solidFill>
              <a:srgbClr val="0E6B4F"/>
            </a:solidFill>
            <a:prstDash val="dash"/>
          </a:ln>
        </p:spPr>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Consensus target (third-party)</a:t>
            </a:r>
            <a:endParaRPr lang="en-US" sz="1100" dirty="0"/>
          </a:p>
        </p:txBody>
      </p:sp>
      <p:sp>
        <p:nvSpPr>
          <p:cNvPr id="19" name="Shape 16"/>
          <p:cNvSpPr/>
          <p:nvPr/>
        </p:nvSpPr>
        <p:spPr>
          <a:xfrm>
            <a:off x="10295878" y="4462272"/>
            <a:ext cx="73152" cy="310896"/>
          </a:xfrm>
          <a:prstGeom prst="rect">
            <a:avLst/>
          </a:prstGeom>
          <a:solidFill>
            <a:srgbClr val="9AAAA2"/>
          </a:solidFill>
          <a:ln w="12700">
            <a:solidFill>
              <a:srgbClr val="9AAAA2"/>
            </a:solidFill>
            <a:prstDash val="solid"/>
          </a:ln>
        </p:spPr>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€119.75</a:t>
            </a:r>
            <a:endParaRPr lang="en-US" sz="1000" dirty="0"/>
          </a:p>
        </p:txBody>
      </p:sp>
      <p:sp>
        <p:nvSpPr>
          <p:cNvPr id="21" name="Shape 18"/>
          <p:cNvSpPr/>
          <p:nvPr/>
        </p:nvSpPr>
        <p:spPr>
          <a:xfrm>
            <a:off x="8648804" y="4398264"/>
            <a:ext cx="0" cy="438912"/>
          </a:xfrm>
          <a:prstGeom prst="line">
            <a:avLst/>
          </a:prstGeom>
          <a:noFill/>
          <a:ln w="25400">
            <a:solidFill>
              <a:srgbClr val="141A17"/>
            </a:solidFill>
            <a:prstDash val="solid"/>
          </a:ln>
        </p:spPr>
      </p:sp>
      <p:sp>
        <p:nvSpPr>
          <p:cNvPr id="22" name="Shape 19"/>
          <p:cNvSpPr/>
          <p:nvPr/>
        </p:nvSpPr>
        <p:spPr>
          <a:xfrm>
            <a:off x="9482090" y="4398264"/>
            <a:ext cx="0" cy="438912"/>
          </a:xfrm>
          <a:prstGeom prst="line">
            <a:avLst/>
          </a:prstGeom>
          <a:noFill/>
          <a:ln w="25400">
            <a:solidFill>
              <a:srgbClr val="0E6B4F"/>
            </a:solidFill>
            <a:prstDash val="dash"/>
          </a:ln>
        </p:spPr>
      </p:sp>
      <p:sp>
        <p:nvSpPr>
          <p:cNvPr id="23" name="Text 20"/>
          <p:cNvSpPr txBox="1"/>
          <p:nvPr/>
        </p:nvSpPr>
        <p:spPr>
          <a:xfrm>
            <a:off x="7825844"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Price €87.65</a:t>
            </a:r>
            <a:endParaRPr lang="en-US" sz="1000" dirty="0"/>
          </a:p>
        </p:txBody>
      </p:sp>
      <p:sp>
        <p:nvSpPr>
          <p:cNvPr id="24" name="Text 21"/>
          <p:cNvSpPr txBox="1"/>
          <p:nvPr/>
        </p:nvSpPr>
        <p:spPr>
          <a:xfrm>
            <a:off x="8659130"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Base case €103.89</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own valuation; 52-week range and consensus from third-party data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What could move the stock in the next 12-18 months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Nov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Launch of the €1.3bn share buyback (about 1.4% of market cap)</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Q4 2026</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Closing of the BMCI sale (+15 bp CET1); CET1 above 13% at year-end</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 Feb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2030 strategic plan with new RoTE and distribution targets</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Second Circuit ruling on the Sudan appeal; Allfunds offer (~€400m gain if completed)</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May 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AGM and final 2026 dividend</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The number to watch: </a:t>
            </a:r>
            <a:pPr indent="0" marL="0">
              <a:buNone/>
            </a:pPr>
            <a:r>
              <a:rPr lang="en-US" sz="1500" dirty="0">
                <a:solidFill>
                  <a:srgbClr val="141A17"/>
                </a:solidFill>
              </a:rPr>
              <a:t>2026 RoTE below 12%, or 2028 targets cut in the 2030 plan</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10  RISKS AND SELL DISCIPLINE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Risks, mitigants and what would make us sell</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Risk</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Mitigant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French sovereign and political stress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Diversified earnings; French bonds held mostly at amortised cost (€16bn of €19bn)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Sudan litigation, no provision booked</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Appeal pending; position sized below the 4% cap</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Normalisation of trading revenue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Targets beaten even after restructuring costs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Cost of risk above 40 bp</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Stage 3 ratio 1.6% with 67% coverage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WE SELL IF</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400" dirty="0">
                <a:solidFill>
                  <a:srgbClr val="141A17"/>
                </a:solidFill>
              </a:rPr>
              <a:t>2026 RoTE below 12%, or 2028 targets cut in the 2030 plan</a:t>
            </a:r>
            <a:endParaRPr lang="en-US" sz="1400" dirty="0"/>
          </a:p>
          <a:p>
            <a:pPr marL="342900" indent="-342900">
              <a:spcAft>
                <a:spcPts val="1000"/>
              </a:spcAft>
              <a:buSzPct val="100000"/>
              <a:buChar char="•"/>
            </a:pPr>
            <a:r>
              <a:rPr lang="en-US" sz="1400" dirty="0">
                <a:solidFill>
                  <a:srgbClr val="141A17"/>
                </a:solidFill>
              </a:rPr>
              <a:t>CET1 below 12.5%, forcing smaller buybacks</a:t>
            </a:r>
            <a:endParaRPr lang="en-US" sz="1400" dirty="0"/>
          </a:p>
          <a:p>
            <a:pPr marL="342900" indent="-342900">
              <a:spcAft>
                <a:spcPts val="1000"/>
              </a:spcAft>
              <a:buSzPct val="100000"/>
              <a:buChar char="•"/>
            </a:pPr>
            <a:r>
              <a:rPr lang="en-US" sz="1400" dirty="0">
                <a:solidFill>
                  <a:srgbClr val="141A17"/>
                </a:solidFill>
              </a:rPr>
              <a:t>An adverse Sudan ruling with a material provision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AND DISCLOSURES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[B1] BNP Paribas, "Third quarter 2026 results" press release, Paris, 28/10/2026</a:t>
            </a:r>
            <a:endParaRPr lang="en-US" sz="1000" dirty="0"/>
          </a:p>
          <a:p>
            <a:pPr indent="0" marL="0">
              <a:spcAft>
                <a:spcPts val="500"/>
              </a:spcAft>
              <a:buNone/>
            </a:pPr>
            <a:r>
              <a:rPr lang="en-US" sz="1000" dirty="0">
                <a:solidFill>
                  <a:srgbClr val="2A322E"/>
                </a:solidFill>
              </a:rPr>
              <a:t>[B2] BNP Paribas, "4th quarter and full year 2025" results press release, 05/02/2026, via WebDisclosure</a:t>
            </a:r>
            <a:endParaRPr lang="en-US" sz="1000" dirty="0"/>
          </a:p>
          <a:p>
            <a:pPr indent="0" marL="0">
              <a:spcAft>
                <a:spcPts val="500"/>
              </a:spcAft>
              <a:buNone/>
            </a:pPr>
            <a:r>
              <a:rPr lang="en-US" sz="1000" dirty="0">
                <a:solidFill>
                  <a:srgbClr val="2A322E"/>
                </a:solidFill>
              </a:rPr>
              <a:t>[B3] Sudan litigation: BNP Paribas statement, 08/01/2026</a:t>
            </a:r>
            <a:endParaRPr lang="en-US" sz="1000" dirty="0"/>
          </a:p>
          <a:p>
            <a:pPr indent="0" marL="0">
              <a:spcAft>
                <a:spcPts val="500"/>
              </a:spcAft>
              <a:buNone/>
            </a:pPr>
            <a:r>
              <a:rPr lang="en-US" sz="1000" dirty="0">
                <a:solidFill>
                  <a:srgbClr val="2A322E"/>
                </a:solidFill>
              </a:rPr>
              <a:t>[B4] MarketScreener, BNP Paribas finances/consensus page, data 29/10/2026</a:t>
            </a:r>
            <a:endParaRPr lang="en-US" sz="1000" dirty="0"/>
          </a:p>
          <a:p>
            <a:pPr indent="0" marL="0">
              <a:spcAft>
                <a:spcPts val="500"/>
              </a:spcAft>
              <a:buNone/>
            </a:pPr>
            <a:r>
              <a:rPr lang="en-US" sz="1000" dirty="0">
                <a:solidFill>
                  <a:srgbClr val="2A322E"/>
                </a:solidFill>
              </a:rPr>
              <a:t>[B5] Teleborsa, Q2 2026 results summary, 23/07/2026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[B6] StockAnalysis, BNP Paribas statistics, data 29/10/2026</a:t>
            </a:r>
            <a:endParaRPr lang="en-US" sz="1000" dirty="0"/>
          </a:p>
          <a:p>
            <a:pPr indent="0" marL="0">
              <a:spcAft>
                <a:spcPts val="500"/>
              </a:spcAft>
              <a:buNone/>
            </a:pPr>
            <a:r>
              <a:rPr lang="en-US" sz="1000" dirty="0">
                <a:solidFill>
                  <a:srgbClr val="2A322E"/>
                </a:solidFill>
              </a:rPr>
              <a:t>[B7] Ideal Investisseur, BNP Paribas stock page and news feed, data 29/10/2026</a:t>
            </a:r>
            <a:endParaRPr lang="en-US" sz="1000" dirty="0"/>
          </a:p>
          <a:p>
            <a:pPr indent="0" marL="0">
              <a:spcAft>
                <a:spcPts val="500"/>
              </a:spcAft>
              <a:buNone/>
            </a:pPr>
            <a:r>
              <a:rPr lang="en-US" sz="1000" dirty="0">
                <a:solidFill>
                  <a:srgbClr val="2A322E"/>
                </a:solidFill>
              </a:rPr>
              <a:t>[B8] KoalaGains, BNP fair value page (third-party TBVPS, Q2 2026)</a:t>
            </a:r>
            <a:endParaRPr lang="en-US" sz="1000" dirty="0"/>
          </a:p>
          <a:p>
            <a:pPr indent="0" marL="0">
              <a:spcAft>
                <a:spcPts val="500"/>
              </a:spcAft>
              <a:buNone/>
            </a:pPr>
            <a:r>
              <a:rPr lang="en-US" sz="1000" dirty="0">
                <a:solidFill>
                  <a:srgbClr val="2A322E"/>
                </a:solidFill>
              </a:rPr>
              <a:t>[B9] Trading Economics, "BNP Paribas shares hit 19-week low", 08/10/2026 (and 22/10/2026 update, market data panel)</a:t>
            </a:r>
            <a:endParaRPr lang="en-US" sz="1000" dirty="0"/>
          </a:p>
          <a:p>
            <a:pPr indent="0" marL="0">
              <a:spcAft>
                <a:spcPts val="500"/>
              </a:spcAft>
              <a:buNone/>
            </a:pPr>
            <a:r>
              <a:rPr lang="en-US" sz="1000" dirty="0">
                <a:solidFill>
                  <a:srgbClr val="2A322E"/>
                </a:solidFill>
              </a:rPr>
              <a:t>Portfolio Project pipeline: scores, multiples, weights and returns computed from Bloomberg data extracted on the SKEMA terminal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1000" dirty="0">
                <a:solidFill>
                  <a:srgbClr val="5B6660"/>
                </a:solidFill>
              </a:rPr>
              <a:t>Disclosure: student research prepared for educational purposes and job interviews. It is not investment advice or a solicitation. Third-party market data (prices, consensus, forward multiples) is labelled and was accessed on 29 October 2026; third-party figures should be checked against company filings or a Bloomberg terminal before use. Backtest results are hypothetical.</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BNP Paribas stock pitch</dc:title>
  <dc:subject>PptxGenJS Presentation</dc:subject>
  <dc:creator>Noah Doose</dc:creator>
  <cp:lastModifiedBy>Noah Doose</cp:lastModifiedBy>
  <cp:revision>1</cp:revision>
  <dcterms:created xsi:type="dcterms:W3CDTF">2026-10-30T06:38:33Z</dcterms:created>
  <dcterms:modified xsi:type="dcterms:W3CDTF">2026-10-30T06:38:33Z</dcterms:modified>
</cp:coreProperties>
</file>