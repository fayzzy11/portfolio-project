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64997983-f497-851a-5dd3-11bc36eb93de}">
          <p14:sldIdLst>
            <p14:sldId id="256"/>
          </p14:sldIdLst>
        </p14:section>
        <p14:section name="Thesis" id="{db62fed8-dcc4-96db-6f41-27a23e9b3291}">
          <p14:sldIdLst>
            <p14:sldId id="257"/>
          </p14:sldIdLst>
        </p14:section>
        <p14:section name="Company" id="{51e48b4f-1e57-13f1-56c2-a8c7c06fae5f}">
          <p14:sldIdLst>
            <p14:sldId id="258"/>
            <p14:sldId id="259"/>
          </p14:sldIdLst>
        </p14:section>
        <p14:section name="Screen" id="{d6ed3d5a-a00d-5bb5-9137-010d6932025e}">
          <p14:sldIdLst>
            <p14:sldId id="260"/>
            <p14:sldId id="261"/>
          </p14:sldIdLst>
        </p14:section>
        <p14:section name="Financials" id="{07796de4-aefd-c0eb-e41e-785fefa08056}">
          <p14:sldIdLst>
            <p14:sldId id="262"/>
            <p14:sldId id="263"/>
          </p14:sldIdLst>
        </p14:section>
        <p14:section name="Valuation" id="{f560d5f1-2695-f3c5-156a-51d55cdd4047}">
          <p14:sldIdLst>
            <p14:sldId id="264"/>
          </p14:sldIdLst>
        </p14:section>
        <p14:section name="Catalysts and risks" id="{4e4241b4-3d5b-70db-3c96-c85583c9f36e}">
          <p14:sldIdLst>
            <p14:sldId id="265"/>
            <p14:sldId id="266"/>
          </p14:sldIdLst>
        </p14:section>
        <p14:section name="Sources" id="{99b49f0a-75d1-c8fc-fd9a-57bb88dd18b6}">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Répartition du CA, 9 mois 2026 (part du total)</a:t>
            </a:r>
          </a:p>
        </c:rich>
      </c:tx>
      <c:layout/>
      <c:overlay val="0"/>
    </c:title>
    <c:autoTitleDeleted val="0"/>
    <c:plotArea>
      <c:layout/>
      <c:barChart>
        <c:barDir val="bar"/>
        <c:grouping val="clustered"/>
        <c:varyColors val="0"/>
        <c:ser>
          <c:idx val="0"/>
          <c:order val="0"/>
          <c:tx>
            <c:strRef>
              <c:f>Sheet1!$B$1</c:f>
              <c:strCache>
                <c:ptCount val="1"/>
                <c:pt idx="0">
                  <c:v>Répartition du CA, 9 mois 2026</c:v>
                </c:pt>
              </c:strCache>
            </c:strRef>
          </c:tx>
          <c:spPr>
            <a:solidFill>
              <a:srgbClr val="0E6B4F"/>
            </a:solidFill>
            <a:effectLst/>
          </c:spPr>
          <c:invertIfNegative val="0"/>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cat>
            <c:multiLvlStrRef>
              <c:f>Sheet1!$A$2:$A$3</c:f>
              <c:multiLvlStrCache>
                <c:ptCount val="2"/>
                <c:lvl>
                  <c:pt idx="0">
                    <c:v>Automobile</c:v>
                  </c:pt>
                  <c:pt idx="1">
                    <c:v>Mobilize Financial Services</c:v>
                  </c:pt>
                </c:lvl>
              </c:multiLvlStrCache>
            </c:multiLvlStrRef>
          </c:cat>
          <c:val>
            <c:numRef>
              <c:f>Sheet1!$B$2:$B$3</c:f>
              <c:numCache>
                <c:formatCode>General</c:formatCode>
                <c:ptCount val="2"/>
                <c:pt idx="0">
                  <c:v>0.8755735041101128</c:v>
                </c:pt>
                <c:pt idx="1">
                  <c:v>0.12442649588988722</c:v>
                </c:pt>
              </c:numCache>
            </c:numRef>
          </c:val>
        </c:ser>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Multiples au 31 déc. 2025 (dernier exercice utilisable)</a:t>
            </a:r>
          </a:p>
        </c:rich>
      </c:tx>
      <c:layout/>
      <c:overlay val="0"/>
    </c:title>
    <c:autoTitleDeleted val="0"/>
    <c:plotArea>
      <c:layout/>
      <c:barChart>
        <c:barDir val="col"/>
        <c:grouping val="clustered"/>
        <c:varyColors val="0"/>
        <c:ser>
          <c:idx val="0"/>
          <c:order val="0"/>
          <c:tx>
            <c:strRef>
              <c:f>Sheet1!$B$1</c:f>
              <c:strCache>
                <c:ptCount val="1"/>
                <c:pt idx="0">
                  <c:v>Renault</c:v>
                </c:pt>
              </c:strCache>
            </c:strRef>
          </c:tx>
          <c:spPr>
            <a:solidFill>
              <a:srgbClr val="0E6B4F"/>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Sheet1!$B$2:$B$4</c:f>
              <c:numCache>
                <c:formatCode>General</c:formatCode>
                <c:ptCount val="3"/>
                <c:pt idx="0">
                  <c:v>1.78</c:v>
                </c:pt>
                <c:pt idx="1">
                  <c:v>13.93</c:v>
                </c:pt>
                <c:pt idx="2">
                  <c:v>0.35</c:v>
                </c:pt>
              </c:numCache>
            </c:numRef>
          </c:val>
        </c:ser>
        <c:ser>
          <c:idx val="1"/>
          <c:order val="1"/>
          <c:tx>
            <c:strRef>
              <c:f>Sheet1!$C$1</c:f>
              <c:strCache>
                <c:ptCount val="1"/>
                <c:pt idx="0">
                  <c:v>Médiane des pairs</c:v>
                </c:pt>
              </c:strCache>
            </c:strRef>
          </c:tx>
          <c:spPr>
            <a:solidFill>
              <a:srgbClr val="9AAAA2"/>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Sheet1!$C$2:$C$4</c:f>
              <c:numCache>
                <c:formatCode>General</c:formatCode>
                <c:ptCount val="3"/>
                <c:pt idx="0">
                  <c:v>4.81</c:v>
                </c:pt>
                <c:pt idx="1">
                  <c:v>6.76</c:v>
                </c:pt>
                <c:pt idx="2">
                  <c:v>0.6</c:v>
                </c:pt>
              </c:numCache>
            </c:numRef>
          </c:val>
        </c:ser>
        <c:ser>
          <c:idx val="2"/>
          <c:order val="2"/>
          <c:tx>
            <c:strRef>
              <c:f>Sheet1!$D$1</c:f>
              <c:strCache>
                <c:ptCount val="1"/>
                <c:pt idx="0">
                  <c:v>Médiane du secteur</c:v>
                </c:pt>
              </c:strCache>
            </c:strRef>
          </c:tx>
          <c:spPr>
            <a:solidFill>
              <a:srgbClr val="D5DBD6"/>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Sheet1!$D$2:$D$4</c:f>
              <c:numCache>
                <c:formatCode>General</c:formatCode>
                <c:ptCount val="3"/>
                <c:pt idx="0">
                  <c:v>18.33</c:v>
                </c:pt>
                <c:pt idx="1">
                  <c:v>22.16</c:v>
                </c:pt>
                <c:pt idx="2">
                  <c:v>4.41</c:v>
                </c:pt>
              </c:numCache>
            </c:numRef>
          </c:val>
        </c:ser>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Z-scores value dans le secteur (déc. 2025)</a:t>
            </a:r>
          </a:p>
        </c:rich>
      </c:tx>
      <c:layout/>
      <c:overlay val="0"/>
    </c:title>
    <c:autoTitleDeleted val="0"/>
    <c:plotArea>
      <c:layout/>
      <c:barChart>
        <c:barDir val="bar"/>
        <c:grouping val="clustered"/>
        <c:varyColors val="0"/>
        <c:ser>
          <c:idx val="0"/>
          <c:order val="0"/>
          <c:tx>
            <c:strRef>
              <c:f>Sheet1!$B$1</c:f>
              <c:strCache>
                <c:ptCount val="1"/>
                <c:pt idx="0">
                  <c:v>z-score</c:v>
                </c:pt>
              </c:strCache>
            </c:strRef>
          </c:tx>
          <c:spPr>
            <a:solidFill>
              <a:srgbClr val="0E6B4F"/>
            </a:solidFill>
            <a:effectLst/>
          </c:spPr>
          <c:invertIfNegative val="0"/>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dPt>
            <c:idx val="0"/>
            <c:invertIfNegative val="0"/>
            <c:bubble3D val="0"/>
            <c:spPr>
              <a:solidFill>
                <a:srgbClr val="0E6B4F"/>
              </a:solidFill>
              <a:effectLst/>
            </c:spPr>
          </c:dPt>
          <c:dPt>
            <c:idx val="1"/>
            <c:invertIfNegative val="0"/>
            <c:bubble3D val="0"/>
            <c:spPr>
              <a:solidFill>
                <a:srgbClr val="0E6B4F"/>
              </a:solidFill>
              <a:effectLst/>
            </c:spPr>
          </c:dPt>
          <c:dPt>
            <c:idx val="2"/>
            <c:invertIfNegative val="0"/>
            <c:bubble3D val="0"/>
            <c:spPr>
              <a:solidFill>
                <a:srgbClr val="0E6B4F"/>
              </a:solidFill>
              <a:effectLst/>
            </c:spPr>
          </c:dPt>
          <c:dPt>
            <c:idx val="3"/>
            <c:invertIfNegative val="0"/>
            <c:bubble3D val="0"/>
            <c:spPr>
              <a:solidFill>
                <a:srgbClr val="0E6B4F"/>
              </a:solidFill>
              <a:effectLst/>
            </c:spPr>
          </c:dPt>
          <c:cat>
            <c:multiLvlStrRef>
              <c:f>Sheet1!$A$2:$A$5</c:f>
              <c:multiLvlStrCache>
                <c:ptCount val="4"/>
                <c:lvl>
                  <c:pt idx="0">
                    <c:v>EBIT / VE</c:v>
                  </c:pt>
                  <c:pt idx="1">
                    <c:v>Valeur comptable / cours</c:v>
                  </c:pt>
                  <c:pt idx="2">
                    <c:v>Rendement FCF</c:v>
                  </c:pt>
                  <c:pt idx="3">
                    <c:v>CA / VE</c:v>
                  </c:pt>
                </c:lvl>
              </c:multiLvlStrCache>
            </c:multiLvlStrRef>
          </c:cat>
          <c:val>
            <c:numRef>
              <c:f>Sheet1!$B$2:$B$5</c:f>
              <c:numCache>
                <c:formatCode>General</c:formatCode>
                <c:ptCount val="4"/>
                <c:pt idx="0">
                  <c:v>3.6976918400393766</c:v>
                </c:pt>
                <c:pt idx="1">
                  <c:v>3.28203257202924</c:v>
                </c:pt>
                <c:pt idx="2">
                  <c:v>3.681959526612042</c:v>
                </c:pt>
                <c:pt idx="3">
                  <c:v>3.2721072137524745</c:v>
                </c:pt>
              </c:numCache>
            </c:numRef>
          </c:val>
        </c:ser>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Rendement total en EUR, base 100 (juin 2021 - juin 2026, hebdo)</a:t>
            </a:r>
          </a:p>
        </c:rich>
      </c:tx>
      <c:layout/>
      <c:overlay val="0"/>
    </c:title>
    <c:autoTitleDeleted val="0"/>
    <c:plotArea>
      <c:layout/>
      <c:lineChart>
        <c:varyColors val="0"/>
        <c:ser>
          <c:idx val="0"/>
          <c:order val="0"/>
          <c:tx>
            <c:strRef>
              <c:f>Sheet1!$B$1</c:f>
              <c:strCache>
                <c:ptCount val="1"/>
                <c:pt idx="0">
                  <c:v>Renault</c:v>
                </c:pt>
              </c:strCache>
            </c:strRef>
          </c:tx>
          <c:spPr>
            <a:solidFill>
              <a:srgbClr val="0E6B4F"/>
            </a:solidFill>
            <a:ln w="25400" cap="flat">
              <a:solidFill>
                <a:srgbClr val="0E6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B4F"/>
              </a:solidFill>
              <a:ln w="9525" cap="flat">
                <a:solidFill>
                  <a:srgbClr val="0E6B4F"/>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Sheet1!$B$2:$B$263</c:f>
              <c:numCache>
                <c:formatCode>General</c:formatCode>
                <c:ptCount val="262"/>
                <c:pt idx="0">
                  <c:v>100</c:v>
                </c:pt>
                <c:pt idx="1">
                  <c:v>100.71</c:v>
                </c:pt>
                <c:pt idx="2">
                  <c:v>95.01</c:v>
                </c:pt>
                <c:pt idx="3">
                  <c:v>87.82</c:v>
                </c:pt>
                <c:pt idx="4">
                  <c:v>88.53</c:v>
                </c:pt>
                <c:pt idx="5">
                  <c:v>90.83</c:v>
                </c:pt>
                <c:pt idx="6">
                  <c:v>97.26</c:v>
                </c:pt>
                <c:pt idx="7">
                  <c:v>95.48</c:v>
                </c:pt>
                <c:pt idx="8">
                  <c:v>88.34</c:v>
                </c:pt>
                <c:pt idx="9">
                  <c:v>88.41</c:v>
                </c:pt>
                <c:pt idx="10">
                  <c:v>85.39</c:v>
                </c:pt>
                <c:pt idx="11">
                  <c:v>82.97</c:v>
                </c:pt>
                <c:pt idx="12">
                  <c:v>81.55</c:v>
                </c:pt>
                <c:pt idx="13">
                  <c:v>87.15</c:v>
                </c:pt>
                <c:pt idx="14">
                  <c:v>87.76</c:v>
                </c:pt>
                <c:pt idx="15">
                  <c:v>89.18</c:v>
                </c:pt>
                <c:pt idx="16">
                  <c:v>94.2</c:v>
                </c:pt>
                <c:pt idx="17">
                  <c:v>88.34</c:v>
                </c:pt>
                <c:pt idx="18">
                  <c:v>88.09</c:v>
                </c:pt>
                <c:pt idx="19">
                  <c:v>92.29</c:v>
                </c:pt>
                <c:pt idx="20">
                  <c:v>97.48</c:v>
                </c:pt>
                <c:pt idx="21">
                  <c:v>93.39</c:v>
                </c:pt>
                <c:pt idx="22">
                  <c:v>83.98</c:v>
                </c:pt>
                <c:pt idx="23">
                  <c:v>81.44</c:v>
                </c:pt>
                <c:pt idx="24">
                  <c:v>84.49</c:v>
                </c:pt>
                <c:pt idx="25">
                  <c:v>82.59</c:v>
                </c:pt>
                <c:pt idx="26">
                  <c:v>84.43</c:v>
                </c:pt>
                <c:pt idx="27">
                  <c:v>86.63</c:v>
                </c:pt>
                <c:pt idx="28">
                  <c:v>97.09</c:v>
                </c:pt>
                <c:pt idx="29">
                  <c:v>95.14</c:v>
                </c:pt>
                <c:pt idx="30">
                  <c:v>94.48</c:v>
                </c:pt>
                <c:pt idx="31">
                  <c:v>98.04</c:v>
                </c:pt>
                <c:pt idx="32">
                  <c:v>97.26</c:v>
                </c:pt>
                <c:pt idx="33">
                  <c:v>101.93</c:v>
                </c:pt>
                <c:pt idx="34">
                  <c:v>103.02</c:v>
                </c:pt>
                <c:pt idx="35">
                  <c:v>86.63</c:v>
                </c:pt>
                <c:pt idx="36">
                  <c:v>65.58</c:v>
                </c:pt>
                <c:pt idx="37">
                  <c:v>63.26</c:v>
                </c:pt>
                <c:pt idx="38">
                  <c:v>66.09</c:v>
                </c:pt>
                <c:pt idx="39">
                  <c:v>65.22</c:v>
                </c:pt>
                <c:pt idx="40">
                  <c:v>68.28</c:v>
                </c:pt>
                <c:pt idx="41">
                  <c:v>61.98</c:v>
                </c:pt>
                <c:pt idx="42">
                  <c:v>63.05</c:v>
                </c:pt>
                <c:pt idx="43">
                  <c:v>65.83</c:v>
                </c:pt>
                <c:pt idx="44">
                  <c:v>66.86</c:v>
                </c:pt>
                <c:pt idx="45">
                  <c:v>65.71</c:v>
                </c:pt>
                <c:pt idx="46">
                  <c:v>66.93</c:v>
                </c:pt>
                <c:pt idx="47">
                  <c:v>68.56</c:v>
                </c:pt>
                <c:pt idx="48">
                  <c:v>71.43</c:v>
                </c:pt>
                <c:pt idx="49">
                  <c:v>73.09</c:v>
                </c:pt>
                <c:pt idx="50">
                  <c:v>74.69</c:v>
                </c:pt>
                <c:pt idx="51">
                  <c:v>68.16</c:v>
                </c:pt>
                <c:pt idx="52">
                  <c:v>70.08</c:v>
                </c:pt>
                <c:pt idx="53">
                  <c:v>69.07</c:v>
                </c:pt>
                <c:pt idx="54">
                  <c:v>69.82</c:v>
                </c:pt>
                <c:pt idx="55">
                  <c:v>68.8</c:v>
                </c:pt>
                <c:pt idx="56">
                  <c:v>73.26</c:v>
                </c:pt>
                <c:pt idx="57">
                  <c:v>81.52</c:v>
                </c:pt>
                <c:pt idx="58">
                  <c:v>84.42</c:v>
                </c:pt>
                <c:pt idx="59">
                  <c:v>87.08</c:v>
                </c:pt>
                <c:pt idx="60">
                  <c:v>83.13</c:v>
                </c:pt>
                <c:pt idx="61">
                  <c:v>77.72</c:v>
                </c:pt>
                <c:pt idx="62">
                  <c:v>83.3</c:v>
                </c:pt>
                <c:pt idx="63">
                  <c:v>83.31</c:v>
                </c:pt>
                <c:pt idx="64">
                  <c:v>90.71</c:v>
                </c:pt>
                <c:pt idx="65">
                  <c:v>78.66</c:v>
                </c:pt>
                <c:pt idx="66">
                  <c:v>79.33</c:v>
                </c:pt>
                <c:pt idx="67">
                  <c:v>87.01</c:v>
                </c:pt>
                <c:pt idx="68">
                  <c:v>87.2</c:v>
                </c:pt>
                <c:pt idx="69">
                  <c:v>92.91</c:v>
                </c:pt>
                <c:pt idx="70">
                  <c:v>88.77</c:v>
                </c:pt>
                <c:pt idx="71">
                  <c:v>86.54</c:v>
                </c:pt>
                <c:pt idx="72">
                  <c:v>92.26</c:v>
                </c:pt>
                <c:pt idx="73">
                  <c:v>93.72</c:v>
                </c:pt>
                <c:pt idx="74">
                  <c:v>95.77</c:v>
                </c:pt>
                <c:pt idx="75">
                  <c:v>98.13</c:v>
                </c:pt>
                <c:pt idx="76">
                  <c:v>97.58</c:v>
                </c:pt>
                <c:pt idx="77">
                  <c:v>92.73</c:v>
                </c:pt>
                <c:pt idx="78">
                  <c:v>89.04</c:v>
                </c:pt>
                <c:pt idx="79">
                  <c:v>88.7</c:v>
                </c:pt>
                <c:pt idx="80">
                  <c:v>102.51</c:v>
                </c:pt>
                <c:pt idx="81">
                  <c:v>105.32</c:v>
                </c:pt>
                <c:pt idx="82">
                  <c:v>103.46</c:v>
                </c:pt>
                <c:pt idx="83">
                  <c:v>108.35</c:v>
                </c:pt>
                <c:pt idx="84">
                  <c:v>110.64</c:v>
                </c:pt>
                <c:pt idx="85">
                  <c:v>115.98</c:v>
                </c:pt>
                <c:pt idx="86">
                  <c:v>119.71</c:v>
                </c:pt>
                <c:pt idx="87">
                  <c:v>115.07</c:v>
                </c:pt>
                <c:pt idx="88">
                  <c:v>122.31</c:v>
                </c:pt>
                <c:pt idx="89">
                  <c:v>114.9</c:v>
                </c:pt>
                <c:pt idx="90">
                  <c:v>100.3</c:v>
                </c:pt>
                <c:pt idx="91">
                  <c:v>100.54</c:v>
                </c:pt>
                <c:pt idx="92">
                  <c:v>106.64</c:v>
                </c:pt>
                <c:pt idx="93">
                  <c:v>104.01</c:v>
                </c:pt>
                <c:pt idx="94">
                  <c:v>107.88</c:v>
                </c:pt>
                <c:pt idx="95">
                  <c:v>94.48</c:v>
                </c:pt>
                <c:pt idx="96">
                  <c:v>95.38</c:v>
                </c:pt>
                <c:pt idx="97">
                  <c:v>93.02</c:v>
                </c:pt>
                <c:pt idx="98">
                  <c:v>95.16</c:v>
                </c:pt>
                <c:pt idx="99">
                  <c:v>95.93</c:v>
                </c:pt>
                <c:pt idx="100">
                  <c:v>94.97</c:v>
                </c:pt>
                <c:pt idx="101">
                  <c:v>94.58</c:v>
                </c:pt>
                <c:pt idx="102">
                  <c:v>94.56</c:v>
                </c:pt>
                <c:pt idx="103">
                  <c:v>105.04</c:v>
                </c:pt>
                <c:pt idx="104">
                  <c:v>101.94</c:v>
                </c:pt>
                <c:pt idx="105">
                  <c:v>110.26</c:v>
                </c:pt>
                <c:pt idx="106">
                  <c:v>107.96</c:v>
                </c:pt>
                <c:pt idx="107">
                  <c:v>109.66</c:v>
                </c:pt>
                <c:pt idx="108">
                  <c:v>112.36</c:v>
                </c:pt>
                <c:pt idx="109">
                  <c:v>115.85</c:v>
                </c:pt>
                <c:pt idx="110">
                  <c:v>109.83</c:v>
                </c:pt>
                <c:pt idx="111">
                  <c:v>108.09</c:v>
                </c:pt>
                <c:pt idx="112">
                  <c:v>104.76</c:v>
                </c:pt>
                <c:pt idx="113">
                  <c:v>104.04</c:v>
                </c:pt>
                <c:pt idx="114">
                  <c:v>100.03</c:v>
                </c:pt>
                <c:pt idx="115">
                  <c:v>102.84</c:v>
                </c:pt>
                <c:pt idx="116">
                  <c:v>109.02</c:v>
                </c:pt>
                <c:pt idx="117">
                  <c:v>109.6</c:v>
                </c:pt>
                <c:pt idx="118">
                  <c:v>111.1</c:v>
                </c:pt>
                <c:pt idx="119">
                  <c:v>102.1</c:v>
                </c:pt>
                <c:pt idx="120">
                  <c:v>103.6</c:v>
                </c:pt>
                <c:pt idx="121">
                  <c:v>95</c:v>
                </c:pt>
                <c:pt idx="122">
                  <c:v>92.73</c:v>
                </c:pt>
                <c:pt idx="123">
                  <c:v>99.27</c:v>
                </c:pt>
                <c:pt idx="124">
                  <c:v>97.19</c:v>
                </c:pt>
                <c:pt idx="125">
                  <c:v>101.63</c:v>
                </c:pt>
                <c:pt idx="126">
                  <c:v>100.24</c:v>
                </c:pt>
                <c:pt idx="127">
                  <c:v>103.59</c:v>
                </c:pt>
                <c:pt idx="128">
                  <c:v>108.55</c:v>
                </c:pt>
                <c:pt idx="129">
                  <c:v>112.25</c:v>
                </c:pt>
                <c:pt idx="130">
                  <c:v>107.7</c:v>
                </c:pt>
                <c:pt idx="131">
                  <c:v>105.47</c:v>
                </c:pt>
                <c:pt idx="132">
                  <c:v>103.94</c:v>
                </c:pt>
                <c:pt idx="133">
                  <c:v>98.61</c:v>
                </c:pt>
                <c:pt idx="134">
                  <c:v>97.86</c:v>
                </c:pt>
                <c:pt idx="135">
                  <c:v>98.19</c:v>
                </c:pt>
                <c:pt idx="136">
                  <c:v>101.46</c:v>
                </c:pt>
                <c:pt idx="137">
                  <c:v>107</c:v>
                </c:pt>
                <c:pt idx="138">
                  <c:v>109.42</c:v>
                </c:pt>
                <c:pt idx="139">
                  <c:v>107.47</c:v>
                </c:pt>
                <c:pt idx="140">
                  <c:v>110.58</c:v>
                </c:pt>
                <c:pt idx="141">
                  <c:v>113.06</c:v>
                </c:pt>
                <c:pt idx="142">
                  <c:v>122.32</c:v>
                </c:pt>
                <c:pt idx="143">
                  <c:v>129.85</c:v>
                </c:pt>
                <c:pt idx="144">
                  <c:v>133.74</c:v>
                </c:pt>
                <c:pt idx="145">
                  <c:v>141.93</c:v>
                </c:pt>
                <c:pt idx="146">
                  <c:v>143.41</c:v>
                </c:pt>
                <c:pt idx="147">
                  <c:v>136.41</c:v>
                </c:pt>
                <c:pt idx="148">
                  <c:v>138.75</c:v>
                </c:pt>
                <c:pt idx="149">
                  <c:v>137.18</c:v>
                </c:pt>
                <c:pt idx="150">
                  <c:v>138.04</c:v>
                </c:pt>
                <c:pt idx="151">
                  <c:v>143.47</c:v>
                </c:pt>
                <c:pt idx="152">
                  <c:v>149.36</c:v>
                </c:pt>
                <c:pt idx="153">
                  <c:v>159.1</c:v>
                </c:pt>
                <c:pt idx="154">
                  <c:v>152.1</c:v>
                </c:pt>
                <c:pt idx="155">
                  <c:v>142.95</c:v>
                </c:pt>
                <c:pt idx="156">
                  <c:v>144.49</c:v>
                </c:pt>
                <c:pt idx="157">
                  <c:v>142.06</c:v>
                </c:pt>
                <c:pt idx="158">
                  <c:v>148.77</c:v>
                </c:pt>
                <c:pt idx="159">
                  <c:v>149.01</c:v>
                </c:pt>
                <c:pt idx="160">
                  <c:v>143.51</c:v>
                </c:pt>
                <c:pt idx="161">
                  <c:v>130.09</c:v>
                </c:pt>
                <c:pt idx="162">
                  <c:v>124.36</c:v>
                </c:pt>
                <c:pt idx="163">
                  <c:v>120.38</c:v>
                </c:pt>
                <c:pt idx="164">
                  <c:v>122.91</c:v>
                </c:pt>
                <c:pt idx="165">
                  <c:v>128.19</c:v>
                </c:pt>
                <c:pt idx="166">
                  <c:v>127.54</c:v>
                </c:pt>
                <c:pt idx="167">
                  <c:v>119.79</c:v>
                </c:pt>
                <c:pt idx="168">
                  <c:v>116.23</c:v>
                </c:pt>
                <c:pt idx="169">
                  <c:v>114.24</c:v>
                </c:pt>
                <c:pt idx="170">
                  <c:v>122.61</c:v>
                </c:pt>
                <c:pt idx="171">
                  <c:v>109.78</c:v>
                </c:pt>
                <c:pt idx="172">
                  <c:v>116.82</c:v>
                </c:pt>
                <c:pt idx="173">
                  <c:v>120.2</c:v>
                </c:pt>
                <c:pt idx="174">
                  <c:v>127.98</c:v>
                </c:pt>
                <c:pt idx="175">
                  <c:v>121.99</c:v>
                </c:pt>
                <c:pt idx="176">
                  <c:v>120.83</c:v>
                </c:pt>
                <c:pt idx="177">
                  <c:v>122.28</c:v>
                </c:pt>
                <c:pt idx="178">
                  <c:v>119.7</c:v>
                </c:pt>
                <c:pt idx="179">
                  <c:v>120.35</c:v>
                </c:pt>
                <c:pt idx="180">
                  <c:v>129.74</c:v>
                </c:pt>
                <c:pt idx="181">
                  <c:v>132.94</c:v>
                </c:pt>
                <c:pt idx="182">
                  <c:v>139.03</c:v>
                </c:pt>
                <c:pt idx="183">
                  <c:v>139.12</c:v>
                </c:pt>
                <c:pt idx="184">
                  <c:v>136.83</c:v>
                </c:pt>
                <c:pt idx="185">
                  <c:v>135.97</c:v>
                </c:pt>
                <c:pt idx="186">
                  <c:v>144.82</c:v>
                </c:pt>
                <c:pt idx="187">
                  <c:v>145.89</c:v>
                </c:pt>
                <c:pt idx="188">
                  <c:v>147.43</c:v>
                </c:pt>
                <c:pt idx="189">
                  <c:v>145.98</c:v>
                </c:pt>
                <c:pt idx="190">
                  <c:v>155.9</c:v>
                </c:pt>
                <c:pt idx="191">
                  <c:v>144.79</c:v>
                </c:pt>
                <c:pt idx="192">
                  <c:v>148</c:v>
                </c:pt>
                <c:pt idx="193">
                  <c:v>141.38</c:v>
                </c:pt>
                <c:pt idx="194">
                  <c:v>143.51</c:v>
                </c:pt>
                <c:pt idx="195">
                  <c:v>140.01</c:v>
                </c:pt>
                <c:pt idx="196">
                  <c:v>141.05</c:v>
                </c:pt>
                <c:pt idx="197">
                  <c:v>131.4</c:v>
                </c:pt>
                <c:pt idx="198">
                  <c:v>126.92</c:v>
                </c:pt>
                <c:pt idx="199">
                  <c:v>130.33</c:v>
                </c:pt>
                <c:pt idx="200">
                  <c:v>138.94</c:v>
                </c:pt>
                <c:pt idx="201">
                  <c:v>140.69</c:v>
                </c:pt>
                <c:pt idx="202">
                  <c:v>148.39</c:v>
                </c:pt>
                <c:pt idx="203">
                  <c:v>152.75</c:v>
                </c:pt>
                <c:pt idx="204">
                  <c:v>148.08</c:v>
                </c:pt>
                <c:pt idx="205">
                  <c:v>141.29</c:v>
                </c:pt>
                <c:pt idx="206">
                  <c:v>133.88</c:v>
                </c:pt>
                <c:pt idx="207">
                  <c:v>134.01</c:v>
                </c:pt>
                <c:pt idx="208">
                  <c:v>120.22</c:v>
                </c:pt>
                <c:pt idx="209">
                  <c:v>124.82</c:v>
                </c:pt>
                <c:pt idx="210">
                  <c:v>126.23</c:v>
                </c:pt>
                <c:pt idx="211">
                  <c:v>128.28</c:v>
                </c:pt>
                <c:pt idx="212">
                  <c:v>104.68</c:v>
                </c:pt>
                <c:pt idx="213">
                  <c:v>107.17</c:v>
                </c:pt>
                <c:pt idx="214">
                  <c:v>100.23</c:v>
                </c:pt>
                <c:pt idx="215">
                  <c:v>100.97</c:v>
                </c:pt>
                <c:pt idx="216">
                  <c:v>103.09</c:v>
                </c:pt>
                <c:pt idx="217">
                  <c:v>104.49</c:v>
                </c:pt>
                <c:pt idx="218">
                  <c:v>104.62</c:v>
                </c:pt>
                <c:pt idx="219">
                  <c:v>102.78</c:v>
                </c:pt>
                <c:pt idx="220">
                  <c:v>107.01</c:v>
                </c:pt>
                <c:pt idx="221">
                  <c:v>110.13</c:v>
                </c:pt>
                <c:pt idx="222">
                  <c:v>108.2</c:v>
                </c:pt>
                <c:pt idx="223">
                  <c:v>111.4</c:v>
                </c:pt>
                <c:pt idx="224">
                  <c:v>106.89</c:v>
                </c:pt>
                <c:pt idx="225">
                  <c:v>107.08</c:v>
                </c:pt>
                <c:pt idx="226">
                  <c:v>107.01</c:v>
                </c:pt>
                <c:pt idx="227">
                  <c:v>104.93</c:v>
                </c:pt>
                <c:pt idx="228">
                  <c:v>105.99</c:v>
                </c:pt>
                <c:pt idx="229">
                  <c:v>112.87</c:v>
                </c:pt>
                <c:pt idx="230">
                  <c:v>106.86</c:v>
                </c:pt>
                <c:pt idx="231">
                  <c:v>107.33</c:v>
                </c:pt>
                <c:pt idx="232">
                  <c:v>115.83</c:v>
                </c:pt>
                <c:pt idx="233">
                  <c:v>115.61</c:v>
                </c:pt>
                <c:pt idx="234">
                  <c:v>112.9</c:v>
                </c:pt>
                <c:pt idx="235">
                  <c:v>111.25</c:v>
                </c:pt>
                <c:pt idx="236">
                  <c:v>113.21</c:v>
                </c:pt>
                <c:pt idx="237">
                  <c:v>105.24</c:v>
                </c:pt>
                <c:pt idx="238">
                  <c:v>99.11</c:v>
                </c:pt>
                <c:pt idx="239">
                  <c:v>100.63</c:v>
                </c:pt>
                <c:pt idx="240">
                  <c:v>99.26</c:v>
                </c:pt>
                <c:pt idx="241">
                  <c:v>96.12</c:v>
                </c:pt>
                <c:pt idx="242">
                  <c:v>102.13</c:v>
                </c:pt>
                <c:pt idx="243">
                  <c:v>100.72</c:v>
                </c:pt>
                <c:pt idx="244">
                  <c:v>99.98</c:v>
                </c:pt>
                <c:pt idx="245">
                  <c:v>88.77</c:v>
                </c:pt>
                <c:pt idx="246">
                  <c:v>88.64</c:v>
                </c:pt>
                <c:pt idx="247">
                  <c:v>86.06</c:v>
                </c:pt>
                <c:pt idx="248">
                  <c:v>88.08</c:v>
                </c:pt>
                <c:pt idx="249">
                  <c:v>93.72</c:v>
                </c:pt>
                <c:pt idx="250">
                  <c:v>96.46</c:v>
                </c:pt>
                <c:pt idx="251">
                  <c:v>101.25</c:v>
                </c:pt>
                <c:pt idx="252">
                  <c:v>92.66</c:v>
                </c:pt>
                <c:pt idx="253">
                  <c:v>92.69</c:v>
                </c:pt>
                <c:pt idx="254">
                  <c:v>95.82</c:v>
                </c:pt>
                <c:pt idx="255">
                  <c:v>95.11</c:v>
                </c:pt>
                <c:pt idx="256">
                  <c:v>93.34</c:v>
                </c:pt>
                <c:pt idx="257">
                  <c:v>99.13</c:v>
                </c:pt>
                <c:pt idx="258">
                  <c:v>89.82</c:v>
                </c:pt>
                <c:pt idx="259">
                  <c:v>93.04</c:v>
                </c:pt>
                <c:pt idx="260">
                  <c:v>94.08</c:v>
                </c:pt>
                <c:pt idx="261">
                  <c:v>87.34</c:v>
                </c:pt>
              </c:numCache>
            </c:numRef>
          </c:val>
          <c:smooth val="0"/>
        </c:ser>
        <c:ser>
          <c:idx val="1"/>
          <c:order val="1"/>
          <c:tx>
            <c:strRef>
              <c:f>Sheet1!$C$1</c:f>
              <c:strCache>
                <c:ptCount val="1"/>
                <c:pt idx="0">
                  <c:v>MSCI World Net EUR</c:v>
                </c:pt>
              </c:strCache>
            </c:strRef>
          </c:tx>
          <c:spPr>
            <a:solidFill>
              <a:srgbClr val="9AAAA2"/>
            </a:solidFill>
            <a:ln w="25400" cap="flat">
              <a:solidFill>
                <a:srgbClr val="9AAAA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AA2"/>
              </a:solidFill>
              <a:ln w="9525" cap="flat">
                <a:solidFill>
                  <a:srgbClr val="9AAAA2"/>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Sheet1!$C$2:$C$263</c:f>
              <c:numCache>
                <c:formatCode>General</c:formatCode>
                <c:ptCount val="262"/>
                <c:pt idx="0">
                  <c:v>100</c:v>
                </c:pt>
                <c:pt idx="1">
                  <c:v>101.65</c:v>
                </c:pt>
                <c:pt idx="2">
                  <c:v>101.72</c:v>
                </c:pt>
                <c:pt idx="3">
                  <c:v>101.25</c:v>
                </c:pt>
                <c:pt idx="4">
                  <c:v>103.28</c:v>
                </c:pt>
                <c:pt idx="5">
                  <c:v>102.35</c:v>
                </c:pt>
                <c:pt idx="6">
                  <c:v>104.19</c:v>
                </c:pt>
                <c:pt idx="7">
                  <c:v>104.86</c:v>
                </c:pt>
                <c:pt idx="8">
                  <c:v>104.39</c:v>
                </c:pt>
                <c:pt idx="9">
                  <c:v>105.27</c:v>
                </c:pt>
                <c:pt idx="10">
                  <c:v>105.49</c:v>
                </c:pt>
                <c:pt idx="11">
                  <c:v>104.52</c:v>
                </c:pt>
                <c:pt idx="12">
                  <c:v>104.54</c:v>
                </c:pt>
                <c:pt idx="13">
                  <c:v>104.99</c:v>
                </c:pt>
                <c:pt idx="14">
                  <c:v>103.36</c:v>
                </c:pt>
                <c:pt idx="15">
                  <c:v>104.31</c:v>
                </c:pt>
                <c:pt idx="16">
                  <c:v>106.29</c:v>
                </c:pt>
                <c:pt idx="17">
                  <c:v>107.34</c:v>
                </c:pt>
                <c:pt idx="18">
                  <c:v>108.86</c:v>
                </c:pt>
                <c:pt idx="19">
                  <c:v>111.02</c:v>
                </c:pt>
                <c:pt idx="20">
                  <c:v>111.83</c:v>
                </c:pt>
                <c:pt idx="21">
                  <c:v>112.98</c:v>
                </c:pt>
                <c:pt idx="22">
                  <c:v>109.93</c:v>
                </c:pt>
                <c:pt idx="23">
                  <c:v>108.71</c:v>
                </c:pt>
                <c:pt idx="24">
                  <c:v>112.07</c:v>
                </c:pt>
                <c:pt idx="25">
                  <c:v>110.68</c:v>
                </c:pt>
                <c:pt idx="26">
                  <c:v>112.51</c:v>
                </c:pt>
                <c:pt idx="27">
                  <c:v>112.98</c:v>
                </c:pt>
                <c:pt idx="28">
                  <c:v>111.35</c:v>
                </c:pt>
                <c:pt idx="29">
                  <c:v>110.37</c:v>
                </c:pt>
                <c:pt idx="30">
                  <c:v>106.03</c:v>
                </c:pt>
                <c:pt idx="31">
                  <c:v>107.08</c:v>
                </c:pt>
                <c:pt idx="32">
                  <c:v>106.43</c:v>
                </c:pt>
                <c:pt idx="33">
                  <c:v>106.05</c:v>
                </c:pt>
                <c:pt idx="34">
                  <c:v>104.72</c:v>
                </c:pt>
                <c:pt idx="35">
                  <c:v>105.54</c:v>
                </c:pt>
                <c:pt idx="36">
                  <c:v>105.67</c:v>
                </c:pt>
                <c:pt idx="37">
                  <c:v>103.22</c:v>
                </c:pt>
                <c:pt idx="38">
                  <c:v>108.65</c:v>
                </c:pt>
                <c:pt idx="39">
                  <c:v>110.71</c:v>
                </c:pt>
                <c:pt idx="40">
                  <c:v>110.56</c:v>
                </c:pt>
                <c:pt idx="41">
                  <c:v>110.61</c:v>
                </c:pt>
                <c:pt idx="42">
                  <c:v>109.69</c:v>
                </c:pt>
                <c:pt idx="43">
                  <c:v>106.87</c:v>
                </c:pt>
                <c:pt idx="44">
                  <c:v>105.92</c:v>
                </c:pt>
                <c:pt idx="45">
                  <c:v>104.38</c:v>
                </c:pt>
                <c:pt idx="46">
                  <c:v>104</c:v>
                </c:pt>
                <c:pt idx="47">
                  <c:v>100.73</c:v>
                </c:pt>
                <c:pt idx="48">
                  <c:v>104.83</c:v>
                </c:pt>
                <c:pt idx="49">
                  <c:v>103.87</c:v>
                </c:pt>
                <c:pt idx="50">
                  <c:v>100.55</c:v>
                </c:pt>
                <c:pt idx="51">
                  <c:v>95.31</c:v>
                </c:pt>
                <c:pt idx="52">
                  <c:v>99.62</c:v>
                </c:pt>
                <c:pt idx="53">
                  <c:v>98.82</c:v>
                </c:pt>
                <c:pt idx="54">
                  <c:v>102.69</c:v>
                </c:pt>
                <c:pt idx="55">
                  <c:v>102.26</c:v>
                </c:pt>
                <c:pt idx="56">
                  <c:v>103.99</c:v>
                </c:pt>
                <c:pt idx="57">
                  <c:v>108.12</c:v>
                </c:pt>
                <c:pt idx="58">
                  <c:v>108.7</c:v>
                </c:pt>
                <c:pt idx="59">
                  <c:v>111.15</c:v>
                </c:pt>
                <c:pt idx="60">
                  <c:v>111.57</c:v>
                </c:pt>
                <c:pt idx="61">
                  <c:v>108.14</c:v>
                </c:pt>
                <c:pt idx="62">
                  <c:v>104.5</c:v>
                </c:pt>
                <c:pt idx="63">
                  <c:v>107.49</c:v>
                </c:pt>
                <c:pt idx="64">
                  <c:v>103.08</c:v>
                </c:pt>
                <c:pt idx="65">
                  <c:v>101.13</c:v>
                </c:pt>
                <c:pt idx="66">
                  <c:v>97.81</c:v>
                </c:pt>
                <c:pt idx="67">
                  <c:v>99.55</c:v>
                </c:pt>
                <c:pt idx="68">
                  <c:v>98.19</c:v>
                </c:pt>
                <c:pt idx="69">
                  <c:v>101.3</c:v>
                </c:pt>
                <c:pt idx="70">
                  <c:v>103.75</c:v>
                </c:pt>
                <c:pt idx="71">
                  <c:v>102.15</c:v>
                </c:pt>
                <c:pt idx="72">
                  <c:v>104.43</c:v>
                </c:pt>
                <c:pt idx="73">
                  <c:v>103.55</c:v>
                </c:pt>
                <c:pt idx="74">
                  <c:v>104.86</c:v>
                </c:pt>
                <c:pt idx="75">
                  <c:v>105.36</c:v>
                </c:pt>
                <c:pt idx="76">
                  <c:v>102.02</c:v>
                </c:pt>
                <c:pt idx="77">
                  <c:v>99.16</c:v>
                </c:pt>
                <c:pt idx="78">
                  <c:v>99.16</c:v>
                </c:pt>
                <c:pt idx="79">
                  <c:v>98.55</c:v>
                </c:pt>
                <c:pt idx="80">
                  <c:v>101.01</c:v>
                </c:pt>
                <c:pt idx="81">
                  <c:v>102.12</c:v>
                </c:pt>
                <c:pt idx="82">
                  <c:v>101.73</c:v>
                </c:pt>
                <c:pt idx="83">
                  <c:v>103.91</c:v>
                </c:pt>
                <c:pt idx="84">
                  <c:v>105.06</c:v>
                </c:pt>
                <c:pt idx="85">
                  <c:v>105.47</c:v>
                </c:pt>
                <c:pt idx="86">
                  <c:v>105.5</c:v>
                </c:pt>
                <c:pt idx="87">
                  <c:v>103.95</c:v>
                </c:pt>
                <c:pt idx="88">
                  <c:v>105.4</c:v>
                </c:pt>
                <c:pt idx="89">
                  <c:v>100.76</c:v>
                </c:pt>
                <c:pt idx="90">
                  <c:v>101.15</c:v>
                </c:pt>
                <c:pt idx="91">
                  <c:v>101.45</c:v>
                </c:pt>
                <c:pt idx="92">
                  <c:v>104.29</c:v>
                </c:pt>
                <c:pt idx="93">
                  <c:v>103.73</c:v>
                </c:pt>
                <c:pt idx="94">
                  <c:v>104.27</c:v>
                </c:pt>
                <c:pt idx="95">
                  <c:v>104.51</c:v>
                </c:pt>
                <c:pt idx="96">
                  <c:v>104.43</c:v>
                </c:pt>
                <c:pt idx="97">
                  <c:v>104.28</c:v>
                </c:pt>
                <c:pt idx="98">
                  <c:v>105.27</c:v>
                </c:pt>
                <c:pt idx="99">
                  <c:v>107.33</c:v>
                </c:pt>
                <c:pt idx="100">
                  <c:v>107.63</c:v>
                </c:pt>
                <c:pt idx="101">
                  <c:v>109.2</c:v>
                </c:pt>
                <c:pt idx="102">
                  <c:v>109.37</c:v>
                </c:pt>
                <c:pt idx="103">
                  <c:v>110.58</c:v>
                </c:pt>
                <c:pt idx="104">
                  <c:v>108.79</c:v>
                </c:pt>
                <c:pt idx="105">
                  <c:v>110.94</c:v>
                </c:pt>
                <c:pt idx="106">
                  <c:v>108.99</c:v>
                </c:pt>
                <c:pt idx="107">
                  <c:v>109.57</c:v>
                </c:pt>
                <c:pt idx="108">
                  <c:v>111.24</c:v>
                </c:pt>
                <c:pt idx="109">
                  <c:v>113.13</c:v>
                </c:pt>
                <c:pt idx="110">
                  <c:v>110.64</c:v>
                </c:pt>
                <c:pt idx="111">
                  <c:v>110.69</c:v>
                </c:pt>
                <c:pt idx="112">
                  <c:v>108.92</c:v>
                </c:pt>
                <c:pt idx="113">
                  <c:v>110.53</c:v>
                </c:pt>
                <c:pt idx="114">
                  <c:v>113.13</c:v>
                </c:pt>
                <c:pt idx="115">
                  <c:v>112.58</c:v>
                </c:pt>
                <c:pt idx="116">
                  <c:v>113.59</c:v>
                </c:pt>
                <c:pt idx="117">
                  <c:v>110.58</c:v>
                </c:pt>
                <c:pt idx="118">
                  <c:v>110.37</c:v>
                </c:pt>
                <c:pt idx="119">
                  <c:v>110.59</c:v>
                </c:pt>
                <c:pt idx="120">
                  <c:v>111.64</c:v>
                </c:pt>
                <c:pt idx="121">
                  <c:v>108.01</c:v>
                </c:pt>
                <c:pt idx="122">
                  <c:v>105.82</c:v>
                </c:pt>
                <c:pt idx="123">
                  <c:v>110.11</c:v>
                </c:pt>
                <c:pt idx="124">
                  <c:v>111.45</c:v>
                </c:pt>
                <c:pt idx="125">
                  <c:v>112.48</c:v>
                </c:pt>
                <c:pt idx="126">
                  <c:v>113.09</c:v>
                </c:pt>
                <c:pt idx="127">
                  <c:v>115.18</c:v>
                </c:pt>
                <c:pt idx="128">
                  <c:v>116.17</c:v>
                </c:pt>
                <c:pt idx="129">
                  <c:v>117.6</c:v>
                </c:pt>
                <c:pt idx="130">
                  <c:v>117.55</c:v>
                </c:pt>
                <c:pt idx="131">
                  <c:v>117.86</c:v>
                </c:pt>
                <c:pt idx="132">
                  <c:v>116.78</c:v>
                </c:pt>
                <c:pt idx="133">
                  <c:v>118.73</c:v>
                </c:pt>
                <c:pt idx="134">
                  <c:v>119.91</c:v>
                </c:pt>
                <c:pt idx="135">
                  <c:v>121.69</c:v>
                </c:pt>
                <c:pt idx="136">
                  <c:v>123.59</c:v>
                </c:pt>
                <c:pt idx="137">
                  <c:v>125.08</c:v>
                </c:pt>
                <c:pt idx="138">
                  <c:v>125.45</c:v>
                </c:pt>
                <c:pt idx="139">
                  <c:v>126.75</c:v>
                </c:pt>
                <c:pt idx="140">
                  <c:v>127.77</c:v>
                </c:pt>
                <c:pt idx="141">
                  <c:v>126.99</c:v>
                </c:pt>
                <c:pt idx="142">
                  <c:v>127.23</c:v>
                </c:pt>
                <c:pt idx="143">
                  <c:v>130.6</c:v>
                </c:pt>
                <c:pt idx="144">
                  <c:v>131.25</c:v>
                </c:pt>
                <c:pt idx="145">
                  <c:v>129.7</c:v>
                </c:pt>
                <c:pt idx="146">
                  <c:v>130.05</c:v>
                </c:pt>
                <c:pt idx="147">
                  <c:v>125.9</c:v>
                </c:pt>
                <c:pt idx="148">
                  <c:v>128.92</c:v>
                </c:pt>
                <c:pt idx="149">
                  <c:v>128.93</c:v>
                </c:pt>
                <c:pt idx="150">
                  <c:v>131.31</c:v>
                </c:pt>
                <c:pt idx="151">
                  <c:v>132.05</c:v>
                </c:pt>
                <c:pt idx="152">
                  <c:v>132.06</c:v>
                </c:pt>
                <c:pt idx="153">
                  <c:v>131.34</c:v>
                </c:pt>
                <c:pt idx="154">
                  <c:v>133.2</c:v>
                </c:pt>
                <c:pt idx="155">
                  <c:v>135.3</c:v>
                </c:pt>
                <c:pt idx="156">
                  <c:v>136</c:v>
                </c:pt>
                <c:pt idx="157">
                  <c:v>135.74</c:v>
                </c:pt>
                <c:pt idx="158">
                  <c:v>137.07</c:v>
                </c:pt>
                <c:pt idx="159">
                  <c:v>137.79</c:v>
                </c:pt>
                <c:pt idx="160">
                  <c:v>135.24</c:v>
                </c:pt>
                <c:pt idx="161">
                  <c:v>134.55</c:v>
                </c:pt>
                <c:pt idx="162">
                  <c:v>130.89</c:v>
                </c:pt>
                <c:pt idx="163">
                  <c:v>130.88</c:v>
                </c:pt>
                <c:pt idx="164">
                  <c:v>135.29</c:v>
                </c:pt>
                <c:pt idx="165">
                  <c:v>135.47</c:v>
                </c:pt>
                <c:pt idx="166">
                  <c:v>137.28</c:v>
                </c:pt>
                <c:pt idx="167">
                  <c:v>131.36</c:v>
                </c:pt>
                <c:pt idx="168">
                  <c:v>136.13</c:v>
                </c:pt>
                <c:pt idx="169">
                  <c:v>137.06</c:v>
                </c:pt>
                <c:pt idx="170">
                  <c:v>138.55</c:v>
                </c:pt>
                <c:pt idx="171">
                  <c:v>140.15</c:v>
                </c:pt>
                <c:pt idx="172">
                  <c:v>141.77</c:v>
                </c:pt>
                <c:pt idx="173">
                  <c:v>143.72</c:v>
                </c:pt>
                <c:pt idx="174">
                  <c:v>142.27</c:v>
                </c:pt>
                <c:pt idx="175">
                  <c:v>140.3</c:v>
                </c:pt>
                <c:pt idx="176">
                  <c:v>146.72</c:v>
                </c:pt>
                <c:pt idx="177">
                  <c:v>146.56</c:v>
                </c:pt>
                <c:pt idx="178">
                  <c:v>150.59</c:v>
                </c:pt>
                <c:pt idx="179">
                  <c:v>150.19</c:v>
                </c:pt>
                <c:pt idx="180">
                  <c:v>151.97</c:v>
                </c:pt>
                <c:pt idx="181">
                  <c:v>151.58</c:v>
                </c:pt>
                <c:pt idx="182">
                  <c:v>149.15</c:v>
                </c:pt>
                <c:pt idx="183">
                  <c:v>150.12</c:v>
                </c:pt>
                <c:pt idx="184">
                  <c:v>151.37</c:v>
                </c:pt>
                <c:pt idx="185">
                  <c:v>149.57</c:v>
                </c:pt>
                <c:pt idx="186">
                  <c:v>152.87</c:v>
                </c:pt>
                <c:pt idx="187">
                  <c:v>152.86</c:v>
                </c:pt>
                <c:pt idx="188">
                  <c:v>153.86</c:v>
                </c:pt>
                <c:pt idx="189">
                  <c:v>154.48</c:v>
                </c:pt>
                <c:pt idx="190">
                  <c:v>154.75</c:v>
                </c:pt>
                <c:pt idx="191">
                  <c:v>153.36</c:v>
                </c:pt>
                <c:pt idx="192">
                  <c:v>152.69</c:v>
                </c:pt>
                <c:pt idx="193">
                  <c:v>143.65</c:v>
                </c:pt>
                <c:pt idx="194">
                  <c:v>140.81</c:v>
                </c:pt>
                <c:pt idx="195">
                  <c:v>142.61</c:v>
                </c:pt>
                <c:pt idx="196">
                  <c:v>140.41</c:v>
                </c:pt>
                <c:pt idx="197">
                  <c:v>126.6</c:v>
                </c:pt>
                <c:pt idx="198">
                  <c:v>128.09</c:v>
                </c:pt>
                <c:pt idx="199">
                  <c:v>128.15</c:v>
                </c:pt>
                <c:pt idx="200">
                  <c:v>133.26</c:v>
                </c:pt>
                <c:pt idx="201">
                  <c:v>137.2</c:v>
                </c:pt>
                <c:pt idx="202">
                  <c:v>138.02</c:v>
                </c:pt>
                <c:pt idx="203">
                  <c:v>145.22</c:v>
                </c:pt>
                <c:pt idx="204">
                  <c:v>140.63</c:v>
                </c:pt>
                <c:pt idx="205">
                  <c:v>142.82</c:v>
                </c:pt>
                <c:pt idx="206">
                  <c:v>144.29</c:v>
                </c:pt>
                <c:pt idx="207">
                  <c:v>141.88</c:v>
                </c:pt>
                <c:pt idx="208">
                  <c:v>141.56</c:v>
                </c:pt>
                <c:pt idx="209">
                  <c:v>143.7</c:v>
                </c:pt>
                <c:pt idx="210">
                  <c:v>144.86</c:v>
                </c:pt>
                <c:pt idx="211">
                  <c:v>145.41</c:v>
                </c:pt>
                <c:pt idx="212">
                  <c:v>146.68</c:v>
                </c:pt>
                <c:pt idx="213">
                  <c:v>147.87</c:v>
                </c:pt>
                <c:pt idx="214">
                  <c:v>146.33</c:v>
                </c:pt>
                <c:pt idx="215">
                  <c:v>148.78</c:v>
                </c:pt>
                <c:pt idx="216">
                  <c:v>149.9</c:v>
                </c:pt>
                <c:pt idx="217">
                  <c:v>150.52</c:v>
                </c:pt>
                <c:pt idx="218">
                  <c:v>150.18</c:v>
                </c:pt>
                <c:pt idx="219">
                  <c:v>150.3</c:v>
                </c:pt>
                <c:pt idx="220">
                  <c:v>152.65</c:v>
                </c:pt>
                <c:pt idx="221">
                  <c:v>153.75</c:v>
                </c:pt>
                <c:pt idx="222">
                  <c:v>154</c:v>
                </c:pt>
                <c:pt idx="223">
                  <c:v>155.65</c:v>
                </c:pt>
                <c:pt idx="224">
                  <c:v>154.21</c:v>
                </c:pt>
                <c:pt idx="225">
                  <c:v>155.19</c:v>
                </c:pt>
                <c:pt idx="226">
                  <c:v>158.47</c:v>
                </c:pt>
                <c:pt idx="227">
                  <c:v>160.34</c:v>
                </c:pt>
                <c:pt idx="228">
                  <c:v>157.57</c:v>
                </c:pt>
                <c:pt idx="229">
                  <c:v>157.75</c:v>
                </c:pt>
                <c:pt idx="230">
                  <c:v>155.62</c:v>
                </c:pt>
                <c:pt idx="231">
                  <c:v>159.91</c:v>
                </c:pt>
                <c:pt idx="232">
                  <c:v>160.1</c:v>
                </c:pt>
                <c:pt idx="233">
                  <c:v>158.5</c:v>
                </c:pt>
                <c:pt idx="234">
                  <c:v>159.12</c:v>
                </c:pt>
                <c:pt idx="235">
                  <c:v>160.36</c:v>
                </c:pt>
                <c:pt idx="236">
                  <c:v>159.74</c:v>
                </c:pt>
                <c:pt idx="237">
                  <c:v>163.66</c:v>
                </c:pt>
                <c:pt idx="238">
                  <c:v>164.49</c:v>
                </c:pt>
                <c:pt idx="239">
                  <c:v>161.87</c:v>
                </c:pt>
                <c:pt idx="240">
                  <c:v>160.78</c:v>
                </c:pt>
                <c:pt idx="241">
                  <c:v>161.89</c:v>
                </c:pt>
                <c:pt idx="242">
                  <c:v>160.84</c:v>
                </c:pt>
                <c:pt idx="243">
                  <c:v>163.37</c:v>
                </c:pt>
                <c:pt idx="244">
                  <c:v>163.19</c:v>
                </c:pt>
                <c:pt idx="245">
                  <c:v>160.99</c:v>
                </c:pt>
                <c:pt idx="246">
                  <c:v>160.1</c:v>
                </c:pt>
                <c:pt idx="247">
                  <c:v>155.6</c:v>
                </c:pt>
                <c:pt idx="248">
                  <c:v>153.66</c:v>
                </c:pt>
                <c:pt idx="249">
                  <c:v>158.32</c:v>
                </c:pt>
                <c:pt idx="250">
                  <c:v>161.68</c:v>
                </c:pt>
                <c:pt idx="251">
                  <c:v>166.87</c:v>
                </c:pt>
                <c:pt idx="252">
                  <c:v>167.84</c:v>
                </c:pt>
                <c:pt idx="253">
                  <c:v>168.5</c:v>
                </c:pt>
                <c:pt idx="254">
                  <c:v>171.47</c:v>
                </c:pt>
                <c:pt idx="255">
                  <c:v>173.12</c:v>
                </c:pt>
                <c:pt idx="256">
                  <c:v>175.85</c:v>
                </c:pt>
                <c:pt idx="257">
                  <c:v>177.13</c:v>
                </c:pt>
                <c:pt idx="258">
                  <c:v>174.88</c:v>
                </c:pt>
                <c:pt idx="259">
                  <c:v>175.86</c:v>
                </c:pt>
                <c:pt idx="260">
                  <c:v>178.96</c:v>
                </c:pt>
                <c:pt idx="261">
                  <c:v>177.04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60"/>
                </a:solidFill>
                <a:latin typeface="+mn-lt"/>
              </a:defRPr>
            </a:pPr>
            <a:endParaRPr lang="en-US"/>
          </a:p>
        </c:txPr>
        <c:crossAx val="2094734552"/>
        <c:crosses val="autoZero"/>
        <c:auto val="1"/>
        <c:lblAlgn val="ctr"/>
        <c:noMultiLvlLbl val="1"/>
        <c:tickLblSkip val="1"/>
      </c:catAx>
      <c:valAx>
        <c:axId val="2094734552"/>
        <c:scaling>
          <c:orientation val="minMax"/>
          <c:max val="180"/>
          <c:min val="60"/>
        </c:scaling>
        <c:delete val="0"/>
        <c:axPos val="l"/>
        <c:majorGridlines>
          <c:spPr>
            <a:ln w="6350" cap="flat">
              <a:solidFill>
                <a:srgbClr val="D5DB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1A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548640" y="6419088"/>
            <a:ext cx="9601200" cy="256032"/>
          </a:xfrm>
          <a:prstGeom prst="rect">
            <a:avLst/>
          </a:prstGeom>
          <a:noFill/>
          <a:ln/>
        </p:spPr>
        <p:txBody>
          <a:bodyPr wrap="square" lIns="0" tIns="0" rIns="0" bIns="0" rtlCol="0" anchor="ctr"/>
          <a:lstStyle/>
          <a:p>
            <a:pPr indent="0" marL="0">
              <a:buNone/>
            </a:pPr>
            <a:r>
              <a:rPr lang="en-US" sz="853" dirty="0">
                <a:solidFill>
                  <a:schemeClr val="tx2"/>
                </a:solidFill>
              </a:rPr>
              <a:t>Renault (Euronext Paris : RNO)  ·  Noah Doose  ·  Travail étudiant, pas un conseil en investissement  ·  Données au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ctr"/>
          <a:lstStyle/>
          <a:p>
            <a:pPr indent="0" marL="0">
              <a:buNone/>
            </a:pPr>
            <a:r>
              <a:rPr lang="en-US" sz="1058" b="1" spc="150" kern="0" dirty="0">
                <a:solidFill>
                  <a:srgbClr val="D7EBE2"/>
                </a:solidFill>
              </a:rPr>
              <a:t>STOCK PITCH  ·  PORTEFEUILLE VALUE SYSTÉMATIQUE  ·  29 OCTOBRE 2026</a:t>
            </a:r>
            <a:endParaRPr lang="en-US" sz="1100" dirty="0"/>
          </a:p>
        </p:txBody>
      </p:sp>
      <p:sp>
        <p:nvSpPr>
          <p:cNvPr id="3" name="Text 1"/>
          <p:cNvSpPr txBox="1"/>
          <p:nvPr/>
        </p:nvSpPr>
        <p:spPr>
          <a:xfrm>
            <a:off x="548640" y="960120"/>
            <a:ext cx="7406640" cy="1005840"/>
          </a:xfrm>
          <a:prstGeom prst="rect">
            <a:avLst/>
          </a:prstGeom>
          <a:noFill/>
          <a:ln/>
        </p:spPr>
        <p:txBody>
          <a:bodyPr wrap="square" lIns="0" tIns="0" rIns="0" bIns="0" rtlCol="0" anchor="t">
            <a:normAutofit/>
          </a:bodyPr>
          <a:lstStyle/>
          <a:p>
            <a:pPr indent="0" marL="0">
              <a:buNone/>
            </a:pPr>
            <a:r>
              <a:rPr lang="en-US" sz="4400" b="1" dirty="0">
                <a:solidFill>
                  <a:srgbClr val="FFFFFF"/>
                </a:solidFill>
              </a:rPr>
              <a:t>Renault</a:t>
            </a:r>
            <a:endParaRPr lang="en-US" sz="4400" dirty="0"/>
          </a:p>
        </p:txBody>
      </p:sp>
      <p:sp>
        <p:nvSpPr>
          <p:cNvPr id="4" name="Text 2"/>
          <p:cNvSpPr txBox="1"/>
          <p:nvPr/>
        </p:nvSpPr>
        <p:spPr>
          <a:xfrm>
            <a:off x="548640" y="2011680"/>
            <a:ext cx="7406640" cy="320040"/>
          </a:xfrm>
          <a:prstGeom prst="rect">
            <a:avLst/>
          </a:prstGeom>
          <a:noFill/>
          <a:ln/>
        </p:spPr>
        <p:txBody>
          <a:bodyPr wrap="square" lIns="0" tIns="0" rIns="0" bIns="0" rtlCol="0" anchor="ctr"/>
          <a:lstStyle/>
          <a:p>
            <a:pPr indent="0" marL="0">
              <a:buNone/>
            </a:pPr>
            <a:r>
              <a:rPr lang="en-US" sz="1344" dirty="0">
                <a:solidFill>
                  <a:srgbClr val="B9C4BE"/>
                </a:solidFill>
              </a:rPr>
              <a:t>Euronext Paris : RNO  ·  Consommation discrétionnaire / Automobile  ·  France</a:t>
            </a:r>
            <a:endParaRPr lang="en-US" sz="1400" dirty="0"/>
          </a:p>
        </p:txBody>
      </p:sp>
      <p:sp>
        <p:nvSpPr>
          <p:cNvPr id="5" name="Text 3"/>
          <p:cNvSpPr txBox="1"/>
          <p:nvPr/>
        </p:nvSpPr>
        <p:spPr>
          <a:xfrm>
            <a:off x="548640" y="2606040"/>
            <a:ext cx="7132320" cy="1371600"/>
          </a:xfrm>
          <a:prstGeom prst="rect">
            <a:avLst/>
          </a:prstGeom>
          <a:noFill/>
          <a:ln/>
        </p:spPr>
        <p:txBody>
          <a:bodyPr wrap="square" lIns="0" tIns="0" rIns="0" bIns="0" rtlCol="0" anchor="t"/>
          <a:lstStyle/>
          <a:p>
            <a:pPr indent="0" marL="0">
              <a:buNone/>
            </a:pPr>
            <a:r>
              <a:rPr lang="en-US" sz="1863" dirty="0">
                <a:solidFill>
                  <a:srgbClr val="FFFFFF"/>
                </a:solidFill>
              </a:rPr>
              <a:t>La trésorerie et la banque captive couvrent la capitalisation : l'activité automobile est presque gratuite</a:t>
            </a:r>
            <a:endParaRPr lang="en-US" sz="2000" dirty="0"/>
          </a:p>
        </p:txBody>
      </p:sp>
      <p:sp>
        <p:nvSpPr>
          <p:cNvPr id="6" name="rating card"/>
          <p:cNvSpPr/>
          <p:nvPr/>
        </p:nvSpPr>
        <p:spPr>
          <a:xfrm>
            <a:off x="8138160" y="960120"/>
            <a:ext cx="3504895" cy="3154680"/>
          </a:xfrm>
          <a:prstGeom prst="roundRect">
            <a:avLst>
              <a:gd name="adj" fmla="val 2319"/>
            </a:avLst>
          </a:prstGeom>
          <a:solidFill>
            <a:srgbClr val="2A322E"/>
          </a:solidFill>
          <a:ln w="9525">
            <a:solidFill>
              <a:srgbClr val="3A4540"/>
            </a:solidFill>
            <a:prstDash val="solid"/>
          </a:ln>
        </p:spPr>
        <p:txBody>
          <a:bodyPr/>
          <a:p/>
        </p:txBody>
      </p:sp>
      <p:sp>
        <p:nvSpPr>
          <p:cNvPr id="7" name="Shape 5"/>
          <p:cNvSpPr/>
          <p:nvPr/>
        </p:nvSpPr>
        <p:spPr>
          <a:xfrm>
            <a:off x="8412480" y="1234440"/>
            <a:ext cx="1828800" cy="384048"/>
          </a:xfrm>
          <a:prstGeom prst="roundRect">
            <a:avLst>
              <a:gd name="adj" fmla="val 50000"/>
            </a:avLst>
          </a:prstGeom>
          <a:solidFill>
            <a:srgbClr val="0E6B4F"/>
          </a:solidFill>
          <a:ln w="12700">
            <a:solidFill>
              <a:srgbClr val="0E6B4F"/>
            </a:solidFill>
            <a:prstDash val="solid"/>
          </a:ln>
        </p:spPr>
        <p:txBody>
          <a:bodyPr/>
          <a:p/>
        </p:txBody>
      </p:sp>
      <p:sp>
        <p:nvSpPr>
          <p:cNvPr id="8" name="Text 6"/>
          <p:cNvSpPr txBox="1"/>
          <p:nvPr/>
        </p:nvSpPr>
        <p:spPr>
          <a:xfrm>
            <a:off x="8412480" y="1234440"/>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rPr>
              <a:t>SURPONDÉRER</a:t>
            </a:r>
            <a:endParaRPr lang="en-US" sz="1300" dirty="0"/>
          </a:p>
        </p:txBody>
      </p:sp>
      <p:sp>
        <p:nvSpPr>
          <p:cNvPr id="9" name="Text 7"/>
          <p:cNvSpPr txBox="1"/>
          <p:nvPr/>
        </p:nvSpPr>
        <p:spPr>
          <a:xfrm>
            <a:off x="10378440" y="1234440"/>
            <a:ext cx="1127455" cy="384048"/>
          </a:xfrm>
          <a:prstGeom prst="rect">
            <a:avLst/>
          </a:prstGeom>
          <a:noFill/>
          <a:ln/>
        </p:spPr>
        <p:txBody>
          <a:bodyPr wrap="square" lIns="0" tIns="0" rIns="0" bIns="0" rtlCol="0" anchor="ctr"/>
          <a:lstStyle/>
          <a:p>
            <a:pPr indent="0" marL="0">
              <a:buNone/>
            </a:pPr>
            <a:r>
              <a:rPr lang="en-US" sz="1200" dirty="0">
                <a:solidFill>
                  <a:srgbClr val="B9C4BE"/>
                </a:solidFill>
              </a:rPr>
              <a:t>Conviction moyenne-forte</a:t>
            </a:r>
            <a:endParaRPr lang="en-US" sz="1200" dirty="0"/>
          </a:p>
        </p:txBody>
      </p:sp>
      <p:sp>
        <p:nvSpPr>
          <p:cNvPr id="10" name="Text 8"/>
          <p:cNvSpPr txBox="1"/>
          <p:nvPr/>
        </p:nvSpPr>
        <p:spPr>
          <a:xfrm>
            <a:off x="8412480" y="1828800"/>
            <a:ext cx="1828800" cy="411480"/>
          </a:xfrm>
          <a:prstGeom prst="rect">
            <a:avLst/>
          </a:prstGeom>
          <a:noFill/>
          <a:ln/>
        </p:spPr>
        <p:txBody>
          <a:bodyPr wrap="square" lIns="0" tIns="0" rIns="0" bIns="0" rtlCol="0" anchor="ctr"/>
          <a:lstStyle/>
          <a:p>
            <a:pPr indent="0" marL="0">
              <a:buNone/>
            </a:pPr>
            <a:r>
              <a:rPr lang="en-US" sz="1300" dirty="0">
                <a:solidFill>
                  <a:srgbClr val="B9C4BE"/>
                </a:solidFill>
              </a:rPr>
              <a:t>Cours</a:t>
            </a:r>
            <a:endParaRPr lang="en-US" sz="1300" dirty="0"/>
          </a:p>
        </p:txBody>
      </p:sp>
      <p:sp>
        <p:nvSpPr>
          <p:cNvPr id="11" name="Text 9"/>
          <p:cNvSpPr txBox="1"/>
          <p:nvPr/>
        </p:nvSpPr>
        <p:spPr>
          <a:xfrm>
            <a:off x="10058400" y="182880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28,17 €</a:t>
            </a:r>
            <a:endParaRPr lang="en-US" sz="1700" dirty="0"/>
          </a:p>
        </p:txBody>
      </p:sp>
      <p:sp>
        <p:nvSpPr>
          <p:cNvPr id="12" name="Text 10"/>
          <p:cNvSpPr txBox="1"/>
          <p:nvPr/>
        </p:nvSpPr>
        <p:spPr>
          <a:xfrm>
            <a:off x="8412480" y="2331720"/>
            <a:ext cx="1828800" cy="411480"/>
          </a:xfrm>
          <a:prstGeom prst="rect">
            <a:avLst/>
          </a:prstGeom>
          <a:noFill/>
          <a:ln/>
        </p:spPr>
        <p:txBody>
          <a:bodyPr wrap="square" lIns="0" tIns="0" rIns="0" bIns="0" rtlCol="0" anchor="ctr"/>
          <a:lstStyle/>
          <a:p>
            <a:pPr indent="0" marL="0">
              <a:buNone/>
            </a:pPr>
            <a:r>
              <a:rPr lang="en-US" sz="1300" dirty="0">
                <a:solidFill>
                  <a:srgbClr val="B9C4BE"/>
                </a:solidFill>
              </a:rPr>
              <a:t>Objectif (scénario central)</a:t>
            </a:r>
            <a:endParaRPr lang="en-US" sz="1300" dirty="0"/>
          </a:p>
        </p:txBody>
      </p:sp>
      <p:sp>
        <p:nvSpPr>
          <p:cNvPr id="13" name="Text 11"/>
          <p:cNvSpPr txBox="1"/>
          <p:nvPr/>
        </p:nvSpPr>
        <p:spPr>
          <a:xfrm>
            <a:off x="10058400" y="233172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36,00 €</a:t>
            </a:r>
            <a:endParaRPr lang="en-US" sz="1700" dirty="0"/>
          </a:p>
        </p:txBody>
      </p:sp>
      <p:sp>
        <p:nvSpPr>
          <p:cNvPr id="14" name="Text 12"/>
          <p:cNvSpPr txBox="1"/>
          <p:nvPr/>
        </p:nvSpPr>
        <p:spPr>
          <a:xfrm>
            <a:off x="8412480" y="2834640"/>
            <a:ext cx="1828800" cy="411480"/>
          </a:xfrm>
          <a:prstGeom prst="rect">
            <a:avLst/>
          </a:prstGeom>
          <a:noFill/>
          <a:ln/>
        </p:spPr>
        <p:txBody>
          <a:bodyPr wrap="square" lIns="0" tIns="0" rIns="0" bIns="0" rtlCol="0" anchor="ctr"/>
          <a:lstStyle/>
          <a:p>
            <a:pPr indent="0" marL="0">
              <a:buNone/>
            </a:pPr>
            <a:r>
              <a:rPr lang="en-US" sz="1300" dirty="0">
                <a:solidFill>
                  <a:srgbClr val="B9C4BE"/>
                </a:solidFill>
              </a:rPr>
              <a:t>Potentiel</a:t>
            </a:r>
            <a:endParaRPr lang="en-US" sz="1300" dirty="0"/>
          </a:p>
        </p:txBody>
      </p:sp>
      <p:sp>
        <p:nvSpPr>
          <p:cNvPr id="15" name="Text 13"/>
          <p:cNvSpPr txBox="1"/>
          <p:nvPr/>
        </p:nvSpPr>
        <p:spPr>
          <a:xfrm>
            <a:off x="10058400" y="2834640"/>
            <a:ext cx="1310335" cy="411480"/>
          </a:xfrm>
          <a:prstGeom prst="rect">
            <a:avLst/>
          </a:prstGeom>
          <a:noFill/>
          <a:ln/>
        </p:spPr>
        <p:txBody>
          <a:bodyPr wrap="square" lIns="0" tIns="0" rIns="0" bIns="0" rtlCol="0" anchor="ctr"/>
          <a:lstStyle/>
          <a:p>
            <a:pPr algn="r" indent="0" marL="0">
              <a:buNone/>
            </a:pPr>
            <a:r>
              <a:rPr lang="en-US" sz="2200" b="1" dirty="0">
                <a:solidFill>
                  <a:srgbClr val="7FD1AE"/>
                </a:solidFill>
              </a:rPr>
              <a:t>+28 %</a:t>
            </a:r>
            <a:endParaRPr lang="en-US" sz="2200" dirty="0"/>
          </a:p>
        </p:txBody>
      </p:sp>
      <p:sp>
        <p:nvSpPr>
          <p:cNvPr id="16" name="Text 14"/>
          <p:cNvSpPr txBox="1"/>
          <p:nvPr/>
        </p:nvSpPr>
        <p:spPr>
          <a:xfrm>
            <a:off x="8412480" y="3337560"/>
            <a:ext cx="1828800" cy="411480"/>
          </a:xfrm>
          <a:prstGeom prst="rect">
            <a:avLst/>
          </a:prstGeom>
          <a:noFill/>
          <a:ln/>
        </p:spPr>
        <p:txBody>
          <a:bodyPr wrap="square" lIns="0" tIns="0" rIns="0" bIns="0" rtlCol="0" anchor="ctr"/>
          <a:lstStyle/>
          <a:p>
            <a:pPr indent="0" marL="0">
              <a:buNone/>
            </a:pPr>
            <a:r>
              <a:rPr lang="en-US" sz="1300" dirty="0">
                <a:solidFill>
                  <a:srgbClr val="B9C4BE"/>
                </a:solidFill>
              </a:rPr>
              <a:t>Horizon</a:t>
            </a:r>
            <a:endParaRPr lang="en-US" sz="1300" dirty="0"/>
          </a:p>
        </p:txBody>
      </p:sp>
      <p:sp>
        <p:nvSpPr>
          <p:cNvPr id="17" name="Text 15"/>
          <p:cNvSpPr txBox="1"/>
          <p:nvPr/>
        </p:nvSpPr>
        <p:spPr>
          <a:xfrm>
            <a:off x="10058400" y="3337560"/>
            <a:ext cx="1310335" cy="411480"/>
          </a:xfrm>
          <a:prstGeom prst="rect">
            <a:avLst/>
          </a:prstGeom>
          <a:noFill/>
          <a:ln/>
        </p:spPr>
        <p:txBody>
          <a:bodyPr wrap="square" lIns="0" tIns="0" rIns="0" bIns="0" rtlCol="0" anchor="ctr"/>
          <a:lstStyle/>
          <a:p>
            <a:pPr algn="r" indent="0" marL="0">
              <a:buNone/>
            </a:pPr>
            <a:r>
              <a:rPr lang="en-US" sz="1500" b="1" dirty="0">
                <a:solidFill>
                  <a:srgbClr val="FFFFFF"/>
                </a:solidFill>
              </a:rPr>
              <a:t>12-18 mois</a:t>
            </a:r>
            <a:endParaRPr lang="en-US" sz="1500" dirty="0"/>
          </a:p>
        </p:txBody>
      </p:sp>
      <p:sp>
        <p:nvSpPr>
          <p:cNvPr id="18" name="Text 16"/>
          <p:cNvSpPr txBox="1"/>
          <p:nvPr/>
        </p:nvSpPr>
        <p:spPr>
          <a:xfrm>
            <a:off x="8412480" y="3785616"/>
            <a:ext cx="2956255" cy="274320"/>
          </a:xfrm>
          <a:prstGeom prst="rect">
            <a:avLst/>
          </a:prstGeom>
          <a:noFill/>
          <a:ln/>
        </p:spPr>
        <p:txBody>
          <a:bodyPr wrap="square" lIns="0" tIns="0" rIns="0" bIns="0" rtlCol="0" anchor="ctr"/>
          <a:lstStyle/>
          <a:p>
            <a:pPr indent="0" marL="0">
              <a:buNone/>
            </a:pPr>
            <a:r>
              <a:rPr lang="en-US" sz="1000" dirty="0">
                <a:solidFill>
                  <a:srgbClr val="8E9A94"/>
                </a:solidFill>
              </a:rPr>
              <a:t>Cours : clôture, 29 oct. 2026</a:t>
            </a:r>
            <a:endParaRPr lang="en-US" sz="1000" dirty="0"/>
          </a:p>
        </p:txBody>
      </p:sp>
      <p:sp>
        <p:nvSpPr>
          <p:cNvPr id="19" name="Text 17"/>
          <p:cNvSpPr txBox="1"/>
          <p:nvPr/>
        </p:nvSpPr>
        <p:spPr>
          <a:xfrm>
            <a:off x="548640"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7,7 Md€</a:t>
            </a:r>
            <a:endParaRPr lang="en-US" sz="2800" dirty="0"/>
          </a:p>
        </p:txBody>
      </p:sp>
      <p:sp>
        <p:nvSpPr>
          <p:cNvPr id="20" name="Text 18"/>
          <p:cNvSpPr txBox="1"/>
          <p:nvPr/>
        </p:nvSpPr>
        <p:spPr>
          <a:xfrm>
            <a:off x="548640"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Capitalisation</a:t>
            </a:r>
            <a:endParaRPr lang="en-US" sz="1200" dirty="0"/>
          </a:p>
        </p:txBody>
      </p:sp>
      <p:sp>
        <p:nvSpPr>
          <p:cNvPr id="21" name="Text 19"/>
          <p:cNvSpPr txBox="1"/>
          <p:nvPr/>
        </p:nvSpPr>
        <p:spPr>
          <a:xfrm>
            <a:off x="3322244"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6,6 Md€</a:t>
            </a:r>
            <a:endParaRPr lang="en-US" sz="2800" dirty="0"/>
          </a:p>
        </p:txBody>
      </p:sp>
      <p:sp>
        <p:nvSpPr>
          <p:cNvPr id="22" name="Text 20"/>
          <p:cNvSpPr txBox="1"/>
          <p:nvPr/>
        </p:nvSpPr>
        <p:spPr>
          <a:xfrm>
            <a:off x="3322244"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Trésorerie nette auto</a:t>
            </a:r>
            <a:endParaRPr lang="en-US" sz="1200" dirty="0"/>
          </a:p>
        </p:txBody>
      </p:sp>
      <p:sp>
        <p:nvSpPr>
          <p:cNvPr id="23" name="Text 21"/>
          <p:cNvSpPr txBox="1"/>
          <p:nvPr/>
        </p:nvSpPr>
        <p:spPr>
          <a:xfrm>
            <a:off x="6095848"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4,3x</a:t>
            </a:r>
            <a:endParaRPr lang="en-US" sz="2800" dirty="0"/>
          </a:p>
        </p:txBody>
      </p:sp>
      <p:sp>
        <p:nvSpPr>
          <p:cNvPr id="24" name="Text 22"/>
          <p:cNvSpPr txBox="1"/>
          <p:nvPr/>
        </p:nvSpPr>
        <p:spPr>
          <a:xfrm>
            <a:off x="6095848"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PER 2026e (consensus)</a:t>
            </a:r>
            <a:endParaRPr lang="en-US" sz="1200" dirty="0"/>
          </a:p>
        </p:txBody>
      </p:sp>
      <p:sp>
        <p:nvSpPr>
          <p:cNvPr id="25" name="Text 23"/>
          <p:cNvSpPr txBox="1"/>
          <p:nvPr/>
        </p:nvSpPr>
        <p:spPr>
          <a:xfrm>
            <a:off x="8869451"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7,8 %</a:t>
            </a:r>
            <a:endParaRPr lang="en-US" sz="2800" dirty="0"/>
          </a:p>
        </p:txBody>
      </p:sp>
      <p:sp>
        <p:nvSpPr>
          <p:cNvPr id="26" name="Text 24"/>
          <p:cNvSpPr txBox="1"/>
          <p:nvPr/>
        </p:nvSpPr>
        <p:spPr>
          <a:xfrm>
            <a:off x="8869451"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Rendement du dividende</a:t>
            </a:r>
            <a:endParaRPr lang="en-US" sz="1200" dirty="0"/>
          </a:p>
        </p:txBody>
      </p:sp>
      <p:sp>
        <p:nvSpPr>
          <p:cNvPr id="27" name="Text 25"/>
          <p:cNvSpPr txBox="1"/>
          <p:nvPr/>
        </p:nvSpPr>
        <p:spPr>
          <a:xfrm>
            <a:off x="548640" y="6263640"/>
            <a:ext cx="11094415" cy="274320"/>
          </a:xfrm>
          <a:prstGeom prst="rect">
            <a:avLst/>
          </a:prstGeom>
          <a:noFill/>
          <a:ln/>
        </p:spPr>
        <p:txBody>
          <a:bodyPr wrap="square" lIns="0" tIns="0" rIns="0" bIns="0" rtlCol="0" anchor="ctr"/>
          <a:lstStyle/>
          <a:p>
            <a:pPr indent="0" marL="0">
              <a:buNone/>
            </a:pPr>
            <a:r>
              <a:rPr lang="en-US" sz="1000" dirty="0">
                <a:solidFill>
                  <a:srgbClr val="8E9A94"/>
                </a:solidFill>
              </a:rPr>
              <a:t>Noah Doose  ·  MSc Financial Markets &amp; Investments, SKEMA Business School  ·  Travail étudiant à visée pédagogique, pas un conseil en investissement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01  SYNTHÈSE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22" b="1" dirty="0">
                <a:solidFill>
                  <a:schemeClr val="tx1"/>
                </a:solidFill>
              </a:rPr>
              <a:t>La trésorerie et la banque captive couvrent la capitalisation : l'activité automobile est presque gratuite</a:t>
            </a:r>
            <a:endParaRPr lang="en-US" sz="2600" dirty="0"/>
          </a:p>
        </p:txBody>
      </p:sp>
      <p:sp>
        <p:nvSpPr>
          <p:cNvPr id="4" name="view panel"/>
          <p:cNvSpPr/>
          <p:nvPr/>
        </p:nvSpPr>
        <p:spPr>
          <a:xfrm>
            <a:off x="548640" y="1691640"/>
            <a:ext cx="3657600" cy="4206240"/>
          </a:xfrm>
          <a:prstGeom prst="rect">
            <a:avLst/>
          </a:prstGeom>
          <a:solidFill>
            <a:srgbClr val="F2F4F1"/>
          </a:solidFill>
          <a:ln w="12700">
            <a:solidFill>
              <a:srgbClr val="F2F4F1"/>
            </a:solidFill>
            <a:prstDash val="solid"/>
          </a:ln>
        </p:spPr>
        <p:txBody>
          <a:bodyPr/>
          <a:p/>
        </p:txBody>
      </p:sp>
      <p:sp>
        <p:nvSpPr>
          <p:cNvPr id="5" name="Shape 3"/>
          <p:cNvSpPr/>
          <p:nvPr/>
        </p:nvSpPr>
        <p:spPr>
          <a:xfrm>
            <a:off x="822960" y="1920240"/>
            <a:ext cx="1737360" cy="365760"/>
          </a:xfrm>
          <a:prstGeom prst="roundRect">
            <a:avLst>
              <a:gd name="adj" fmla="val 50000"/>
            </a:avLst>
          </a:prstGeom>
          <a:solidFill>
            <a:srgbClr val="0E6B4F"/>
          </a:solidFill>
          <a:ln w="12700">
            <a:solidFill>
              <a:srgbClr val="0E6B4F"/>
            </a:solidFill>
            <a:prstDash val="solid"/>
          </a:ln>
        </p:spPr>
        <p:txBody>
          <a:bodyPr/>
          <a:p/>
        </p:txBody>
      </p:sp>
      <p:sp>
        <p:nvSpPr>
          <p:cNvPr id="6" name="Text 4"/>
          <p:cNvSpPr txBox="1"/>
          <p:nvPr/>
        </p:nvSpPr>
        <p:spPr>
          <a:xfrm>
            <a:off x="822960" y="1920240"/>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rPr>
              <a:t>SURPONDÉRER</a:t>
            </a:r>
            <a:endParaRPr lang="en-US" sz="1200" dirty="0"/>
          </a:p>
        </p:txBody>
      </p:sp>
      <p:sp>
        <p:nvSpPr>
          <p:cNvPr id="7" name="Text 5"/>
          <p:cNvSpPr txBox="1"/>
          <p:nvPr/>
        </p:nvSpPr>
        <p:spPr>
          <a:xfrm>
            <a:off x="822960" y="2423160"/>
            <a:ext cx="3108960" cy="960120"/>
          </a:xfrm>
          <a:prstGeom prst="rect">
            <a:avLst/>
          </a:prstGeom>
          <a:noFill/>
          <a:ln/>
        </p:spPr>
        <p:txBody>
          <a:bodyPr wrap="square" lIns="0" tIns="0" rIns="0" bIns="0" rtlCol="0" anchor="t"/>
          <a:lstStyle/>
          <a:p>
            <a:pPr indent="0" marL="0">
              <a:buNone/>
            </a:pPr>
            <a:r>
              <a:rPr lang="en-US" sz="3000" b="1" dirty="0">
                <a:solidFill>
                  <a:srgbClr val="141A17"/>
                </a:solidFill>
              </a:rPr>
              <a:t>36,00 €</a:t>
            </a:r>
            <a:endParaRPr lang="en-US" sz="3000" dirty="0"/>
          </a:p>
          <a:p>
            <a:pPr indent="0" marL="0">
              <a:buNone/>
            </a:pPr>
            <a:r>
              <a:rPr lang="en-US" sz="1300" dirty="0">
                <a:solidFill>
                  <a:srgbClr val="5B6660"/>
                </a:solidFill>
              </a:rPr>
              <a:t>valeur centrale, +28 % vs 28,17 €</a:t>
            </a:r>
            <a:endParaRPr lang="en-US" sz="3000" dirty="0"/>
          </a:p>
        </p:txBody>
      </p:sp>
      <p:sp>
        <p:nvSpPr>
          <p:cNvPr id="8" name="Text 6"/>
          <p:cNvSpPr txBox="1"/>
          <p:nvPr/>
        </p:nvSpPr>
        <p:spPr>
          <a:xfrm>
            <a:off x="822960" y="3474720"/>
            <a:ext cx="3154680" cy="2286000"/>
          </a:xfrm>
          <a:prstGeom prst="rect">
            <a:avLst/>
          </a:prstGeom>
          <a:noFill/>
          <a:ln/>
        </p:spPr>
        <p:txBody>
          <a:bodyPr wrap="square" lIns="0" tIns="0" rIns="0" bIns="0" rtlCol="0" anchor="t">
            <a:normAutofit/>
          </a:bodyPr>
          <a:lstStyle/>
          <a:p>
            <a:pPr indent="0" marL="0">
              <a:buNone/>
            </a:pPr>
            <a:r>
              <a:rPr lang="en-US" sz="1169" dirty="0">
                <a:solidFill>
                  <a:srgbClr val="141A17"/>
                </a:solidFill>
              </a:rPr>
              <a:t>Renault vaut environ 7,7 Md€ en bourse alors que sa branche automobile détient 6,6 Md€ de trésorerie nette et que sa banque captive dégage environ 1,5 Md€ de résultat opérationnel par an. Le marché traite le creux de marge de 2026 comme définitif ; nous pensons que la remise à zéro est faite et qu'un cycle produit commence.</a:t>
            </a:r>
            <a:endParaRPr lang="en-US" sz="1300" dirty="0"/>
          </a:p>
        </p:txBody>
      </p:sp>
      <p:sp>
        <p:nvSpPr>
          <p:cNvPr id="9" name="Shape 7"/>
          <p:cNvSpPr/>
          <p:nvPr/>
        </p:nvSpPr>
        <p:spPr>
          <a:xfrm>
            <a:off x="4526280" y="1737360"/>
            <a:ext cx="457200" cy="457200"/>
          </a:xfrm>
          <a:prstGeom prst="ellipse">
            <a:avLst/>
          </a:prstGeom>
          <a:solidFill>
            <a:srgbClr val="0E6B4F"/>
          </a:solidFill>
          <a:ln w="12700">
            <a:solidFill>
              <a:srgbClr val="0E6B4F"/>
            </a:solidFill>
            <a:prstDash val="solid"/>
          </a:ln>
        </p:spPr>
        <p:txBody>
          <a:bodyPr/>
          <a:p/>
        </p:txBody>
      </p:sp>
      <p:sp>
        <p:nvSpPr>
          <p:cNvPr id="10" name="Text 8"/>
          <p:cNvSpPr txBox="1"/>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txBox="1"/>
          <p:nvPr/>
        </p:nvSpPr>
        <p:spPr>
          <a:xfrm>
            <a:off x="5166360" y="1691640"/>
            <a:ext cx="6476695" cy="365760"/>
          </a:xfrm>
          <a:prstGeom prst="rect">
            <a:avLst/>
          </a:prstGeom>
          <a:noFill/>
          <a:ln/>
        </p:spPr>
        <p:txBody>
          <a:bodyPr wrap="square" lIns="0" tIns="0" rIns="0" bIns="0" rtlCol="0" anchor="t"/>
          <a:lstStyle/>
          <a:p>
            <a:pPr indent="0" marL="0">
              <a:buNone/>
            </a:pPr>
            <a:r>
              <a:rPr lang="en-US" sz="1600" b="1" dirty="0">
                <a:solidFill>
                  <a:srgbClr val="141A17"/>
                </a:solidFill>
              </a:rPr>
              <a:t>Le bilan sert de plancher</a:t>
            </a:r>
            <a:endParaRPr lang="en-US" sz="1600" dirty="0"/>
          </a:p>
        </p:txBody>
      </p:sp>
      <p:sp>
        <p:nvSpPr>
          <p:cNvPr id="12" name="Text 10"/>
          <p:cNvSpPr txBox="1"/>
          <p:nvPr/>
        </p:nvSpPr>
        <p:spPr>
          <a:xfrm>
            <a:off x="5166360" y="2075688"/>
            <a:ext cx="6476695" cy="960120"/>
          </a:xfrm>
          <a:prstGeom prst="rect">
            <a:avLst/>
          </a:prstGeom>
          <a:noFill/>
          <a:ln/>
        </p:spPr>
        <p:txBody>
          <a:bodyPr wrap="square" lIns="0" tIns="0" rIns="0" bIns="0" rtlCol="0" anchor="t">
            <a:normAutofit/>
          </a:bodyPr>
          <a:lstStyle/>
          <a:p>
            <a:pPr indent="0" marL="0">
              <a:buNone/>
            </a:pPr>
            <a:r>
              <a:rPr lang="en-US" sz="1220" dirty="0">
                <a:solidFill>
                  <a:srgbClr val="2A322E"/>
                </a:solidFill>
              </a:rPr>
              <a:t>La trésorerie nette automobile de 6,6 Md€ à fin juin 2026 représente environ 86 % de la capitalisation. Mobilize Financial Services (ex-RCI Banque) ajoute environ 1,5 Md€ de marge opérationnelle annuelle et verse des dividendes à la branche auto.</a:t>
            </a:r>
            <a:endParaRPr lang="en-US" sz="1300" dirty="0"/>
          </a:p>
        </p:txBody>
      </p:sp>
      <p:sp>
        <p:nvSpPr>
          <p:cNvPr id="13" name="Shape 11"/>
          <p:cNvSpPr/>
          <p:nvPr/>
        </p:nvSpPr>
        <p:spPr>
          <a:xfrm>
            <a:off x="4526280" y="3172968"/>
            <a:ext cx="457200" cy="457200"/>
          </a:xfrm>
          <a:prstGeom prst="ellipse">
            <a:avLst/>
          </a:prstGeom>
          <a:solidFill>
            <a:srgbClr val="0E6B4F"/>
          </a:solidFill>
          <a:ln w="12700">
            <a:solidFill>
              <a:srgbClr val="0E6B4F"/>
            </a:solidFill>
            <a:prstDash val="solid"/>
          </a:ln>
        </p:spPr>
        <p:txBody>
          <a:bodyPr/>
          <a:p/>
        </p:txBody>
      </p:sp>
      <p:sp>
        <p:nvSpPr>
          <p:cNvPr id="14" name="Text 12"/>
          <p:cNvSpPr txBox="1"/>
          <p:nvPr/>
        </p:nvSpPr>
        <p:spPr>
          <a:xfrm>
            <a:off x="452628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txBox="1"/>
          <p:nvPr/>
        </p:nvSpPr>
        <p:spPr>
          <a:xfrm>
            <a:off x="5166360" y="3127248"/>
            <a:ext cx="6476695" cy="365760"/>
          </a:xfrm>
          <a:prstGeom prst="rect">
            <a:avLst/>
          </a:prstGeom>
          <a:noFill/>
          <a:ln/>
        </p:spPr>
        <p:txBody>
          <a:bodyPr wrap="square" lIns="0" tIns="0" rIns="0" bIns="0" rtlCol="0" anchor="t"/>
          <a:lstStyle/>
          <a:p>
            <a:pPr indent="0" marL="0">
              <a:buNone/>
            </a:pPr>
            <a:r>
              <a:rPr lang="en-US" sz="1600" b="1" dirty="0">
                <a:solidFill>
                  <a:srgbClr val="141A17"/>
                </a:solidFill>
              </a:rPr>
              <a:t>La remise à zéro est faite</a:t>
            </a:r>
            <a:endParaRPr lang="en-US" sz="1600" dirty="0"/>
          </a:p>
        </p:txBody>
      </p:sp>
      <p:sp>
        <p:nvSpPr>
          <p:cNvPr id="16" name="Text 14"/>
          <p:cNvSpPr txBox="1"/>
          <p:nvPr/>
        </p:nvSpPr>
        <p:spPr>
          <a:xfrm>
            <a:off x="5166360" y="3511296"/>
            <a:ext cx="6476695" cy="960120"/>
          </a:xfrm>
          <a:prstGeom prst="rect">
            <a:avLst/>
          </a:prstGeom>
          <a:noFill/>
          <a:ln/>
        </p:spPr>
        <p:txBody>
          <a:bodyPr wrap="square" lIns="0" tIns="0" rIns="0" bIns="0" rtlCol="0" anchor="t">
            <a:normAutofit/>
          </a:bodyPr>
          <a:lstStyle/>
          <a:p>
            <a:pPr indent="0" marL="0">
              <a:buNone/>
            </a:pPr>
            <a:r>
              <a:rPr lang="en-US" sz="1227" dirty="0">
                <a:solidFill>
                  <a:srgbClr val="2A322E"/>
                </a:solidFill>
              </a:rPr>
              <a:t>La guidance est passée d'au moins 7 % de marge (début 2025) à environ 5,5 % pour 2026. Elle a été confirmée en février, juillet et octobre 2026, et le plan futuREady fixe une fourchette de 5-7 % sur le cycle. Les attentes sont désormais basses et crédibles.</a:t>
            </a:r>
            <a:endParaRPr lang="en-US" sz="1300" dirty="0"/>
          </a:p>
        </p:txBody>
      </p:sp>
      <p:sp>
        <p:nvSpPr>
          <p:cNvPr id="17" name="Shape 15"/>
          <p:cNvSpPr/>
          <p:nvPr/>
        </p:nvSpPr>
        <p:spPr>
          <a:xfrm>
            <a:off x="4526280" y="4608576"/>
            <a:ext cx="457200" cy="457200"/>
          </a:xfrm>
          <a:prstGeom prst="ellipse">
            <a:avLst/>
          </a:prstGeom>
          <a:solidFill>
            <a:srgbClr val="0E6B4F"/>
          </a:solidFill>
          <a:ln w="12700">
            <a:solidFill>
              <a:srgbClr val="0E6B4F"/>
            </a:solidFill>
            <a:prstDash val="solid"/>
          </a:ln>
        </p:spPr>
        <p:txBody>
          <a:bodyPr/>
          <a:p/>
        </p:txBody>
      </p:sp>
      <p:sp>
        <p:nvSpPr>
          <p:cNvPr id="18" name="Text 16"/>
          <p:cNvSpPr txBox="1"/>
          <p:nvPr/>
        </p:nvSpPr>
        <p:spPr>
          <a:xfrm>
            <a:off x="4526280" y="4608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5166360" y="4562856"/>
            <a:ext cx="6476695" cy="365760"/>
          </a:xfrm>
          <a:prstGeom prst="rect">
            <a:avLst/>
          </a:prstGeom>
          <a:noFill/>
          <a:ln/>
        </p:spPr>
        <p:txBody>
          <a:bodyPr wrap="square" lIns="0" tIns="0" rIns="0" bIns="0" rtlCol="0" anchor="t"/>
          <a:lstStyle/>
          <a:p>
            <a:pPr indent="0" marL="0">
              <a:buNone/>
            </a:pPr>
            <a:r>
              <a:rPr lang="en-US" sz="1600" b="1" dirty="0">
                <a:solidFill>
                  <a:srgbClr val="141A17"/>
                </a:solidFill>
              </a:rPr>
              <a:t>Un cycle produit démarre</a:t>
            </a:r>
            <a:endParaRPr lang="en-US" sz="1600" dirty="0"/>
          </a:p>
        </p:txBody>
      </p:sp>
      <p:sp>
        <p:nvSpPr>
          <p:cNvPr id="20" name="Text 18"/>
          <p:cNvSpPr txBox="1"/>
          <p:nvPr/>
        </p:nvSpPr>
        <p:spPr>
          <a:xfrm>
            <a:off x="5166360" y="4946904"/>
            <a:ext cx="6476695" cy="960120"/>
          </a:xfrm>
          <a:prstGeom prst="rect">
            <a:avLst/>
          </a:prstGeom>
          <a:noFill/>
          <a:ln/>
        </p:spPr>
        <p:txBody>
          <a:bodyPr wrap="square" lIns="0" tIns="0" rIns="0" bIns="0" rtlCol="0" anchor="t">
            <a:normAutofit/>
          </a:bodyPr>
          <a:lstStyle/>
          <a:p>
            <a:pPr indent="0" marL="0">
              <a:buNone/>
            </a:pPr>
            <a:r>
              <a:rPr lang="en-US" sz="1187" dirty="0">
                <a:solidFill>
                  <a:srgbClr val="2A322E"/>
                </a:solidFill>
              </a:rPr>
              <a:t>futuREady prévoit 36 lancements d'ici 2030 avec un cycle de développement de deux ans. Clio VI, Boreal, Twingo E-Tech et Duster sont déjà en vente, et le chiffre d'affaires du T3 2026 a battu le consensus (+1,4 % à change constant contre −0,3 % attendu).</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02  LA SOCIÉTÉ</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Renault en bref</a:t>
            </a:r>
            <a:endParaRPr lang="en-US" sz="2600" dirty="0"/>
          </a:p>
        </p:txBody>
      </p:sp>
      <p:sp>
        <p:nvSpPr>
          <p:cNvPr id="4" name="Text 2"/>
          <p:cNvSpPr txBox="1"/>
          <p:nvPr/>
        </p:nvSpPr>
        <p:spPr>
          <a:xfrm>
            <a:off x="548640" y="169164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Automobile (~88 % du CA)</a:t>
            </a:r>
            <a:endParaRPr lang="en-US" sz="1400" dirty="0"/>
          </a:p>
        </p:txBody>
      </p:sp>
      <p:sp>
        <p:nvSpPr>
          <p:cNvPr id="5" name="Text 3"/>
          <p:cNvSpPr txBox="1"/>
          <p:nvPr/>
        </p:nvSpPr>
        <p:spPr>
          <a:xfrm>
            <a:off x="548640" y="199339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Marques Renault, Dacia et Alpine ; un généraliste des segments B et C en Europe, avec Dacia comme marque low-cost. 52 % des ventes européennes étaient électrifiées au S1 2026.</a:t>
            </a:r>
            <a:endParaRPr lang="en-US" sz="1300" dirty="0"/>
          </a:p>
        </p:txBody>
      </p:sp>
      <p:sp>
        <p:nvSpPr>
          <p:cNvPr id="6" name="Text 4"/>
          <p:cNvSpPr txBox="1"/>
          <p:nvPr/>
        </p:nvSpPr>
        <p:spPr>
          <a:xfrm>
            <a:off x="548640" y="274320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Mobilize Financial Services (~12 %)</a:t>
            </a:r>
            <a:endParaRPr lang="en-US" sz="1400" dirty="0"/>
          </a:p>
        </p:txBody>
      </p:sp>
      <p:sp>
        <p:nvSpPr>
          <p:cNvPr id="7" name="Text 5"/>
          <p:cNvSpPr txBox="1"/>
          <p:nvPr/>
        </p:nvSpPr>
        <p:spPr>
          <a:xfrm>
            <a:off x="548640" y="304495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Financement et location automobile captifs. 753 M€ de marge opérationnelle au S1 2026 et dividendes versés à la branche auto (250 M€ au S1 2026, environ 500 M€ par an visés).</a:t>
            </a:r>
            <a:endParaRPr lang="en-US" sz="1300" dirty="0"/>
          </a:p>
        </p:txBody>
      </p:sp>
      <p:sp>
        <p:nvSpPr>
          <p:cNvPr id="8" name="Text 6"/>
          <p:cNvSpPr txBox="1"/>
          <p:nvPr/>
        </p:nvSpPr>
        <p:spPr>
          <a:xfrm>
            <a:off x="548640" y="379476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Participation Nissan</a:t>
            </a:r>
            <a:endParaRPr lang="en-US" sz="1400" dirty="0"/>
          </a:p>
        </p:txBody>
      </p:sp>
      <p:sp>
        <p:nvSpPr>
          <p:cNvPr id="9" name="Text 7"/>
          <p:cNvSpPr txBox="1"/>
          <p:nvPr/>
        </p:nvSpPr>
        <p:spPr>
          <a:xfrm>
            <a:off x="548640" y="409651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Environ 35 % après la refonte de l'Alliance 2023-2025, selon la presse. Comptabilisée à la juste valeur par capitaux propres depuis juin 2025.</a:t>
            </a:r>
            <a:endParaRPr lang="en-US" sz="1300" dirty="0"/>
          </a:p>
        </p:txBody>
      </p:sp>
      <p:sp>
        <p:nvSpPr>
          <p:cNvPr id="10" name="Text 8"/>
          <p:cNvSpPr txBox="1"/>
          <p:nvPr/>
        </p:nvSpPr>
        <p:spPr>
          <a:xfrm>
            <a:off x="548640" y="484632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Géographie</a:t>
            </a:r>
            <a:endParaRPr lang="en-US" sz="1400" dirty="0"/>
          </a:p>
        </p:txBody>
      </p:sp>
      <p:sp>
        <p:nvSpPr>
          <p:cNvPr id="11" name="Text 9"/>
          <p:cNvSpPr txBox="1"/>
          <p:nvPr/>
        </p:nvSpPr>
        <p:spPr>
          <a:xfrm>
            <a:off x="548640" y="5148072"/>
            <a:ext cx="5852160" cy="713232"/>
          </a:xfrm>
          <a:prstGeom prst="rect">
            <a:avLst/>
          </a:prstGeom>
          <a:noFill/>
          <a:ln/>
        </p:spPr>
        <p:txBody>
          <a:bodyPr wrap="square" lIns="0" tIns="0" rIns="0" bIns="0" rtlCol="0" anchor="t">
            <a:normAutofit/>
          </a:bodyPr>
          <a:lstStyle/>
          <a:p>
            <a:pPr indent="0" marL="0">
              <a:buNone/>
            </a:pPr>
            <a:r>
              <a:rPr lang="en-US" sz="1145" dirty="0">
                <a:solidFill>
                  <a:srgbClr val="2A322E"/>
                </a:solidFill>
              </a:rPr>
              <a:t>Aucune vente aux États-Unis : les droits de douane américains sont un risque de second ordre. Marchés de croissance : Inde, Turquie, Maroc et Brésil (partenariat Geely au Brésil depuis septembre 2026).</a:t>
            </a:r>
            <a:endParaRPr lang="en-US" sz="1300" dirty="0"/>
          </a:p>
        </p:txBody>
      </p:sp>
      <p:graphicFrame>
        <p:nvGraphicFramePr>
          <p:cNvPr id="12" name="Chart 0" descr=""/>
          <p:cNvGraphicFramePr/>
          <p:nvPr/>
        </p:nvGraphicFramePr>
        <p:xfrm>
          <a:off x="6766560" y="1645920"/>
          <a:ext cx="4876495" cy="4206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774" i="1" dirty="0">
                <a:solidFill>
                  <a:schemeClr val="tx2"/>
                </a:solidFill>
              </a:rPr>
              <a:t>Source : publications de la société ; Répartition du CA, 9 mois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03  SECTEUR ET MACRO</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9" b="1" dirty="0">
                <a:solidFill>
                  <a:schemeClr val="tx1"/>
                </a:solidFill>
              </a:rPr>
              <a:t>Ce qui fait bouger le titre au-delà de la société</a:t>
            </a:r>
            <a:endParaRPr lang="en-US" sz="2600" dirty="0"/>
          </a:p>
        </p:txBody>
      </p:sp>
      <p:sp>
        <p:nvSpPr>
          <p:cNvPr id="4" name="macro card 1"/>
          <p:cNvSpPr/>
          <p:nvPr/>
        </p:nvSpPr>
        <p:spPr>
          <a:xfrm>
            <a:off x="548640" y="1691640"/>
            <a:ext cx="5364328" cy="1965960"/>
          </a:xfrm>
          <a:prstGeom prst="rect">
            <a:avLst/>
          </a:prstGeom>
          <a:solidFill>
            <a:srgbClr val="F2F4F1"/>
          </a:solidFill>
          <a:ln w="12700">
            <a:solidFill>
              <a:srgbClr val="F2F4F1"/>
            </a:solidFill>
            <a:prstDash val="solid"/>
          </a:ln>
        </p:spPr>
        <p:txBody>
          <a:bodyPr/>
          <a:p/>
        </p:txBody>
      </p:sp>
      <p:sp>
        <p:nvSpPr>
          <p:cNvPr id="5" name="Text 3"/>
          <p:cNvSpPr txBox="1"/>
          <p:nvPr/>
        </p:nvSpPr>
        <p:spPr>
          <a:xfrm>
            <a:off x="822960"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−6,0 %</a:t>
            </a:r>
            <a:endParaRPr lang="en-US" sz="2800" dirty="0"/>
          </a:p>
        </p:txBody>
      </p:sp>
      <p:sp>
        <p:nvSpPr>
          <p:cNvPr id="6" name="Text 4"/>
          <p:cNvSpPr txBox="1"/>
          <p:nvPr/>
        </p:nvSpPr>
        <p:spPr>
          <a:xfrm>
            <a:off x="3291840"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Demande automobile européenne</a:t>
            </a:r>
            <a:endParaRPr lang="en-US" sz="1500" dirty="0"/>
          </a:p>
        </p:txBody>
      </p:sp>
      <p:sp>
        <p:nvSpPr>
          <p:cNvPr id="7" name="Text 5"/>
          <p:cNvSpPr txBox="1"/>
          <p:nvPr/>
        </p:nvSpPr>
        <p:spPr>
          <a:xfrm>
            <a:off x="822960" y="2697480"/>
            <a:ext cx="4815688" cy="868680"/>
          </a:xfrm>
          <a:prstGeom prst="rect">
            <a:avLst/>
          </a:prstGeom>
          <a:noFill/>
          <a:ln/>
        </p:spPr>
        <p:txBody>
          <a:bodyPr wrap="square" lIns="0" tIns="0" rIns="0" bIns="0" rtlCol="0" anchor="t">
            <a:normAutofit/>
          </a:bodyPr>
          <a:lstStyle/>
          <a:p>
            <a:pPr indent="0" marL="0">
              <a:buNone/>
            </a:pPr>
            <a:r>
              <a:rPr lang="en-US" sz="1234" dirty="0">
                <a:solidFill>
                  <a:srgbClr val="2A322E"/>
                </a:solidFill>
              </a:rPr>
              <a:t>Volumes du groupe au T3 2026. La demande européenne est stable et les marques chinoises gagnent des parts sur le low-cost, le terrain de Dacia.</a:t>
            </a:r>
            <a:endParaRPr lang="en-US" sz="1300" dirty="0"/>
          </a:p>
        </p:txBody>
      </p:sp>
      <p:sp>
        <p:nvSpPr>
          <p:cNvPr id="8" name="macro card 2"/>
          <p:cNvSpPr/>
          <p:nvPr/>
        </p:nvSpPr>
        <p:spPr>
          <a:xfrm>
            <a:off x="6278728" y="1691640"/>
            <a:ext cx="5364328" cy="1965960"/>
          </a:xfrm>
          <a:prstGeom prst="rect">
            <a:avLst/>
          </a:prstGeom>
          <a:solidFill>
            <a:srgbClr val="F2F4F1"/>
          </a:solidFill>
          <a:ln w="12700">
            <a:solidFill>
              <a:srgbClr val="F2F4F1"/>
            </a:solidFill>
            <a:prstDash val="solid"/>
          </a:ln>
        </p:spPr>
        <p:txBody>
          <a:bodyPr/>
          <a:p/>
        </p:txBody>
      </p:sp>
      <p:sp>
        <p:nvSpPr>
          <p:cNvPr id="9" name="Text 7"/>
          <p:cNvSpPr txBox="1"/>
          <p:nvPr/>
        </p:nvSpPr>
        <p:spPr>
          <a:xfrm>
            <a:off x="6553048"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Moyen-Orient</a:t>
            </a:r>
            <a:endParaRPr lang="en-US" sz="2800" dirty="0"/>
          </a:p>
        </p:txBody>
      </p:sp>
      <p:sp>
        <p:nvSpPr>
          <p:cNvPr id="10" name="Text 8"/>
          <p:cNvSpPr txBox="1"/>
          <p:nvPr/>
        </p:nvSpPr>
        <p:spPr>
          <a:xfrm>
            <a:off x="9021928"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Coûts des intrants</a:t>
            </a:r>
            <a:endParaRPr lang="en-US" sz="1500" dirty="0"/>
          </a:p>
        </p:txBody>
      </p:sp>
      <p:sp>
        <p:nvSpPr>
          <p:cNvPr id="11" name="Text 9"/>
          <p:cNvSpPr txBox="1"/>
          <p:nvPr/>
        </p:nvSpPr>
        <p:spPr>
          <a:xfrm>
            <a:off x="6553048" y="2697480"/>
            <a:ext cx="4815688" cy="868680"/>
          </a:xfrm>
          <a:prstGeom prst="rect">
            <a:avLst/>
          </a:prstGeom>
          <a:noFill/>
          <a:ln/>
        </p:spPr>
        <p:txBody>
          <a:bodyPr wrap="square" lIns="0" tIns="0" rIns="0" bIns="0" rtlCol="0" anchor="t">
            <a:normAutofit/>
          </a:bodyPr>
          <a:lstStyle/>
          <a:p>
            <a:pPr indent="0" marL="0">
              <a:buNone/>
            </a:pPr>
            <a:r>
              <a:rPr lang="en-US" sz="1137" dirty="0">
                <a:solidFill>
                  <a:srgbClr val="2A322E"/>
                </a:solidFill>
              </a:rPr>
              <a:t>Le conflit au Moyen-Orient de 2026 a relevé les coûts des matières premières, de l'énergie et de la logistique ; la direction attend une marge S2 à peine supérieure au S1.</a:t>
            </a:r>
            <a:endParaRPr lang="en-US" sz="1300" dirty="0"/>
          </a:p>
        </p:txBody>
      </p:sp>
      <p:sp>
        <p:nvSpPr>
          <p:cNvPr id="12" name="macro card 3"/>
          <p:cNvSpPr/>
          <p:nvPr/>
        </p:nvSpPr>
        <p:spPr>
          <a:xfrm>
            <a:off x="548640" y="3886200"/>
            <a:ext cx="5364328" cy="1965960"/>
          </a:xfrm>
          <a:prstGeom prst="rect">
            <a:avLst/>
          </a:prstGeom>
          <a:solidFill>
            <a:srgbClr val="F2F4F1"/>
          </a:solidFill>
          <a:ln w="12700">
            <a:solidFill>
              <a:srgbClr val="F2F4F1"/>
            </a:solidFill>
            <a:prstDash val="solid"/>
          </a:ln>
        </p:spPr>
        <p:txBody>
          <a:bodyPr/>
          <a:p/>
        </p:txBody>
      </p:sp>
      <p:sp>
        <p:nvSpPr>
          <p:cNvPr id="13" name="Text 11"/>
          <p:cNvSpPr txBox="1"/>
          <p:nvPr/>
        </p:nvSpPr>
        <p:spPr>
          <a:xfrm>
            <a:off x="822960"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25,8 %</a:t>
            </a:r>
            <a:endParaRPr lang="en-US" sz="2800" dirty="0"/>
          </a:p>
        </p:txBody>
      </p:sp>
      <p:sp>
        <p:nvSpPr>
          <p:cNvPr id="14" name="Text 12"/>
          <p:cNvSpPr txBox="1"/>
          <p:nvPr/>
        </p:nvSpPr>
        <p:spPr>
          <a:xfrm>
            <a:off x="3291840"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Transition électrique</a:t>
            </a:r>
            <a:endParaRPr lang="en-US" sz="1500" dirty="0"/>
          </a:p>
        </p:txBody>
      </p:sp>
      <p:sp>
        <p:nvSpPr>
          <p:cNvPr id="15" name="Text 13"/>
          <p:cNvSpPr txBox="1"/>
          <p:nvPr/>
        </p:nvSpPr>
        <p:spPr>
          <a:xfrm>
            <a:off x="822960" y="4892040"/>
            <a:ext cx="4815688" cy="868680"/>
          </a:xfrm>
          <a:prstGeom prst="rect">
            <a:avLst/>
          </a:prstGeom>
          <a:noFill/>
          <a:ln/>
        </p:spPr>
        <p:txBody>
          <a:bodyPr wrap="square" lIns="0" tIns="0" rIns="0" bIns="0" rtlCol="0" anchor="t">
            <a:normAutofit/>
          </a:bodyPr>
          <a:lstStyle/>
          <a:p>
            <a:pPr indent="0" marL="0">
              <a:buNone/>
            </a:pPr>
            <a:r>
              <a:rPr lang="en-US" sz="1159" dirty="0">
                <a:solidFill>
                  <a:srgbClr val="2A322E"/>
                </a:solidFill>
              </a:rPr>
              <a:t>Part des voitures électriques dans les ventes VP au T3 2026. Les règles CO2 de l'UE imposent le changement de mix et compriment les prix.</a:t>
            </a:r>
            <a:endParaRPr lang="en-US" sz="1300" dirty="0"/>
          </a:p>
        </p:txBody>
      </p:sp>
      <p:sp>
        <p:nvSpPr>
          <p:cNvPr id="16" name="macro card 4"/>
          <p:cNvSpPr/>
          <p:nvPr/>
        </p:nvSpPr>
        <p:spPr>
          <a:xfrm>
            <a:off x="6278728" y="3886200"/>
            <a:ext cx="5364328" cy="1965960"/>
          </a:xfrm>
          <a:prstGeom prst="rect">
            <a:avLst/>
          </a:prstGeom>
          <a:solidFill>
            <a:srgbClr val="F2F4F1"/>
          </a:solidFill>
          <a:ln w="12700">
            <a:solidFill>
              <a:srgbClr val="F2F4F1"/>
            </a:solidFill>
            <a:prstDash val="solid"/>
          </a:ln>
        </p:spPr>
        <p:txBody>
          <a:bodyPr/>
          <a:p/>
        </p:txBody>
      </p:sp>
      <p:sp>
        <p:nvSpPr>
          <p:cNvPr id="17" name="Text 15"/>
          <p:cNvSpPr txBox="1"/>
          <p:nvPr/>
        </p:nvSpPr>
        <p:spPr>
          <a:xfrm>
            <a:off x="6553048"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BBB−</a:t>
            </a:r>
            <a:endParaRPr lang="en-US" sz="2800" dirty="0"/>
          </a:p>
        </p:txBody>
      </p:sp>
      <p:sp>
        <p:nvSpPr>
          <p:cNvPr id="18" name="Text 16"/>
          <p:cNvSpPr txBox="1"/>
          <p:nvPr/>
        </p:nvSpPr>
        <p:spPr>
          <a:xfrm>
            <a:off x="9021928"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Taux et crédit</a:t>
            </a:r>
            <a:endParaRPr lang="en-US" sz="1500" dirty="0"/>
          </a:p>
        </p:txBody>
      </p:sp>
      <p:sp>
        <p:nvSpPr>
          <p:cNvPr id="19" name="Text 17"/>
          <p:cNvSpPr txBox="1"/>
          <p:nvPr/>
        </p:nvSpPr>
        <p:spPr>
          <a:xfrm>
            <a:off x="6553048" y="4892040"/>
            <a:ext cx="4815688" cy="868680"/>
          </a:xfrm>
          <a:prstGeom prst="rect">
            <a:avLst/>
          </a:prstGeom>
          <a:noFill/>
          <a:ln/>
        </p:spPr>
        <p:txBody>
          <a:bodyPr wrap="square" lIns="0" tIns="0" rIns="0" bIns="0" rtlCol="0" anchor="t">
            <a:normAutofit/>
          </a:bodyPr>
          <a:lstStyle/>
          <a:p>
            <a:pPr indent="0" marL="0">
              <a:buNone/>
            </a:pPr>
            <a:r>
              <a:rPr lang="en-US" sz="1219" dirty="0">
                <a:solidFill>
                  <a:srgbClr val="2A322E"/>
                </a:solidFill>
              </a:rPr>
              <a:t>La note investment grade (S&amp;P, déc. 2025) réduit le coût de financement de Mobilize, dont la marge dépend des taux et des prix de l'occasion.</a:t>
            </a:r>
            <a:endParaRPr lang="en-US" sz="1300" dirty="0"/>
          </a:p>
        </p:txBody>
      </p:sp>
      <p:sp>
        <p:nvSpPr>
          <p:cNvPr id="20" name="Text 18"/>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03" i="1" dirty="0">
                <a:solidFill>
                  <a:schemeClr val="tx2"/>
                </a:solidFill>
              </a:rPr>
              <a:t>Source : communiqués de la société et note de recherche (voir la slide Sources)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04  POURQUOI LE SCREEN L'A CHOISI</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07" b="1" dirty="0">
                <a:solidFill>
                  <a:schemeClr val="tx1"/>
                </a:solidFill>
              </a:rPr>
              <a:t>Classé 1 sur 102 en Consommation discrétionnaire sur notre score value</a:t>
            </a:r>
            <a:endParaRPr lang="en-US" sz="2600" dirty="0"/>
          </a:p>
        </p:txBody>
      </p:sp>
      <p:graphicFrame>
        <p:nvGraphicFramePr>
          <p:cNvPr id="4" name="Chart 0" descr=""/>
          <p:cNvGraphicFramePr/>
          <p:nvPr/>
        </p:nvGraphicFramePr>
        <p:xfrm>
          <a:off x="548640" y="1645920"/>
          <a:ext cx="56692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92240" y="1645920"/>
          <a:ext cx="5150815" cy="24688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492240" y="4251960"/>
            <a:ext cx="5150815" cy="1645920"/>
          </a:xfrm>
          <a:prstGeom prst="rect">
            <a:avLst/>
          </a:prstGeom>
          <a:noFill/>
          <a:ln/>
        </p:spPr>
        <p:txBody>
          <a:bodyPr wrap="square" lIns="0" tIns="0" rIns="0" bIns="0" rtlCol="0" anchor="t">
            <a:normAutofit/>
          </a:bodyPr>
          <a:lstStyle/>
          <a:p>
            <a:pPr indent="0" marL="0">
              <a:buNone/>
            </a:pPr>
            <a:r>
              <a:rPr lang="en-US" sz="1300" b="1" dirty="0">
                <a:solidFill>
                  <a:srgbClr val="2A322E"/>
                </a:solidFill>
              </a:rPr>
              <a:t>Score composite 3,48, 1er sur 102 dans son secteur. </a:t>
            </a:r>
            <a:pPr indent="0" marL="0">
              <a:buNone/>
            </a:pPr>
            <a:r>
              <a:rPr lang="en-US" sz="1217" dirty="0">
                <a:solidFill>
                  <a:srgbClr val="2A322E"/>
                </a:solidFill>
              </a:rPr>
              <a:t>Le score fait la moyenne des z-scores ci-dessus (quatre ratios exprimés en rendements). Les comptes ne sont utilisés qu'à partir de la clôture + 6 mois : en décembre 2025, le screen lisait les comptes de l'exercice clos en décembre 2024.</a:t>
            </a:r>
            <a:endParaRPr lang="en-US" sz="1300" dirty="0"/>
          </a:p>
        </p:txBody>
      </p:sp>
      <p:sp>
        <p:nvSpPr>
          <p:cNvPr id="7" name="Text 3"/>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 pipeline du Portfolio Project (données Bloomberg) ; pairs : Stellantis, Volkswagen, Mercedes-Benz, BMW, Toyota, Honda (pairs du pipeline, décembre 2025).</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05  HISTORIQUE DANS LE PORTEFEUILLE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07" b="1" dirty="0">
                <a:solidFill>
                  <a:schemeClr val="tx1"/>
                </a:solidFill>
              </a:rPr>
              <a:t>Détenu à 7 rebalancements sur 10 depuis juin 2021</a:t>
            </a:r>
            <a:endParaRPr lang="en-US" sz="2600" dirty="0"/>
          </a:p>
        </p:txBody>
      </p:sp>
      <p:graphicFrame>
        <p:nvGraphicFramePr>
          <p:cNvPr id="4" name="Chart 0" descr=""/>
          <p:cNvGraphicFramePr/>
          <p:nvPr/>
        </p:nvGraphicFramePr>
        <p:xfrm>
          <a:off x="548640" y="16459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91640"/>
            <a:ext cx="3779215" cy="548640"/>
          </a:xfrm>
          <a:prstGeom prst="rect">
            <a:avLst/>
          </a:prstGeom>
          <a:noFill/>
          <a:ln/>
        </p:spPr>
        <p:txBody>
          <a:bodyPr wrap="square" lIns="0" tIns="0" rIns="0" bIns="0" rtlCol="0" anchor="b"/>
          <a:lstStyle/>
          <a:p>
            <a:pPr indent="0" marL="0">
              <a:buNone/>
            </a:pPr>
            <a:r>
              <a:rPr lang="en-US" sz="2600" b="1" dirty="0">
                <a:solidFill>
                  <a:srgbClr val="B23A2E"/>
                </a:solidFill>
              </a:rPr>
              <a:t>−24,3 %</a:t>
            </a:r>
            <a:endParaRPr lang="en-US" sz="2600" dirty="0"/>
          </a:p>
        </p:txBody>
      </p:sp>
      <p:sp>
        <p:nvSpPr>
          <p:cNvPr id="6" name="Text 3"/>
          <p:cNvSpPr txBox="1"/>
          <p:nvPr/>
        </p:nvSpPr>
        <p:spPr>
          <a:xfrm>
            <a:off x="7863840" y="224028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Performance S1 2026 (EUR)</a:t>
            </a:r>
            <a:endParaRPr lang="en-US" sz="1200" dirty="0"/>
          </a:p>
        </p:txBody>
      </p:sp>
      <p:sp>
        <p:nvSpPr>
          <p:cNvPr id="7" name="Text 4"/>
          <p:cNvSpPr txBox="1"/>
          <p:nvPr/>
        </p:nvSpPr>
        <p:spPr>
          <a:xfrm>
            <a:off x="7863840" y="274320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+10,8 %</a:t>
            </a:r>
            <a:endParaRPr lang="en-US" sz="2600" dirty="0"/>
          </a:p>
        </p:txBody>
      </p:sp>
      <p:sp>
        <p:nvSpPr>
          <p:cNvPr id="8" name="Text 5"/>
          <p:cNvSpPr txBox="1"/>
          <p:nvPr/>
        </p:nvSpPr>
        <p:spPr>
          <a:xfrm>
            <a:off x="7863840" y="3291840"/>
            <a:ext cx="3779215" cy="320040"/>
          </a:xfrm>
          <a:prstGeom prst="rect">
            <a:avLst/>
          </a:prstGeom>
          <a:noFill/>
          <a:ln/>
        </p:spPr>
        <p:txBody>
          <a:bodyPr wrap="square" lIns="0" tIns="0" rIns="0" bIns="0" rtlCol="0" anchor="ctr"/>
          <a:lstStyle/>
          <a:p>
            <a:pPr indent="0" marL="0">
              <a:buNone/>
            </a:pPr>
            <a:r>
              <a:rPr lang="en-US" sz="1200" dirty="0">
                <a:solidFill>
                  <a:srgbClr val="5B6660"/>
                </a:solidFill>
              </a:rPr>
              <a:t>MSCI World Net EUR, S1 2026</a:t>
            </a:r>
            <a:endParaRPr lang="en-US" sz="1200" dirty="0"/>
          </a:p>
        </p:txBody>
      </p:sp>
      <p:sp>
        <p:nvSpPr>
          <p:cNvPr id="9" name="Text 6"/>
          <p:cNvSpPr txBox="1"/>
          <p:nvPr/>
        </p:nvSpPr>
        <p:spPr>
          <a:xfrm>
            <a:off x="7863840" y="379476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2,0 %</a:t>
            </a:r>
            <a:endParaRPr lang="en-US" sz="2600" dirty="0"/>
          </a:p>
        </p:txBody>
      </p:sp>
      <p:sp>
        <p:nvSpPr>
          <p:cNvPr id="10" name="Text 7"/>
          <p:cNvSpPr txBox="1"/>
          <p:nvPr/>
        </p:nvSpPr>
        <p:spPr>
          <a:xfrm>
            <a:off x="7863840" y="434340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Poids, équipondéré</a:t>
            </a:r>
            <a:endParaRPr lang="en-US" sz="1200" dirty="0"/>
          </a:p>
        </p:txBody>
      </p:sp>
      <p:sp>
        <p:nvSpPr>
          <p:cNvPr id="11" name="Text 8"/>
          <p:cNvSpPr txBox="1"/>
          <p:nvPr/>
        </p:nvSpPr>
        <p:spPr>
          <a:xfrm>
            <a:off x="7863840" y="484632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0,5 % / 0,5 %</a:t>
            </a:r>
            <a:endParaRPr lang="en-US" sz="2600" dirty="0"/>
          </a:p>
        </p:txBody>
      </p:sp>
      <p:sp>
        <p:nvSpPr>
          <p:cNvPr id="12" name="Text 9"/>
          <p:cNvSpPr txBox="1"/>
          <p:nvPr/>
        </p:nvSpPr>
        <p:spPr>
          <a:xfrm>
            <a:off x="7863840" y="5394960"/>
            <a:ext cx="3779215" cy="320040"/>
          </a:xfrm>
          <a:prstGeom prst="rect">
            <a:avLst/>
          </a:prstGeom>
          <a:noFill/>
          <a:ln/>
        </p:spPr>
        <p:txBody>
          <a:bodyPr wrap="square" lIns="0" tIns="0" rIns="0" bIns="0" rtlCol="0" anchor="ctr"/>
          <a:lstStyle/>
          <a:p>
            <a:pPr indent="0" marL="0">
              <a:buNone/>
            </a:pPr>
            <a:r>
              <a:rPr lang="en-US" sz="1058" dirty="0">
                <a:solidFill>
                  <a:srgbClr val="5B6660"/>
                </a:solidFill>
              </a:rPr>
              <a:t>Variance minimale / moyenne-variance</a:t>
            </a:r>
            <a:endParaRPr lang="en-US" sz="1200" dirty="0"/>
          </a:p>
        </p:txBody>
      </p:sp>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11" i="1" dirty="0">
                <a:solidFill>
                  <a:schemeClr val="tx2"/>
                </a:solidFill>
              </a:rPr>
              <a:t>Source : rendements totaux hebdomadaires du pipeline (EUR, nets de retenue à la source) et poids du portefeuille au rebalancement du 31 déc. 2025</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06  CHIFFRES CLÉS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Chiffres publiés et guidance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776472"/>
                <a:gridCol w="1828800"/>
                <a:gridCol w="1828800"/>
                <a:gridCol w="1828800"/>
                <a:gridCol w="1828800"/>
              </a:tblGrid>
              <a:tr h="438912">
                <a:tc>
                  <a:txBody>
                    <a:bodyPr/>
                    <a:lstStyle/>
                    <a:p>
                      <a:pPr algn="l" indent="0" marL="0">
                        <a:buNone/>
                      </a:pP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FY2024</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FY2025</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S1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Guidance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Chiffre d'affaires du groupe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56,2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57,9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30,3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Marge opérationnelle du groupe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7,6 %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6,3 %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5,2 %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~5,5 %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Résultat net part du groupe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0,75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−10,9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0,7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Free cash flow automobile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1,5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0,65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118" b="1" dirty="0">
                          <a:solidFill>
                            <a:srgbClr val="141A17"/>
                          </a:solidFill>
                          <a:latin typeface="Arial" pitchFamily="34" charset="0"/>
                          <a:ea typeface="Arial" pitchFamily="34" charset="-122"/>
                          <a:cs typeface="Arial" pitchFamily="34" charset="-120"/>
                        </a:rPr>
                        <a:t>Trésorerie nette automobile (fin de période)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7,3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6,6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Dividende par action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2,20 €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946904"/>
            <a:ext cx="11094415" cy="548640"/>
          </a:xfrm>
          <a:prstGeom prst="rect">
            <a:avLst/>
          </a:prstGeom>
          <a:noFill/>
          <a:ln/>
        </p:spPr>
        <p:txBody>
          <a:bodyPr wrap="square" lIns="0" tIns="0" rIns="0" bIns="0" rtlCol="0" anchor="t"/>
          <a:lstStyle/>
          <a:p>
            <a:pPr indent="0" marL="0">
              <a:buNone/>
            </a:pPr>
            <a:r>
              <a:rPr lang="en-US" sz="1041" dirty="0">
                <a:solidFill>
                  <a:srgbClr val="5B6660"/>
                </a:solidFill>
              </a:rPr>
              <a:t>*Inclut une perte sans impact cash de 9,3 Md€ sur la participation Nissan. CA 2024 déduit de la croissance de +3,0 % publiée pour 2025. Sources : communiqués Renault 2025 et S1 2026.</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07  VARIANT PERCEPTION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Là où nous divergeons du marché</a:t>
            </a:r>
            <a:endParaRPr lang="en-US" sz="2600" dirty="0"/>
          </a:p>
        </p:txBody>
      </p:sp>
      <p:sp>
        <p:nvSpPr>
          <p:cNvPr id="4" name="Text 2"/>
          <p:cNvSpPr txBox="1"/>
          <p:nvPr/>
        </p:nvSpPr>
        <p:spPr>
          <a:xfrm>
            <a:off x="548640" y="1645920"/>
            <a:ext cx="5364328" cy="320040"/>
          </a:xfrm>
          <a:prstGeom prst="rect">
            <a:avLst/>
          </a:prstGeom>
          <a:noFill/>
          <a:ln/>
        </p:spPr>
        <p:txBody>
          <a:bodyPr wrap="square" lIns="0" tIns="0" rIns="0" bIns="0" rtlCol="0" anchor="ctr"/>
          <a:lstStyle/>
          <a:p>
            <a:pPr indent="0" marL="0">
              <a:buNone/>
            </a:pPr>
            <a:r>
              <a:rPr lang="en-US" sz="1200" b="1" spc="100" kern="0" dirty="0">
                <a:solidFill>
                  <a:srgbClr val="5B6660"/>
                </a:solidFill>
              </a:rPr>
              <a:t>CE QUE CROIT LE MARCHÉ</a:t>
            </a:r>
            <a:endParaRPr lang="en-US" sz="1200" dirty="0"/>
          </a:p>
        </p:txBody>
      </p:sp>
      <p:sp>
        <p:nvSpPr>
          <p:cNvPr id="5" name="Text 3"/>
          <p:cNvSpPr txBox="1"/>
          <p:nvPr/>
        </p:nvSpPr>
        <p:spPr>
          <a:xfrm>
            <a:off x="6278728" y="1645920"/>
            <a:ext cx="5364328" cy="320040"/>
          </a:xfrm>
          <a:prstGeom prst="rect">
            <a:avLst/>
          </a:prstGeom>
          <a:noFill/>
          <a:ln/>
        </p:spPr>
        <p:txBody>
          <a:bodyPr wrap="square" lIns="0" tIns="0" rIns="0" bIns="0" rtlCol="0" anchor="ctr"/>
          <a:lstStyle/>
          <a:p>
            <a:pPr indent="0" marL="0">
              <a:buNone/>
            </a:pPr>
            <a:r>
              <a:rPr lang="en-US" sz="1200" b="1" spc="100" kern="0" dirty="0">
                <a:solidFill>
                  <a:srgbClr val="0E6B4F"/>
                </a:solidFill>
              </a:rPr>
              <a:t>NOTRE LECTURE</a:t>
            </a:r>
            <a:endParaRPr lang="en-US" sz="1200" dirty="0"/>
          </a:p>
        </p:txBody>
      </p:sp>
      <p:sp>
        <p:nvSpPr>
          <p:cNvPr id="6" name="Shape 4"/>
          <p:cNvSpPr/>
          <p:nvPr/>
        </p:nvSpPr>
        <p:spPr>
          <a:xfrm>
            <a:off x="548640" y="2057400"/>
            <a:ext cx="5364328" cy="868680"/>
          </a:xfrm>
          <a:prstGeom prst="rect">
            <a:avLst/>
          </a:prstGeom>
          <a:solidFill>
            <a:srgbClr val="F2F4F1"/>
          </a:solidFill>
          <a:ln w="12700">
            <a:solidFill>
              <a:srgbClr val="F2F4F1"/>
            </a:solidFill>
            <a:prstDash val="solid"/>
          </a:ln>
        </p:spPr>
        <p:txBody>
          <a:bodyPr/>
          <a:p/>
        </p:txBody>
      </p:sp>
      <p:sp>
        <p:nvSpPr>
          <p:cNvPr id="7" name="Text 5"/>
          <p:cNvSpPr txBox="1"/>
          <p:nvPr/>
        </p:nvSpPr>
        <p:spPr>
          <a:xfrm>
            <a:off x="777240" y="2057400"/>
            <a:ext cx="4907128" cy="868680"/>
          </a:xfrm>
          <a:prstGeom prst="rect">
            <a:avLst/>
          </a:prstGeom>
          <a:noFill/>
          <a:ln/>
        </p:spPr>
        <p:txBody>
          <a:bodyPr wrap="square" lIns="0" tIns="0" rIns="0" bIns="0" rtlCol="0" anchor="ctr">
            <a:normAutofit/>
          </a:bodyPr>
          <a:lstStyle/>
          <a:p>
            <a:pPr indent="0" marL="0">
              <a:buNone/>
            </a:pPr>
            <a:r>
              <a:rPr lang="en-US" sz="1264" i="1" dirty="0">
                <a:solidFill>
                  <a:srgbClr val="141A17"/>
                </a:solidFill>
              </a:rPr>
              <a:t>« La concurrence chinoise va écraser les marges »</a:t>
            </a:r>
            <a:endParaRPr lang="en-US" sz="1400" dirty="0"/>
          </a:p>
        </p:txBody>
      </p:sp>
      <p:sp>
        <p:nvSpPr>
          <p:cNvPr id="8" name="Shape 6"/>
          <p:cNvSpPr/>
          <p:nvPr/>
        </p:nvSpPr>
        <p:spPr>
          <a:xfrm>
            <a:off x="6278728" y="2057400"/>
            <a:ext cx="5364328" cy="868680"/>
          </a:xfrm>
          <a:prstGeom prst="rect">
            <a:avLst/>
          </a:prstGeom>
          <a:solidFill>
            <a:srgbClr val="EEF2EF"/>
          </a:solidFill>
          <a:ln w="12700">
            <a:solidFill>
              <a:srgbClr val="D7EBE2"/>
            </a:solidFill>
            <a:prstDash val="solid"/>
          </a:ln>
        </p:spPr>
        <p:txBody>
          <a:bodyPr/>
          <a:p/>
        </p:txBody>
      </p:sp>
      <p:sp>
        <p:nvSpPr>
          <p:cNvPr id="9" name="Text 7"/>
          <p:cNvSpPr txBox="1"/>
          <p:nvPr/>
        </p:nvSpPr>
        <p:spPr>
          <a:xfrm>
            <a:off x="6507328" y="2057400"/>
            <a:ext cx="4907128" cy="868680"/>
          </a:xfrm>
          <a:prstGeom prst="rect">
            <a:avLst/>
          </a:prstGeom>
          <a:noFill/>
          <a:ln/>
        </p:spPr>
        <p:txBody>
          <a:bodyPr wrap="square" lIns="0" tIns="0" rIns="0" bIns="0" rtlCol="0" anchor="ctr">
            <a:normAutofit/>
          </a:bodyPr>
          <a:lstStyle/>
          <a:p>
            <a:pPr indent="0" marL="0">
              <a:buNone/>
            </a:pPr>
            <a:r>
              <a:rPr lang="en-US" sz="1200" dirty="0">
                <a:solidFill>
                  <a:srgbClr val="141A17"/>
                </a:solidFill>
              </a:rPr>
              <a:t>Les volumes sont sous pression, mais prix et mix ont tenu. Le plan réduit le coût variable d'environ 400 € par voiture et par an, et le temps de développement à deux ans.</a:t>
            </a:r>
            <a:endParaRPr lang="en-US" sz="1300" dirty="0"/>
          </a:p>
        </p:txBody>
      </p:sp>
      <p:sp>
        <p:nvSpPr>
          <p:cNvPr id="10" name="Shape 8"/>
          <p:cNvSpPr/>
          <p:nvPr/>
        </p:nvSpPr>
        <p:spPr>
          <a:xfrm>
            <a:off x="548640" y="3063240"/>
            <a:ext cx="5364328" cy="868680"/>
          </a:xfrm>
          <a:prstGeom prst="rect">
            <a:avLst/>
          </a:prstGeom>
          <a:solidFill>
            <a:srgbClr val="F2F4F1"/>
          </a:solidFill>
          <a:ln w="12700">
            <a:solidFill>
              <a:srgbClr val="F2F4F1"/>
            </a:solidFill>
            <a:prstDash val="solid"/>
          </a:ln>
        </p:spPr>
        <p:txBody>
          <a:bodyPr/>
          <a:p/>
        </p:txBody>
      </p:sp>
      <p:sp>
        <p:nvSpPr>
          <p:cNvPr id="11" name="Text 9"/>
          <p:cNvSpPr txBox="1"/>
          <p:nvPr/>
        </p:nvSpPr>
        <p:spPr>
          <a:xfrm>
            <a:off x="777240" y="3063240"/>
            <a:ext cx="4907128" cy="868680"/>
          </a:xfrm>
          <a:prstGeom prst="rect">
            <a:avLst/>
          </a:prstGeom>
          <a:noFill/>
          <a:ln/>
        </p:spPr>
        <p:txBody>
          <a:bodyPr wrap="square" lIns="0" tIns="0" rIns="0" bIns="0" rtlCol="0" anchor="ctr">
            <a:normAutofit/>
          </a:bodyPr>
          <a:lstStyle/>
          <a:p>
            <a:pPr indent="0" marL="0">
              <a:buNone/>
            </a:pPr>
            <a:r>
              <a:rPr lang="en-US" sz="1318" i="1" dirty="0">
                <a:solidFill>
                  <a:srgbClr val="141A17"/>
                </a:solidFill>
              </a:rPr>
              <a:t>« La trésorerie est bloquée et sera brûlée »</a:t>
            </a:r>
            <a:endParaRPr lang="en-US" sz="1400" dirty="0"/>
          </a:p>
        </p:txBody>
      </p:sp>
      <p:sp>
        <p:nvSpPr>
          <p:cNvPr id="12" name="Shape 10"/>
          <p:cNvSpPr/>
          <p:nvPr/>
        </p:nvSpPr>
        <p:spPr>
          <a:xfrm>
            <a:off x="6278728" y="3063240"/>
            <a:ext cx="5364328" cy="868680"/>
          </a:xfrm>
          <a:prstGeom prst="rect">
            <a:avLst/>
          </a:prstGeom>
          <a:solidFill>
            <a:srgbClr val="EEF2EF"/>
          </a:solidFill>
          <a:ln w="12700">
            <a:solidFill>
              <a:srgbClr val="D7EBE2"/>
            </a:solidFill>
            <a:prstDash val="solid"/>
          </a:ln>
        </p:spPr>
        <p:txBody>
          <a:bodyPr/>
          <a:p/>
        </p:txBody>
      </p:sp>
      <p:sp>
        <p:nvSpPr>
          <p:cNvPr id="13" name="Text 11"/>
          <p:cNvSpPr txBox="1"/>
          <p:nvPr/>
        </p:nvSpPr>
        <p:spPr>
          <a:xfrm>
            <a:off x="6507328" y="3063240"/>
            <a:ext cx="4907128" cy="868680"/>
          </a:xfrm>
          <a:prstGeom prst="rect">
            <a:avLst/>
          </a:prstGeom>
          <a:noFill/>
          <a:ln/>
        </p:spPr>
        <p:txBody>
          <a:bodyPr wrap="square" lIns="0" tIns="0" rIns="0" bIns="0" rtlCol="0" anchor="ctr">
            <a:normAutofit/>
          </a:bodyPr>
          <a:lstStyle/>
          <a:p>
            <a:pPr indent="0" marL="0">
              <a:buNone/>
            </a:pPr>
            <a:r>
              <a:rPr lang="en-US" sz="1300" dirty="0">
                <a:solidFill>
                  <a:srgbClr val="141A17"/>
                </a:solidFill>
              </a:rPr>
              <a:t>La branche auto a généré 1,5 Md€ de free cash flow en 2025, S&amp;P a relevé Renault en investment grade (BBB−) en décembre 2025, et le dividende de 2,20 € a été payé avec ce cash.</a:t>
            </a:r>
            <a:endParaRPr lang="en-US" sz="1300" dirty="0"/>
          </a:p>
        </p:txBody>
      </p:sp>
      <p:sp>
        <p:nvSpPr>
          <p:cNvPr id="14" name="Shape 12"/>
          <p:cNvSpPr/>
          <p:nvPr/>
        </p:nvSpPr>
        <p:spPr>
          <a:xfrm>
            <a:off x="548640" y="4069080"/>
            <a:ext cx="5364328" cy="868680"/>
          </a:xfrm>
          <a:prstGeom prst="rect">
            <a:avLst/>
          </a:prstGeom>
          <a:solidFill>
            <a:srgbClr val="F2F4F1"/>
          </a:solidFill>
          <a:ln w="12700">
            <a:solidFill>
              <a:srgbClr val="F2F4F1"/>
            </a:solidFill>
            <a:prstDash val="solid"/>
          </a:ln>
        </p:spPr>
        <p:txBody>
          <a:bodyPr/>
          <a:p/>
        </p:txBody>
      </p:sp>
      <p:sp>
        <p:nvSpPr>
          <p:cNvPr id="15" name="Text 13"/>
          <p:cNvSpPr txBox="1"/>
          <p:nvPr/>
        </p:nvSpPr>
        <p:spPr>
          <a:xfrm>
            <a:off x="777240" y="4069080"/>
            <a:ext cx="4907128" cy="868680"/>
          </a:xfrm>
          <a:prstGeom prst="rect">
            <a:avLst/>
          </a:prstGeom>
          <a:noFill/>
          <a:ln/>
        </p:spPr>
        <p:txBody>
          <a:bodyPr wrap="square" lIns="0" tIns="0" rIns="0" bIns="0" rtlCol="0" anchor="ctr">
            <a:normAutofit/>
          </a:bodyPr>
          <a:lstStyle/>
          <a:p>
            <a:pPr indent="0" marL="0">
              <a:buNone/>
            </a:pPr>
            <a:r>
              <a:rPr lang="en-US" sz="1204" i="1" dirty="0">
                <a:solidFill>
                  <a:srgbClr val="141A17"/>
                </a:solidFill>
              </a:rPr>
              <a:t>« La direction ne cesse d'abaisser la guidance »</a:t>
            </a:r>
            <a:endParaRPr lang="en-US" sz="1400" dirty="0"/>
          </a:p>
        </p:txBody>
      </p:sp>
      <p:sp>
        <p:nvSpPr>
          <p:cNvPr id="16" name="Shape 14"/>
          <p:cNvSpPr/>
          <p:nvPr/>
        </p:nvSpPr>
        <p:spPr>
          <a:xfrm>
            <a:off x="6278728" y="4069080"/>
            <a:ext cx="5364328" cy="868680"/>
          </a:xfrm>
          <a:prstGeom prst="rect">
            <a:avLst/>
          </a:prstGeom>
          <a:solidFill>
            <a:srgbClr val="EEF2EF"/>
          </a:solidFill>
          <a:ln w="12700">
            <a:solidFill>
              <a:srgbClr val="D7EBE2"/>
            </a:solidFill>
            <a:prstDash val="solid"/>
          </a:ln>
        </p:spPr>
        <p:txBody>
          <a:bodyPr/>
          <a:p/>
        </p:txBody>
      </p:sp>
      <p:sp>
        <p:nvSpPr>
          <p:cNvPr id="17" name="Text 15"/>
          <p:cNvSpPr txBox="1"/>
          <p:nvPr/>
        </p:nvSpPr>
        <p:spPr>
          <a:xfrm>
            <a:off x="6507328" y="4069080"/>
            <a:ext cx="4907128" cy="868680"/>
          </a:xfrm>
          <a:prstGeom prst="rect">
            <a:avLst/>
          </a:prstGeom>
          <a:noFill/>
          <a:ln/>
        </p:spPr>
        <p:txBody>
          <a:bodyPr wrap="square" lIns="0" tIns="0" rIns="0" bIns="0" rtlCol="0" anchor="ctr">
            <a:normAutofit/>
          </a:bodyPr>
          <a:lstStyle/>
          <a:p>
            <a:pPr indent="0" marL="0">
              <a:buNone/>
            </a:pPr>
            <a:r>
              <a:rPr lang="en-US" sz="1165" dirty="0">
                <a:solidFill>
                  <a:srgbClr val="141A17"/>
                </a:solidFill>
              </a:rPr>
              <a:t>Le nouveau PDG a remis les objectifs à zéro une fois, en juillet 2025. La guidance 2026 a depuis été confirmée trois fois.</a:t>
            </a:r>
            <a:endParaRPr lang="en-US" sz="1300" dirty="0"/>
          </a:p>
        </p:txBody>
      </p:sp>
      <p:sp>
        <p:nvSpPr>
          <p:cNvPr id="18" name="Shape 16"/>
          <p:cNvSpPr/>
          <p:nvPr/>
        </p:nvSpPr>
        <p:spPr>
          <a:xfrm>
            <a:off x="548640" y="5074920"/>
            <a:ext cx="5364328" cy="868680"/>
          </a:xfrm>
          <a:prstGeom prst="rect">
            <a:avLst/>
          </a:prstGeom>
          <a:solidFill>
            <a:srgbClr val="F2F4F1"/>
          </a:solidFill>
          <a:ln w="12700">
            <a:solidFill>
              <a:srgbClr val="F2F4F1"/>
            </a:solidFill>
            <a:prstDash val="solid"/>
          </a:ln>
        </p:spPr>
        <p:txBody>
          <a:bodyPr/>
          <a:p/>
        </p:txBody>
      </p:sp>
      <p:sp>
        <p:nvSpPr>
          <p:cNvPr id="19" name="Text 17"/>
          <p:cNvSpPr txBox="1"/>
          <p:nvPr/>
        </p:nvSpPr>
        <p:spPr>
          <a:xfrm>
            <a:off x="777240" y="5074920"/>
            <a:ext cx="4907128" cy="868680"/>
          </a:xfrm>
          <a:prstGeom prst="rect">
            <a:avLst/>
          </a:prstGeom>
          <a:noFill/>
          <a:ln/>
        </p:spPr>
        <p:txBody>
          <a:bodyPr wrap="square" lIns="0" tIns="0" rIns="0" bIns="0" rtlCol="0" anchor="ctr">
            <a:normAutofit/>
          </a:bodyPr>
          <a:lstStyle/>
          <a:p>
            <a:pPr indent="0" marL="0">
              <a:buNone/>
            </a:pPr>
            <a:r>
              <a:rPr lang="en-US" sz="1400" i="1" dirty="0">
                <a:solidFill>
                  <a:srgbClr val="141A17"/>
                </a:solidFill>
              </a:rPr>
              <a:t>« Nissan est un trou noir »</a:t>
            </a:r>
            <a:endParaRPr lang="en-US" sz="1400" dirty="0"/>
          </a:p>
        </p:txBody>
      </p:sp>
      <p:sp>
        <p:nvSpPr>
          <p:cNvPr id="20" name="Shape 18"/>
          <p:cNvSpPr/>
          <p:nvPr/>
        </p:nvSpPr>
        <p:spPr>
          <a:xfrm>
            <a:off x="6278728" y="5074920"/>
            <a:ext cx="5364328" cy="868680"/>
          </a:xfrm>
          <a:prstGeom prst="rect">
            <a:avLst/>
          </a:prstGeom>
          <a:solidFill>
            <a:srgbClr val="EEF2EF"/>
          </a:solidFill>
          <a:ln w="12700">
            <a:solidFill>
              <a:srgbClr val="D7EBE2"/>
            </a:solidFill>
            <a:prstDash val="solid"/>
          </a:ln>
        </p:spPr>
        <p:txBody>
          <a:bodyPr/>
          <a:p/>
        </p:txBody>
      </p:sp>
      <p:sp>
        <p:nvSpPr>
          <p:cNvPr id="21" name="Text 19"/>
          <p:cNvSpPr txBox="1"/>
          <p:nvPr/>
        </p:nvSpPr>
        <p:spPr>
          <a:xfrm>
            <a:off x="6507328" y="5074920"/>
            <a:ext cx="4907128" cy="868680"/>
          </a:xfrm>
          <a:prstGeom prst="rect">
            <a:avLst/>
          </a:prstGeom>
          <a:noFill/>
          <a:ln/>
        </p:spPr>
        <p:txBody>
          <a:bodyPr wrap="square" lIns="0" tIns="0" rIns="0" bIns="0" rtlCol="0" anchor="ctr">
            <a:normAutofit/>
          </a:bodyPr>
          <a:lstStyle/>
          <a:p>
            <a:pPr indent="0" marL="0">
              <a:buNone/>
            </a:pPr>
            <a:r>
              <a:rPr lang="en-US" sz="1176" dirty="0">
                <a:solidFill>
                  <a:srgbClr val="141A17"/>
                </a:solidFill>
              </a:rPr>
              <a:t>La participation a été dépréciée de 9,3 Md€ en 2025. Notre valorisation ne lui donne aucune valeur : toute monétisation est un bonus.</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08  VALORISATION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81" b="1" dirty="0">
                <a:solidFill>
                  <a:schemeClr val="tx1"/>
                </a:solidFill>
              </a:rPr>
              <a:t>Valeur centrale 36,00 € par action, +28 % vs aujourd'hui</a:t>
            </a:r>
            <a:endParaRPr lang="en-US" sz="2600" dirty="0"/>
          </a:p>
        </p:txBody>
      </p:sp>
      <p:sp>
        <p:nvSpPr>
          <p:cNvPr id="4" name="Text 2"/>
          <p:cNvSpPr txBox="1"/>
          <p:nvPr/>
        </p:nvSpPr>
        <p:spPr>
          <a:xfrm>
            <a:off x="548640" y="1325880"/>
            <a:ext cx="11094415" cy="274320"/>
          </a:xfrm>
          <a:prstGeom prst="rect">
            <a:avLst/>
          </a:prstGeom>
          <a:noFill/>
          <a:ln/>
        </p:spPr>
        <p:txBody>
          <a:bodyPr wrap="square" lIns="0" tIns="0" rIns="0" bIns="0" rtlCol="0" anchor="ctr"/>
          <a:lstStyle/>
          <a:p>
            <a:pPr indent="0" marL="0">
              <a:buNone/>
            </a:pPr>
            <a:r>
              <a:rPr lang="en-US" sz="1300" b="1" dirty="0">
                <a:solidFill>
                  <a:srgbClr val="0E6B4F"/>
                </a:solidFill>
              </a:rPr>
              <a:t>Méthode : PER sur les bénéfices 2027, recoupé par une somme des parties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1097280"/>
                <a:gridCol w="3291840"/>
                <a:gridCol w="1234440"/>
                <a:gridCol w="960120"/>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Scénario</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Hypothèses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Valeur / action</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vs cours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Pessimiste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BPA 4,00 € × 5x</a:t>
                      </a:r>
                      <a:endParaRPr lang="en-US" sz="1100" dirty="0">
                        <a:latin typeface="Arial" charset="0"/>
                        <a:ea typeface="Arial" charset="0"/>
                        <a:cs typeface="Arial" charset="0"/>
                      </a:endParaRPr>
                    </a:p>
                    <a:p>
                      <a:pPr indent="0" marL="0">
                        <a:buNone/>
                      </a:pPr>
                      <a:r>
                        <a:rPr lang="en-US" sz="1039" dirty="0">
                          <a:solidFill>
                            <a:srgbClr val="2A322E"/>
                          </a:solidFill>
                          <a:latin typeface="Arial" pitchFamily="34" charset="0"/>
                          <a:ea typeface="Arial" pitchFamily="34" charset="-122"/>
                          <a:cs typeface="Arial" pitchFamily="34" charset="-120"/>
                        </a:rPr>
                        <a:t>Marge sous le plancher de 5 % ; guerre des prix chinoise</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20,00 €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B23A2E"/>
                          </a:solidFill>
                          <a:latin typeface="Arial" pitchFamily="34" charset="0"/>
                          <a:ea typeface="Arial" pitchFamily="34" charset="-122"/>
                          <a:cs typeface="Arial" pitchFamily="34" charset="-120"/>
                        </a:rPr>
                        <a:t>−29 %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Central</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BPA 6,00 € × 6x</a:t>
                      </a:r>
                      <a:endParaRPr lang="en-US" sz="1100" dirty="0">
                        <a:latin typeface="Arial" charset="0"/>
                        <a:ea typeface="Arial" charset="0"/>
                        <a:cs typeface="Arial" charset="0"/>
                      </a:endParaRPr>
                    </a:p>
                    <a:p>
                      <a:pPr indent="0" marL="0">
                        <a:buNone/>
                      </a:pPr>
                      <a:r>
                        <a:rPr lang="en-US" sz="1100" dirty="0">
                          <a:solidFill>
                            <a:srgbClr val="2A322E"/>
                          </a:solidFill>
                          <a:latin typeface="Arial" pitchFamily="34" charset="0"/>
                          <a:ea typeface="Arial" pitchFamily="34" charset="-122"/>
                          <a:cs typeface="Arial" pitchFamily="34" charset="-120"/>
                        </a:rPr>
                        <a:t>Marge autour de 5,5-6 % ; dividende maintenu</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36,00 €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+28 %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Optimiste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BPA 7,00 € × 7x</a:t>
                      </a:r>
                      <a:endParaRPr lang="en-US" sz="1100" dirty="0">
                        <a:latin typeface="Arial" charset="0"/>
                        <a:ea typeface="Arial" charset="0"/>
                        <a:cs typeface="Arial" charset="0"/>
                      </a:endParaRPr>
                    </a:p>
                    <a:p>
                      <a:pPr indent="0" marL="0">
                        <a:buNone/>
                      </a:pPr>
                      <a:r>
                        <a:rPr lang="en-US" sz="955" dirty="0">
                          <a:solidFill>
                            <a:srgbClr val="2A322E"/>
                          </a:solidFill>
                          <a:latin typeface="Arial" pitchFamily="34" charset="0"/>
                          <a:ea typeface="Arial" pitchFamily="34" charset="-122"/>
                          <a:cs typeface="Arial" pitchFamily="34" charset="-120"/>
                        </a:rPr>
                        <a:t>Économies futuREady au rendez-vous ; marge au-dessus de 6,5 %</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49,00 €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+74 %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bl>
          </a:graphicData>
        </a:graphic>
      </p:graphicFrame>
      <p:sp>
        <p:nvSpPr>
          <p:cNvPr id="6" name="Text 3"/>
          <p:cNvSpPr txBox="1"/>
          <p:nvPr/>
        </p:nvSpPr>
        <p:spPr>
          <a:xfrm>
            <a:off x="548640" y="4754880"/>
            <a:ext cx="6583680" cy="1234440"/>
          </a:xfrm>
          <a:prstGeom prst="rect">
            <a:avLst/>
          </a:prstGeom>
          <a:noFill/>
          <a:ln/>
        </p:spPr>
        <p:txBody>
          <a:bodyPr wrap="square" lIns="0" tIns="0" rIns="0" bIns="0" rtlCol="0" anchor="t">
            <a:normAutofit/>
          </a:bodyPr>
          <a:lstStyle/>
          <a:p>
            <a:pPr indent="0" marL="0">
              <a:buNone/>
            </a:pPr>
            <a:r>
              <a:rPr lang="en-US" sz="1129" dirty="0">
                <a:solidFill>
                  <a:srgbClr val="2A322E"/>
                </a:solidFill>
              </a:rPr>
              <a:t>Nous valorisons Renault sur son BPA 2027 avec un PER à un chiffre, la fourchette des constructeurs généralistes européens sur le cycle. Le consensus implique environ 6,6 € de BPA 2026 (cours / 4,3x) ; nous retenons 6,0 € dans le scénario central pour rester sous le consensus. La somme des parties est un contrôle de cohérence, pas l'objectif.</a:t>
            </a:r>
            <a:endParaRPr lang="en-US" sz="1200" dirty="0"/>
          </a:p>
        </p:txBody>
      </p:sp>
      <p:sp>
        <p:nvSpPr>
          <p:cNvPr id="7" name="Text 4"/>
          <p:cNvSpPr txBox="1"/>
          <p:nvPr/>
        </p:nvSpPr>
        <p:spPr>
          <a:xfrm>
            <a:off x="7406640" y="1645920"/>
            <a:ext cx="4206240" cy="320040"/>
          </a:xfrm>
          <a:prstGeom prst="rect">
            <a:avLst/>
          </a:prstGeom>
          <a:noFill/>
          <a:ln/>
        </p:spPr>
        <p:txBody>
          <a:bodyPr wrap="square" lIns="0" tIns="0" rIns="0" bIns="0" rtlCol="0" anchor="ctr"/>
          <a:lstStyle/>
          <a:p>
            <a:pPr indent="0" marL="0">
              <a:buNone/>
            </a:pPr>
            <a:r>
              <a:rPr lang="en-US" sz="1300" b="1" dirty="0">
                <a:solidFill>
                  <a:srgbClr val="141A17"/>
                </a:solidFill>
              </a:rPr>
              <a:t>Fourchette de valorisation</a:t>
            </a:r>
            <a:endParaRPr lang="en-US" sz="1300" dirty="0"/>
          </a:p>
        </p:txBody>
      </p:sp>
      <p:sp>
        <p:nvSpPr>
          <p:cNvPr id="8" name="Text 5"/>
          <p:cNvSpPr txBox="1"/>
          <p:nvPr/>
        </p:nvSpPr>
        <p:spPr>
          <a:xfrm>
            <a:off x="7406640" y="2240280"/>
            <a:ext cx="4206240" cy="256032"/>
          </a:xfrm>
          <a:prstGeom prst="rect">
            <a:avLst/>
          </a:prstGeom>
          <a:noFill/>
          <a:ln/>
        </p:spPr>
        <p:txBody>
          <a:bodyPr wrap="square" lIns="0" tIns="0" rIns="0" bIns="0" rtlCol="0" anchor="ctr"/>
          <a:lstStyle/>
          <a:p>
            <a:pPr indent="0" marL="0">
              <a:buNone/>
            </a:pPr>
            <a:r>
              <a:rPr lang="en-US" sz="1100" dirty="0">
                <a:solidFill>
                  <a:srgbClr val="5B6660"/>
                </a:solidFill>
              </a:rPr>
              <a:t>Plage 52 semaines</a:t>
            </a:r>
            <a:endParaRPr lang="en-US" sz="1100" dirty="0"/>
          </a:p>
        </p:txBody>
      </p:sp>
      <p:sp>
        <p:nvSpPr>
          <p:cNvPr id="9" name="Shape 6"/>
          <p:cNvSpPr/>
          <p:nvPr/>
        </p:nvSpPr>
        <p:spPr>
          <a:xfrm>
            <a:off x="8403558" y="2542032"/>
            <a:ext cx="1499022" cy="310896"/>
          </a:xfrm>
          <a:prstGeom prst="rect">
            <a:avLst/>
          </a:prstGeom>
          <a:solidFill>
            <a:srgbClr val="9AAAA2"/>
          </a:solidFill>
          <a:ln w="12700">
            <a:solidFill>
              <a:srgbClr val="9AAAA2"/>
            </a:solidFill>
            <a:prstDash val="solid"/>
          </a:ln>
        </p:spPr>
        <p:txBody>
          <a:bodyPr/>
          <a:p/>
        </p:txBody>
      </p:sp>
      <p:sp>
        <p:nvSpPr>
          <p:cNvPr id="10" name="Text 7"/>
          <p:cNvSpPr txBox="1"/>
          <p:nvPr/>
        </p:nvSpPr>
        <p:spPr>
          <a:xfrm>
            <a:off x="7406640" y="2880360"/>
            <a:ext cx="4206240" cy="228600"/>
          </a:xfrm>
          <a:prstGeom prst="rect">
            <a:avLst/>
          </a:prstGeom>
          <a:noFill/>
          <a:ln/>
        </p:spPr>
        <p:txBody>
          <a:bodyPr wrap="square" lIns="0" tIns="0" rIns="0" bIns="0" rtlCol="0" anchor="ctr"/>
          <a:lstStyle/>
          <a:p>
            <a:pPr indent="0" marL="0">
              <a:buNone/>
            </a:pPr>
            <a:r>
              <a:rPr lang="en-US" sz="1000" dirty="0">
                <a:solidFill>
                  <a:srgbClr val="141A17"/>
                </a:solidFill>
              </a:rPr>
              <a:t>24,38 € - 37,97 €</a:t>
            </a:r>
            <a:endParaRPr lang="en-US" sz="1000" dirty="0"/>
          </a:p>
        </p:txBody>
      </p:sp>
      <p:sp>
        <p:nvSpPr>
          <p:cNvPr id="11" name="Shape 8"/>
          <p:cNvSpPr/>
          <p:nvPr/>
        </p:nvSpPr>
        <p:spPr>
          <a:xfrm>
            <a:off x="8821608" y="2478024"/>
            <a:ext cx="0" cy="438912"/>
          </a:xfrm>
          <a:prstGeom prst="line">
            <a:avLst/>
          </a:prstGeom>
          <a:noFill/>
          <a:ln w="25400">
            <a:solidFill>
              <a:srgbClr val="141A17"/>
            </a:solidFill>
            <a:prstDash val="solid"/>
          </a:ln>
        </p:spPr>
        <p:txBody>
          <a:bodyPr/>
          <a:p/>
        </p:txBody>
      </p:sp>
      <p:sp>
        <p:nvSpPr>
          <p:cNvPr id="12" name="Shape 9"/>
          <p:cNvSpPr/>
          <p:nvPr/>
        </p:nvSpPr>
        <p:spPr>
          <a:xfrm>
            <a:off x="9685283" y="2478024"/>
            <a:ext cx="0" cy="438912"/>
          </a:xfrm>
          <a:prstGeom prst="line">
            <a:avLst/>
          </a:prstGeom>
          <a:noFill/>
          <a:ln w="25400">
            <a:solidFill>
              <a:srgbClr val="0E6B4F"/>
            </a:solidFill>
            <a:prstDash val="dash"/>
          </a:ln>
        </p:spPr>
        <p:txBody>
          <a:bodyPr/>
          <a:p/>
        </p:txBody>
      </p:sp>
      <p:sp>
        <p:nvSpPr>
          <p:cNvPr id="13" name="Text 10"/>
          <p:cNvSpPr txBox="1"/>
          <p:nvPr/>
        </p:nvSpPr>
        <p:spPr>
          <a:xfrm>
            <a:off x="7406640" y="3200400"/>
            <a:ext cx="4206240" cy="256032"/>
          </a:xfrm>
          <a:prstGeom prst="rect">
            <a:avLst/>
          </a:prstGeom>
          <a:noFill/>
          <a:ln/>
        </p:spPr>
        <p:txBody>
          <a:bodyPr wrap="square" lIns="0" tIns="0" rIns="0" bIns="0" rtlCol="0" anchor="ctr"/>
          <a:lstStyle/>
          <a:p>
            <a:pPr indent="0" marL="0">
              <a:buNone/>
            </a:pPr>
            <a:r>
              <a:rPr lang="en-US" sz="998" dirty="0">
                <a:solidFill>
                  <a:srgbClr val="5B6660"/>
                </a:solidFill>
              </a:rPr>
              <a:t>Scénarios (pessimiste - optimiste)</a:t>
            </a:r>
            <a:endParaRPr lang="en-US" sz="1100" dirty="0"/>
          </a:p>
        </p:txBody>
      </p:sp>
      <p:sp>
        <p:nvSpPr>
          <p:cNvPr id="14" name="Shape 11"/>
          <p:cNvSpPr/>
          <p:nvPr/>
        </p:nvSpPr>
        <p:spPr>
          <a:xfrm>
            <a:off x="7920430" y="3502152"/>
            <a:ext cx="3198796" cy="310896"/>
          </a:xfrm>
          <a:prstGeom prst="rect">
            <a:avLst/>
          </a:prstGeom>
          <a:solidFill>
            <a:srgbClr val="0E6B4F"/>
          </a:solidFill>
          <a:ln w="12700">
            <a:solidFill>
              <a:srgbClr val="0E6B4F"/>
            </a:solidFill>
            <a:prstDash val="solid"/>
          </a:ln>
        </p:spPr>
        <p:txBody>
          <a:bodyPr/>
          <a:p/>
        </p:txBody>
      </p:sp>
      <p:sp>
        <p:nvSpPr>
          <p:cNvPr id="15" name="Text 12"/>
          <p:cNvSpPr txBox="1"/>
          <p:nvPr/>
        </p:nvSpPr>
        <p:spPr>
          <a:xfrm>
            <a:off x="7406640" y="3840480"/>
            <a:ext cx="4206240" cy="228600"/>
          </a:xfrm>
          <a:prstGeom prst="rect">
            <a:avLst/>
          </a:prstGeom>
          <a:noFill/>
          <a:ln/>
        </p:spPr>
        <p:txBody>
          <a:bodyPr wrap="square" lIns="0" tIns="0" rIns="0" bIns="0" rtlCol="0" anchor="ctr"/>
          <a:lstStyle/>
          <a:p>
            <a:pPr indent="0" marL="0">
              <a:buNone/>
            </a:pPr>
            <a:r>
              <a:rPr lang="en-US" sz="1000" dirty="0">
                <a:solidFill>
                  <a:srgbClr val="141A17"/>
                </a:solidFill>
              </a:rPr>
              <a:t>20,00 € - 49,00 €</a:t>
            </a:r>
            <a:endParaRPr lang="en-US" sz="1000" dirty="0"/>
          </a:p>
        </p:txBody>
      </p:sp>
      <p:sp>
        <p:nvSpPr>
          <p:cNvPr id="16" name="Shape 13"/>
          <p:cNvSpPr/>
          <p:nvPr/>
        </p:nvSpPr>
        <p:spPr>
          <a:xfrm>
            <a:off x="8821608" y="3438144"/>
            <a:ext cx="0" cy="438912"/>
          </a:xfrm>
          <a:prstGeom prst="line">
            <a:avLst/>
          </a:prstGeom>
          <a:noFill/>
          <a:ln w="25400">
            <a:solidFill>
              <a:srgbClr val="141A17"/>
            </a:solidFill>
            <a:prstDash val="solid"/>
          </a:ln>
        </p:spPr>
        <p:txBody>
          <a:bodyPr/>
          <a:p/>
        </p:txBody>
      </p:sp>
      <p:sp>
        <p:nvSpPr>
          <p:cNvPr id="17" name="Shape 14"/>
          <p:cNvSpPr/>
          <p:nvPr/>
        </p:nvSpPr>
        <p:spPr>
          <a:xfrm>
            <a:off x="9685283" y="3438144"/>
            <a:ext cx="0" cy="438912"/>
          </a:xfrm>
          <a:prstGeom prst="line">
            <a:avLst/>
          </a:prstGeom>
          <a:noFill/>
          <a:ln w="25400">
            <a:solidFill>
              <a:srgbClr val="0E6B4F"/>
            </a:solidFill>
            <a:prstDash val="dash"/>
          </a:ln>
        </p:spPr>
        <p:txBody>
          <a:bodyPr/>
          <a:p/>
        </p:txBody>
      </p:sp>
      <p:sp>
        <p:nvSpPr>
          <p:cNvPr id="18" name="Text 15"/>
          <p:cNvSpPr txBox="1"/>
          <p:nvPr/>
        </p:nvSpPr>
        <p:spPr>
          <a:xfrm>
            <a:off x="7406640" y="4160520"/>
            <a:ext cx="4206240" cy="256032"/>
          </a:xfrm>
          <a:prstGeom prst="rect">
            <a:avLst/>
          </a:prstGeom>
          <a:noFill/>
          <a:ln/>
        </p:spPr>
        <p:txBody>
          <a:bodyPr wrap="square" lIns="0" tIns="0" rIns="0" bIns="0" rtlCol="0" anchor="ctr"/>
          <a:lstStyle/>
          <a:p>
            <a:pPr indent="0" marL="0">
              <a:buNone/>
            </a:pPr>
            <a:r>
              <a:rPr lang="en-US" sz="1100" dirty="0">
                <a:solidFill>
                  <a:srgbClr val="5B6660"/>
                </a:solidFill>
              </a:rPr>
              <a:t>Objectif du consensus (tiers)</a:t>
            </a:r>
            <a:endParaRPr lang="en-US" sz="1100" dirty="0"/>
          </a:p>
        </p:txBody>
      </p:sp>
      <p:sp>
        <p:nvSpPr>
          <p:cNvPr id="19" name="Shape 16"/>
          <p:cNvSpPr/>
          <p:nvPr/>
        </p:nvSpPr>
        <p:spPr>
          <a:xfrm>
            <a:off x="9897065" y="4462272"/>
            <a:ext cx="73152" cy="310896"/>
          </a:xfrm>
          <a:prstGeom prst="rect">
            <a:avLst/>
          </a:prstGeom>
          <a:solidFill>
            <a:srgbClr val="9AAAA2"/>
          </a:solidFill>
          <a:ln w="12700">
            <a:solidFill>
              <a:srgbClr val="9AAAA2"/>
            </a:solidFill>
            <a:prstDash val="solid"/>
          </a:ln>
        </p:spPr>
        <p:txBody>
          <a:bodyPr/>
          <a:p/>
        </p:txBody>
      </p:sp>
      <p:sp>
        <p:nvSpPr>
          <p:cNvPr id="20" name="Text 17"/>
          <p:cNvSpPr txBox="1"/>
          <p:nvPr/>
        </p:nvSpPr>
        <p:spPr>
          <a:xfrm>
            <a:off x="7406640" y="4800600"/>
            <a:ext cx="4206240" cy="228600"/>
          </a:xfrm>
          <a:prstGeom prst="rect">
            <a:avLst/>
          </a:prstGeom>
          <a:noFill/>
          <a:ln/>
        </p:spPr>
        <p:txBody>
          <a:bodyPr wrap="square" lIns="0" tIns="0" rIns="0" bIns="0" rtlCol="0" anchor="ctr"/>
          <a:lstStyle/>
          <a:p>
            <a:pPr indent="0" marL="0">
              <a:buNone/>
            </a:pPr>
            <a:r>
              <a:rPr lang="en-US" sz="1000" dirty="0">
                <a:solidFill>
                  <a:srgbClr val="141A17"/>
                </a:solidFill>
              </a:rPr>
              <a:t>37,92 €</a:t>
            </a:r>
            <a:endParaRPr lang="en-US" sz="1000" dirty="0"/>
          </a:p>
        </p:txBody>
      </p:sp>
      <p:sp>
        <p:nvSpPr>
          <p:cNvPr id="21" name="Shape 18"/>
          <p:cNvSpPr/>
          <p:nvPr/>
        </p:nvSpPr>
        <p:spPr>
          <a:xfrm>
            <a:off x="8821608" y="4398264"/>
            <a:ext cx="0" cy="438912"/>
          </a:xfrm>
          <a:prstGeom prst="line">
            <a:avLst/>
          </a:prstGeom>
          <a:noFill/>
          <a:ln w="25400">
            <a:solidFill>
              <a:srgbClr val="141A17"/>
            </a:solidFill>
            <a:prstDash val="solid"/>
          </a:ln>
        </p:spPr>
        <p:txBody>
          <a:bodyPr/>
          <a:p/>
        </p:txBody>
      </p:sp>
      <p:sp>
        <p:nvSpPr>
          <p:cNvPr id="22" name="Shape 19"/>
          <p:cNvSpPr/>
          <p:nvPr/>
        </p:nvSpPr>
        <p:spPr>
          <a:xfrm>
            <a:off x="9685283" y="4398264"/>
            <a:ext cx="0" cy="438912"/>
          </a:xfrm>
          <a:prstGeom prst="line">
            <a:avLst/>
          </a:prstGeom>
          <a:noFill/>
          <a:ln w="25400">
            <a:solidFill>
              <a:srgbClr val="0E6B4F"/>
            </a:solidFill>
            <a:prstDash val="dash"/>
          </a:ln>
        </p:spPr>
        <p:txBody>
          <a:bodyPr/>
          <a:p/>
        </p:txBody>
      </p:sp>
      <p:sp>
        <p:nvSpPr>
          <p:cNvPr id="23" name="Text 20"/>
          <p:cNvSpPr txBox="1"/>
          <p:nvPr/>
        </p:nvSpPr>
        <p:spPr>
          <a:xfrm>
            <a:off x="7998648" y="5074920"/>
            <a:ext cx="1645920" cy="256032"/>
          </a:xfrm>
          <a:prstGeom prst="rect">
            <a:avLst/>
          </a:prstGeom>
          <a:noFill/>
          <a:ln/>
        </p:spPr>
        <p:txBody>
          <a:bodyPr wrap="square" lIns="0" tIns="0" rIns="0" bIns="0" rtlCol="0" anchor="ctr"/>
          <a:lstStyle/>
          <a:p>
            <a:pPr algn="ctr" indent="0" marL="0">
              <a:buNone/>
            </a:pPr>
            <a:r>
              <a:rPr lang="en-US" sz="1000" b="1" dirty="0">
                <a:solidFill>
                  <a:srgbClr val="141A17"/>
                </a:solidFill>
              </a:rPr>
              <a:t>│ Cours 28,17 €</a:t>
            </a:r>
            <a:endParaRPr lang="en-US" sz="1000" dirty="0"/>
          </a:p>
        </p:txBody>
      </p:sp>
      <p:sp>
        <p:nvSpPr>
          <p:cNvPr id="24" name="Text 21"/>
          <p:cNvSpPr txBox="1"/>
          <p:nvPr/>
        </p:nvSpPr>
        <p:spPr>
          <a:xfrm>
            <a:off x="8862323" y="5349240"/>
            <a:ext cx="1645920" cy="256032"/>
          </a:xfrm>
          <a:prstGeom prst="rect">
            <a:avLst/>
          </a:prstGeom>
          <a:noFill/>
          <a:ln/>
        </p:spPr>
        <p:txBody>
          <a:bodyPr wrap="square" lIns="0" tIns="0" rIns="0" bIns="0" rtlCol="0" anchor="ctr"/>
          <a:lstStyle/>
          <a:p>
            <a:pPr algn="ctr" indent="0" marL="0">
              <a:buNone/>
            </a:pPr>
            <a:r>
              <a:rPr lang="en-US" sz="1000" b="1" dirty="0">
                <a:solidFill>
                  <a:srgbClr val="0E6B4F"/>
                </a:solidFill>
              </a:rPr>
              <a:t>┆ Scénario central 36,00 €</a:t>
            </a:r>
            <a:endParaRPr lang="en-US" sz="1000" dirty="0"/>
          </a:p>
        </p:txBody>
      </p:sp>
      <p:sp>
        <p:nvSpPr>
          <p:cNvPr id="25" name="Text 22"/>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30" i="1" dirty="0">
                <a:solidFill>
                  <a:schemeClr val="tx2"/>
                </a:solidFill>
              </a:rPr>
              <a:t>Source : valorisation propre ; plage 52 semaines et consensus issus de données tierces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09  CATALYSEURS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6" b="1" dirty="0">
                <a:solidFill>
                  <a:schemeClr val="tx1"/>
                </a:solidFill>
              </a:rPr>
              <a:t>Ce qui peut faire bouger le titre dans les 12-18 prochains mois</a:t>
            </a:r>
            <a:endParaRPr lang="en-US" sz="2600" dirty="0"/>
          </a:p>
        </p:txBody>
      </p:sp>
      <p:sp>
        <p:nvSpPr>
          <p:cNvPr id="4" name="Shape 2"/>
          <p:cNvSpPr/>
          <p:nvPr/>
        </p:nvSpPr>
        <p:spPr>
          <a:xfrm>
            <a:off x="731520" y="2395728"/>
            <a:ext cx="10728655" cy="0"/>
          </a:xfrm>
          <a:prstGeom prst="line">
            <a:avLst/>
          </a:prstGeom>
          <a:noFill/>
          <a:ln w="25400">
            <a:solidFill>
              <a:srgbClr val="D5DBD6"/>
            </a:solidFill>
            <a:prstDash val="solid"/>
          </a:ln>
        </p:spPr>
        <p:txBody>
          <a:bodyPr/>
          <a:p/>
        </p:txBody>
      </p:sp>
      <p:sp>
        <p:nvSpPr>
          <p:cNvPr id="5" name="Shape 3"/>
          <p:cNvSpPr/>
          <p:nvPr/>
        </p:nvSpPr>
        <p:spPr>
          <a:xfrm>
            <a:off x="640080" y="2240280"/>
            <a:ext cx="310896" cy="310896"/>
          </a:xfrm>
          <a:prstGeom prst="ellipse">
            <a:avLst/>
          </a:prstGeom>
          <a:solidFill>
            <a:srgbClr val="0E6B4F"/>
          </a:solidFill>
          <a:ln w="25400">
            <a:solidFill>
              <a:srgbClr val="FFFFFF"/>
            </a:solidFill>
            <a:prstDash val="solid"/>
          </a:ln>
        </p:spPr>
        <p:txBody>
          <a:bodyPr/>
          <a:p/>
        </p:txBody>
      </p:sp>
      <p:sp>
        <p:nvSpPr>
          <p:cNvPr id="6" name="Text 4"/>
          <p:cNvSpPr txBox="1"/>
          <p:nvPr/>
        </p:nvSpPr>
        <p:spPr>
          <a:xfrm>
            <a:off x="548640"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Nov.-déc. 2026</a:t>
            </a:r>
            <a:endParaRPr lang="en-US" sz="1400" dirty="0"/>
          </a:p>
        </p:txBody>
      </p:sp>
      <p:sp>
        <p:nvSpPr>
          <p:cNvPr id="7" name="Text 5"/>
          <p:cNvSpPr txBox="1"/>
          <p:nvPr/>
        </p:nvSpPr>
        <p:spPr>
          <a:xfrm>
            <a:off x="548640" y="2788920"/>
            <a:ext cx="1990283" cy="1737360"/>
          </a:xfrm>
          <a:prstGeom prst="rect">
            <a:avLst/>
          </a:prstGeom>
          <a:noFill/>
          <a:ln/>
        </p:spPr>
        <p:txBody>
          <a:bodyPr wrap="square" lIns="0" tIns="0" rIns="0" bIns="0" rtlCol="0" anchor="t">
            <a:normAutofit/>
          </a:bodyPr>
          <a:lstStyle/>
          <a:p>
            <a:pPr indent="0" marL="0">
              <a:buNone/>
            </a:pPr>
            <a:r>
              <a:rPr lang="en-US" sz="1204" dirty="0">
                <a:solidFill>
                  <a:srgbClr val="141A17"/>
                </a:solidFill>
              </a:rPr>
              <a:t>Lancements de la nouvelle Mégane E-Tech, du Dacia Striker, de la Sandero hybride et de la nouvelle Spring</a:t>
            </a:r>
            <a:endParaRPr lang="en-US" sz="1400" dirty="0"/>
          </a:p>
        </p:txBody>
      </p:sp>
      <p:sp>
        <p:nvSpPr>
          <p:cNvPr id="8" name="Shape 6"/>
          <p:cNvSpPr/>
          <p:nvPr/>
        </p:nvSpPr>
        <p:spPr>
          <a:xfrm>
            <a:off x="2858963" y="2240280"/>
            <a:ext cx="310896" cy="310896"/>
          </a:xfrm>
          <a:prstGeom prst="ellipse">
            <a:avLst/>
          </a:prstGeom>
          <a:solidFill>
            <a:srgbClr val="0E6B4F"/>
          </a:solidFill>
          <a:ln w="25400">
            <a:solidFill>
              <a:srgbClr val="FFFFFF"/>
            </a:solidFill>
            <a:prstDash val="solid"/>
          </a:ln>
        </p:spPr>
        <p:txBody>
          <a:bodyPr/>
          <a:p/>
        </p:txBody>
      </p:sp>
      <p:sp>
        <p:nvSpPr>
          <p:cNvPr id="9" name="Text 7"/>
          <p:cNvSpPr txBox="1"/>
          <p:nvPr/>
        </p:nvSpPr>
        <p:spPr>
          <a:xfrm>
            <a:off x="2767523"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Fin 2026</a:t>
            </a:r>
            <a:endParaRPr lang="en-US" sz="1400" dirty="0"/>
          </a:p>
        </p:txBody>
      </p:sp>
      <p:sp>
        <p:nvSpPr>
          <p:cNvPr id="10" name="Text 8"/>
          <p:cNvSpPr txBox="1"/>
          <p:nvPr/>
        </p:nvSpPr>
        <p:spPr>
          <a:xfrm>
            <a:off x="2767523" y="2788920"/>
            <a:ext cx="1990283" cy="1737360"/>
          </a:xfrm>
          <a:prstGeom prst="rect">
            <a:avLst/>
          </a:prstGeom>
          <a:noFill/>
          <a:ln/>
        </p:spPr>
        <p:txBody>
          <a:bodyPr wrap="square" lIns="0" tIns="0" rIns="0" bIns="0" rtlCol="0" anchor="t">
            <a:normAutofit/>
          </a:bodyPr>
          <a:lstStyle/>
          <a:p>
            <a:pPr indent="0" marL="0">
              <a:buNone/>
            </a:pPr>
            <a:r>
              <a:rPr lang="en-US" sz="1400" dirty="0">
                <a:solidFill>
                  <a:srgbClr val="141A17"/>
                </a:solidFill>
              </a:rPr>
              <a:t>Stocks ramenés à 525-550 000 véhicules ; free cash flow livré face à la guidance de 1,0 Md€</a:t>
            </a:r>
            <a:endParaRPr lang="en-US" sz="1400" dirty="0"/>
          </a:p>
        </p:txBody>
      </p:sp>
      <p:sp>
        <p:nvSpPr>
          <p:cNvPr id="11" name="Shape 9"/>
          <p:cNvSpPr/>
          <p:nvPr/>
        </p:nvSpPr>
        <p:spPr>
          <a:xfrm>
            <a:off x="5077846" y="2240280"/>
            <a:ext cx="310896" cy="310896"/>
          </a:xfrm>
          <a:prstGeom prst="ellipse">
            <a:avLst/>
          </a:prstGeom>
          <a:solidFill>
            <a:srgbClr val="0E6B4F"/>
          </a:solidFill>
          <a:ln w="25400">
            <a:solidFill>
              <a:srgbClr val="FFFFFF"/>
            </a:solidFill>
            <a:prstDash val="solid"/>
          </a:ln>
        </p:spPr>
        <p:txBody>
          <a:bodyPr/>
          <a:p/>
        </p:txBody>
      </p:sp>
      <p:sp>
        <p:nvSpPr>
          <p:cNvPr id="12" name="Text 10"/>
          <p:cNvSpPr txBox="1"/>
          <p:nvPr/>
        </p:nvSpPr>
        <p:spPr>
          <a:xfrm>
            <a:off x="4986406"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Févr. 2027</a:t>
            </a:r>
            <a:endParaRPr lang="en-US" sz="1400" dirty="0"/>
          </a:p>
        </p:txBody>
      </p:sp>
      <p:sp>
        <p:nvSpPr>
          <p:cNvPr id="13" name="Text 11"/>
          <p:cNvSpPr txBox="1"/>
          <p:nvPr/>
        </p:nvSpPr>
        <p:spPr>
          <a:xfrm>
            <a:off x="4986406" y="2788920"/>
            <a:ext cx="1990283" cy="1737360"/>
          </a:xfrm>
          <a:prstGeom prst="rect">
            <a:avLst/>
          </a:prstGeom>
          <a:noFill/>
          <a:ln/>
        </p:spPr>
        <p:txBody>
          <a:bodyPr wrap="square" lIns="0" tIns="0" rIns="0" bIns="0" rtlCol="0" anchor="t">
            <a:normAutofit/>
          </a:bodyPr>
          <a:lstStyle/>
          <a:p>
            <a:pPr indent="0" marL="0">
              <a:buNone/>
            </a:pPr>
            <a:r>
              <a:rPr lang="en-US" sz="1287" dirty="0">
                <a:solidFill>
                  <a:srgbClr val="141A17"/>
                </a:solidFill>
              </a:rPr>
              <a:t>Résultats 2026, proposition de dividende, première année d'économies futuREady</a:t>
            </a:r>
            <a:endParaRPr lang="en-US" sz="1400" dirty="0"/>
          </a:p>
        </p:txBody>
      </p:sp>
      <p:sp>
        <p:nvSpPr>
          <p:cNvPr id="14" name="Shape 12"/>
          <p:cNvSpPr/>
          <p:nvPr/>
        </p:nvSpPr>
        <p:spPr>
          <a:xfrm>
            <a:off x="7296729" y="2240280"/>
            <a:ext cx="310896" cy="310896"/>
          </a:xfrm>
          <a:prstGeom prst="ellipse">
            <a:avLst/>
          </a:prstGeom>
          <a:solidFill>
            <a:srgbClr val="0E6B4F"/>
          </a:solidFill>
          <a:ln w="25400">
            <a:solidFill>
              <a:srgbClr val="FFFFFF"/>
            </a:solidFill>
            <a:prstDash val="solid"/>
          </a:ln>
        </p:spPr>
        <p:txBody>
          <a:bodyPr/>
          <a:p/>
        </p:txBody>
      </p:sp>
      <p:sp>
        <p:nvSpPr>
          <p:cNvPr id="15" name="Text 13"/>
          <p:cNvSpPr txBox="1"/>
          <p:nvPr/>
        </p:nvSpPr>
        <p:spPr>
          <a:xfrm>
            <a:off x="7205289"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2026-2027</a:t>
            </a:r>
            <a:endParaRPr lang="en-US" sz="1400" dirty="0"/>
          </a:p>
        </p:txBody>
      </p:sp>
      <p:sp>
        <p:nvSpPr>
          <p:cNvPr id="16" name="Text 14"/>
          <p:cNvSpPr txBox="1"/>
          <p:nvPr/>
        </p:nvSpPr>
        <p:spPr>
          <a:xfrm>
            <a:off x="7205289" y="2788920"/>
            <a:ext cx="1990283" cy="1737360"/>
          </a:xfrm>
          <a:prstGeom prst="rect">
            <a:avLst/>
          </a:prstGeom>
          <a:noFill/>
          <a:ln/>
        </p:spPr>
        <p:txBody>
          <a:bodyPr wrap="square" lIns="0" tIns="0" rIns="0" bIns="0" rtlCol="0" anchor="t">
            <a:normAutofit/>
          </a:bodyPr>
          <a:lstStyle/>
          <a:p>
            <a:pPr indent="0" marL="0">
              <a:buNone/>
            </a:pPr>
            <a:r>
              <a:rPr lang="en-US" sz="1204" dirty="0">
                <a:solidFill>
                  <a:srgbClr val="141A17"/>
                </a:solidFill>
              </a:rPr>
              <a:t>Dividendes de Mobilize en hausse vers 500 M€ par an ; éventuelle monétisation de la participation Nissan</a:t>
            </a:r>
            <a:endParaRPr lang="en-US" sz="1400" dirty="0"/>
          </a:p>
        </p:txBody>
      </p:sp>
      <p:sp>
        <p:nvSpPr>
          <p:cNvPr id="17" name="Shape 15"/>
          <p:cNvSpPr/>
          <p:nvPr/>
        </p:nvSpPr>
        <p:spPr>
          <a:xfrm>
            <a:off x="9515612" y="2240280"/>
            <a:ext cx="310896" cy="310896"/>
          </a:xfrm>
          <a:prstGeom prst="ellipse">
            <a:avLst/>
          </a:prstGeom>
          <a:solidFill>
            <a:srgbClr val="0E6B4F"/>
          </a:solidFill>
          <a:ln w="25400">
            <a:solidFill>
              <a:srgbClr val="FFFFFF"/>
            </a:solidFill>
            <a:prstDash val="solid"/>
          </a:ln>
        </p:spPr>
        <p:txBody>
          <a:bodyPr/>
          <a:p/>
        </p:txBody>
      </p:sp>
      <p:sp>
        <p:nvSpPr>
          <p:cNvPr id="18" name="Text 16"/>
          <p:cNvSpPr txBox="1"/>
          <p:nvPr/>
        </p:nvSpPr>
        <p:spPr>
          <a:xfrm>
            <a:off x="9424172"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Juil. 2027</a:t>
            </a:r>
            <a:endParaRPr lang="en-US" sz="1400" dirty="0"/>
          </a:p>
        </p:txBody>
      </p:sp>
      <p:sp>
        <p:nvSpPr>
          <p:cNvPr id="19" name="Text 17"/>
          <p:cNvSpPr txBox="1"/>
          <p:nvPr/>
        </p:nvSpPr>
        <p:spPr>
          <a:xfrm>
            <a:off x="9424172" y="2788920"/>
            <a:ext cx="1990283" cy="1737360"/>
          </a:xfrm>
          <a:prstGeom prst="rect">
            <a:avLst/>
          </a:prstGeom>
          <a:noFill/>
          <a:ln/>
        </p:spPr>
        <p:txBody>
          <a:bodyPr wrap="square" lIns="0" tIns="0" rIns="0" bIns="0" rtlCol="0" anchor="t">
            <a:normAutofit/>
          </a:bodyPr>
          <a:lstStyle/>
          <a:p>
            <a:pPr indent="0" marL="0">
              <a:buNone/>
            </a:pPr>
            <a:r>
              <a:rPr lang="en-US" sz="1256" dirty="0">
                <a:solidFill>
                  <a:srgbClr val="141A17"/>
                </a:solidFill>
              </a:rPr>
              <a:t>Résultats S1 2027 : première lecture complète du programme de coûts</a:t>
            </a:r>
            <a:endParaRPr lang="en-US" sz="1400" dirty="0"/>
          </a:p>
        </p:txBody>
      </p:sp>
      <p:sp>
        <p:nvSpPr>
          <p:cNvPr id="20" name="Shape 18"/>
          <p:cNvSpPr/>
          <p:nvPr/>
        </p:nvSpPr>
        <p:spPr>
          <a:xfrm>
            <a:off x="548640" y="4800600"/>
            <a:ext cx="11094415" cy="868680"/>
          </a:xfrm>
          <a:prstGeom prst="rect">
            <a:avLst/>
          </a:prstGeom>
          <a:solidFill>
            <a:srgbClr val="F2F4F1"/>
          </a:solidFill>
          <a:ln w="12700">
            <a:solidFill>
              <a:srgbClr val="F2F4F1"/>
            </a:solidFill>
            <a:prstDash val="solid"/>
          </a:ln>
        </p:spPr>
        <p:txBody>
          <a:bodyPr/>
          <a:p/>
        </p:txBody>
      </p:sp>
      <p:sp>
        <p:nvSpPr>
          <p:cNvPr id="21" name="Text 19"/>
          <p:cNvSpPr txBox="1"/>
          <p:nvPr/>
        </p:nvSpPr>
        <p:spPr>
          <a:xfrm>
            <a:off x="822960" y="4800600"/>
            <a:ext cx="10545775" cy="868680"/>
          </a:xfrm>
          <a:prstGeom prst="rect">
            <a:avLst/>
          </a:prstGeom>
          <a:noFill/>
          <a:ln/>
        </p:spPr>
        <p:txBody>
          <a:bodyPr wrap="square" lIns="0" tIns="0" rIns="0" bIns="0" rtlCol="0" anchor="ctr"/>
          <a:lstStyle/>
          <a:p>
            <a:pPr indent="0" marL="0">
              <a:buNone/>
            </a:pPr>
            <a:r>
              <a:rPr lang="en-US" sz="1500" b="1" dirty="0">
                <a:solidFill>
                  <a:srgbClr val="0E6B4F"/>
                </a:solidFill>
              </a:rPr>
              <a:t>Le chiffre à suivre : </a:t>
            </a:r>
            <a:pPr indent="0" marL="0">
              <a:buNone/>
            </a:pPr>
            <a:r>
              <a:rPr lang="en-US" sz="1405" dirty="0">
                <a:solidFill>
                  <a:srgbClr val="141A17"/>
                </a:solidFill>
              </a:rPr>
              <a:t>Marge opérationnelle 2026 sous 5 %, ou FCF automobile nettement sous 1 Md€</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015" b="1" spc="150" kern="0" dirty="0">
                <a:solidFill>
                  <a:schemeClr val="accent1"/>
                </a:solidFill>
              </a:rPr>
              <a:t>10  RISQUES ET DISCIPLINE DE VENTE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39" b="1" dirty="0">
                <a:solidFill>
                  <a:schemeClr val="tx1"/>
                </a:solidFill>
              </a:rPr>
              <a:t>Risques, atténuations et ce qui nous ferait vendre</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3566160"/>
                <a:gridCol w="3200400"/>
              </a:tblGrid>
              <a:tr h="713232">
                <a:tc>
                  <a:txBody>
                    <a:bodyPr/>
                    <a:lstStyle/>
                    <a:p>
                      <a:pPr indent="0" marL="0">
                        <a:buNone/>
                      </a:pPr>
                      <a:r>
                        <a:rPr lang="en-US" sz="1300" b="1" dirty="0">
                          <a:solidFill>
                            <a:srgbClr val="FFFFFF"/>
                          </a:solidFill>
                          <a:latin typeface="Arial" pitchFamily="34" charset="0"/>
                          <a:ea typeface="Arial" pitchFamily="34" charset="-122"/>
                          <a:cs typeface="Arial" pitchFamily="34" charset="-120"/>
                        </a:rPr>
                        <a:t>Risque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Atténuation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r>
              <a:tr h="713232">
                <a:tc>
                  <a:txBody>
                    <a:bodyPr/>
                    <a:lstStyle/>
                    <a:p>
                      <a:pPr indent="0" marL="0">
                        <a:buNone/>
                      </a:pPr>
                      <a:r>
                        <a:rPr lang="en-US" sz="1118" b="1" dirty="0">
                          <a:solidFill>
                            <a:srgbClr val="141A17"/>
                          </a:solidFill>
                          <a:latin typeface="Arial" pitchFamily="34" charset="0"/>
                          <a:ea typeface="Arial" pitchFamily="34" charset="-122"/>
                          <a:cs typeface="Arial" pitchFamily="34" charset="-120"/>
                        </a:rPr>
                        <a:t>Guerre des prix en Europe avec les marques chinoises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32" dirty="0">
                          <a:solidFill>
                            <a:srgbClr val="2A322E"/>
                          </a:solidFill>
                          <a:latin typeface="Arial" pitchFamily="34" charset="0"/>
                          <a:ea typeface="Arial" pitchFamily="34" charset="-122"/>
                          <a:cs typeface="Arial" pitchFamily="34" charset="-120"/>
                        </a:rPr>
                        <a:t>Position de coûts de Dacia ; le plan réduit le coût variable de 400 € par voiture et par an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118" b="1" dirty="0">
                          <a:solidFill>
                            <a:srgbClr val="141A17"/>
                          </a:solidFill>
                          <a:latin typeface="Arial" pitchFamily="34" charset="0"/>
                          <a:ea typeface="Arial" pitchFamily="34" charset="-122"/>
                          <a:cs typeface="Arial" pitchFamily="34" charset="-120"/>
                        </a:rPr>
                        <a:t>Inflation des matières premières et de l'énergie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95" dirty="0">
                          <a:solidFill>
                            <a:srgbClr val="2A322E"/>
                          </a:solidFill>
                          <a:latin typeface="Arial" pitchFamily="34" charset="0"/>
                          <a:ea typeface="Arial" pitchFamily="34" charset="-122"/>
                          <a:cs typeface="Arial" pitchFamily="34" charset="-120"/>
                        </a:rPr>
                        <a:t>Pouvoir de prix maintenu en 2026 ; coûts partiellement répercutés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Exécution de futuREady</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79" dirty="0">
                          <a:solidFill>
                            <a:srgbClr val="2A322E"/>
                          </a:solidFill>
                          <a:latin typeface="Arial" pitchFamily="34" charset="0"/>
                          <a:ea typeface="Arial" pitchFamily="34" charset="-122"/>
                          <a:cs typeface="Arial" pitchFamily="34" charset="-120"/>
                        </a:rPr>
                        <a:t>Cycle de développement de deux ans déjà appliqué aux lancements 2026</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118" b="1" dirty="0">
                          <a:solidFill>
                            <a:srgbClr val="141A17"/>
                          </a:solidFill>
                          <a:latin typeface="Arial" pitchFamily="34" charset="0"/>
                          <a:ea typeface="Arial" pitchFamily="34" charset="-122"/>
                          <a:cs typeface="Arial" pitchFamily="34" charset="-120"/>
                        </a:rPr>
                        <a:t>Risque de crédit de Mobilize si les prix de l'occasion baissent</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37" dirty="0">
                          <a:solidFill>
                            <a:srgbClr val="2A322E"/>
                          </a:solidFill>
                          <a:latin typeface="Arial" pitchFamily="34" charset="0"/>
                          <a:ea typeface="Arial" pitchFamily="34" charset="-122"/>
                          <a:cs typeface="Arial" pitchFamily="34" charset="-120"/>
                        </a:rPr>
                        <a:t>Financement investment grade ; portefeuille de détail diversifié</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7680960" y="1691640"/>
            <a:ext cx="3962095" cy="4160520"/>
          </a:xfrm>
          <a:prstGeom prst="rect">
            <a:avLst/>
          </a:prstGeom>
          <a:solidFill>
            <a:srgbClr val="FBEDEB"/>
          </a:solidFill>
          <a:ln w="12700">
            <a:solidFill>
              <a:srgbClr val="F2C9C3"/>
            </a:solidFill>
            <a:prstDash val="solid"/>
          </a:ln>
        </p:spPr>
        <p:txBody>
          <a:bodyPr/>
          <a:p/>
        </p:txBody>
      </p:sp>
      <p:sp>
        <p:nvSpPr>
          <p:cNvPr id="6" name="Text 3"/>
          <p:cNvSpPr txBox="1"/>
          <p:nvPr/>
        </p:nvSpPr>
        <p:spPr>
          <a:xfrm>
            <a:off x="7955280" y="1874520"/>
            <a:ext cx="3413455" cy="320040"/>
          </a:xfrm>
          <a:prstGeom prst="rect">
            <a:avLst/>
          </a:prstGeom>
          <a:noFill/>
          <a:ln/>
        </p:spPr>
        <p:txBody>
          <a:bodyPr wrap="square" lIns="0" tIns="0" rIns="0" bIns="0" rtlCol="0" anchor="ctr"/>
          <a:lstStyle/>
          <a:p>
            <a:pPr indent="0" marL="0">
              <a:buNone/>
            </a:pPr>
            <a:r>
              <a:rPr lang="en-US" sz="1200" b="1" spc="100" kern="0" dirty="0">
                <a:solidFill>
                  <a:srgbClr val="B23A2E"/>
                </a:solidFill>
              </a:rPr>
              <a:t>NOUS VENDONS SI</a:t>
            </a:r>
            <a:endParaRPr lang="en-US" sz="1200" dirty="0"/>
          </a:p>
        </p:txBody>
      </p:sp>
      <p:sp>
        <p:nvSpPr>
          <p:cNvPr id="7" name="Text 4"/>
          <p:cNvSpPr txBox="1"/>
          <p:nvPr/>
        </p:nvSpPr>
        <p:spPr>
          <a:xfrm>
            <a:off x="7955280" y="2286000"/>
            <a:ext cx="3413455" cy="33832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312" dirty="0">
                <a:solidFill>
                  <a:srgbClr val="141A17"/>
                </a:solidFill>
              </a:rPr>
              <a:t>Marge opérationnelle 2026 sous 5 %, ou FCF automobile nettement sous 1 Md€</a:t>
            </a:r>
            <a:endParaRPr lang="en-US" sz="1400" dirty="0"/>
          </a:p>
          <a:p>
            <a:pPr marL="342900" indent="-342900">
              <a:spcAft>
                <a:spcPts val="1000"/>
              </a:spcAft>
              <a:buSzPct val="100000"/>
              <a:buChar char="•"/>
            </a:pPr>
            <a:r>
              <a:rPr lang="en-US" sz="1322" dirty="0">
                <a:solidFill>
                  <a:srgbClr val="141A17"/>
                </a:solidFill>
              </a:rPr>
              <a:t>Trésorerie nette automobile sous 5 Md€ sans emploi clair</a:t>
            </a:r>
            <a:endParaRPr lang="en-US" sz="1400" dirty="0"/>
          </a:p>
          <a:p>
            <a:pPr marL="342900" indent="-342900">
              <a:spcAft>
                <a:spcPts val="1000"/>
              </a:spcAft>
              <a:buSzPct val="100000"/>
              <a:buChar char="•"/>
            </a:pPr>
            <a:r>
              <a:rPr lang="en-US" sz="1282" dirty="0">
                <a:solidFill>
                  <a:srgbClr val="141A17"/>
                </a:solidFill>
              </a:rPr>
              <a:t>Nouvelle baisse de guidance aux résultats de février 2027, ou baisse du dividende</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11  SOURCES ET AVERTISSEMENTS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Sources</a:t>
            </a:r>
            <a:endParaRPr lang="en-US" sz="2600" dirty="0"/>
          </a:p>
        </p:txBody>
      </p:sp>
      <p:sp>
        <p:nvSpPr>
          <p:cNvPr id="4" name="Text 2"/>
          <p:cNvSpPr txBox="1"/>
          <p:nvPr/>
        </p:nvSpPr>
        <p:spPr>
          <a:xfrm>
            <a:off x="548640"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[S1] Renault Group, "S1 2026 results" press release, 29/07/2026, via MFN/GlobeNewswire</a:t>
            </a:r>
            <a:endParaRPr lang="en-US" sz="1000" dirty="0"/>
          </a:p>
          <a:p>
            <a:pPr indent="0" marL="0">
              <a:spcAft>
                <a:spcPts val="500"/>
              </a:spcAft>
              <a:buNone/>
            </a:pPr>
            <a:r>
              <a:rPr lang="en-US" sz="1000" dirty="0">
                <a:solidFill>
                  <a:srgbClr val="2A322E"/>
                </a:solidFill>
              </a:rPr>
              <a:t>[S2] Renault Group, "Renault Group delivers resilient T3 revenue and confirms its 2026 financial guidance", 29/10/2026</a:t>
            </a:r>
            <a:endParaRPr lang="en-US" sz="1000" dirty="0"/>
          </a:p>
          <a:p>
            <a:pPr indent="0" marL="0">
              <a:spcAft>
                <a:spcPts val="500"/>
              </a:spcAft>
              <a:buNone/>
            </a:pPr>
            <a:r>
              <a:rPr lang="en-US" sz="1000" dirty="0">
                <a:solidFill>
                  <a:srgbClr val="2A322E"/>
                </a:solidFill>
              </a:rPr>
              <a:t>[S3] Ideal Investisseur, summary of Renault FY2025 results, 19/02/2026</a:t>
            </a:r>
            <a:endParaRPr lang="en-US" sz="1000" dirty="0"/>
          </a:p>
          <a:p>
            <a:pPr indent="0" marL="0">
              <a:spcAft>
                <a:spcPts val="500"/>
              </a:spcAft>
              <a:buNone/>
            </a:pPr>
            <a:r>
              <a:rPr lang="en-US" sz="1000" dirty="0">
                <a:solidFill>
                  <a:srgbClr val="2A322E"/>
                </a:solidFill>
              </a:rPr>
              <a:t>[S4] NewMobility News, "Renault's good results overshadowed by recalculation of participation in Nissan", 19/02/2026</a:t>
            </a:r>
            <a:endParaRPr lang="en-US" sz="1000" dirty="0"/>
          </a:p>
          <a:p>
            <a:pPr indent="0" marL="0">
              <a:spcAft>
                <a:spcPts val="500"/>
              </a:spcAft>
              <a:buNone/>
            </a:pPr>
            <a:r>
              <a:rPr lang="en-US" sz="1000" dirty="0">
                <a:solidFill>
                  <a:srgbClr val="2A322E"/>
                </a:solidFill>
              </a:rPr>
              <a:t>[S5] Profit warning and CEO change: Invezz, 16/07/2025</a:t>
            </a:r>
            <a:endParaRPr lang="en-US" sz="1000" dirty="0"/>
          </a:p>
          <a:p>
            <a:pPr indent="0" marL="0">
              <a:spcAft>
                <a:spcPts val="500"/>
              </a:spcAft>
              <a:buNone/>
            </a:pPr>
            <a:r>
              <a:rPr lang="en-US" sz="1000" dirty="0">
                <a:solidFill>
                  <a:srgbClr val="2A322E"/>
                </a:solidFill>
              </a:rPr>
              <a:t>[S6] Renault Group, "Renault Group launches futuREady, opening a new strategic era", 10/03/2026</a:t>
            </a:r>
            <a:endParaRPr lang="en-US" sz="1000" dirty="0"/>
          </a:p>
        </p:txBody>
      </p:sp>
      <p:sp>
        <p:nvSpPr>
          <p:cNvPr id="5" name="Text 3"/>
          <p:cNvSpPr txBox="1"/>
          <p:nvPr/>
        </p:nvSpPr>
        <p:spPr>
          <a:xfrm>
            <a:off x="6187288"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[S7] Investing.com via Yahoo Finance, "Renault revenue beats estimates as automaker reaffirms 2026 outlook", 29/10/2026</a:t>
            </a:r>
            <a:endParaRPr lang="en-US" sz="1000" dirty="0"/>
          </a:p>
          <a:p>
            <a:pPr indent="0" marL="0">
              <a:spcAft>
                <a:spcPts val="500"/>
              </a:spcAft>
              <a:buNone/>
            </a:pPr>
            <a:r>
              <a:rPr lang="en-US" sz="1000" dirty="0">
                <a:solidFill>
                  <a:srgbClr val="2A322E"/>
                </a:solidFill>
              </a:rPr>
              <a:t>[S8] MarketScreener, Renault finances/consensus page, data 29/10/2026</a:t>
            </a:r>
            <a:endParaRPr lang="en-US" sz="1000" dirty="0"/>
          </a:p>
          <a:p>
            <a:pPr indent="0" marL="0">
              <a:spcAft>
                <a:spcPts val="500"/>
              </a:spcAft>
              <a:buNone/>
            </a:pPr>
            <a:r>
              <a:rPr lang="en-US" sz="1000" dirty="0">
                <a:solidFill>
                  <a:srgbClr val="2A322E"/>
                </a:solidFill>
              </a:rPr>
              <a:t>[S9] StockAnalysis, Renault statistics, data 29/10/2026</a:t>
            </a:r>
            <a:endParaRPr lang="en-US" sz="1000" dirty="0"/>
          </a:p>
          <a:p>
            <a:pPr indent="0" marL="0">
              <a:spcAft>
                <a:spcPts val="500"/>
              </a:spcAft>
              <a:buNone/>
            </a:pPr>
            <a:r>
              <a:rPr lang="en-US" sz="1000" dirty="0">
                <a:solidFill>
                  <a:srgbClr val="2A322E"/>
                </a:solidFill>
              </a:rPr>
              <a:t>[S10] ad-hoc-news, "Renault reports T3 growth. Renault stock is valued at EUR 8,1 billion", 29/10/2026</a:t>
            </a:r>
            <a:endParaRPr lang="en-US" sz="1000" dirty="0"/>
          </a:p>
          <a:p>
            <a:pPr indent="0" marL="0">
              <a:spcAft>
                <a:spcPts val="500"/>
              </a:spcAft>
              <a:buNone/>
            </a:pPr>
            <a:r>
              <a:rPr lang="en-US" sz="940" dirty="0">
                <a:solidFill>
                  <a:srgbClr val="2A322E"/>
                </a:solidFill>
              </a:rPr>
              <a:t>Pipeline du Portfolio Project : scores, multiples, poids et rendements calculés à partir de données Bloomberg extraites sur le terminal de SKEMA (oct. 2026).</a:t>
            </a:r>
            <a:endParaRPr lang="en-US" sz="1000" dirty="0"/>
          </a:p>
        </p:txBody>
      </p:sp>
      <p:sp>
        <p:nvSpPr>
          <p:cNvPr id="6" name="Text 4"/>
          <p:cNvSpPr txBox="1"/>
          <p:nvPr/>
        </p:nvSpPr>
        <p:spPr>
          <a:xfrm>
            <a:off x="548640" y="5394960"/>
            <a:ext cx="11094415" cy="685800"/>
          </a:xfrm>
          <a:prstGeom prst="rect">
            <a:avLst/>
          </a:prstGeom>
          <a:noFill/>
          <a:ln/>
        </p:spPr>
        <p:txBody>
          <a:bodyPr wrap="square" lIns="0" tIns="0" rIns="0" bIns="0" rtlCol="0" anchor="t"/>
          <a:lstStyle/>
          <a:p>
            <a:pPr indent="0" marL="0">
              <a:buNone/>
            </a:pPr>
            <a:r>
              <a:rPr lang="en-US" sz="929" dirty="0">
                <a:solidFill>
                  <a:srgbClr val="5B6660"/>
                </a:solidFill>
              </a:rPr>
              <a:t>Avertissement : travail étudiant préparé à des fins pédagogiques et pour des entretiens. Ce n'est ni un conseil en investissement ni une sollicitation. Les données de marché tierces (cours, consensus, multiples prospectifs) sont signalées et ont été consultées le 29 octobre 2026 ; elles doivent être vérifiées dans les publications des sociétés ou sur un terminal Bloomberg avant usage. Les résultats de backtest sont hypothétiques.</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esearch Ledger">
  <a:themeElements>
    <a:clrScheme name="Research Ledger">
      <a:dk1>
        <a:srgbClr val="141A17"/>
      </a:dk1>
      <a:lt1>
        <a:srgbClr val="FFFFFF"/>
      </a:lt1>
      <a:dk2>
        <a:srgbClr val="5B6660"/>
      </a:dk2>
      <a:lt2>
        <a:srgbClr val="F2F4F1"/>
      </a:lt2>
      <a:accent1>
        <a:srgbClr val="0E6B4F"/>
      </a:accent1>
      <a:accent2>
        <a:srgbClr val="D7EBE2"/>
      </a:accent2>
      <a:accent3>
        <a:srgbClr val="B23A2E"/>
      </a:accent3>
      <a:accent4>
        <a:srgbClr val="B07A12"/>
      </a:accent4>
      <a:accent5>
        <a:srgbClr val="9AAAA2"/>
      </a:accent5>
      <a:accent6>
        <a:srgbClr val="D5DBD6"/>
      </a:accent6>
      <a:hlink>
        <a:srgbClr val="0E6B4F"/>
      </a:hlink>
      <a:folHlink>
        <a:srgbClr val="5B6660"/>
      </a:folHlink>
    </a:clrScheme>
    <a:fontScheme name="Research Led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Noah Doose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Renault stock pitch</dc:title>
  <dc:subject>PptxGenJS Presentation</dc:subject>
  <dc:creator>Noah Doose</dc:creator>
  <cp:lastModifiedBy>Noah Doose</cp:lastModifiedBy>
  <cp:revision>1</cp:revision>
  <dcterms:created xsi:type="dcterms:W3CDTF">2026-10-30T06:38:33Z</dcterms:created>
  <dcterms:modified xsi:type="dcterms:W3CDTF">2026-10-30T06:38:33Z</dcterms:modified>
</cp:coreProperties>
</file>