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e0c22981-04a8-a442-46eb-b3461cda09fe}">
          <p14:sldIdLst>
            <p14:sldId id="256"/>
          </p14:sldIdLst>
        </p14:section>
        <p14:section name="Thesis" id="{7ca91419-feb9-78dd-1601-9336c4bb1264}">
          <p14:sldIdLst>
            <p14:sldId id="257"/>
          </p14:sldIdLst>
        </p14:section>
        <p14:section name="Company" id="{4a1d2446-ea12-b5f8-3b19-82bd0ced5842}">
          <p14:sldIdLst>
            <p14:sldId id="258"/>
            <p14:sldId id="259"/>
          </p14:sldIdLst>
        </p14:section>
        <p14:section name="Screen" id="{2107447d-7133-aba0-72be-46e311a7e1a0}">
          <p14:sldIdLst>
            <p14:sldId id="260"/>
            <p14:sldId id="261"/>
          </p14:sldIdLst>
        </p14:section>
        <p14:section name="Financials" id="{a9a5d873-3f3b-f1de-af71-e95ebc862b99}">
          <p14:sldIdLst>
            <p14:sldId id="262"/>
            <p14:sldId id="263"/>
          </p14:sldIdLst>
        </p14:section>
        <p14:section name="Valuation" id="{de6b4af5-2b8b-2848-806b-9d40fd088ca7}">
          <p14:sldIdLst>
            <p14:sldId id="264"/>
          </p14:sldIdLst>
        </p14:section>
        <p14:section name="Catalysts and risks" id="{011a6224-d983-1d2f-f31c-603848bd3c17}">
          <p14:sldIdLst>
            <p14:sldId id="265"/>
            <p14:sldId id="266"/>
          </p14:sldIdLst>
        </p14:section>
        <p14:section name="Sources" id="{d1078f12-ad17-2b74-22af-abaae6e59a1b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Sales incl. VAT by country, H1 2026 (share of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incl. VAT by country, H1 2026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France</c:v>
                  </c:pt>
                  <c:pt idx="1">
                    <c:v>Brazil</c:v>
                  </c:pt>
                  <c:pt idx="2">
                    <c:v>Spain</c:v>
                  </c:pt>
                  <c:pt idx="3">
                    <c:v>Other countries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0.5228310502283104</c:v>
                </c:pt>
                <c:pt idx="1">
                  <c:v>0.23059360730593603</c:v>
                </c:pt>
                <c:pt idx="2">
                  <c:v>0.13013698630136986</c:v>
                </c:pt>
                <c:pt idx="3">
                  <c:v>0.11643835616438354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Multiples at 31 Dec 2025 (last usable fiscal year)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Carrefour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11.79</c:v>
                </c:pt>
                <c:pt idx="1">
                  <c:v>14.49</c:v>
                </c:pt>
                <c:pt idx="2">
                  <c:v>0.97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median</c:v>
                </c:pt>
              </c:strCache>
            </c:strRef>
          </c:tx>
          <c:spPr>
            <a:solidFill>
              <a:srgbClr val="9AAAA2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14.86</c:v>
                </c:pt>
                <c:pt idx="1">
                  <c:v>17.2</c:v>
                </c:pt>
                <c:pt idx="2">
                  <c:v>3.27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Sector median</c:v>
                </c:pt>
              </c:strCache>
            </c:strRef>
          </c:tx>
          <c:spPr>
            <a:solidFill>
              <a:srgbClr val="D5DBD6"/>
            </a:solidFill>
            <a:effectLst/>
          </c:spPr>
          <c:invertIfNegative val="0"/>
          <c:dLbls>
            <c:numFmt formatCode="0.0&quot;x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EV/EBIT</c:v>
                  </c:pt>
                  <c:pt idx="1">
                    <c:v>P/E</c:v>
                  </c:pt>
                  <c:pt idx="2">
                    <c:v>P/B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16.93</c:v>
                </c:pt>
                <c:pt idx="1">
                  <c:v>20.65</c:v>
                </c:pt>
                <c:pt idx="2">
                  <c:v>3.11</c:v>
                </c:pt>
              </c:numCache>
            </c:numRef>
          </c:val>
        </c:ser>
        <c:dLbls>
          <c:numFmt formatCode="0.0&quot;x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Value z-scores within the sector (Dec 2025)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z-score</c:v>
                </c:pt>
              </c:strCache>
            </c:strRef>
          </c:tx>
          <c:spPr>
            <a:solidFill>
              <a:srgbClr val="0E6B4F"/>
            </a:solidFill>
            <a:effectLst/>
          </c:spPr>
          <c:invertIfNegative val="0"/>
          <c:dLbls>
            <c:numFmt formatCode="+0.0;−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A1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E6B4F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EBIT / EV</c:v>
                  </c:pt>
                  <c:pt idx="1">
                    <c:v>Book / price</c:v>
                  </c:pt>
                  <c:pt idx="2">
                    <c:v>FCF yield</c:v>
                  </c:pt>
                  <c:pt idx="3">
                    <c:v>Sales / EV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0.980923703015236</c:v>
                </c:pt>
                <c:pt idx="1">
                  <c:v>2.0037165012454765</c:v>
                </c:pt>
                <c:pt idx="2">
                  <c:v>3.4805337388513684</c:v>
                </c:pt>
                <c:pt idx="3">
                  <c:v>4.680754214037913</c:v>
                </c:pt>
              </c:numCache>
            </c:numRef>
          </c:val>
        </c:ser>
        <c:dLbls>
          <c:numFmt formatCode="+0.0;−0.0" sourceLinked="0"/>
          <c:txPr>
            <a:bodyPr/>
            <a:lstStyle/>
            <a:p>
              <a:pPr>
                <a:defRPr b="0" i="0" strike="noStrike" sz="1100" u="none">
                  <a:solidFill>
                    <a:srgbClr val="141A1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1A17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41A17"/>
                </a:solidFill>
                <a:latin typeface="+mn-lt"/>
              </a:rPr>
              <a:t>Total return in EUR, rebased to 100 (Jun 2021 - Jun 2026, weekly)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Carrefour</c:v>
                </c:pt>
              </c:strCache>
            </c:strRef>
          </c:tx>
          <c:spPr>
            <a:solidFill>
              <a:srgbClr val="0E6B4F"/>
            </a:solidFill>
            <a:ln w="25400" cap="flat">
              <a:solidFill>
                <a:srgbClr val="0E6B4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6B4F"/>
              </a:solidFill>
              <a:ln w="9525" cap="flat">
                <a:solidFill>
                  <a:srgbClr val="0E6B4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Sheet1!$A$2:$A$263</c:f>
              <c:multiLvlStrCache>
                <c:ptCount val="26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2022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2023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2024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>2025</c:v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>2026</c:v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</c:lvl>
              </c:multiLvlStrCache>
            </c:multiLvlStrRef>
          </c:cat>
          <c:val>
            <c:numRef>
              <c:f>Sheet1!$B$2:$B$263</c:f>
              <c:numCache>
                <c:formatCode>General</c:formatCode>
                <c:ptCount val="262"/>
                <c:pt idx="0">
                  <c:v>100</c:v>
                </c:pt>
                <c:pt idx="1">
                  <c:v>99.59</c:v>
                </c:pt>
                <c:pt idx="2">
                  <c:v>96.4</c:v>
                </c:pt>
                <c:pt idx="3">
                  <c:v>95.75</c:v>
                </c:pt>
                <c:pt idx="4">
                  <c:v>94.02</c:v>
                </c:pt>
                <c:pt idx="5">
                  <c:v>92.33</c:v>
                </c:pt>
                <c:pt idx="6">
                  <c:v>96.58</c:v>
                </c:pt>
                <c:pt idx="7">
                  <c:v>100.21</c:v>
                </c:pt>
                <c:pt idx="8">
                  <c:v>101.95</c:v>
                </c:pt>
                <c:pt idx="9">
                  <c:v>99.65</c:v>
                </c:pt>
                <c:pt idx="10">
                  <c:v>91.57</c:v>
                </c:pt>
                <c:pt idx="11">
                  <c:v>89.92</c:v>
                </c:pt>
                <c:pt idx="12">
                  <c:v>86.73</c:v>
                </c:pt>
                <c:pt idx="13">
                  <c:v>91.63</c:v>
                </c:pt>
                <c:pt idx="14">
                  <c:v>90.54</c:v>
                </c:pt>
                <c:pt idx="15">
                  <c:v>94.52</c:v>
                </c:pt>
                <c:pt idx="16">
                  <c:v>91.36</c:v>
                </c:pt>
                <c:pt idx="17">
                  <c:v>89.98</c:v>
                </c:pt>
                <c:pt idx="18">
                  <c:v>92.31</c:v>
                </c:pt>
                <c:pt idx="19">
                  <c:v>90.98</c:v>
                </c:pt>
                <c:pt idx="20">
                  <c:v>95.05</c:v>
                </c:pt>
                <c:pt idx="21">
                  <c:v>93.57</c:v>
                </c:pt>
                <c:pt idx="22">
                  <c:v>91.24</c:v>
                </c:pt>
                <c:pt idx="23">
                  <c:v>86.32</c:v>
                </c:pt>
                <c:pt idx="24">
                  <c:v>91.86</c:v>
                </c:pt>
                <c:pt idx="25">
                  <c:v>91.92</c:v>
                </c:pt>
                <c:pt idx="26">
                  <c:v>92.25</c:v>
                </c:pt>
                <c:pt idx="27">
                  <c:v>94.96</c:v>
                </c:pt>
                <c:pt idx="28">
                  <c:v>108.23</c:v>
                </c:pt>
                <c:pt idx="29">
                  <c:v>104.16</c:v>
                </c:pt>
                <c:pt idx="30">
                  <c:v>103.54</c:v>
                </c:pt>
                <c:pt idx="31">
                  <c:v>105.37</c:v>
                </c:pt>
                <c:pt idx="32">
                  <c:v>98.88</c:v>
                </c:pt>
                <c:pt idx="33">
                  <c:v>101.06</c:v>
                </c:pt>
                <c:pt idx="34">
                  <c:v>107.19</c:v>
                </c:pt>
                <c:pt idx="35">
                  <c:v>105.78</c:v>
                </c:pt>
                <c:pt idx="36">
                  <c:v>102.74</c:v>
                </c:pt>
                <c:pt idx="37">
                  <c:v>105.69</c:v>
                </c:pt>
                <c:pt idx="38">
                  <c:v>107.46</c:v>
                </c:pt>
                <c:pt idx="39">
                  <c:v>112.03</c:v>
                </c:pt>
                <c:pt idx="40">
                  <c:v>114.09</c:v>
                </c:pt>
                <c:pt idx="41">
                  <c:v>118.93</c:v>
                </c:pt>
                <c:pt idx="42">
                  <c:v>119.04</c:v>
                </c:pt>
                <c:pt idx="43">
                  <c:v>115.8</c:v>
                </c:pt>
                <c:pt idx="44">
                  <c:v>118.87</c:v>
                </c:pt>
                <c:pt idx="45">
                  <c:v>121.4</c:v>
                </c:pt>
                <c:pt idx="46">
                  <c:v>124</c:v>
                </c:pt>
                <c:pt idx="47">
                  <c:v>112.65</c:v>
                </c:pt>
                <c:pt idx="48">
                  <c:v>112.65</c:v>
                </c:pt>
                <c:pt idx="49">
                  <c:v>116.16</c:v>
                </c:pt>
                <c:pt idx="50">
                  <c:v>111.08</c:v>
                </c:pt>
                <c:pt idx="51">
                  <c:v>110.75</c:v>
                </c:pt>
                <c:pt idx="52">
                  <c:v>103.42</c:v>
                </c:pt>
                <c:pt idx="53">
                  <c:v>102.6</c:v>
                </c:pt>
                <c:pt idx="54">
                  <c:v>103.99</c:v>
                </c:pt>
                <c:pt idx="55">
                  <c:v>99.39</c:v>
                </c:pt>
                <c:pt idx="56">
                  <c:v>102.12</c:v>
                </c:pt>
                <c:pt idx="57">
                  <c:v>100.78</c:v>
                </c:pt>
                <c:pt idx="58">
                  <c:v>99.82</c:v>
                </c:pt>
                <c:pt idx="59">
                  <c:v>102.96</c:v>
                </c:pt>
                <c:pt idx="60">
                  <c:v>105.42</c:v>
                </c:pt>
                <c:pt idx="61">
                  <c:v>102.36</c:v>
                </c:pt>
                <c:pt idx="62">
                  <c:v>100.27</c:v>
                </c:pt>
                <c:pt idx="63">
                  <c:v>100.03</c:v>
                </c:pt>
                <c:pt idx="64">
                  <c:v>99.36</c:v>
                </c:pt>
                <c:pt idx="65">
                  <c:v>89.7</c:v>
                </c:pt>
                <c:pt idx="66">
                  <c:v>86.1</c:v>
                </c:pt>
                <c:pt idx="67">
                  <c:v>87.22</c:v>
                </c:pt>
                <c:pt idx="68">
                  <c:v>89.88</c:v>
                </c:pt>
                <c:pt idx="69">
                  <c:v>92.12</c:v>
                </c:pt>
                <c:pt idx="70">
                  <c:v>97.63</c:v>
                </c:pt>
                <c:pt idx="71">
                  <c:v>99.45</c:v>
                </c:pt>
                <c:pt idx="72">
                  <c:v>97.6</c:v>
                </c:pt>
                <c:pt idx="73">
                  <c:v>98.42</c:v>
                </c:pt>
                <c:pt idx="74">
                  <c:v>100.21</c:v>
                </c:pt>
                <c:pt idx="75">
                  <c:v>101.42</c:v>
                </c:pt>
                <c:pt idx="76">
                  <c:v>100.09</c:v>
                </c:pt>
                <c:pt idx="77">
                  <c:v>94.33</c:v>
                </c:pt>
                <c:pt idx="78">
                  <c:v>97.18</c:v>
                </c:pt>
                <c:pt idx="79">
                  <c:v>94.73</c:v>
                </c:pt>
                <c:pt idx="80">
                  <c:v>97</c:v>
                </c:pt>
                <c:pt idx="81">
                  <c:v>100.33</c:v>
                </c:pt>
                <c:pt idx="82">
                  <c:v>105.05</c:v>
                </c:pt>
                <c:pt idx="83">
                  <c:v>106.08</c:v>
                </c:pt>
                <c:pt idx="84">
                  <c:v>105.75</c:v>
                </c:pt>
                <c:pt idx="85">
                  <c:v>98.69</c:v>
                </c:pt>
                <c:pt idx="86">
                  <c:v>109.93</c:v>
                </c:pt>
                <c:pt idx="87">
                  <c:v>110.6</c:v>
                </c:pt>
                <c:pt idx="88">
                  <c:v>109.69</c:v>
                </c:pt>
                <c:pt idx="89">
                  <c:v>111.57</c:v>
                </c:pt>
                <c:pt idx="90">
                  <c:v>104.81</c:v>
                </c:pt>
                <c:pt idx="91">
                  <c:v>105.93</c:v>
                </c:pt>
                <c:pt idx="92">
                  <c:v>112.84</c:v>
                </c:pt>
                <c:pt idx="93">
                  <c:v>112.38</c:v>
                </c:pt>
                <c:pt idx="94">
                  <c:v>113.05</c:v>
                </c:pt>
                <c:pt idx="95">
                  <c:v>111.32</c:v>
                </c:pt>
                <c:pt idx="96">
                  <c:v>114.23</c:v>
                </c:pt>
                <c:pt idx="97">
                  <c:v>107.9</c:v>
                </c:pt>
                <c:pt idx="98">
                  <c:v>110.84</c:v>
                </c:pt>
                <c:pt idx="99">
                  <c:v>107.75</c:v>
                </c:pt>
                <c:pt idx="100">
                  <c:v>106.6</c:v>
                </c:pt>
                <c:pt idx="101">
                  <c:v>104.87</c:v>
                </c:pt>
                <c:pt idx="102">
                  <c:v>102.96</c:v>
                </c:pt>
                <c:pt idx="103">
                  <c:v>102.99</c:v>
                </c:pt>
                <c:pt idx="104">
                  <c:v>102.68</c:v>
                </c:pt>
                <c:pt idx="105">
                  <c:v>108.62</c:v>
                </c:pt>
                <c:pt idx="106">
                  <c:v>105.68</c:v>
                </c:pt>
                <c:pt idx="107">
                  <c:v>107.06</c:v>
                </c:pt>
                <c:pt idx="108">
                  <c:v>110.84</c:v>
                </c:pt>
                <c:pt idx="109">
                  <c:v>114.32</c:v>
                </c:pt>
                <c:pt idx="110">
                  <c:v>113.66</c:v>
                </c:pt>
                <c:pt idx="111">
                  <c:v>113.41</c:v>
                </c:pt>
                <c:pt idx="112">
                  <c:v>113.38</c:v>
                </c:pt>
                <c:pt idx="113">
                  <c:v>113.97</c:v>
                </c:pt>
                <c:pt idx="114">
                  <c:v>108.18</c:v>
                </c:pt>
                <c:pt idx="115">
                  <c:v>106.31</c:v>
                </c:pt>
                <c:pt idx="116">
                  <c:v>106.15</c:v>
                </c:pt>
                <c:pt idx="117">
                  <c:v>102.89</c:v>
                </c:pt>
                <c:pt idx="118">
                  <c:v>101.93</c:v>
                </c:pt>
                <c:pt idx="119">
                  <c:v>101.21</c:v>
                </c:pt>
                <c:pt idx="120">
                  <c:v>98.76</c:v>
                </c:pt>
                <c:pt idx="121">
                  <c:v>97.51</c:v>
                </c:pt>
                <c:pt idx="122">
                  <c:v>102.96</c:v>
                </c:pt>
                <c:pt idx="123">
                  <c:v>107.21</c:v>
                </c:pt>
                <c:pt idx="124">
                  <c:v>107.06</c:v>
                </c:pt>
                <c:pt idx="125">
                  <c:v>106.49</c:v>
                </c:pt>
                <c:pt idx="126">
                  <c:v>108.68</c:v>
                </c:pt>
                <c:pt idx="127">
                  <c:v>108.25</c:v>
                </c:pt>
                <c:pt idx="128">
                  <c:v>107.59</c:v>
                </c:pt>
                <c:pt idx="129">
                  <c:v>101.93</c:v>
                </c:pt>
                <c:pt idx="130">
                  <c:v>104.02</c:v>
                </c:pt>
                <c:pt idx="131">
                  <c:v>103.68</c:v>
                </c:pt>
                <c:pt idx="132">
                  <c:v>104.58</c:v>
                </c:pt>
                <c:pt idx="133">
                  <c:v>103.18</c:v>
                </c:pt>
                <c:pt idx="134">
                  <c:v>97.7</c:v>
                </c:pt>
                <c:pt idx="135">
                  <c:v>101.08</c:v>
                </c:pt>
                <c:pt idx="136">
                  <c:v>99.67</c:v>
                </c:pt>
                <c:pt idx="137">
                  <c:v>93.54</c:v>
                </c:pt>
                <c:pt idx="138">
                  <c:v>95.2</c:v>
                </c:pt>
                <c:pt idx="139">
                  <c:v>102.74</c:v>
                </c:pt>
                <c:pt idx="140">
                  <c:v>96.1</c:v>
                </c:pt>
                <c:pt idx="141">
                  <c:v>96.26</c:v>
                </c:pt>
                <c:pt idx="142">
                  <c:v>98.26</c:v>
                </c:pt>
                <c:pt idx="143">
                  <c:v>100.55</c:v>
                </c:pt>
                <c:pt idx="144">
                  <c:v>99.36</c:v>
                </c:pt>
                <c:pt idx="145">
                  <c:v>97.86</c:v>
                </c:pt>
                <c:pt idx="146">
                  <c:v>99.23</c:v>
                </c:pt>
                <c:pt idx="147">
                  <c:v>98.64</c:v>
                </c:pt>
                <c:pt idx="148">
                  <c:v>99.64</c:v>
                </c:pt>
                <c:pt idx="149">
                  <c:v>97.76</c:v>
                </c:pt>
                <c:pt idx="150">
                  <c:v>103.21</c:v>
                </c:pt>
                <c:pt idx="151">
                  <c:v>103.3</c:v>
                </c:pt>
                <c:pt idx="152">
                  <c:v>102.02</c:v>
                </c:pt>
                <c:pt idx="153">
                  <c:v>99.1</c:v>
                </c:pt>
                <c:pt idx="154">
                  <c:v>98.24</c:v>
                </c:pt>
                <c:pt idx="155">
                  <c:v>95.23</c:v>
                </c:pt>
                <c:pt idx="156">
                  <c:v>91.04</c:v>
                </c:pt>
                <c:pt idx="157">
                  <c:v>87.27</c:v>
                </c:pt>
                <c:pt idx="158">
                  <c:v>93.68</c:v>
                </c:pt>
                <c:pt idx="159">
                  <c:v>94.04</c:v>
                </c:pt>
                <c:pt idx="160">
                  <c:v>97.12</c:v>
                </c:pt>
                <c:pt idx="161">
                  <c:v>91.93</c:v>
                </c:pt>
                <c:pt idx="162">
                  <c:v>91.7</c:v>
                </c:pt>
                <c:pt idx="163">
                  <c:v>91.1</c:v>
                </c:pt>
                <c:pt idx="164">
                  <c:v>93.09</c:v>
                </c:pt>
                <c:pt idx="165">
                  <c:v>94.27</c:v>
                </c:pt>
                <c:pt idx="166">
                  <c:v>96.39</c:v>
                </c:pt>
                <c:pt idx="167">
                  <c:v>98.18</c:v>
                </c:pt>
                <c:pt idx="168">
                  <c:v>100.62</c:v>
                </c:pt>
                <c:pt idx="169">
                  <c:v>102.77</c:v>
                </c:pt>
                <c:pt idx="170">
                  <c:v>105.94</c:v>
                </c:pt>
                <c:pt idx="171">
                  <c:v>99.76</c:v>
                </c:pt>
                <c:pt idx="172">
                  <c:v>99.17</c:v>
                </c:pt>
                <c:pt idx="173">
                  <c:v>100.03</c:v>
                </c:pt>
                <c:pt idx="174">
                  <c:v>96.52</c:v>
                </c:pt>
                <c:pt idx="175">
                  <c:v>97.65</c:v>
                </c:pt>
                <c:pt idx="176">
                  <c:v>99.7</c:v>
                </c:pt>
                <c:pt idx="177">
                  <c:v>98.04</c:v>
                </c:pt>
                <c:pt idx="178">
                  <c:v>96.03</c:v>
                </c:pt>
                <c:pt idx="179">
                  <c:v>95.2</c:v>
                </c:pt>
                <c:pt idx="180">
                  <c:v>93.51</c:v>
                </c:pt>
                <c:pt idx="181">
                  <c:v>92.75</c:v>
                </c:pt>
                <c:pt idx="182">
                  <c:v>89.08</c:v>
                </c:pt>
                <c:pt idx="183">
                  <c:v>90.08</c:v>
                </c:pt>
                <c:pt idx="184">
                  <c:v>89.48</c:v>
                </c:pt>
                <c:pt idx="185">
                  <c:v>90.54</c:v>
                </c:pt>
                <c:pt idx="186">
                  <c:v>88.23</c:v>
                </c:pt>
                <c:pt idx="187">
                  <c:v>87.93</c:v>
                </c:pt>
                <c:pt idx="188">
                  <c:v>90.51</c:v>
                </c:pt>
                <c:pt idx="189">
                  <c:v>92.29</c:v>
                </c:pt>
                <c:pt idx="190">
                  <c:v>91.73</c:v>
                </c:pt>
                <c:pt idx="191">
                  <c:v>82.71</c:v>
                </c:pt>
                <c:pt idx="192">
                  <c:v>84.66</c:v>
                </c:pt>
                <c:pt idx="193">
                  <c:v>86.14</c:v>
                </c:pt>
                <c:pt idx="194">
                  <c:v>85.45</c:v>
                </c:pt>
                <c:pt idx="195">
                  <c:v>87.56</c:v>
                </c:pt>
                <c:pt idx="196">
                  <c:v>87.63</c:v>
                </c:pt>
                <c:pt idx="197">
                  <c:v>87.56</c:v>
                </c:pt>
                <c:pt idx="198">
                  <c:v>86.57</c:v>
                </c:pt>
                <c:pt idx="199">
                  <c:v>87.3</c:v>
                </c:pt>
                <c:pt idx="200">
                  <c:v>90.9</c:v>
                </c:pt>
                <c:pt idx="201">
                  <c:v>90.34</c:v>
                </c:pt>
                <c:pt idx="202">
                  <c:v>91.23</c:v>
                </c:pt>
                <c:pt idx="203">
                  <c:v>93.68</c:v>
                </c:pt>
                <c:pt idx="204">
                  <c:v>96.52</c:v>
                </c:pt>
                <c:pt idx="205">
                  <c:v>94.69</c:v>
                </c:pt>
                <c:pt idx="206">
                  <c:v>93.07</c:v>
                </c:pt>
                <c:pt idx="207">
                  <c:v>92.17</c:v>
                </c:pt>
                <c:pt idx="208">
                  <c:v>91.67</c:v>
                </c:pt>
                <c:pt idx="209">
                  <c:v>85.12</c:v>
                </c:pt>
                <c:pt idx="210">
                  <c:v>88.32</c:v>
                </c:pt>
                <c:pt idx="211">
                  <c:v>88.36</c:v>
                </c:pt>
                <c:pt idx="212">
                  <c:v>87.46</c:v>
                </c:pt>
                <c:pt idx="213">
                  <c:v>93.25</c:v>
                </c:pt>
                <c:pt idx="214">
                  <c:v>88.83</c:v>
                </c:pt>
                <c:pt idx="215">
                  <c:v>90.98</c:v>
                </c:pt>
                <c:pt idx="216">
                  <c:v>92.1</c:v>
                </c:pt>
                <c:pt idx="217">
                  <c:v>93.97</c:v>
                </c:pt>
                <c:pt idx="218">
                  <c:v>88.93</c:v>
                </c:pt>
                <c:pt idx="219">
                  <c:v>88.47</c:v>
                </c:pt>
                <c:pt idx="220">
                  <c:v>87.46</c:v>
                </c:pt>
                <c:pt idx="221">
                  <c:v>87.53</c:v>
                </c:pt>
                <c:pt idx="222">
                  <c:v>91.63</c:v>
                </c:pt>
                <c:pt idx="223">
                  <c:v>94.29</c:v>
                </c:pt>
                <c:pt idx="224">
                  <c:v>92.96</c:v>
                </c:pt>
                <c:pt idx="225">
                  <c:v>96.05</c:v>
                </c:pt>
                <c:pt idx="226">
                  <c:v>93.29</c:v>
                </c:pt>
                <c:pt idx="227">
                  <c:v>93.86</c:v>
                </c:pt>
                <c:pt idx="228">
                  <c:v>93.75</c:v>
                </c:pt>
                <c:pt idx="229">
                  <c:v>95.44</c:v>
                </c:pt>
                <c:pt idx="230">
                  <c:v>93.39</c:v>
                </c:pt>
                <c:pt idx="231">
                  <c:v>95.41</c:v>
                </c:pt>
                <c:pt idx="232">
                  <c:v>97.1</c:v>
                </c:pt>
                <c:pt idx="233">
                  <c:v>101.92</c:v>
                </c:pt>
                <c:pt idx="234">
                  <c:v>103.32</c:v>
                </c:pt>
                <c:pt idx="235">
                  <c:v>101.59</c:v>
                </c:pt>
                <c:pt idx="236">
                  <c:v>103.64</c:v>
                </c:pt>
                <c:pt idx="237">
                  <c:v>102.46</c:v>
                </c:pt>
                <c:pt idx="238">
                  <c:v>99.18</c:v>
                </c:pt>
                <c:pt idx="239">
                  <c:v>99.61</c:v>
                </c:pt>
                <c:pt idx="240">
                  <c:v>99.54</c:v>
                </c:pt>
                <c:pt idx="241">
                  <c:v>106.81</c:v>
                </c:pt>
                <c:pt idx="242">
                  <c:v>112.78</c:v>
                </c:pt>
                <c:pt idx="243">
                  <c:v>110.12</c:v>
                </c:pt>
                <c:pt idx="244">
                  <c:v>115.4</c:v>
                </c:pt>
                <c:pt idx="245">
                  <c:v>109.47</c:v>
                </c:pt>
                <c:pt idx="246">
                  <c:v>111.48</c:v>
                </c:pt>
                <c:pt idx="247">
                  <c:v>109.65</c:v>
                </c:pt>
                <c:pt idx="248">
                  <c:v>110.3</c:v>
                </c:pt>
                <c:pt idx="249">
                  <c:v>116.48</c:v>
                </c:pt>
                <c:pt idx="250">
                  <c:v>117.67</c:v>
                </c:pt>
                <c:pt idx="251">
                  <c:v>119.03</c:v>
                </c:pt>
                <c:pt idx="252">
                  <c:v>119.14</c:v>
                </c:pt>
                <c:pt idx="253">
                  <c:v>121.91</c:v>
                </c:pt>
                <c:pt idx="254">
                  <c:v>123.46</c:v>
                </c:pt>
                <c:pt idx="255">
                  <c:v>122.88</c:v>
                </c:pt>
                <c:pt idx="256">
                  <c:v>122.92</c:v>
                </c:pt>
                <c:pt idx="257">
                  <c:v>122.26</c:v>
                </c:pt>
                <c:pt idx="258">
                  <c:v>124.28</c:v>
                </c:pt>
                <c:pt idx="259">
                  <c:v>127.52</c:v>
                </c:pt>
                <c:pt idx="260">
                  <c:v>118.56</c:v>
                </c:pt>
                <c:pt idx="261">
                  <c:v>124.93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MSCI World Net EUR</c:v>
                </c:pt>
              </c:strCache>
            </c:strRef>
          </c:tx>
          <c:spPr>
            <a:solidFill>
              <a:srgbClr val="9AAAA2"/>
            </a:solidFill>
            <a:ln w="25400" cap="flat">
              <a:solidFill>
                <a:srgbClr val="9AAAA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AAAA2"/>
              </a:solidFill>
              <a:ln w="9525" cap="flat">
                <a:solidFill>
                  <a:srgbClr val="9AAAA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Sheet1!$A$2:$A$263</c:f>
              <c:multiLvlStrCache>
                <c:ptCount val="262"/>
                <c:lvl>
                  <c:pt idx="0">
                    <c:v>2021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>2022</c:v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>2023</c:v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>2024</c:v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>2025</c:v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>2026</c:v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</c:lvl>
              </c:multiLvlStrCache>
            </c:multiLvlStrRef>
          </c:cat>
          <c:val>
            <c:numRef>
              <c:f>Sheet1!$C$2:$C$263</c:f>
              <c:numCache>
                <c:formatCode>General</c:formatCode>
                <c:ptCount val="262"/>
                <c:pt idx="0">
                  <c:v>100</c:v>
                </c:pt>
                <c:pt idx="1">
                  <c:v>101.65</c:v>
                </c:pt>
                <c:pt idx="2">
                  <c:v>101.72</c:v>
                </c:pt>
                <c:pt idx="3">
                  <c:v>101.25</c:v>
                </c:pt>
                <c:pt idx="4">
                  <c:v>103.28</c:v>
                </c:pt>
                <c:pt idx="5">
                  <c:v>102.35</c:v>
                </c:pt>
                <c:pt idx="6">
                  <c:v>104.19</c:v>
                </c:pt>
                <c:pt idx="7">
                  <c:v>104.86</c:v>
                </c:pt>
                <c:pt idx="8">
                  <c:v>104.39</c:v>
                </c:pt>
                <c:pt idx="9">
                  <c:v>105.27</c:v>
                </c:pt>
                <c:pt idx="10">
                  <c:v>105.49</c:v>
                </c:pt>
                <c:pt idx="11">
                  <c:v>104.52</c:v>
                </c:pt>
                <c:pt idx="12">
                  <c:v>104.54</c:v>
                </c:pt>
                <c:pt idx="13">
                  <c:v>104.99</c:v>
                </c:pt>
                <c:pt idx="14">
                  <c:v>103.36</c:v>
                </c:pt>
                <c:pt idx="15">
                  <c:v>104.31</c:v>
                </c:pt>
                <c:pt idx="16">
                  <c:v>106.29</c:v>
                </c:pt>
                <c:pt idx="17">
                  <c:v>107.34</c:v>
                </c:pt>
                <c:pt idx="18">
                  <c:v>108.86</c:v>
                </c:pt>
                <c:pt idx="19">
                  <c:v>111.02</c:v>
                </c:pt>
                <c:pt idx="20">
                  <c:v>111.83</c:v>
                </c:pt>
                <c:pt idx="21">
                  <c:v>112.98</c:v>
                </c:pt>
                <c:pt idx="22">
                  <c:v>109.93</c:v>
                </c:pt>
                <c:pt idx="23">
                  <c:v>108.71</c:v>
                </c:pt>
                <c:pt idx="24">
                  <c:v>112.07</c:v>
                </c:pt>
                <c:pt idx="25">
                  <c:v>110.68</c:v>
                </c:pt>
                <c:pt idx="26">
                  <c:v>112.51</c:v>
                </c:pt>
                <c:pt idx="27">
                  <c:v>112.98</c:v>
                </c:pt>
                <c:pt idx="28">
                  <c:v>111.35</c:v>
                </c:pt>
                <c:pt idx="29">
                  <c:v>110.37</c:v>
                </c:pt>
                <c:pt idx="30">
                  <c:v>106.03</c:v>
                </c:pt>
                <c:pt idx="31">
                  <c:v>107.08</c:v>
                </c:pt>
                <c:pt idx="32">
                  <c:v>106.43</c:v>
                </c:pt>
                <c:pt idx="33">
                  <c:v>106.05</c:v>
                </c:pt>
                <c:pt idx="34">
                  <c:v>104.72</c:v>
                </c:pt>
                <c:pt idx="35">
                  <c:v>105.54</c:v>
                </c:pt>
                <c:pt idx="36">
                  <c:v>105.67</c:v>
                </c:pt>
                <c:pt idx="37">
                  <c:v>103.22</c:v>
                </c:pt>
                <c:pt idx="38">
                  <c:v>108.65</c:v>
                </c:pt>
                <c:pt idx="39">
                  <c:v>110.71</c:v>
                </c:pt>
                <c:pt idx="40">
                  <c:v>110.56</c:v>
                </c:pt>
                <c:pt idx="41">
                  <c:v>110.61</c:v>
                </c:pt>
                <c:pt idx="42">
                  <c:v>109.69</c:v>
                </c:pt>
                <c:pt idx="43">
                  <c:v>106.87</c:v>
                </c:pt>
                <c:pt idx="44">
                  <c:v>105.92</c:v>
                </c:pt>
                <c:pt idx="45">
                  <c:v>104.38</c:v>
                </c:pt>
                <c:pt idx="46">
                  <c:v>104</c:v>
                </c:pt>
                <c:pt idx="47">
                  <c:v>100.73</c:v>
                </c:pt>
                <c:pt idx="48">
                  <c:v>104.83</c:v>
                </c:pt>
                <c:pt idx="49">
                  <c:v>103.87</c:v>
                </c:pt>
                <c:pt idx="50">
                  <c:v>100.55</c:v>
                </c:pt>
                <c:pt idx="51">
                  <c:v>95.31</c:v>
                </c:pt>
                <c:pt idx="52">
                  <c:v>99.62</c:v>
                </c:pt>
                <c:pt idx="53">
                  <c:v>98.82</c:v>
                </c:pt>
                <c:pt idx="54">
                  <c:v>102.69</c:v>
                </c:pt>
                <c:pt idx="55">
                  <c:v>102.26</c:v>
                </c:pt>
                <c:pt idx="56">
                  <c:v>103.99</c:v>
                </c:pt>
                <c:pt idx="57">
                  <c:v>108.12</c:v>
                </c:pt>
                <c:pt idx="58">
                  <c:v>108.7</c:v>
                </c:pt>
                <c:pt idx="59">
                  <c:v>111.15</c:v>
                </c:pt>
                <c:pt idx="60">
                  <c:v>111.57</c:v>
                </c:pt>
                <c:pt idx="61">
                  <c:v>108.14</c:v>
                </c:pt>
                <c:pt idx="62">
                  <c:v>104.5</c:v>
                </c:pt>
                <c:pt idx="63">
                  <c:v>107.49</c:v>
                </c:pt>
                <c:pt idx="64">
                  <c:v>103.08</c:v>
                </c:pt>
                <c:pt idx="65">
                  <c:v>101.13</c:v>
                </c:pt>
                <c:pt idx="66">
                  <c:v>97.81</c:v>
                </c:pt>
                <c:pt idx="67">
                  <c:v>99.55</c:v>
                </c:pt>
                <c:pt idx="68">
                  <c:v>98.19</c:v>
                </c:pt>
                <c:pt idx="69">
                  <c:v>101.3</c:v>
                </c:pt>
                <c:pt idx="70">
                  <c:v>103.75</c:v>
                </c:pt>
                <c:pt idx="71">
                  <c:v>102.15</c:v>
                </c:pt>
                <c:pt idx="72">
                  <c:v>104.43</c:v>
                </c:pt>
                <c:pt idx="73">
                  <c:v>103.55</c:v>
                </c:pt>
                <c:pt idx="74">
                  <c:v>104.86</c:v>
                </c:pt>
                <c:pt idx="75">
                  <c:v>105.36</c:v>
                </c:pt>
                <c:pt idx="76">
                  <c:v>102.02</c:v>
                </c:pt>
                <c:pt idx="77">
                  <c:v>99.16</c:v>
                </c:pt>
                <c:pt idx="78">
                  <c:v>99.16</c:v>
                </c:pt>
                <c:pt idx="79">
                  <c:v>98.55</c:v>
                </c:pt>
                <c:pt idx="80">
                  <c:v>101.01</c:v>
                </c:pt>
                <c:pt idx="81">
                  <c:v>102.12</c:v>
                </c:pt>
                <c:pt idx="82">
                  <c:v>101.73</c:v>
                </c:pt>
                <c:pt idx="83">
                  <c:v>103.91</c:v>
                </c:pt>
                <c:pt idx="84">
                  <c:v>105.06</c:v>
                </c:pt>
                <c:pt idx="85">
                  <c:v>105.47</c:v>
                </c:pt>
                <c:pt idx="86">
                  <c:v>105.5</c:v>
                </c:pt>
                <c:pt idx="87">
                  <c:v>103.95</c:v>
                </c:pt>
                <c:pt idx="88">
                  <c:v>105.4</c:v>
                </c:pt>
                <c:pt idx="89">
                  <c:v>100.76</c:v>
                </c:pt>
                <c:pt idx="90">
                  <c:v>101.15</c:v>
                </c:pt>
                <c:pt idx="91">
                  <c:v>101.45</c:v>
                </c:pt>
                <c:pt idx="92">
                  <c:v>104.29</c:v>
                </c:pt>
                <c:pt idx="93">
                  <c:v>103.73</c:v>
                </c:pt>
                <c:pt idx="94">
                  <c:v>104.27</c:v>
                </c:pt>
                <c:pt idx="95">
                  <c:v>104.51</c:v>
                </c:pt>
                <c:pt idx="96">
                  <c:v>104.43</c:v>
                </c:pt>
                <c:pt idx="97">
                  <c:v>104.28</c:v>
                </c:pt>
                <c:pt idx="98">
                  <c:v>105.27</c:v>
                </c:pt>
                <c:pt idx="99">
                  <c:v>107.33</c:v>
                </c:pt>
                <c:pt idx="100">
                  <c:v>107.63</c:v>
                </c:pt>
                <c:pt idx="101">
                  <c:v>109.2</c:v>
                </c:pt>
                <c:pt idx="102">
                  <c:v>109.37</c:v>
                </c:pt>
                <c:pt idx="103">
                  <c:v>110.58</c:v>
                </c:pt>
                <c:pt idx="104">
                  <c:v>108.79</c:v>
                </c:pt>
                <c:pt idx="105">
                  <c:v>110.94</c:v>
                </c:pt>
                <c:pt idx="106">
                  <c:v>108.99</c:v>
                </c:pt>
                <c:pt idx="107">
                  <c:v>109.57</c:v>
                </c:pt>
                <c:pt idx="108">
                  <c:v>111.24</c:v>
                </c:pt>
                <c:pt idx="109">
                  <c:v>113.13</c:v>
                </c:pt>
                <c:pt idx="110">
                  <c:v>110.64</c:v>
                </c:pt>
                <c:pt idx="111">
                  <c:v>110.69</c:v>
                </c:pt>
                <c:pt idx="112">
                  <c:v>108.92</c:v>
                </c:pt>
                <c:pt idx="113">
                  <c:v>110.53</c:v>
                </c:pt>
                <c:pt idx="114">
                  <c:v>113.13</c:v>
                </c:pt>
                <c:pt idx="115">
                  <c:v>112.58</c:v>
                </c:pt>
                <c:pt idx="116">
                  <c:v>113.59</c:v>
                </c:pt>
                <c:pt idx="117">
                  <c:v>110.58</c:v>
                </c:pt>
                <c:pt idx="118">
                  <c:v>110.37</c:v>
                </c:pt>
                <c:pt idx="119">
                  <c:v>110.59</c:v>
                </c:pt>
                <c:pt idx="120">
                  <c:v>111.64</c:v>
                </c:pt>
                <c:pt idx="121">
                  <c:v>108.01</c:v>
                </c:pt>
                <c:pt idx="122">
                  <c:v>105.82</c:v>
                </c:pt>
                <c:pt idx="123">
                  <c:v>110.11</c:v>
                </c:pt>
                <c:pt idx="124">
                  <c:v>111.45</c:v>
                </c:pt>
                <c:pt idx="125">
                  <c:v>112.48</c:v>
                </c:pt>
                <c:pt idx="126">
                  <c:v>113.09</c:v>
                </c:pt>
                <c:pt idx="127">
                  <c:v>115.18</c:v>
                </c:pt>
                <c:pt idx="128">
                  <c:v>116.17</c:v>
                </c:pt>
                <c:pt idx="129">
                  <c:v>117.6</c:v>
                </c:pt>
                <c:pt idx="130">
                  <c:v>117.55</c:v>
                </c:pt>
                <c:pt idx="131">
                  <c:v>117.86</c:v>
                </c:pt>
                <c:pt idx="132">
                  <c:v>116.78</c:v>
                </c:pt>
                <c:pt idx="133">
                  <c:v>118.73</c:v>
                </c:pt>
                <c:pt idx="134">
                  <c:v>119.91</c:v>
                </c:pt>
                <c:pt idx="135">
                  <c:v>121.69</c:v>
                </c:pt>
                <c:pt idx="136">
                  <c:v>123.59</c:v>
                </c:pt>
                <c:pt idx="137">
                  <c:v>125.08</c:v>
                </c:pt>
                <c:pt idx="138">
                  <c:v>125.45</c:v>
                </c:pt>
                <c:pt idx="139">
                  <c:v>126.75</c:v>
                </c:pt>
                <c:pt idx="140">
                  <c:v>127.77</c:v>
                </c:pt>
                <c:pt idx="141">
                  <c:v>126.99</c:v>
                </c:pt>
                <c:pt idx="142">
                  <c:v>127.23</c:v>
                </c:pt>
                <c:pt idx="143">
                  <c:v>130.6</c:v>
                </c:pt>
                <c:pt idx="144">
                  <c:v>131.25</c:v>
                </c:pt>
                <c:pt idx="145">
                  <c:v>129.7</c:v>
                </c:pt>
                <c:pt idx="146">
                  <c:v>130.05</c:v>
                </c:pt>
                <c:pt idx="147">
                  <c:v>125.9</c:v>
                </c:pt>
                <c:pt idx="148">
                  <c:v>128.92</c:v>
                </c:pt>
                <c:pt idx="149">
                  <c:v>128.93</c:v>
                </c:pt>
                <c:pt idx="150">
                  <c:v>131.31</c:v>
                </c:pt>
                <c:pt idx="151">
                  <c:v>132.05</c:v>
                </c:pt>
                <c:pt idx="152">
                  <c:v>132.06</c:v>
                </c:pt>
                <c:pt idx="153">
                  <c:v>131.34</c:v>
                </c:pt>
                <c:pt idx="154">
                  <c:v>133.2</c:v>
                </c:pt>
                <c:pt idx="155">
                  <c:v>135.3</c:v>
                </c:pt>
                <c:pt idx="156">
                  <c:v>136</c:v>
                </c:pt>
                <c:pt idx="157">
                  <c:v>135.74</c:v>
                </c:pt>
                <c:pt idx="158">
                  <c:v>137.07</c:v>
                </c:pt>
                <c:pt idx="159">
                  <c:v>137.79</c:v>
                </c:pt>
                <c:pt idx="160">
                  <c:v>135.24</c:v>
                </c:pt>
                <c:pt idx="161">
                  <c:v>134.55</c:v>
                </c:pt>
                <c:pt idx="162">
                  <c:v>130.89</c:v>
                </c:pt>
                <c:pt idx="163">
                  <c:v>130.88</c:v>
                </c:pt>
                <c:pt idx="164">
                  <c:v>135.29</c:v>
                </c:pt>
                <c:pt idx="165">
                  <c:v>135.47</c:v>
                </c:pt>
                <c:pt idx="166">
                  <c:v>137.28</c:v>
                </c:pt>
                <c:pt idx="167">
                  <c:v>131.36</c:v>
                </c:pt>
                <c:pt idx="168">
                  <c:v>136.13</c:v>
                </c:pt>
                <c:pt idx="169">
                  <c:v>137.06</c:v>
                </c:pt>
                <c:pt idx="170">
                  <c:v>138.55</c:v>
                </c:pt>
                <c:pt idx="171">
                  <c:v>140.15</c:v>
                </c:pt>
                <c:pt idx="172">
                  <c:v>141.77</c:v>
                </c:pt>
                <c:pt idx="173">
                  <c:v>143.72</c:v>
                </c:pt>
                <c:pt idx="174">
                  <c:v>142.27</c:v>
                </c:pt>
                <c:pt idx="175">
                  <c:v>140.3</c:v>
                </c:pt>
                <c:pt idx="176">
                  <c:v>146.72</c:v>
                </c:pt>
                <c:pt idx="177">
                  <c:v>146.56</c:v>
                </c:pt>
                <c:pt idx="178">
                  <c:v>150.59</c:v>
                </c:pt>
                <c:pt idx="179">
                  <c:v>150.19</c:v>
                </c:pt>
                <c:pt idx="180">
                  <c:v>151.97</c:v>
                </c:pt>
                <c:pt idx="181">
                  <c:v>151.58</c:v>
                </c:pt>
                <c:pt idx="182">
                  <c:v>149.15</c:v>
                </c:pt>
                <c:pt idx="183">
                  <c:v>150.12</c:v>
                </c:pt>
                <c:pt idx="184">
                  <c:v>151.37</c:v>
                </c:pt>
                <c:pt idx="185">
                  <c:v>149.57</c:v>
                </c:pt>
                <c:pt idx="186">
                  <c:v>152.87</c:v>
                </c:pt>
                <c:pt idx="187">
                  <c:v>152.86</c:v>
                </c:pt>
                <c:pt idx="188">
                  <c:v>153.86</c:v>
                </c:pt>
                <c:pt idx="189">
                  <c:v>154.48</c:v>
                </c:pt>
                <c:pt idx="190">
                  <c:v>154.75</c:v>
                </c:pt>
                <c:pt idx="191">
                  <c:v>153.36</c:v>
                </c:pt>
                <c:pt idx="192">
                  <c:v>152.69</c:v>
                </c:pt>
                <c:pt idx="193">
                  <c:v>143.65</c:v>
                </c:pt>
                <c:pt idx="194">
                  <c:v>140.81</c:v>
                </c:pt>
                <c:pt idx="195">
                  <c:v>142.61</c:v>
                </c:pt>
                <c:pt idx="196">
                  <c:v>140.41</c:v>
                </c:pt>
                <c:pt idx="197">
                  <c:v>126.6</c:v>
                </c:pt>
                <c:pt idx="198">
                  <c:v>128.09</c:v>
                </c:pt>
                <c:pt idx="199">
                  <c:v>128.15</c:v>
                </c:pt>
                <c:pt idx="200">
                  <c:v>133.26</c:v>
                </c:pt>
                <c:pt idx="201">
                  <c:v>137.2</c:v>
                </c:pt>
                <c:pt idx="202">
                  <c:v>138.02</c:v>
                </c:pt>
                <c:pt idx="203">
                  <c:v>145.22</c:v>
                </c:pt>
                <c:pt idx="204">
                  <c:v>140.63</c:v>
                </c:pt>
                <c:pt idx="205">
                  <c:v>142.82</c:v>
                </c:pt>
                <c:pt idx="206">
                  <c:v>144.29</c:v>
                </c:pt>
                <c:pt idx="207">
                  <c:v>141.88</c:v>
                </c:pt>
                <c:pt idx="208">
                  <c:v>141.56</c:v>
                </c:pt>
                <c:pt idx="209">
                  <c:v>143.7</c:v>
                </c:pt>
                <c:pt idx="210">
                  <c:v>144.86</c:v>
                </c:pt>
                <c:pt idx="211">
                  <c:v>145.41</c:v>
                </c:pt>
                <c:pt idx="212">
                  <c:v>146.68</c:v>
                </c:pt>
                <c:pt idx="213">
                  <c:v>147.87</c:v>
                </c:pt>
                <c:pt idx="214">
                  <c:v>146.33</c:v>
                </c:pt>
                <c:pt idx="215">
                  <c:v>148.78</c:v>
                </c:pt>
                <c:pt idx="216">
                  <c:v>149.9</c:v>
                </c:pt>
                <c:pt idx="217">
                  <c:v>150.52</c:v>
                </c:pt>
                <c:pt idx="218">
                  <c:v>150.18</c:v>
                </c:pt>
                <c:pt idx="219">
                  <c:v>150.3</c:v>
                </c:pt>
                <c:pt idx="220">
                  <c:v>152.65</c:v>
                </c:pt>
                <c:pt idx="221">
                  <c:v>153.75</c:v>
                </c:pt>
                <c:pt idx="222">
                  <c:v>154</c:v>
                </c:pt>
                <c:pt idx="223">
                  <c:v>155.65</c:v>
                </c:pt>
                <c:pt idx="224">
                  <c:v>154.21</c:v>
                </c:pt>
                <c:pt idx="225">
                  <c:v>155.19</c:v>
                </c:pt>
                <c:pt idx="226">
                  <c:v>158.47</c:v>
                </c:pt>
                <c:pt idx="227">
                  <c:v>160.34</c:v>
                </c:pt>
                <c:pt idx="228">
                  <c:v>157.57</c:v>
                </c:pt>
                <c:pt idx="229">
                  <c:v>157.75</c:v>
                </c:pt>
                <c:pt idx="230">
                  <c:v>155.62</c:v>
                </c:pt>
                <c:pt idx="231">
                  <c:v>159.91</c:v>
                </c:pt>
                <c:pt idx="232">
                  <c:v>160.1</c:v>
                </c:pt>
                <c:pt idx="233">
                  <c:v>158.5</c:v>
                </c:pt>
                <c:pt idx="234">
                  <c:v>159.12</c:v>
                </c:pt>
                <c:pt idx="235">
                  <c:v>160.36</c:v>
                </c:pt>
                <c:pt idx="236">
                  <c:v>159.74</c:v>
                </c:pt>
                <c:pt idx="237">
                  <c:v>163.66</c:v>
                </c:pt>
                <c:pt idx="238">
                  <c:v>164.49</c:v>
                </c:pt>
                <c:pt idx="239">
                  <c:v>161.87</c:v>
                </c:pt>
                <c:pt idx="240">
                  <c:v>160.78</c:v>
                </c:pt>
                <c:pt idx="241">
                  <c:v>161.89</c:v>
                </c:pt>
                <c:pt idx="242">
                  <c:v>160.84</c:v>
                </c:pt>
                <c:pt idx="243">
                  <c:v>163.37</c:v>
                </c:pt>
                <c:pt idx="244">
                  <c:v>163.19</c:v>
                </c:pt>
                <c:pt idx="245">
                  <c:v>160.99</c:v>
                </c:pt>
                <c:pt idx="246">
                  <c:v>160.1</c:v>
                </c:pt>
                <c:pt idx="247">
                  <c:v>155.6</c:v>
                </c:pt>
                <c:pt idx="248">
                  <c:v>153.66</c:v>
                </c:pt>
                <c:pt idx="249">
                  <c:v>158.32</c:v>
                </c:pt>
                <c:pt idx="250">
                  <c:v>161.68</c:v>
                </c:pt>
                <c:pt idx="251">
                  <c:v>166.87</c:v>
                </c:pt>
                <c:pt idx="252">
                  <c:v>167.84</c:v>
                </c:pt>
                <c:pt idx="253">
                  <c:v>168.5</c:v>
                </c:pt>
                <c:pt idx="254">
                  <c:v>171.47</c:v>
                </c:pt>
                <c:pt idx="255">
                  <c:v>173.12</c:v>
                </c:pt>
                <c:pt idx="256">
                  <c:v>175.85</c:v>
                </c:pt>
                <c:pt idx="257">
                  <c:v>177.13</c:v>
                </c:pt>
                <c:pt idx="258">
                  <c:v>174.88</c:v>
                </c:pt>
                <c:pt idx="259">
                  <c:v>175.86</c:v>
                </c:pt>
                <c:pt idx="260">
                  <c:v>178.96</c:v>
                </c:pt>
                <c:pt idx="261">
                  <c:v>177.04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80"/>
          <c:min val="80"/>
        </c:scaling>
        <c:delete val="0"/>
        <c:axPos val="l"/>
        <c:majorGridlines>
          <c:spPr>
            <a:ln w="6350" cap="flat">
              <a:solidFill>
                <a:srgbClr val="D5DB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66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B666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5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Carrefour (Euronext Paris: CA)  ·  Noah Doose  ·  Student research, not investment advice  ·  Data as of 29 Oct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7EBE2"/>
                </a:solidFill>
              </a:rPr>
              <a:t>STOCK PITCH  ·  SYSTEMATIC VALUE PORTFOLIO  ·  29 OCTOBER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406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Carrefour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4BE"/>
                </a:solidFill>
              </a:rPr>
              <a:t>Euronext Paris: CA  ·  Consumer Staples / Food retail  ·  France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 grocer priced at a double-digit free-cash-flow yield, with real estate worth more than the equity</a:t>
            </a:r>
            <a:endParaRPr lang="en-US" sz="2000" dirty="0"/>
          </a:p>
        </p:txBody>
      </p:sp>
      <p:sp>
        <p:nvSpPr>
          <p:cNvPr id="6" name="rating card"/>
          <p:cNvSpPr/>
          <p:nvPr/>
        </p:nvSpPr>
        <p:spPr>
          <a:xfrm>
            <a:off x="8138160" y="960120"/>
            <a:ext cx="3504895" cy="3154680"/>
          </a:xfrm>
          <a:prstGeom prst="roundRect">
            <a:avLst>
              <a:gd name="adj" fmla="val 2319"/>
            </a:avLst>
          </a:prstGeom>
          <a:solidFill>
            <a:srgbClr val="2A322E"/>
          </a:solidFill>
          <a:ln w="9525">
            <a:solidFill>
              <a:srgbClr val="3A45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123444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0" y="12344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OVERWEIGHT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378440" y="1234440"/>
            <a:ext cx="11274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Medium conviction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1828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Price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0" y="182880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€13.08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0" y="23317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Target (base case)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0" y="233172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€17.99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834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Upside / downside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0" y="283464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7FD1AE"/>
                </a:solidFill>
              </a:rPr>
              <a:t>+38%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4BE"/>
                </a:solidFill>
              </a:rPr>
              <a:t>Horizon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058400" y="3337560"/>
            <a:ext cx="13103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18-24 months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785616"/>
            <a:ext cx="29562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94"/>
                </a:solidFill>
              </a:rPr>
              <a:t>Price: close, 29 Oct 2026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€9.3bn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Market cap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3322244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€14.2bn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3322244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Real estate (appraised)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7.7x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6095848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Forward P/E (third-party)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869451" y="4617720"/>
            <a:ext cx="24992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7.4%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869451" y="5303520"/>
            <a:ext cx="24992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4BE"/>
                </a:solidFill>
              </a:rPr>
              <a:t>Dividend yield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263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A94"/>
                </a:solidFill>
              </a:rPr>
              <a:t>Noah Doose  ·  MSc Financial Markets &amp; Investments, SKEMA Business School  ·  Student research for educational purposes, not investment advice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01  EXECUTIVE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grocer priced at a double-digit free-cash-flow yield, with real estate worth more than the equity</a:t>
            </a:r>
            <a:endParaRPr lang="en-US" sz="2600" dirty="0"/>
          </a:p>
        </p:txBody>
      </p:sp>
      <p:sp>
        <p:nvSpPr>
          <p:cNvPr id="4" name="view panel"/>
          <p:cNvSpPr/>
          <p:nvPr/>
        </p:nvSpPr>
        <p:spPr>
          <a:xfrm>
            <a:off x="548640" y="1691640"/>
            <a:ext cx="3657600" cy="420624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202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OVERWEIGHT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A17"/>
                </a:solidFill>
              </a:rPr>
              <a:t>€17.99</a:t>
            </a:r>
            <a:endParaRPr lang="en-US" sz="3000" dirty="0"/>
          </a:p>
          <a:p>
            <a:pPr indent="0" marL="0">
              <a:buNone/>
            </a:pPr>
            <a:r>
              <a:rPr lang="en-US" sz="1300" dirty="0">
                <a:solidFill>
                  <a:srgbClr val="5B6660"/>
                </a:solidFill>
              </a:rPr>
              <a:t>base-case value, +38% vs €13.08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74720"/>
            <a:ext cx="3154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Carrefour fell to €13 after cutting its 2026 guidance on French riots. At that price the market cap (€9.3bn) is below the appraised value of its property (€14.2bn), and even a reduced cash flow gives a double-digit yield. We buy the cash flow and the assets, not a margin recovery story.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26280" y="1737360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2628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166360" y="1691640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Cash flow at a discount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075688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Net free cash flow was €1.3bn in 2025 (€1.6bn excluding Italy). Even the 'slight decline' now guided for 2026 leaves a free-cash-flow yield above 10% on a €9.3bn market cap.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26280" y="3172968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26280" y="3172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3127248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Assets cover the enterprise value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3511296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The property portfolio in France, Spain and Brazil was independently valued at €14.2bn at end-2025, above the market cap plus year-end net debt (about €13.2bn). Sale-and-leasebacks of 35 stores in October 2026 crystallise part of it.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26280" y="4608576"/>
            <a:ext cx="457200" cy="457200"/>
          </a:xfrm>
          <a:prstGeom prst="ellipse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26280" y="46085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166360" y="4562856"/>
            <a:ext cx="6476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A17"/>
                </a:solidFill>
              </a:rPr>
              <a:t>A simpler group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166360" y="4946904"/>
            <a:ext cx="6476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Italy and Romania are sold, Brazil is fully owned, and the three core countries make about 85% of sales and 99% of recurring operating income. Belgium, Poland and Argentina are under review for disposal.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02  COMPANY SNAPSHOT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Carrefour at a glance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France (No. 2)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9339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About half of sales: hypermarkets, supermarkets, convenience and e-commerce, moving toward franchise and location-gérance. ROI margin 1.5% in H1 2026.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Brazil (No. 1)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4495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Atacadão cash &amp; carry and retail; highest margin (4.0% in H1 2026) but exposed to rates near 15% and the real.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Spain (No. 2)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09651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Steady growth and a 3.3% margin in H1 2026.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463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Other countries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14807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Belgium, Poland and Argentina: loss-making in H1 2026 (−€34m) and under strategic review.</a:t>
            </a:r>
            <a:endParaRPr lang="en-US" sz="13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6766560" y="1645920"/>
          <a:ext cx="4876495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company filings; Sales incl. VAT by country, H1 2026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03  INDUSTRY AND MACRO BACKDROP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moves the stock beyond the company</a:t>
            </a:r>
            <a:endParaRPr lang="en-US" sz="2600" dirty="0"/>
          </a:p>
        </p:txBody>
      </p:sp>
      <p:sp>
        <p:nvSpPr>
          <p:cNvPr id="4" name="macro card 1"/>
          <p:cNvSpPr/>
          <p:nvPr/>
        </p:nvSpPr>
        <p:spPr>
          <a:xfrm>
            <a:off x="548640" y="169164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€80-200m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92024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French unrest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Estimated hit to 2026 recurring operating income from the October riots, looting and curfews.</a:t>
            </a:r>
            <a:endParaRPr lang="en-US" sz="1300" dirty="0"/>
          </a:p>
        </p:txBody>
      </p:sp>
      <p:sp>
        <p:nvSpPr>
          <p:cNvPr id="8" name="macro card 2"/>
          <p:cNvSpPr/>
          <p:nvPr/>
        </p:nvSpPr>
        <p:spPr>
          <a:xfrm>
            <a:off x="6278728" y="169164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18745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200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9021928" y="192024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Food price war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69748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Private-label products sold at cost to loyalty members under the 2030 plan: price investment caps margins.</a:t>
            </a:r>
            <a:endParaRPr lang="en-US" sz="1300" dirty="0"/>
          </a:p>
        </p:txBody>
      </p:sp>
      <p:sp>
        <p:nvSpPr>
          <p:cNvPr id="12" name="macro card 3"/>
          <p:cNvSpPr/>
          <p:nvPr/>
        </p:nvSpPr>
        <p:spPr>
          <a:xfrm>
            <a:off x="548640" y="388620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~15%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11480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Brazil policy rate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920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High rates hit cash &amp; carry volumes in 2025; rate cuts would help Atacadão.</a:t>
            </a:r>
            <a:endParaRPr lang="en-US" sz="1300" dirty="0"/>
          </a:p>
        </p:txBody>
      </p:sp>
      <p:sp>
        <p:nvSpPr>
          <p:cNvPr id="16" name="macro card 4"/>
          <p:cNvSpPr/>
          <p:nvPr/>
        </p:nvSpPr>
        <p:spPr>
          <a:xfrm>
            <a:off x="6278728" y="3886200"/>
            <a:ext cx="5364328" cy="1965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53048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E6B4F"/>
                </a:solidFill>
              </a:rPr>
              <a:t>−€102m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9021928" y="4114800"/>
            <a:ext cx="2346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A17"/>
                </a:solidFill>
              </a:rPr>
              <a:t>Currencies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53048" y="48920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FX drag on 2025 operating income from the Brazilian real and the Argentine peso.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company releases and research brief (see Sources slide)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04  WHY THE SYSTEMATIC SCREEN PICKED IT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Ranked 1 of 76 in Consumer Staples on our value score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492240" y="1645920"/>
          <a:ext cx="5150815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92240" y="4251960"/>
            <a:ext cx="51508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A322E"/>
                </a:solidFill>
              </a:rPr>
              <a:t>Composite score 2.79, first of 76 in its sector. </a:t>
            </a:r>
            <a:pPr indent="0" marL="0">
              <a:buNone/>
            </a:pPr>
            <a:r>
              <a:rPr lang="en-US" sz="1300" dirty="0">
                <a:solidFill>
                  <a:srgbClr val="2A322E"/>
                </a:solidFill>
              </a:rPr>
              <a:t>The score averages the z-scores above (four ratios as yields). Accounts are used only from fiscal year end + 6 months, so in December 2025 the screen read the accounts for the fiscal year ended December 2024.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Portfolio Project pipeline (Bloomberg data); peers: Ahold Delhaize, Tesco, Kroger, Jerónimo Martins (pipeline peer set).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05  TRACK RECORD IN THE PORTFOLIO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Held at 8 of 10 rebalances since June 2022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69494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63840" y="169164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0E6B4F"/>
                </a:solidFill>
              </a:rPr>
              <a:t>+20.3%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24028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H1 2026 return (EUR)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74320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+10.8%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329184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MSCI World Net EUR, H1 2026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79476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2.0%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434340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Weight, equal weight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846320"/>
            <a:ext cx="3779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600" b="1" dirty="0">
                <a:solidFill>
                  <a:srgbClr val="141A17"/>
                </a:solidFill>
              </a:rPr>
              <a:t>4.0% / 0.5%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5394960"/>
            <a:ext cx="37792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60"/>
                </a:solidFill>
              </a:rPr>
              <a:t>Min-variance / mean-variance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pipeline weekly total returns (EUR, net of withholding tax) and portfolio weights at the 31 Dec 2025 rebalance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06  FINANCIAL SNAPSHOT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Reported numbers and guidance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1828800"/>
                <a:gridCol w="1828800"/>
                <a:gridCol w="1828800"/>
                <a:gridCol w="182880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FY2025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H1 2026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guide (Oct)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E6B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incl. VAT (pre-IAS 29)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€91.5bn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€43.8bn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Recurring operating income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€2.28bn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€2.16bn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€0.76bn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ROI margin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 to +15 bp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Adjusted EPS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€1.74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€1.60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€0.49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stable to slightly up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free cash flow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€1.31bn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−€1.99bn*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slight decline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financial debt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€3.97bn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€5.85bn*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Dividend per share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€0.97 + €0.21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payout 50-60%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85816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*Seasonal: working capital reverses in H2. FY2024 ROI derived from the −5.4% reported for 2025. Sources: Carrefour FY2025, H1 2026 and Q3 2026 releases.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07  VARIANT PERCEPTION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Where we differ from the market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660"/>
                </a:solidFill>
              </a:rPr>
              <a:t>WHAT THE MARKET BELIEVES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278728" y="1645920"/>
            <a:ext cx="5364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E6B4F"/>
                </a:solidFill>
              </a:rPr>
              <a:t>OUR 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05740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“The French market is structurally broken”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205740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07328" y="205740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France is a low-margin, price-war market, but Carrefour is No. 2 and the plan already prices €1bn a year of savings, half of them delivered by mid-2026.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39852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39852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“The riots are a lasting hit”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8728" y="339852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7328" y="339852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Management estimates €80-200m of recurring operating income at risk in 2026. That is a one-year shock on a €2.2bn profit base, not a change in earning power.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739640"/>
            <a:ext cx="5364328" cy="120396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73964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141A17"/>
                </a:solidFill>
              </a:rPr>
              <a:t>“The dividend will be cut”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78728" y="4739640"/>
            <a:ext cx="5364328" cy="1203960"/>
          </a:xfrm>
          <a:prstGeom prst="rect">
            <a:avLst/>
          </a:prstGeom>
          <a:solidFill>
            <a:srgbClr val="EEF2EF"/>
          </a:solidFill>
          <a:ln w="12700">
            <a:solidFill>
              <a:srgbClr val="D7EB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07328" y="4739640"/>
            <a:ext cx="4907128" cy="1203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41A17"/>
                </a:solidFill>
              </a:rPr>
              <a:t>This is the real risk: a 50-60% payout on flat EPS implies €0.80-0.96 against €0.97 paid. We assume a cut in the base case.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08  VALUATION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Base-case value €17.99 per share, +38% vs today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6B4F"/>
                </a:solidFill>
              </a:rPr>
              <a:t>Method: Free-cash-flow yield on normalised net free cash flow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5836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1234440"/>
                <a:gridCol w="9601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inputs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 / share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price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B4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Bear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 €1.0bn at 12.0% yield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French margin keeps falling; dividend cut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€11.78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B2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−10%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 €1.4bn at 11.0% yield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 back near the 2025 level; plan delayed a year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€17.99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EBE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FCF €1.7bn at 10.0% yield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€5bn 2026-28 FCF target met; disposals of other countries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€24.02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0E6B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75488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A322E"/>
                </a:solidFill>
              </a:rPr>
              <a:t>A grocer's value is its recurring cash. We divide a normalised net free cash flow by the yield an investor should demand for a low-growth, leveraged retailer (10-12%), then by 707.6m shares. The real-estate appraisal is a floor check, not part of the target.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A17"/>
                </a:solidFill>
              </a:rPr>
              <a:t>Valuation range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2240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52-week range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240475" y="2542032"/>
            <a:ext cx="1221318" cy="310896"/>
          </a:xfrm>
          <a:prstGeom prst="rect">
            <a:avLst/>
          </a:prstGeom>
          <a:solidFill>
            <a:srgbClr val="9AAAA2"/>
          </a:solidFill>
          <a:ln w="12700">
            <a:solidFill>
              <a:srgbClr val="9AAAA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288036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€12.63 - €17.54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352409" y="247802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73727" y="247802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7406640" y="32004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Scenario range (bear - bull)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029045" y="3502152"/>
            <a:ext cx="3044589" cy="310896"/>
          </a:xfrm>
          <a:prstGeom prst="rect">
            <a:avLst/>
          </a:prstGeom>
          <a:solidFill>
            <a:srgbClr val="0E6B4F"/>
          </a:solidFill>
          <a:ln w="12700">
            <a:solidFill>
              <a:srgbClr val="0E6B4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38404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€11.78 - €24.02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352409" y="343814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73727" y="343814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7406640" y="416052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60"/>
                </a:solidFill>
              </a:rPr>
              <a:t>Consensus target (third-party)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939437" y="4462272"/>
            <a:ext cx="73152" cy="310896"/>
          </a:xfrm>
          <a:prstGeom prst="rect">
            <a:avLst/>
          </a:prstGeom>
          <a:solidFill>
            <a:srgbClr val="9AAAA2"/>
          </a:solidFill>
          <a:ln w="12700">
            <a:solidFill>
              <a:srgbClr val="9AAAA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406640" y="480060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1A17"/>
                </a:solidFill>
              </a:rPr>
              <a:t>€15.44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352409" y="4398264"/>
            <a:ext cx="0" cy="438912"/>
          </a:xfrm>
          <a:prstGeom prst="line">
            <a:avLst/>
          </a:prstGeom>
          <a:noFill/>
          <a:ln w="25400">
            <a:solidFill>
              <a:srgbClr val="141A17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573727" y="4398264"/>
            <a:ext cx="0" cy="438912"/>
          </a:xfrm>
          <a:prstGeom prst="line">
            <a:avLst/>
          </a:prstGeom>
          <a:noFill/>
          <a:ln w="25400">
            <a:solidFill>
              <a:srgbClr val="0E6B4F"/>
            </a:solidFill>
            <a:prstDash val="dash"/>
          </a:ln>
        </p:spPr>
      </p:sp>
      <p:sp>
        <p:nvSpPr>
          <p:cNvPr id="23" name="Text 20"/>
          <p:cNvSpPr txBox="1"/>
          <p:nvPr/>
        </p:nvSpPr>
        <p:spPr>
          <a:xfrm>
            <a:off x="7529449" y="50749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1A17"/>
                </a:solidFill>
              </a:rPr>
              <a:t>│ Price €13.08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750767" y="5349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6B4F"/>
                </a:solidFill>
              </a:rPr>
              <a:t>┆ Base case €17.99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08990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Source: own valuation; 52-week range and consensus from third-party data (29 Oct 2026)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09  CATALYSTS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What could move the stock in the next 12-18 months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395728"/>
            <a:ext cx="10728655" cy="0"/>
          </a:xfrm>
          <a:prstGeom prst="line">
            <a:avLst/>
          </a:prstGeom>
          <a:noFill/>
          <a:ln w="25400">
            <a:solidFill>
              <a:srgbClr val="D5DB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Nov-Dec 2026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Evolution of the French unrest; insurance and state compensation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58963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7523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Feb 2027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67523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FY2026 results: dividend under the new payout policy; real-estate revaluation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7846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6406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Q1 2027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986406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Decisions on Belgium, Poland and Argentina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96729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05289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Jul 2027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205289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H1 2027: first test of the 3.2% margin path to 2028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15612" y="2240280"/>
            <a:ext cx="310896" cy="310896"/>
          </a:xfrm>
          <a:prstGeom prst="ellipse">
            <a:avLst/>
          </a:prstGeom>
          <a:solidFill>
            <a:srgbClr val="0E6B4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24172" y="1691640"/>
            <a:ext cx="203600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0E6B4F"/>
                </a:solidFill>
              </a:rPr>
              <a:t>2027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424172" y="2788920"/>
            <a:ext cx="1990283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41A17"/>
                </a:solidFill>
              </a:rPr>
              <a:t>Brazil rate cuts helping Atacadão volumes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94415" cy="868680"/>
          </a:xfrm>
          <a:prstGeom prst="rect">
            <a:avLst/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8006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6B4F"/>
                </a:solidFill>
              </a:rPr>
              <a:t>The number to watch: </a:t>
            </a:r>
            <a:pPr indent="0" marL="0">
              <a:buNone/>
            </a:pPr>
            <a:r>
              <a:rPr lang="en-US" sz="1500" dirty="0">
                <a:solidFill>
                  <a:srgbClr val="141A17"/>
                </a:solidFill>
              </a:rPr>
              <a:t>2027 ROI margin not above 2025's 2.6%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10  RISKS AND SELL DISCIPLINE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Risks, mitigants and what would make us sell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7665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20040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Mitigant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A1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French unrest persisting into 2027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Store base diversified; security costs one-off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investment erodes margins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€1bn a year of savings; franchise model lowers costs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Dividend reset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Already assumed in our base case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4F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1A1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Brazil macro and currency translation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32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 owned Brazil, No. 1 position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691640"/>
            <a:ext cx="3962095" cy="4160520"/>
          </a:xfrm>
          <a:prstGeom prst="rect">
            <a:avLst/>
          </a:prstGeom>
          <a:solidFill>
            <a:srgbClr val="FBEDEB"/>
          </a:solidFill>
          <a:ln w="12700">
            <a:solidFill>
              <a:srgbClr val="F2C9C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8745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23A2E"/>
                </a:solidFill>
              </a:rPr>
              <a:t>WE SELL IF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286000"/>
            <a:ext cx="34134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2027 ROI margin not above 2025's 2.6%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Cumulative 2026-28 net FCF tracking well below €5bn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41A17"/>
                </a:solidFill>
              </a:rPr>
              <a:t>S&amp;P outlook turning negative, or disposals that dilute EPS without deleveraging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chemeClr val="accent1"/>
                </a:solidFill>
              </a:rPr>
              <a:t>11  SOURCES AND DISCLOSURES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400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Sources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64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[1] Carrefour, "Q4 2025 sales and FY 2025 results", press release, 17 Feb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[2] Carrefour, "Carrefour 2030 Strategic Plan", press release, 18 Feb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[3] Carrefour, "Q2 and H1 2026 results", press release, 23 Jul 2026 (via WebDisclosure)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[4] Carrefour, "Sales Q3 2026", press release, 20 Oct 2026 (via WebDisclosure)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[5] Reuters via Business Day, "Carrefour cuts outlook as French riots hit profits", 20 Oct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[6] Il Sole 24 Ore, "Carrefour slumps in Paris, 2026 target revised downwards", Oct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[7] BFM Bourse / Tradingsat, Carrefour 2030 plan market reaction, 18 Feb 2026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187288" y="1691640"/>
            <a:ext cx="536432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[8] AFP via Fortuneo, "Carrefour chute de plus de 12% en Bourse", 21 Oct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[9] stockanalysis.com, Carrefour SA (EPA:CA) quote page, data as of 29 Oct 2026 (third-party)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[10] Rallies.ai, "Carrefour Q1 like-for-like sales rise 2.2% to €21.14bn, confirms 2026 targets", Apr 2026 (secondary; TO VERIFY against company release)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[11] ESM Magazine, "Carrefour to sell Italian unit to NewPrinces Group", Jul 2025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[12] Carrefour, "Carrefour announces the sale of Carrefour Romania to Paval Holding", press release, Feb 2026</a:t>
            </a:r>
            <a:endParaRPr lang="en-US" sz="10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2A322E"/>
                </a:solidFill>
              </a:rPr>
              <a:t>Portfolio Project pipeline: scores, multiples, weights and returns computed from Bloomberg data extracted on the SKEMA terminal (Oct 2026).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3949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660"/>
                </a:solidFill>
              </a:rPr>
              <a:t>Disclosure: student research prepared for educational purposes and job interviews. It is not investment advice or a solicitation. Third-party market data (prices, consensus, forward multiples) is labelled and was accessed on 29 October 2026; third-party figures should be checked against company filings or a Bloomberg terminal before use. Backtest results are hypothetical.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66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 Ledger">
  <a:themeElements>
    <a:clrScheme name="Research Ledger">
      <a:dk1>
        <a:srgbClr val="141A17"/>
      </a:dk1>
      <a:lt1>
        <a:srgbClr val="FFFFFF"/>
      </a:lt1>
      <a:dk2>
        <a:srgbClr val="5B6660"/>
      </a:dk2>
      <a:lt2>
        <a:srgbClr val="F2F4F1"/>
      </a:lt2>
      <a:accent1>
        <a:srgbClr val="0E6B4F"/>
      </a:accent1>
      <a:accent2>
        <a:srgbClr val="D7EBE2"/>
      </a:accent2>
      <a:accent3>
        <a:srgbClr val="B23A2E"/>
      </a:accent3>
      <a:accent4>
        <a:srgbClr val="B07A12"/>
      </a:accent4>
      <a:accent5>
        <a:srgbClr val="9AAAA2"/>
      </a:accent5>
      <a:accent6>
        <a:srgbClr val="D5DBD6"/>
      </a:accent6>
      <a:hlink>
        <a:srgbClr val="0E6B4F"/>
      </a:hlink>
      <a:folHlink>
        <a:srgbClr val="5B6660"/>
      </a:folHlink>
    </a:clrScheme>
    <a:fontScheme name="Research Ledger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Noah Doose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Carrefour stock pitch</dc:title>
  <dc:subject>PptxGenJS Presentation</dc:subject>
  <dc:creator>Noah Doose</dc:creator>
  <cp:lastModifiedBy>Noah Doose</cp:lastModifiedBy>
  <cp:revision>1</cp:revision>
  <dcterms:created xsi:type="dcterms:W3CDTF">2026-10-30T06:38:33Z</dcterms:created>
  <dcterms:modified xsi:type="dcterms:W3CDTF">2026-10-30T06:38:33Z</dcterms:modified>
</cp:coreProperties>
</file>