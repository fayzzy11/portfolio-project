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bdd59f9-3627-12da-5a5c-8cfcdb4e0490}">
          <p14:sldIdLst>
            <p14:sldId id="256"/>
          </p14:sldIdLst>
        </p14:section>
        <p14:section name="Thesis" id="{7acf93df-70d0-eb8e-303a-1bbcbb54b61d}">
          <p14:sldIdLst>
            <p14:sldId id="257"/>
          </p14:sldIdLst>
        </p14:section>
        <p14:section name="Company" id="{4df8ca4a-a3bb-29e7-70cb-c2678c0f837b}">
          <p14:sldIdLst>
            <p14:sldId id="258"/>
            <p14:sldId id="259"/>
          </p14:sldIdLst>
        </p14:section>
        <p14:section name="Screen" id="{58e822e8-805e-7df5-aa76-f9fa68920bc7}">
          <p14:sldIdLst>
            <p14:sldId id="260"/>
            <p14:sldId id="261"/>
          </p14:sldIdLst>
        </p14:section>
        <p14:section name="Financials" id="{40b6d548-4ce5-3d5f-794f-75c20a0b6045}">
          <p14:sldIdLst>
            <p14:sldId id="262"/>
            <p14:sldId id="263"/>
          </p14:sldIdLst>
        </p14:section>
        <p14:section name="Valuation" id="{b115eff0-6d3b-6b43-dae1-bc1265edd0ac}">
          <p14:sldIdLst>
            <p14:sldId id="264"/>
          </p14:sldIdLst>
        </p14:section>
        <p14:section name="Catalysts and risks" id="{e62813fb-526a-b2ca-fb11-4f54c657a82e}">
          <p14:sldIdLst>
            <p14:sldId id="265"/>
            <p14:sldId id="266"/>
          </p14:sldIdLst>
        </p14:section>
        <p14:section name="Sources" id="{5a25cdad-30fa-7a14-f1fc-81b76b5effb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Members by product, Sep 2026 (share of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 by product, Sep 2026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Medicaid</c:v>
                  </c:pt>
                  <c:pt idx="1">
                    <c:v>Medicare Part D (PDP)</c:v>
                  </c:pt>
                  <c:pt idx="2">
                    <c:v>Marketplace</c:v>
                  </c:pt>
                  <c:pt idx="3">
                    <c:v>Medicare Advantage &amp; supplement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0.47316103379721675</c:v>
                </c:pt>
                <c:pt idx="1">
                  <c:v>0.3538767395626243</c:v>
                </c:pt>
                <c:pt idx="2">
                  <c:v>0.13518886679920478</c:v>
                </c:pt>
                <c:pt idx="3">
                  <c:v>0.03777335984095428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Multiples at 31 Dec 2025 (last usable fiscal 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Centene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6.81</c:v>
                </c:pt>
                <c:pt idx="1">
                  <c:v>5.64</c:v>
                </c:pt>
                <c:pt idx="2">
                  <c:v>0.68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9AAAA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9.85</c:v>
                </c:pt>
                <c:pt idx="1">
                  <c:v>19.73</c:v>
                </c:pt>
                <c:pt idx="2">
                  <c:v>1.66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Sector median</c:v>
                </c:pt>
              </c:strCache>
            </c:strRef>
          </c:tx>
          <c:spPr>
            <a:solidFill>
              <a:srgbClr val="D5DBD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22.71</c:v>
                </c:pt>
                <c:pt idx="1">
                  <c:v>28.1</c:v>
                </c:pt>
                <c:pt idx="2">
                  <c:v>4.23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Value z-scores within the sector (Dec 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EBIT / EV</c:v>
                  </c:pt>
                  <c:pt idx="1">
                    <c:v>Book / price</c:v>
                  </c:pt>
                  <c:pt idx="2">
                    <c:v>FCF yield</c:v>
                  </c:pt>
                  <c:pt idx="3">
                    <c:v>Sales / EV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3.1884904250740274</c:v>
                </c:pt>
                <c:pt idx="1">
                  <c:v>4.064460959791948</c:v>
                </c:pt>
                <c:pt idx="2">
                  <c:v>-1.767193662484839</c:v>
                </c:pt>
                <c:pt idx="3">
                  <c:v>4.384171334621149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1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Total return in EUR, rebased to 100 (Jun 2021 - Jun 2026, weekly)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Centene</c:v>
                </c:pt>
              </c:strCache>
            </c:strRef>
          </c:tx>
          <c:spPr>
            <a:solidFill>
              <a:srgbClr val="0E6B4F"/>
            </a:solidFill>
            <a:ln w="25400" cap="flat">
              <a:solidFill>
                <a:srgbClr val="0E6B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B4F"/>
              </a:solidFill>
              <a:ln w="9525" cap="flat">
                <a:solidFill>
                  <a:srgbClr val="0E6B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100</c:v>
                </c:pt>
                <c:pt idx="1">
                  <c:v>100.76</c:v>
                </c:pt>
                <c:pt idx="2">
                  <c:v>100.05</c:v>
                </c:pt>
                <c:pt idx="3">
                  <c:v>99.37</c:v>
                </c:pt>
                <c:pt idx="4">
                  <c:v>100.83</c:v>
                </c:pt>
                <c:pt idx="5">
                  <c:v>93.45</c:v>
                </c:pt>
                <c:pt idx="6">
                  <c:v>91.78</c:v>
                </c:pt>
                <c:pt idx="7">
                  <c:v>86.34</c:v>
                </c:pt>
                <c:pt idx="8">
                  <c:v>88.76</c:v>
                </c:pt>
                <c:pt idx="9">
                  <c:v>87.57</c:v>
                </c:pt>
                <c:pt idx="10">
                  <c:v>87.45</c:v>
                </c:pt>
                <c:pt idx="11">
                  <c:v>81.63</c:v>
                </c:pt>
                <c:pt idx="12">
                  <c:v>89.04</c:v>
                </c:pt>
                <c:pt idx="13">
                  <c:v>86.61</c:v>
                </c:pt>
                <c:pt idx="14">
                  <c:v>87.82</c:v>
                </c:pt>
                <c:pt idx="15">
                  <c:v>89.86</c:v>
                </c:pt>
                <c:pt idx="16">
                  <c:v>91</c:v>
                </c:pt>
                <c:pt idx="17">
                  <c:v>96.15</c:v>
                </c:pt>
                <c:pt idx="18">
                  <c:v>99.73</c:v>
                </c:pt>
                <c:pt idx="19">
                  <c:v>103.67</c:v>
                </c:pt>
                <c:pt idx="20">
                  <c:v>107.03</c:v>
                </c:pt>
                <c:pt idx="21">
                  <c:v>104.38</c:v>
                </c:pt>
                <c:pt idx="22">
                  <c:v>105.6</c:v>
                </c:pt>
                <c:pt idx="23">
                  <c:v>101.46</c:v>
                </c:pt>
                <c:pt idx="24">
                  <c:v>111.95</c:v>
                </c:pt>
                <c:pt idx="25">
                  <c:v>119.01</c:v>
                </c:pt>
                <c:pt idx="26">
                  <c:v>120.71</c:v>
                </c:pt>
                <c:pt idx="27">
                  <c:v>116.9</c:v>
                </c:pt>
                <c:pt idx="28">
                  <c:v>108.58</c:v>
                </c:pt>
                <c:pt idx="29">
                  <c:v>114.11</c:v>
                </c:pt>
                <c:pt idx="30">
                  <c:v>109.82</c:v>
                </c:pt>
                <c:pt idx="31">
                  <c:v>111.93</c:v>
                </c:pt>
                <c:pt idx="32">
                  <c:v>113.62</c:v>
                </c:pt>
                <c:pt idx="33">
                  <c:v>118.09</c:v>
                </c:pt>
                <c:pt idx="34">
                  <c:v>117.07</c:v>
                </c:pt>
                <c:pt idx="35">
                  <c:v>120.02</c:v>
                </c:pt>
                <c:pt idx="36">
                  <c:v>127.22</c:v>
                </c:pt>
                <c:pt idx="37">
                  <c:v>123.43</c:v>
                </c:pt>
                <c:pt idx="38">
                  <c:v>128.15</c:v>
                </c:pt>
                <c:pt idx="39">
                  <c:v>125.79</c:v>
                </c:pt>
                <c:pt idx="40">
                  <c:v>125.11</c:v>
                </c:pt>
                <c:pt idx="41">
                  <c:v>131.46</c:v>
                </c:pt>
                <c:pt idx="42">
                  <c:v>129.24</c:v>
                </c:pt>
                <c:pt idx="43">
                  <c:v>126.49</c:v>
                </c:pt>
                <c:pt idx="44">
                  <c:v>123.34</c:v>
                </c:pt>
                <c:pt idx="45">
                  <c:v>128.43</c:v>
                </c:pt>
                <c:pt idx="46">
                  <c:v>127.75</c:v>
                </c:pt>
                <c:pt idx="47">
                  <c:v>130.09</c:v>
                </c:pt>
                <c:pt idx="48">
                  <c:v>127.31</c:v>
                </c:pt>
                <c:pt idx="49">
                  <c:v>123.41</c:v>
                </c:pt>
                <c:pt idx="50">
                  <c:v>122.12</c:v>
                </c:pt>
                <c:pt idx="51">
                  <c:v>117.77</c:v>
                </c:pt>
                <c:pt idx="52">
                  <c:v>127.04</c:v>
                </c:pt>
                <c:pt idx="53">
                  <c:v>133.87</c:v>
                </c:pt>
                <c:pt idx="54">
                  <c:v>139.83</c:v>
                </c:pt>
                <c:pt idx="55">
                  <c:v>143.66</c:v>
                </c:pt>
                <c:pt idx="56">
                  <c:v>143.56</c:v>
                </c:pt>
                <c:pt idx="57">
                  <c:v>147.27</c:v>
                </c:pt>
                <c:pt idx="58">
                  <c:v>147.6</c:v>
                </c:pt>
                <c:pt idx="59">
                  <c:v>152.19</c:v>
                </c:pt>
                <c:pt idx="60">
                  <c:v>155.96</c:v>
                </c:pt>
                <c:pt idx="61">
                  <c:v>145.57</c:v>
                </c:pt>
                <c:pt idx="62">
                  <c:v>145.89</c:v>
                </c:pt>
                <c:pt idx="63">
                  <c:v>147.79</c:v>
                </c:pt>
                <c:pt idx="64">
                  <c:v>136.04</c:v>
                </c:pt>
                <c:pt idx="65">
                  <c:v>130.98</c:v>
                </c:pt>
                <c:pt idx="66">
                  <c:v>128.38</c:v>
                </c:pt>
                <c:pt idx="67">
                  <c:v>123.82</c:v>
                </c:pt>
                <c:pt idx="68">
                  <c:v>123.5</c:v>
                </c:pt>
                <c:pt idx="69">
                  <c:v>121.24</c:v>
                </c:pt>
                <c:pt idx="70">
                  <c:v>139.44</c:v>
                </c:pt>
                <c:pt idx="71">
                  <c:v>133.04</c:v>
                </c:pt>
                <c:pt idx="72">
                  <c:v>128.18</c:v>
                </c:pt>
                <c:pt idx="73">
                  <c:v>129.25</c:v>
                </c:pt>
                <c:pt idx="74">
                  <c:v>131.73</c:v>
                </c:pt>
                <c:pt idx="75">
                  <c:v>131.65</c:v>
                </c:pt>
                <c:pt idx="76">
                  <c:v>132.11</c:v>
                </c:pt>
                <c:pt idx="77">
                  <c:v>123.98</c:v>
                </c:pt>
                <c:pt idx="78">
                  <c:v>124.15</c:v>
                </c:pt>
                <c:pt idx="79">
                  <c:v>123.68</c:v>
                </c:pt>
                <c:pt idx="80">
                  <c:v>119.44</c:v>
                </c:pt>
                <c:pt idx="81">
                  <c:v>114.93</c:v>
                </c:pt>
                <c:pt idx="82">
                  <c:v>113.43</c:v>
                </c:pt>
                <c:pt idx="83">
                  <c:v>111.85</c:v>
                </c:pt>
                <c:pt idx="84">
                  <c:v>105.96</c:v>
                </c:pt>
                <c:pt idx="85">
                  <c:v>110.14</c:v>
                </c:pt>
                <c:pt idx="86">
                  <c:v>110.96</c:v>
                </c:pt>
                <c:pt idx="87">
                  <c:v>107.64</c:v>
                </c:pt>
                <c:pt idx="88">
                  <c:v>105.01</c:v>
                </c:pt>
                <c:pt idx="89">
                  <c:v>98.56</c:v>
                </c:pt>
                <c:pt idx="90">
                  <c:v>94.67</c:v>
                </c:pt>
                <c:pt idx="91">
                  <c:v>96.13</c:v>
                </c:pt>
                <c:pt idx="92">
                  <c:v>93.94</c:v>
                </c:pt>
                <c:pt idx="93">
                  <c:v>97.53</c:v>
                </c:pt>
                <c:pt idx="94">
                  <c:v>100.16</c:v>
                </c:pt>
                <c:pt idx="95">
                  <c:v>97.09</c:v>
                </c:pt>
                <c:pt idx="96">
                  <c:v>100.94</c:v>
                </c:pt>
                <c:pt idx="97">
                  <c:v>100.14</c:v>
                </c:pt>
                <c:pt idx="98">
                  <c:v>99.98</c:v>
                </c:pt>
                <c:pt idx="99">
                  <c:v>97.63</c:v>
                </c:pt>
                <c:pt idx="100">
                  <c:v>94.51</c:v>
                </c:pt>
                <c:pt idx="101">
                  <c:v>100.24</c:v>
                </c:pt>
                <c:pt idx="102">
                  <c:v>103.7</c:v>
                </c:pt>
                <c:pt idx="103">
                  <c:v>97</c:v>
                </c:pt>
                <c:pt idx="104">
                  <c:v>98.42</c:v>
                </c:pt>
                <c:pt idx="105">
                  <c:v>99.79</c:v>
                </c:pt>
                <c:pt idx="106">
                  <c:v>97.9</c:v>
                </c:pt>
                <c:pt idx="107">
                  <c:v>94.32</c:v>
                </c:pt>
                <c:pt idx="108">
                  <c:v>102.56</c:v>
                </c:pt>
                <c:pt idx="109">
                  <c:v>96.95</c:v>
                </c:pt>
                <c:pt idx="110">
                  <c:v>96.33</c:v>
                </c:pt>
                <c:pt idx="111">
                  <c:v>97.03</c:v>
                </c:pt>
                <c:pt idx="112">
                  <c:v>94.63</c:v>
                </c:pt>
                <c:pt idx="113">
                  <c:v>94.98</c:v>
                </c:pt>
                <c:pt idx="114">
                  <c:v>91.77</c:v>
                </c:pt>
                <c:pt idx="115">
                  <c:v>98.7</c:v>
                </c:pt>
                <c:pt idx="116">
                  <c:v>102.64</c:v>
                </c:pt>
                <c:pt idx="117">
                  <c:v>104.11</c:v>
                </c:pt>
                <c:pt idx="118">
                  <c:v>105.18</c:v>
                </c:pt>
                <c:pt idx="119">
                  <c:v>107.2</c:v>
                </c:pt>
                <c:pt idx="120">
                  <c:v>109.24</c:v>
                </c:pt>
                <c:pt idx="121">
                  <c:v>109.65</c:v>
                </c:pt>
                <c:pt idx="122">
                  <c:v>103</c:v>
                </c:pt>
                <c:pt idx="123">
                  <c:v>104.29</c:v>
                </c:pt>
                <c:pt idx="124">
                  <c:v>108.71</c:v>
                </c:pt>
                <c:pt idx="125">
                  <c:v>107.7</c:v>
                </c:pt>
                <c:pt idx="126">
                  <c:v>109.78</c:v>
                </c:pt>
                <c:pt idx="127">
                  <c:v>111.15</c:v>
                </c:pt>
                <c:pt idx="128">
                  <c:v>110.78</c:v>
                </c:pt>
                <c:pt idx="129">
                  <c:v>109.89</c:v>
                </c:pt>
                <c:pt idx="130">
                  <c:v>107.54</c:v>
                </c:pt>
                <c:pt idx="131">
                  <c:v>108.34</c:v>
                </c:pt>
                <c:pt idx="132">
                  <c:v>114.19</c:v>
                </c:pt>
                <c:pt idx="133">
                  <c:v>116.26</c:v>
                </c:pt>
                <c:pt idx="134">
                  <c:v>109.99</c:v>
                </c:pt>
                <c:pt idx="135">
                  <c:v>109.68</c:v>
                </c:pt>
                <c:pt idx="136">
                  <c:v>112.95</c:v>
                </c:pt>
                <c:pt idx="137">
                  <c:v>115.81</c:v>
                </c:pt>
                <c:pt idx="138">
                  <c:v>118.01</c:v>
                </c:pt>
                <c:pt idx="139">
                  <c:v>119.7</c:v>
                </c:pt>
                <c:pt idx="140">
                  <c:v>116.22</c:v>
                </c:pt>
                <c:pt idx="141">
                  <c:v>115.38</c:v>
                </c:pt>
                <c:pt idx="142">
                  <c:v>112</c:v>
                </c:pt>
                <c:pt idx="143">
                  <c:v>115</c:v>
                </c:pt>
                <c:pt idx="144">
                  <c:v>117.42</c:v>
                </c:pt>
                <c:pt idx="145">
                  <c:v>108.49</c:v>
                </c:pt>
                <c:pt idx="146">
                  <c:v>107.36</c:v>
                </c:pt>
                <c:pt idx="147">
                  <c:v>113.94</c:v>
                </c:pt>
                <c:pt idx="148">
                  <c:v>111.76</c:v>
                </c:pt>
                <c:pt idx="149">
                  <c:v>112.26</c:v>
                </c:pt>
                <c:pt idx="150">
                  <c:v>116.6</c:v>
                </c:pt>
                <c:pt idx="151">
                  <c:v>116.01</c:v>
                </c:pt>
                <c:pt idx="152">
                  <c:v>111.14</c:v>
                </c:pt>
                <c:pt idx="153">
                  <c:v>106.61</c:v>
                </c:pt>
                <c:pt idx="154">
                  <c:v>104.36</c:v>
                </c:pt>
                <c:pt idx="155">
                  <c:v>104.05</c:v>
                </c:pt>
                <c:pt idx="156">
                  <c:v>102.63</c:v>
                </c:pt>
                <c:pt idx="157">
                  <c:v>99.94</c:v>
                </c:pt>
                <c:pt idx="158">
                  <c:v>99.03</c:v>
                </c:pt>
                <c:pt idx="159">
                  <c:v>100.52</c:v>
                </c:pt>
                <c:pt idx="160">
                  <c:v>98.3</c:v>
                </c:pt>
                <c:pt idx="161">
                  <c:v>108.68</c:v>
                </c:pt>
                <c:pt idx="162">
                  <c:v>115.6</c:v>
                </c:pt>
                <c:pt idx="163">
                  <c:v>112.43</c:v>
                </c:pt>
                <c:pt idx="164">
                  <c:v>114.66</c:v>
                </c:pt>
                <c:pt idx="165">
                  <c:v>113.55</c:v>
                </c:pt>
                <c:pt idx="166">
                  <c:v>115.23</c:v>
                </c:pt>
                <c:pt idx="167">
                  <c:v>103.29</c:v>
                </c:pt>
                <c:pt idx="168">
                  <c:v>109.81</c:v>
                </c:pt>
                <c:pt idx="169">
                  <c:v>109.3</c:v>
                </c:pt>
                <c:pt idx="170">
                  <c:v>108.02</c:v>
                </c:pt>
                <c:pt idx="171">
                  <c:v>106.23</c:v>
                </c:pt>
                <c:pt idx="172">
                  <c:v>106.91</c:v>
                </c:pt>
                <c:pt idx="173">
                  <c:v>92.19</c:v>
                </c:pt>
                <c:pt idx="174">
                  <c:v>96.01</c:v>
                </c:pt>
                <c:pt idx="175">
                  <c:v>94.69</c:v>
                </c:pt>
                <c:pt idx="176">
                  <c:v>90.73</c:v>
                </c:pt>
                <c:pt idx="177">
                  <c:v>87.98</c:v>
                </c:pt>
                <c:pt idx="178">
                  <c:v>93.59</c:v>
                </c:pt>
                <c:pt idx="179">
                  <c:v>91.71</c:v>
                </c:pt>
                <c:pt idx="180">
                  <c:v>86.9</c:v>
                </c:pt>
                <c:pt idx="181">
                  <c:v>91.44</c:v>
                </c:pt>
                <c:pt idx="182">
                  <c:v>92.28</c:v>
                </c:pt>
                <c:pt idx="183">
                  <c:v>93.93</c:v>
                </c:pt>
                <c:pt idx="184">
                  <c:v>96.43</c:v>
                </c:pt>
                <c:pt idx="185">
                  <c:v>97.49</c:v>
                </c:pt>
                <c:pt idx="186">
                  <c:v>97.8</c:v>
                </c:pt>
                <c:pt idx="187">
                  <c:v>99.24</c:v>
                </c:pt>
                <c:pt idx="188">
                  <c:v>99.26</c:v>
                </c:pt>
                <c:pt idx="189">
                  <c:v>92.24</c:v>
                </c:pt>
                <c:pt idx="190">
                  <c:v>87.41</c:v>
                </c:pt>
                <c:pt idx="191">
                  <c:v>89.05</c:v>
                </c:pt>
                <c:pt idx="192">
                  <c:v>90.36</c:v>
                </c:pt>
                <c:pt idx="193">
                  <c:v>89.43</c:v>
                </c:pt>
                <c:pt idx="194">
                  <c:v>86.38</c:v>
                </c:pt>
                <c:pt idx="195">
                  <c:v>87.91</c:v>
                </c:pt>
                <c:pt idx="196">
                  <c:v>89.63</c:v>
                </c:pt>
                <c:pt idx="197">
                  <c:v>91.18</c:v>
                </c:pt>
                <c:pt idx="198">
                  <c:v>91.24</c:v>
                </c:pt>
                <c:pt idx="199">
                  <c:v>86.38</c:v>
                </c:pt>
                <c:pt idx="200">
                  <c:v>81.97</c:v>
                </c:pt>
                <c:pt idx="201">
                  <c:v>85.84</c:v>
                </c:pt>
                <c:pt idx="202">
                  <c:v>90.08</c:v>
                </c:pt>
                <c:pt idx="203">
                  <c:v>89.54</c:v>
                </c:pt>
                <c:pt idx="204">
                  <c:v>80.22</c:v>
                </c:pt>
                <c:pt idx="205">
                  <c:v>80.32</c:v>
                </c:pt>
                <c:pt idx="206">
                  <c:v>78.25</c:v>
                </c:pt>
                <c:pt idx="207">
                  <c:v>77.19</c:v>
                </c:pt>
                <c:pt idx="208">
                  <c:v>76.17</c:v>
                </c:pt>
                <c:pt idx="209">
                  <c:v>74.4</c:v>
                </c:pt>
                <c:pt idx="210">
                  <c:v>45.78</c:v>
                </c:pt>
                <c:pt idx="211">
                  <c:v>43.44</c:v>
                </c:pt>
                <c:pt idx="212">
                  <c:v>38.82</c:v>
                </c:pt>
                <c:pt idx="213">
                  <c:v>39.1</c:v>
                </c:pt>
                <c:pt idx="214">
                  <c:v>36.27</c:v>
                </c:pt>
                <c:pt idx="215">
                  <c:v>35.46</c:v>
                </c:pt>
                <c:pt idx="216">
                  <c:v>39.32</c:v>
                </c:pt>
                <c:pt idx="217">
                  <c:v>40.53</c:v>
                </c:pt>
                <c:pt idx="218">
                  <c:v>40.09</c:v>
                </c:pt>
                <c:pt idx="219">
                  <c:v>39.88</c:v>
                </c:pt>
                <c:pt idx="220">
                  <c:v>45.81</c:v>
                </c:pt>
                <c:pt idx="221">
                  <c:v>43.66</c:v>
                </c:pt>
                <c:pt idx="222">
                  <c:v>48.16</c:v>
                </c:pt>
                <c:pt idx="223">
                  <c:v>53.25</c:v>
                </c:pt>
                <c:pt idx="224">
                  <c:v>49.77</c:v>
                </c:pt>
                <c:pt idx="225">
                  <c:v>48.81</c:v>
                </c:pt>
                <c:pt idx="226">
                  <c:v>47.34</c:v>
                </c:pt>
                <c:pt idx="227">
                  <c:v>49.58</c:v>
                </c:pt>
                <c:pt idx="228">
                  <c:v>52.39</c:v>
                </c:pt>
                <c:pt idx="229">
                  <c:v>50.6</c:v>
                </c:pt>
                <c:pt idx="230">
                  <c:v>51.24</c:v>
                </c:pt>
                <c:pt idx="231">
                  <c:v>54.77</c:v>
                </c:pt>
                <c:pt idx="232">
                  <c:v>53.19</c:v>
                </c:pt>
                <c:pt idx="233">
                  <c:v>56.17</c:v>
                </c:pt>
                <c:pt idx="234">
                  <c:v>53.78</c:v>
                </c:pt>
                <c:pt idx="235">
                  <c:v>55.6</c:v>
                </c:pt>
                <c:pt idx="236">
                  <c:v>57.53</c:v>
                </c:pt>
                <c:pt idx="237">
                  <c:v>64.73</c:v>
                </c:pt>
                <c:pt idx="238">
                  <c:v>63.73</c:v>
                </c:pt>
                <c:pt idx="239">
                  <c:v>63.12</c:v>
                </c:pt>
                <c:pt idx="240">
                  <c:v>58.94</c:v>
                </c:pt>
                <c:pt idx="241">
                  <c:v>52.57</c:v>
                </c:pt>
                <c:pt idx="242">
                  <c:v>55.2</c:v>
                </c:pt>
                <c:pt idx="243">
                  <c:v>59.29</c:v>
                </c:pt>
                <c:pt idx="244">
                  <c:v>61.35</c:v>
                </c:pt>
                <c:pt idx="245">
                  <c:v>60.8</c:v>
                </c:pt>
                <c:pt idx="246">
                  <c:v>48.63</c:v>
                </c:pt>
                <c:pt idx="247">
                  <c:v>48.08</c:v>
                </c:pt>
                <c:pt idx="248">
                  <c:v>44.9</c:v>
                </c:pt>
                <c:pt idx="249">
                  <c:v>49.15</c:v>
                </c:pt>
                <c:pt idx="250">
                  <c:v>51.4</c:v>
                </c:pt>
                <c:pt idx="251">
                  <c:v>52.25</c:v>
                </c:pt>
                <c:pt idx="252">
                  <c:v>57.64</c:v>
                </c:pt>
                <c:pt idx="253">
                  <c:v>73.4</c:v>
                </c:pt>
                <c:pt idx="254">
                  <c:v>76.79</c:v>
                </c:pt>
                <c:pt idx="255">
                  <c:v>80.93</c:v>
                </c:pt>
                <c:pt idx="256">
                  <c:v>82.27</c:v>
                </c:pt>
                <c:pt idx="257">
                  <c:v>82.48</c:v>
                </c:pt>
                <c:pt idx="258">
                  <c:v>87.31</c:v>
                </c:pt>
                <c:pt idx="259">
                  <c:v>90.97</c:v>
                </c:pt>
                <c:pt idx="260">
                  <c:v>85.97</c:v>
                </c:pt>
                <c:pt idx="261">
                  <c:v>93.22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World Net EUR</c:v>
                </c:pt>
              </c:strCache>
            </c:strRef>
          </c:tx>
          <c:spPr>
            <a:solidFill>
              <a:srgbClr val="9AAAA2"/>
            </a:solidFill>
            <a:ln w="25400" cap="flat">
              <a:solidFill>
                <a:srgbClr val="9AAA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AA2"/>
              </a:solidFill>
              <a:ln w="9525" cap="flat">
                <a:solidFill>
                  <a:srgbClr val="9AAA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100</c:v>
                </c:pt>
                <c:pt idx="1">
                  <c:v>101.65</c:v>
                </c:pt>
                <c:pt idx="2">
                  <c:v>101.72</c:v>
                </c:pt>
                <c:pt idx="3">
                  <c:v>101.25</c:v>
                </c:pt>
                <c:pt idx="4">
                  <c:v>103.28</c:v>
                </c:pt>
                <c:pt idx="5">
                  <c:v>102.35</c:v>
                </c:pt>
                <c:pt idx="6">
                  <c:v>104.19</c:v>
                </c:pt>
                <c:pt idx="7">
                  <c:v>104.86</c:v>
                </c:pt>
                <c:pt idx="8">
                  <c:v>104.39</c:v>
                </c:pt>
                <c:pt idx="9">
                  <c:v>105.27</c:v>
                </c:pt>
                <c:pt idx="10">
                  <c:v>105.49</c:v>
                </c:pt>
                <c:pt idx="11">
                  <c:v>104.52</c:v>
                </c:pt>
                <c:pt idx="12">
                  <c:v>104.54</c:v>
                </c:pt>
                <c:pt idx="13">
                  <c:v>104.99</c:v>
                </c:pt>
                <c:pt idx="14">
                  <c:v>103.36</c:v>
                </c:pt>
                <c:pt idx="15">
                  <c:v>104.31</c:v>
                </c:pt>
                <c:pt idx="16">
                  <c:v>106.29</c:v>
                </c:pt>
                <c:pt idx="17">
                  <c:v>107.34</c:v>
                </c:pt>
                <c:pt idx="18">
                  <c:v>108.86</c:v>
                </c:pt>
                <c:pt idx="19">
                  <c:v>111.02</c:v>
                </c:pt>
                <c:pt idx="20">
                  <c:v>111.83</c:v>
                </c:pt>
                <c:pt idx="21">
                  <c:v>112.98</c:v>
                </c:pt>
                <c:pt idx="22">
                  <c:v>109.93</c:v>
                </c:pt>
                <c:pt idx="23">
                  <c:v>108.71</c:v>
                </c:pt>
                <c:pt idx="24">
                  <c:v>112.07</c:v>
                </c:pt>
                <c:pt idx="25">
                  <c:v>110.68</c:v>
                </c:pt>
                <c:pt idx="26">
                  <c:v>112.51</c:v>
                </c:pt>
                <c:pt idx="27">
                  <c:v>112.98</c:v>
                </c:pt>
                <c:pt idx="28">
                  <c:v>111.35</c:v>
                </c:pt>
                <c:pt idx="29">
                  <c:v>110.37</c:v>
                </c:pt>
                <c:pt idx="30">
                  <c:v>106.03</c:v>
                </c:pt>
                <c:pt idx="31">
                  <c:v>107.08</c:v>
                </c:pt>
                <c:pt idx="32">
                  <c:v>106.43</c:v>
                </c:pt>
                <c:pt idx="33">
                  <c:v>106.05</c:v>
                </c:pt>
                <c:pt idx="34">
                  <c:v>104.72</c:v>
                </c:pt>
                <c:pt idx="35">
                  <c:v>105.54</c:v>
                </c:pt>
                <c:pt idx="36">
                  <c:v>105.67</c:v>
                </c:pt>
                <c:pt idx="37">
                  <c:v>103.22</c:v>
                </c:pt>
                <c:pt idx="38">
                  <c:v>108.65</c:v>
                </c:pt>
                <c:pt idx="39">
                  <c:v>110.71</c:v>
                </c:pt>
                <c:pt idx="40">
                  <c:v>110.56</c:v>
                </c:pt>
                <c:pt idx="41">
                  <c:v>110.61</c:v>
                </c:pt>
                <c:pt idx="42">
                  <c:v>109.69</c:v>
                </c:pt>
                <c:pt idx="43">
                  <c:v>106.87</c:v>
                </c:pt>
                <c:pt idx="44">
                  <c:v>105.92</c:v>
                </c:pt>
                <c:pt idx="45">
                  <c:v>104.38</c:v>
                </c:pt>
                <c:pt idx="46">
                  <c:v>104</c:v>
                </c:pt>
                <c:pt idx="47">
                  <c:v>100.73</c:v>
                </c:pt>
                <c:pt idx="48">
                  <c:v>104.83</c:v>
                </c:pt>
                <c:pt idx="49">
                  <c:v>103.87</c:v>
                </c:pt>
                <c:pt idx="50">
                  <c:v>100.55</c:v>
                </c:pt>
                <c:pt idx="51">
                  <c:v>95.31</c:v>
                </c:pt>
                <c:pt idx="52">
                  <c:v>99.62</c:v>
                </c:pt>
                <c:pt idx="53">
                  <c:v>98.82</c:v>
                </c:pt>
                <c:pt idx="54">
                  <c:v>102.69</c:v>
                </c:pt>
                <c:pt idx="55">
                  <c:v>102.26</c:v>
                </c:pt>
                <c:pt idx="56">
                  <c:v>103.99</c:v>
                </c:pt>
                <c:pt idx="57">
                  <c:v>108.12</c:v>
                </c:pt>
                <c:pt idx="58">
                  <c:v>108.7</c:v>
                </c:pt>
                <c:pt idx="59">
                  <c:v>111.15</c:v>
                </c:pt>
                <c:pt idx="60">
                  <c:v>111.57</c:v>
                </c:pt>
                <c:pt idx="61">
                  <c:v>108.14</c:v>
                </c:pt>
                <c:pt idx="62">
                  <c:v>104.5</c:v>
                </c:pt>
                <c:pt idx="63">
                  <c:v>107.49</c:v>
                </c:pt>
                <c:pt idx="64">
                  <c:v>103.08</c:v>
                </c:pt>
                <c:pt idx="65">
                  <c:v>101.13</c:v>
                </c:pt>
                <c:pt idx="66">
                  <c:v>97.81</c:v>
                </c:pt>
                <c:pt idx="67">
                  <c:v>99.55</c:v>
                </c:pt>
                <c:pt idx="68">
                  <c:v>98.19</c:v>
                </c:pt>
                <c:pt idx="69">
                  <c:v>101.3</c:v>
                </c:pt>
                <c:pt idx="70">
                  <c:v>103.75</c:v>
                </c:pt>
                <c:pt idx="71">
                  <c:v>102.15</c:v>
                </c:pt>
                <c:pt idx="72">
                  <c:v>104.43</c:v>
                </c:pt>
                <c:pt idx="73">
                  <c:v>103.55</c:v>
                </c:pt>
                <c:pt idx="74">
                  <c:v>104.86</c:v>
                </c:pt>
                <c:pt idx="75">
                  <c:v>105.36</c:v>
                </c:pt>
                <c:pt idx="76">
                  <c:v>102.02</c:v>
                </c:pt>
                <c:pt idx="77">
                  <c:v>99.16</c:v>
                </c:pt>
                <c:pt idx="78">
                  <c:v>99.16</c:v>
                </c:pt>
                <c:pt idx="79">
                  <c:v>98.55</c:v>
                </c:pt>
                <c:pt idx="80">
                  <c:v>101.01</c:v>
                </c:pt>
                <c:pt idx="81">
                  <c:v>102.12</c:v>
                </c:pt>
                <c:pt idx="82">
                  <c:v>101.73</c:v>
                </c:pt>
                <c:pt idx="83">
                  <c:v>103.91</c:v>
                </c:pt>
                <c:pt idx="84">
                  <c:v>105.06</c:v>
                </c:pt>
                <c:pt idx="85">
                  <c:v>105.47</c:v>
                </c:pt>
                <c:pt idx="86">
                  <c:v>105.5</c:v>
                </c:pt>
                <c:pt idx="87">
                  <c:v>103.95</c:v>
                </c:pt>
                <c:pt idx="88">
                  <c:v>105.4</c:v>
                </c:pt>
                <c:pt idx="89">
                  <c:v>100.76</c:v>
                </c:pt>
                <c:pt idx="90">
                  <c:v>101.15</c:v>
                </c:pt>
                <c:pt idx="91">
                  <c:v>101.45</c:v>
                </c:pt>
                <c:pt idx="92">
                  <c:v>104.29</c:v>
                </c:pt>
                <c:pt idx="93">
                  <c:v>103.73</c:v>
                </c:pt>
                <c:pt idx="94">
                  <c:v>104.27</c:v>
                </c:pt>
                <c:pt idx="95">
                  <c:v>104.51</c:v>
                </c:pt>
                <c:pt idx="96">
                  <c:v>104.43</c:v>
                </c:pt>
                <c:pt idx="97">
                  <c:v>104.28</c:v>
                </c:pt>
                <c:pt idx="98">
                  <c:v>105.27</c:v>
                </c:pt>
                <c:pt idx="99">
                  <c:v>107.33</c:v>
                </c:pt>
                <c:pt idx="100">
                  <c:v>107.63</c:v>
                </c:pt>
                <c:pt idx="101">
                  <c:v>109.2</c:v>
                </c:pt>
                <c:pt idx="102">
                  <c:v>109.37</c:v>
                </c:pt>
                <c:pt idx="103">
                  <c:v>110.58</c:v>
                </c:pt>
                <c:pt idx="104">
                  <c:v>108.79</c:v>
                </c:pt>
                <c:pt idx="105">
                  <c:v>110.94</c:v>
                </c:pt>
                <c:pt idx="106">
                  <c:v>108.99</c:v>
                </c:pt>
                <c:pt idx="107">
                  <c:v>109.57</c:v>
                </c:pt>
                <c:pt idx="108">
                  <c:v>111.24</c:v>
                </c:pt>
                <c:pt idx="109">
                  <c:v>113.13</c:v>
                </c:pt>
                <c:pt idx="110">
                  <c:v>110.64</c:v>
                </c:pt>
                <c:pt idx="111">
                  <c:v>110.69</c:v>
                </c:pt>
                <c:pt idx="112">
                  <c:v>108.92</c:v>
                </c:pt>
                <c:pt idx="113">
                  <c:v>110.53</c:v>
                </c:pt>
                <c:pt idx="114">
                  <c:v>113.13</c:v>
                </c:pt>
                <c:pt idx="115">
                  <c:v>112.58</c:v>
                </c:pt>
                <c:pt idx="116">
                  <c:v>113.59</c:v>
                </c:pt>
                <c:pt idx="117">
                  <c:v>110.58</c:v>
                </c:pt>
                <c:pt idx="118">
                  <c:v>110.37</c:v>
                </c:pt>
                <c:pt idx="119">
                  <c:v>110.59</c:v>
                </c:pt>
                <c:pt idx="120">
                  <c:v>111.64</c:v>
                </c:pt>
                <c:pt idx="121">
                  <c:v>108.01</c:v>
                </c:pt>
                <c:pt idx="122">
                  <c:v>105.82</c:v>
                </c:pt>
                <c:pt idx="123">
                  <c:v>110.11</c:v>
                </c:pt>
                <c:pt idx="124">
                  <c:v>111.45</c:v>
                </c:pt>
                <c:pt idx="125">
                  <c:v>112.48</c:v>
                </c:pt>
                <c:pt idx="126">
                  <c:v>113.09</c:v>
                </c:pt>
                <c:pt idx="127">
                  <c:v>115.18</c:v>
                </c:pt>
                <c:pt idx="128">
                  <c:v>116.17</c:v>
                </c:pt>
                <c:pt idx="129">
                  <c:v>117.6</c:v>
                </c:pt>
                <c:pt idx="130">
                  <c:v>117.55</c:v>
                </c:pt>
                <c:pt idx="131">
                  <c:v>117.86</c:v>
                </c:pt>
                <c:pt idx="132">
                  <c:v>116.78</c:v>
                </c:pt>
                <c:pt idx="133">
                  <c:v>118.73</c:v>
                </c:pt>
                <c:pt idx="134">
                  <c:v>119.91</c:v>
                </c:pt>
                <c:pt idx="135">
                  <c:v>121.69</c:v>
                </c:pt>
                <c:pt idx="136">
                  <c:v>123.59</c:v>
                </c:pt>
                <c:pt idx="137">
                  <c:v>125.08</c:v>
                </c:pt>
                <c:pt idx="138">
                  <c:v>125.45</c:v>
                </c:pt>
                <c:pt idx="139">
                  <c:v>126.75</c:v>
                </c:pt>
                <c:pt idx="140">
                  <c:v>127.77</c:v>
                </c:pt>
                <c:pt idx="141">
                  <c:v>126.99</c:v>
                </c:pt>
                <c:pt idx="142">
                  <c:v>127.23</c:v>
                </c:pt>
                <c:pt idx="143">
                  <c:v>130.6</c:v>
                </c:pt>
                <c:pt idx="144">
                  <c:v>131.25</c:v>
                </c:pt>
                <c:pt idx="145">
                  <c:v>129.7</c:v>
                </c:pt>
                <c:pt idx="146">
                  <c:v>130.05</c:v>
                </c:pt>
                <c:pt idx="147">
                  <c:v>125.9</c:v>
                </c:pt>
                <c:pt idx="148">
                  <c:v>128.92</c:v>
                </c:pt>
                <c:pt idx="149">
                  <c:v>128.93</c:v>
                </c:pt>
                <c:pt idx="150">
                  <c:v>131.31</c:v>
                </c:pt>
                <c:pt idx="151">
                  <c:v>132.05</c:v>
                </c:pt>
                <c:pt idx="152">
                  <c:v>132.06</c:v>
                </c:pt>
                <c:pt idx="153">
                  <c:v>131.34</c:v>
                </c:pt>
                <c:pt idx="154">
                  <c:v>133.2</c:v>
                </c:pt>
                <c:pt idx="155">
                  <c:v>135.3</c:v>
                </c:pt>
                <c:pt idx="156">
                  <c:v>136</c:v>
                </c:pt>
                <c:pt idx="157">
                  <c:v>135.74</c:v>
                </c:pt>
                <c:pt idx="158">
                  <c:v>137.07</c:v>
                </c:pt>
                <c:pt idx="159">
                  <c:v>137.79</c:v>
                </c:pt>
                <c:pt idx="160">
                  <c:v>135.24</c:v>
                </c:pt>
                <c:pt idx="161">
                  <c:v>134.55</c:v>
                </c:pt>
                <c:pt idx="162">
                  <c:v>130.89</c:v>
                </c:pt>
                <c:pt idx="163">
                  <c:v>130.88</c:v>
                </c:pt>
                <c:pt idx="164">
                  <c:v>135.29</c:v>
                </c:pt>
                <c:pt idx="165">
                  <c:v>135.47</c:v>
                </c:pt>
                <c:pt idx="166">
                  <c:v>137.28</c:v>
                </c:pt>
                <c:pt idx="167">
                  <c:v>131.36</c:v>
                </c:pt>
                <c:pt idx="168">
                  <c:v>136.13</c:v>
                </c:pt>
                <c:pt idx="169">
                  <c:v>137.06</c:v>
                </c:pt>
                <c:pt idx="170">
                  <c:v>138.55</c:v>
                </c:pt>
                <c:pt idx="171">
                  <c:v>140.15</c:v>
                </c:pt>
                <c:pt idx="172">
                  <c:v>141.77</c:v>
                </c:pt>
                <c:pt idx="173">
                  <c:v>143.72</c:v>
                </c:pt>
                <c:pt idx="174">
                  <c:v>142.27</c:v>
                </c:pt>
                <c:pt idx="175">
                  <c:v>140.3</c:v>
                </c:pt>
                <c:pt idx="176">
                  <c:v>146.72</c:v>
                </c:pt>
                <c:pt idx="177">
                  <c:v>146.56</c:v>
                </c:pt>
                <c:pt idx="178">
                  <c:v>150.59</c:v>
                </c:pt>
                <c:pt idx="179">
                  <c:v>150.19</c:v>
                </c:pt>
                <c:pt idx="180">
                  <c:v>151.97</c:v>
                </c:pt>
                <c:pt idx="181">
                  <c:v>151.58</c:v>
                </c:pt>
                <c:pt idx="182">
                  <c:v>149.15</c:v>
                </c:pt>
                <c:pt idx="183">
                  <c:v>150.12</c:v>
                </c:pt>
                <c:pt idx="184">
                  <c:v>151.37</c:v>
                </c:pt>
                <c:pt idx="185">
                  <c:v>149.57</c:v>
                </c:pt>
                <c:pt idx="186">
                  <c:v>152.87</c:v>
                </c:pt>
                <c:pt idx="187">
                  <c:v>152.86</c:v>
                </c:pt>
                <c:pt idx="188">
                  <c:v>153.86</c:v>
                </c:pt>
                <c:pt idx="189">
                  <c:v>154.48</c:v>
                </c:pt>
                <c:pt idx="190">
                  <c:v>154.75</c:v>
                </c:pt>
                <c:pt idx="191">
                  <c:v>153.36</c:v>
                </c:pt>
                <c:pt idx="192">
                  <c:v>152.69</c:v>
                </c:pt>
                <c:pt idx="193">
                  <c:v>143.65</c:v>
                </c:pt>
                <c:pt idx="194">
                  <c:v>140.81</c:v>
                </c:pt>
                <c:pt idx="195">
                  <c:v>142.61</c:v>
                </c:pt>
                <c:pt idx="196">
                  <c:v>140.41</c:v>
                </c:pt>
                <c:pt idx="197">
                  <c:v>126.6</c:v>
                </c:pt>
                <c:pt idx="198">
                  <c:v>128.09</c:v>
                </c:pt>
                <c:pt idx="199">
                  <c:v>128.15</c:v>
                </c:pt>
                <c:pt idx="200">
                  <c:v>133.26</c:v>
                </c:pt>
                <c:pt idx="201">
                  <c:v>137.2</c:v>
                </c:pt>
                <c:pt idx="202">
                  <c:v>138.02</c:v>
                </c:pt>
                <c:pt idx="203">
                  <c:v>145.22</c:v>
                </c:pt>
                <c:pt idx="204">
                  <c:v>140.63</c:v>
                </c:pt>
                <c:pt idx="205">
                  <c:v>142.82</c:v>
                </c:pt>
                <c:pt idx="206">
                  <c:v>144.29</c:v>
                </c:pt>
                <c:pt idx="207">
                  <c:v>141.88</c:v>
                </c:pt>
                <c:pt idx="208">
                  <c:v>141.56</c:v>
                </c:pt>
                <c:pt idx="209">
                  <c:v>143.7</c:v>
                </c:pt>
                <c:pt idx="210">
                  <c:v>144.86</c:v>
                </c:pt>
                <c:pt idx="211">
                  <c:v>145.41</c:v>
                </c:pt>
                <c:pt idx="212">
                  <c:v>146.68</c:v>
                </c:pt>
                <c:pt idx="213">
                  <c:v>147.87</c:v>
                </c:pt>
                <c:pt idx="214">
                  <c:v>146.33</c:v>
                </c:pt>
                <c:pt idx="215">
                  <c:v>148.78</c:v>
                </c:pt>
                <c:pt idx="216">
                  <c:v>149.9</c:v>
                </c:pt>
                <c:pt idx="217">
                  <c:v>150.52</c:v>
                </c:pt>
                <c:pt idx="218">
                  <c:v>150.18</c:v>
                </c:pt>
                <c:pt idx="219">
                  <c:v>150.3</c:v>
                </c:pt>
                <c:pt idx="220">
                  <c:v>152.65</c:v>
                </c:pt>
                <c:pt idx="221">
                  <c:v>153.75</c:v>
                </c:pt>
                <c:pt idx="222">
                  <c:v>154</c:v>
                </c:pt>
                <c:pt idx="223">
                  <c:v>155.65</c:v>
                </c:pt>
                <c:pt idx="224">
                  <c:v>154.21</c:v>
                </c:pt>
                <c:pt idx="225">
                  <c:v>155.19</c:v>
                </c:pt>
                <c:pt idx="226">
                  <c:v>158.47</c:v>
                </c:pt>
                <c:pt idx="227">
                  <c:v>160.34</c:v>
                </c:pt>
                <c:pt idx="228">
                  <c:v>157.57</c:v>
                </c:pt>
                <c:pt idx="229">
                  <c:v>157.75</c:v>
                </c:pt>
                <c:pt idx="230">
                  <c:v>155.62</c:v>
                </c:pt>
                <c:pt idx="231">
                  <c:v>159.91</c:v>
                </c:pt>
                <c:pt idx="232">
                  <c:v>160.1</c:v>
                </c:pt>
                <c:pt idx="233">
                  <c:v>158.5</c:v>
                </c:pt>
                <c:pt idx="234">
                  <c:v>159.12</c:v>
                </c:pt>
                <c:pt idx="235">
                  <c:v>160.36</c:v>
                </c:pt>
                <c:pt idx="236">
                  <c:v>159.74</c:v>
                </c:pt>
                <c:pt idx="237">
                  <c:v>163.66</c:v>
                </c:pt>
                <c:pt idx="238">
                  <c:v>164.49</c:v>
                </c:pt>
                <c:pt idx="239">
                  <c:v>161.87</c:v>
                </c:pt>
                <c:pt idx="240">
                  <c:v>160.78</c:v>
                </c:pt>
                <c:pt idx="241">
                  <c:v>161.89</c:v>
                </c:pt>
                <c:pt idx="242">
                  <c:v>160.84</c:v>
                </c:pt>
                <c:pt idx="243">
                  <c:v>163.37</c:v>
                </c:pt>
                <c:pt idx="244">
                  <c:v>163.19</c:v>
                </c:pt>
                <c:pt idx="245">
                  <c:v>160.99</c:v>
                </c:pt>
                <c:pt idx="246">
                  <c:v>160.1</c:v>
                </c:pt>
                <c:pt idx="247">
                  <c:v>155.6</c:v>
                </c:pt>
                <c:pt idx="248">
                  <c:v>153.66</c:v>
                </c:pt>
                <c:pt idx="249">
                  <c:v>158.32</c:v>
                </c:pt>
                <c:pt idx="250">
                  <c:v>161.68</c:v>
                </c:pt>
                <c:pt idx="251">
                  <c:v>166.87</c:v>
                </c:pt>
                <c:pt idx="252">
                  <c:v>167.84</c:v>
                </c:pt>
                <c:pt idx="253">
                  <c:v>168.5</c:v>
                </c:pt>
                <c:pt idx="254">
                  <c:v>171.47</c:v>
                </c:pt>
                <c:pt idx="255">
                  <c:v>173.12</c:v>
                </c:pt>
                <c:pt idx="256">
                  <c:v>175.85</c:v>
                </c:pt>
                <c:pt idx="257">
                  <c:v>177.13</c:v>
                </c:pt>
                <c:pt idx="258">
                  <c:v>174.88</c:v>
                </c:pt>
                <c:pt idx="259">
                  <c:v>175.86</c:v>
                </c:pt>
                <c:pt idx="260">
                  <c:v>178.96</c:v>
                </c:pt>
                <c:pt idx="261">
                  <c:v>177.04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80"/>
          <c:min val="20"/>
        </c:scaling>
        <c:delete val="0"/>
        <c:axPos val="l"/>
        <c:majorGridlines>
          <c:spPr>
            <a:ln w="6350" cap="flat">
              <a:solidFill>
                <a:srgbClr val="D5DB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Centene (NYSE: CNC)  ·  Noah Doose  ·  Student research, not investment advice  ·  Data as of 29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chart" Target="/ppt/charts/chart2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7EBE2"/>
                </a:solidFill>
              </a:rPr>
              <a:t>STOCK PITCH  ·  SYSTEMATIC VALUE PORTFOLIO  ·  29 OCTOBER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Centene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E"/>
                </a:solidFill>
              </a:rPr>
              <a:t>NYSE: CNC  ·  Health Care / Managed care  ·  United States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Cheap for the wrong reason: the screen read stale earnings, and the recovery came from elsewhere</a:t>
            </a:r>
            <a:endParaRPr lang="en-US" sz="2000" dirty="0"/>
          </a:p>
        </p:txBody>
      </p:sp>
      <p:sp>
        <p:nvSpPr>
          <p:cNvPr id="6" name="rating card"/>
          <p:cNvSpPr/>
          <p:nvPr/>
        </p:nvSpPr>
        <p:spPr>
          <a:xfrm>
            <a:off x="8138160" y="960120"/>
            <a:ext cx="3504895" cy="3154680"/>
          </a:xfrm>
          <a:prstGeom prst="roundRect">
            <a:avLst>
              <a:gd name="adj" fmla="val 2319"/>
            </a:avLst>
          </a:prstGeom>
          <a:solidFill>
            <a:srgbClr val="2A322E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234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07A12"/>
          </a:solidFill>
          <a:ln w="12700">
            <a:solidFill>
              <a:srgbClr val="B07A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NEUTRAL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78440" y="1234440"/>
            <a:ext cx="1127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Case study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Price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82880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$67.60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Target (base case)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33172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$65.00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Upside / downside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3464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08A7E"/>
                </a:solidFill>
              </a:rPr>
              <a:t>−4%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Horizon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33756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 months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85616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Price: intraday, 29 Oct 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$33.5bn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Market cap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22244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&gt; $5.20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322244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2026 adj. EPS guide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13.0x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P/E on the guide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−8%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869451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Membership, y/y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Noah Doose  ·  MSc Financial Markets &amp; Investments, SKEMA Business School  ·  Student research for educational purposes,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 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Case study: Cheap for the wrong reason</a:t>
            </a:r>
            <a:endParaRPr lang="en-US" sz="2600" dirty="0"/>
          </a:p>
        </p:txBody>
      </p:sp>
      <p:sp>
        <p:nvSpPr>
          <p:cNvPr id="4" name="view panel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B07A12"/>
          </a:solidFill>
          <a:ln w="12700">
            <a:solidFill>
              <a:srgbClr val="B07A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NEUTRAL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17"/>
                </a:solidFill>
              </a:rPr>
              <a:t>$65.00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</a:rPr>
              <a:t>base-case value, −4% vs $67.60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In December 2025 Centene was the cheapest health-care stock in our universe, on FY2024 earnings that no longer existed. 2025 adjusted EPS collapsed to $2.08 before a 2026 repricing rebound to a guided floor above $5.20. The stock has recovered; at $67.60 it is fairly priced, and the lesson is about process.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Why the model bought 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75688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With a six-month accounting lag, the December 2025 score used FY2024 accounts: pre-collapse EBIT and book equity before a $6.7bn goodwill impairment. EV/EBIT, P/B and E/P all screened at the top of the sector.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7296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127248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What actually happened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511296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In July 2025 Centene withdrew guidance on Marketplace risk adjustment and Medicaid cost trends. 2025 adjusted EPS came in at $2.08. Repricing then worked: the 2026 floor was raised four times, from $3.00 to $5.20.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608576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562856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Where it stands now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946904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At $67.60 the stock trades at 13x a 2026 figure that includes about $0.50 of non-recurring items. Membership is shrinking (−8% y/y) and Medicaid still runs at a 93.6% benefits ratio. Upside and downside look balanced.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 COMPANY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Centene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Medicaid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Largest US Medicaid managed-care organisation: 11.9m members at September 2026, down from 12.7m.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Marketplace (ACA)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Ambetter plans: 3.4m members versus 5.8m a year earlier after enhanced premium tax credits expired.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Medicare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965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Wellcare: 0.95m Medicare Advantage and supplement members plus 8.9m stand-alone Part D members.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Other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Remaining Magellan Health businesses held for sale ($513m impairment, December 2025).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766560" y="1645920"/>
          <a:ext cx="48764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filings; Members by product, Sep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 INDUSTRY AND MACRO BACKDROP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moves the stock beyond the company</a:t>
            </a:r>
            <a:endParaRPr lang="en-US" sz="2600" dirty="0"/>
          </a:p>
        </p:txBody>
      </p:sp>
      <p:sp>
        <p:nvSpPr>
          <p:cNvPr id="4" name="macro card 1"/>
          <p:cNvSpPr/>
          <p:nvPr/>
        </p:nvSpPr>
        <p:spPr>
          <a:xfrm>
            <a:off x="548640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−42%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ACA subsidies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Marketplace membership y/y after enhanced premium tax credits expired on 31 Dec 2025.</a:t>
            </a:r>
            <a:endParaRPr lang="en-US" sz="1300" dirty="0"/>
          </a:p>
        </p:txBody>
      </p:sp>
      <p:sp>
        <p:nvSpPr>
          <p:cNvPr id="8" name="macro card 2"/>
          <p:cNvSpPr/>
          <p:nvPr/>
        </p:nvSpPr>
        <p:spPr>
          <a:xfrm>
            <a:off x="6278728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2027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021928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Medicaid reform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OBBBA work requirements and more frequent eligibility checks phase in from end-2026.</a:t>
            </a:r>
            <a:endParaRPr lang="en-US" sz="1300" dirty="0"/>
          </a:p>
        </p:txBody>
      </p:sp>
      <p:sp>
        <p:nvSpPr>
          <p:cNvPr id="12" name="macro card 3"/>
          <p:cNvSpPr/>
          <p:nvPr/>
        </p:nvSpPr>
        <p:spPr>
          <a:xfrm>
            <a:off x="548640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+2.48%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Medicare rates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CMS final 2027 Medicare Advantage rate notice (April 2026), versus +0.09% proposed.</a:t>
            </a:r>
            <a:endParaRPr lang="en-US" sz="1300" dirty="0"/>
          </a:p>
        </p:txBody>
      </p:sp>
      <p:sp>
        <p:nvSpPr>
          <p:cNvPr id="16" name="macro card 4"/>
          <p:cNvSpPr/>
          <p:nvPr/>
        </p:nvSpPr>
        <p:spPr>
          <a:xfrm>
            <a:off x="6278728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93.6%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21928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Medical cost trend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Medicaid benefits ratio in Q3 2026: behavioural health, home health and high-cost drugs.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releases and research brief (see Sources slide)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 WHY THE SYSTEMATIC SCREEN PICKED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Ranked 1 of 108 in Health Care on our value score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645920"/>
          <a:ext cx="515081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92240" y="4251960"/>
            <a:ext cx="5150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322E"/>
                </a:solidFill>
              </a:rPr>
              <a:t>Composite score 2.47, first of 108 in its sector. </a:t>
            </a:r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score averages the z-scores above (four ratios as yields). Accounts are used only from fiscal year end + 6 months, so in December 2025 the screen read the accounts for the fiscal year ended December 2024.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Portfolio Project pipeline (Bloomberg data); peers: Elevance Health, Humana, Cigna, UnitedHealth, CVS Health (pipeline peer set).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05  TRACK RECORD IN THE PORTFOLIO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Held at 10 of 10 rebalances since June 2021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69164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E6B4F"/>
                </a:solidFill>
              </a:rPr>
              <a:t>+62.0%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2402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H1 2026 return (EUR)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74320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+10.8%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918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MSCI World Net EUR, H1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9476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Weight, equal weight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84632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1.7% / 0.5%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39496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Min-variance / mean-variance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pipeline weekly total returns (EUR, net of withholding tax) and portfolio weights at the 31 Dec 2025 rebalance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06  FINANCIAL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Reported numbers and guidance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9M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guide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$194.8bn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$154.2bn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$50.6bn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$196.5-200.5bn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benefits ratio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90.4-91.1%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diluted EPS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$5.20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GAAP diluted EPS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−$13.53*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−$0.14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$3.46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debt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$17.4bn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/ capital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4690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*Includes a $6.7bn non-cash goodwill impairment (Q3 2025). No dividend. Sources: Centene FY2025 and Q3 2026 releases.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07  VARIANT PERCEPTION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the bulls say, and what the evidence says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60"/>
                </a:solidFill>
              </a:rPr>
              <a:t>THE BULL ARGUMENT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WHAT THE EVIDENCE SAYS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“The stock has doubled, so the model was right”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5740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The 2026 rebound came from repricing and policy, not from the cheapness the model measured. The signal had no defence against a fast fundamental break.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9852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“Managed care is a stable compounder”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339852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Margins are thin: each 10 bp of benefits ratio on ~$175bn of premiums is about $175m of pre-tax profit.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3964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“Guidance raises mean upside”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73964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The floor format ('greater than $5.20') and ~$0.50 of non-recurring items flatter 2026; FY2027 guidance in February is the real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08  VALUATION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Base-case value $65.00 per share, −4% vs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4F"/>
                </a:solidFill>
              </a:rPr>
              <a:t>Method: P/E on 2027 adjusted EPS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12344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inputs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/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$3.50 × 11x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Medicaid margins stay under water; risk-adjustment shock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$38.50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$5.00 × 13x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earnings power holds ex one-offs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$6.50 × 14x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Medicaid rates catch up; buybacks resume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22E"/>
                </a:solidFill>
              </a:rPr>
              <a:t>Managed-care insurers are valued on earnings. We apply peer-range P/E multiples to three 2027 adjusted EPS outcomes: a reset below the 2026 floor ex one-offs (~$4.70), a flat year, and continued margin repair.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</a:rPr>
              <a:t>Valuation range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52-week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52820" y="2542032"/>
            <a:ext cx="2268114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$31.63 - $72.50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49004" y="247802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04715" y="247802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406640" y="3200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Scenario range (bear - bull)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34076" y="3502152"/>
            <a:ext cx="2913530" cy="310896"/>
          </a:xfrm>
          <a:prstGeom prst="rect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$38.50 - $91.00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849004" y="343814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704715" y="343814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40664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Consensus target (third-party)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231925" y="4462272"/>
            <a:ext cx="73152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$74.50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849004" y="439826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04715" y="439826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9026044" y="5074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17"/>
                </a:solidFill>
              </a:rPr>
              <a:t>│ Price $67.60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881755" y="5349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4F"/>
                </a:solidFill>
              </a:rPr>
              <a:t>┆ Base case $65.00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own valuation; 52-week range and consensus from third-party data (29 Oct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09  CATALYSTS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could move the stock in the next 12-18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95728"/>
            <a:ext cx="10728655" cy="0"/>
          </a:xfrm>
          <a:prstGeom prst="line">
            <a:avLst/>
          </a:prstGeom>
          <a:noFill/>
          <a:ln w="25400">
            <a:solidFill>
              <a:srgbClr val="D5D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Nov 2026-Jan 2027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ACA open enrolment for 2027 (median premiums +15%)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58963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7523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Feb 2027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67523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Q4 2026 results and first FY2027 guidance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7846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6406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From Jan 2027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6406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Medicaid work requirements and eligibility checks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96729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Apr 2027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05289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Final 2028 Medicare Advantage rate notice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15612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4172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Jun-Jul 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24172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Risk-adjustment data for benefit year 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4415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</a:rPr>
              <a:t>The number to watch: </a:t>
            </a:r>
            <a:pPr indent="0" marL="0">
              <a:buNone/>
            </a:pPr>
            <a:r>
              <a:rPr lang="en-US" sz="1500" dirty="0">
                <a:solidFill>
                  <a:srgbClr val="141A17"/>
                </a:solidFill>
              </a:rPr>
              <a:t>FY2027 guidance materially below ~$4.70 of adjusted 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10  RISKS AND SELL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would change our view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00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Marketplace risk pool worsens as healthier members lapse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Repricing already filed; membership smaller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Medicaid rate adequacy versus acuity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rate increases in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Medicare Star ratings limit bonuses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MA book (0.95m members)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Little unregulated cash ($175m)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reduced from $17.4bn to $15.5bn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62095" cy="416052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WE WOULD CHANGE OUR VIEW IF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86000"/>
            <a:ext cx="34134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FY2027 guidance materially below ~$4.70 of adjusted EPS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Medicaid benefits ratio failing to improve from ~93.5%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Another mid-year risk-adjustment shock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11  SOURCES AND DISCLOSURES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[1] Centene, "Centene Corporation Reports Third Quarter 2026 Results", 8-K Ex. 99.1, 27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[2] Centene, "Centene Corporation Reports 2025 Results and Announces 2026 Guidance", 8-K Ex. 99.1, 6 Feb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[3] Centene, Form 10-Q for the quarter ended 30 Sep 2026 (financial statements and notes only), filed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[4] Centene, "Centene Corporation Withdraws 2025 Guidance", 8-K Ex. 99.1, 1 Jul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[5] Centene, "Centene Corporation Reports Third Quarter 2025 Results", 8-K Ex. 99.1, 29 Oct 2025 (content via search excerpt)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[6] Centene, "Centene Corporation Reports First Quarter 2026 Results", 8-K Ex. 99.1, 28 Apr 2026 (content via search excerpt)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[7] Centene, "Centene Corporation Reports Second Quarter 2026 Results", 8-K Ex. 99.1, 28 Jul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87288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[8] Fierce Healthcare, "CMS gives Medicare Advantage rates a 2.48% bump for 2027 plan year in final rule", Apr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[9] American Hospital Association, "CMS releases 2027 Medicare Advantage, Part D star ratings", 9 Oct 2026; Becker's Payer Issues, 2027 star ratings coverage,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[10] Fierce Healthcare, "Centene posts $71M loss, $50.6B in revenue for Q3", Oct 2026 (page blocked; content via search excerpt)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[11] Becker's Payer Issues, ACA enhanced subsidy coverage (expiry 31 Dec 2025; talks collapsed per WSJ, 5 Feb 2026); Fierce Healthcare, "Centene, Oscar Health outline 2027 ACA marketplace plans" (KFF 15% median 2027 increase),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[12] stockanalysis.com, Centene (CNC) quote page, data as of 29 Oct 2026 (third-party)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Portfolio Project pipeline: scores, multiples, weights and returns computed from Bloomberg data extracted on the SKEMA terminal (Oct 2026).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</a:rPr>
              <a:t>Disclosure: student research prepared for educational purposes and job interviews. It is not investment advice or a solicitation. Third-party market data (prices, consensus, forward multiples) is labelled and was accessed on 29 October 2026; third-party figures should be checked against company filings or a Bloomberg terminal before use. Backtest results are hypothetical.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Ledger">
  <a:themeElements>
    <a:clrScheme name="Research Ledger">
      <a:dk1>
        <a:srgbClr val="141A17"/>
      </a:dk1>
      <a:lt1>
        <a:srgbClr val="FFFFFF"/>
      </a:lt1>
      <a:dk2>
        <a:srgbClr val="5B6660"/>
      </a:dk2>
      <a:lt2>
        <a:srgbClr val="F2F4F1"/>
      </a:lt2>
      <a:accent1>
        <a:srgbClr val="0E6B4F"/>
      </a:accent1>
      <a:accent2>
        <a:srgbClr val="D7EBE2"/>
      </a:accent2>
      <a:accent3>
        <a:srgbClr val="B23A2E"/>
      </a:accent3>
      <a:accent4>
        <a:srgbClr val="B07A12"/>
      </a:accent4>
      <a:accent5>
        <a:srgbClr val="9AAAA2"/>
      </a:accent5>
      <a:accent6>
        <a:srgbClr val="D5DBD6"/>
      </a:accent6>
      <a:hlink>
        <a:srgbClr val="0E6B4F"/>
      </a:hlink>
      <a:folHlink>
        <a:srgbClr val="5B6660"/>
      </a:folHlink>
    </a:clrScheme>
    <a:fontScheme name="Research Led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Noah Doose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Centene stock pitch</dc:title>
  <dc:subject>PptxGenJS Presentation</dc:subject>
  <dc:creator>Noah Doose</dc:creator>
  <cp:lastModifiedBy>Noah Doose</cp:lastModifiedBy>
  <cp:revision>1</cp:revision>
  <dcterms:created xsi:type="dcterms:W3CDTF">2026-10-30T06:38:34Z</dcterms:created>
  <dcterms:modified xsi:type="dcterms:W3CDTF">2026-10-30T06:38:34Z</dcterms:modified>
</cp:coreProperties>
</file>