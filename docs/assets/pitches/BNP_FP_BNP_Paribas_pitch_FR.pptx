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07f346b-1f57-7a06-d9cb-68c4d95f3367}">
          <p14:sldIdLst>
            <p14:sldId id="256"/>
          </p14:sldIdLst>
        </p14:section>
        <p14:section name="Thesis" id="{3057fc87-6cf8-676c-d2e7-7eecc4e1f0f2}">
          <p14:sldIdLst>
            <p14:sldId id="257"/>
          </p14:sldIdLst>
        </p14:section>
        <p14:section name="Company" id="{bb2dc669-ff37-65f6-3fb6-a17f45cbcae8}">
          <p14:sldIdLst>
            <p14:sldId id="258"/>
            <p14:sldId id="259"/>
          </p14:sldIdLst>
        </p14:section>
        <p14:section name="Screen" id="{545aca6d-e0be-6a4c-8694-d79fb941fde9}">
          <p14:sldIdLst>
            <p14:sldId id="260"/>
            <p14:sldId id="261"/>
          </p14:sldIdLst>
        </p14:section>
        <p14:section name="Financials" id="{59c22130-5897-5cb1-32e1-e163b3e9e971}">
          <p14:sldIdLst>
            <p14:sldId id="262"/>
            <p14:sldId id="263"/>
          </p14:sldIdLst>
        </p14:section>
        <p14:section name="Valuation" id="{6d045285-03e5-a50d-2fb6-4c242c222ca9}">
          <p14:sldIdLst>
            <p14:sldId id="264"/>
          </p14:sldIdLst>
        </p14:section>
        <p14:section name="Catalysts and risks" id="{c67e2557-de2e-03e4-9031-0b18a69559ee}">
          <p14:sldIdLst>
            <p14:sldId id="265"/>
            <p14:sldId id="266"/>
          </p14:sldIdLst>
        </p14:section>
        <p14:section name="Sources" id="{e11915c4-89a5-cffb-fa5c-6c8588a731b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PNB par pôle, 9 mois 2026 (part du total)</a:t>
            </a:r>
          </a:p>
        </c:rich>
      </c:tx>
      <c:layout/>
      <c:overlay val="0"/>
    </c:title>
    <c:autoTitleDeleted val="0"/>
    <c:plotArea>
      <c:layout/>
      <c:barChart>
        <c:barDir val="bar"/>
        <c:grouping val="clustered"/>
        <c:varyColors val="0"/>
        <c:ser>
          <c:idx val="0"/>
          <c:order val="0"/>
          <c:tx>
            <c:strRef>
              <c:f>Sheet1!$B$1</c:f>
              <c:strCache>
                <c:ptCount val="1"/>
                <c:pt idx="0">
                  <c:v>PNB par pôle, 9 mois 2026</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Banque commerciale et services</c:v>
                  </c:pt>
                  <c:pt idx="1">
                    <c:v>Banque de financement et d'investissement</c:v>
                  </c:pt>
                  <c:pt idx="2">
                    <c:v>Épargne, assurance et gestion</c:v>
                  </c:pt>
                </c:lvl>
              </c:multiLvlStrCache>
            </c:multiLvlStrRef>
          </c:cat>
          <c:val>
            <c:numRef>
              <c:f>Sheet1!$B$2:$B$4</c:f>
              <c:numCache>
                <c:formatCode>General</c:formatCode>
                <c:ptCount val="3"/>
                <c:pt idx="0">
                  <c:v>0.4884160756501182</c:v>
                </c:pt>
                <c:pt idx="1">
                  <c:v>0.37174940898345155</c:v>
                </c:pt>
                <c:pt idx="2">
                  <c:v>0.13983451536643027</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BNP Paribas</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PER</c:v>
                  </c:pt>
                  <c:pt idx="1">
                    <c:v>P/B</c:v>
                  </c:pt>
                  <c:pt idx="2">
                    <c:v>VE/CA</c:v>
                  </c:pt>
                </c:lvl>
              </c:multiLvlStrCache>
            </c:multiLvlStrRef>
          </c:cat>
          <c:val>
            <c:numRef>
              <c:f>Sheet1!$B$2:$B$4</c:f>
              <c:numCache>
                <c:formatCode>General</c:formatCode>
                <c:ptCount val="3"/>
                <c:pt idx="0">
                  <c:v>7.72</c:v>
                </c:pt>
                <c:pt idx="1">
                  <c:v>0.78</c:v>
                </c:pt>
                <c:pt idx="2">
                  <c:v>1.49</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PER</c:v>
                  </c:pt>
                  <c:pt idx="1">
                    <c:v>P/B</c:v>
                  </c:pt>
                  <c:pt idx="2">
                    <c:v>VE/CA</c:v>
                  </c:pt>
                </c:lvl>
              </c:multiLvlStrCache>
            </c:multiLvlStrRef>
          </c:cat>
          <c:val>
            <c:numRef>
              <c:f>Sheet1!$C$2:$C$4</c:f>
              <c:numCache>
                <c:formatCode>General</c:formatCode>
                <c:ptCount val="3"/>
                <c:pt idx="0">
                  <c:v>11.64</c:v>
                </c:pt>
                <c:pt idx="1">
                  <c:v>1.2</c:v>
                </c:pt>
                <c:pt idx="2">
                  <c:v>2.87</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PER</c:v>
                  </c:pt>
                  <c:pt idx="1">
                    <c:v>P/B</c:v>
                  </c:pt>
                  <c:pt idx="2">
                    <c:v>VE/CA</c:v>
                  </c:pt>
                </c:lvl>
              </c:multiLvlStrCache>
            </c:multiLvlStrRef>
          </c:cat>
          <c:val>
            <c:numRef>
              <c:f>Sheet1!$D$2:$D$4</c:f>
              <c:numCache>
                <c:formatCode>General</c:formatCode>
                <c:ptCount val="3"/>
                <c:pt idx="0">
                  <c:v>14.25</c:v>
                </c:pt>
                <c:pt idx="1">
                  <c:v>1.89</c:v>
                </c:pt>
                <c:pt idx="2">
                  <c:v>2.93</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cat>
            <c:multiLvlStrRef>
              <c:f>Sheet1!$A$2:$A$3</c:f>
              <c:multiLvlStrCache>
                <c:ptCount val="2"/>
                <c:lvl>
                  <c:pt idx="0">
                    <c:v>Valeur comptable / cours</c:v>
                  </c:pt>
                  <c:pt idx="1">
                    <c:v>Bénéfices / cours</c:v>
                  </c:pt>
                </c:lvl>
              </c:multiLvlStrCache>
            </c:multiLvlStrRef>
          </c:cat>
          <c:val>
            <c:numRef>
              <c:f>Sheet1!$B$2:$B$3</c:f>
              <c:numCache>
                <c:formatCode>General</c:formatCode>
                <c:ptCount val="2"/>
                <c:pt idx="0">
                  <c:v>2.080190600285275</c:v>
                </c:pt>
                <c:pt idx="1">
                  <c:v>1.9670013787186564</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BNP Paribas</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96.35</c:v>
                </c:pt>
                <c:pt idx="2">
                  <c:v>93.52</c:v>
                </c:pt>
                <c:pt idx="3">
                  <c:v>91.59</c:v>
                </c:pt>
                <c:pt idx="4">
                  <c:v>92.86</c:v>
                </c:pt>
                <c:pt idx="5">
                  <c:v>94.47</c:v>
                </c:pt>
                <c:pt idx="6">
                  <c:v>99.16</c:v>
                </c:pt>
                <c:pt idx="7">
                  <c:v>99.85</c:v>
                </c:pt>
                <c:pt idx="8">
                  <c:v>95.67</c:v>
                </c:pt>
                <c:pt idx="9">
                  <c:v>98.16</c:v>
                </c:pt>
                <c:pt idx="10">
                  <c:v>98.92</c:v>
                </c:pt>
                <c:pt idx="11">
                  <c:v>96.99</c:v>
                </c:pt>
                <c:pt idx="12">
                  <c:v>98.31</c:v>
                </c:pt>
                <c:pt idx="13">
                  <c:v>100.62</c:v>
                </c:pt>
                <c:pt idx="14">
                  <c:v>103.63</c:v>
                </c:pt>
                <c:pt idx="15">
                  <c:v>107.62</c:v>
                </c:pt>
                <c:pt idx="16">
                  <c:v>109.03</c:v>
                </c:pt>
                <c:pt idx="17">
                  <c:v>108.96</c:v>
                </c:pt>
                <c:pt idx="18">
                  <c:v>109.32</c:v>
                </c:pt>
                <c:pt idx="19">
                  <c:v>112.36</c:v>
                </c:pt>
                <c:pt idx="20">
                  <c:v>111.9</c:v>
                </c:pt>
                <c:pt idx="21">
                  <c:v>108.98</c:v>
                </c:pt>
                <c:pt idx="22">
                  <c:v>104.39</c:v>
                </c:pt>
                <c:pt idx="23">
                  <c:v>106.05</c:v>
                </c:pt>
                <c:pt idx="24">
                  <c:v>107.07</c:v>
                </c:pt>
                <c:pt idx="25">
                  <c:v>106.05</c:v>
                </c:pt>
                <c:pt idx="26">
                  <c:v>112.81</c:v>
                </c:pt>
                <c:pt idx="27">
                  <c:v>114.73</c:v>
                </c:pt>
                <c:pt idx="28">
                  <c:v>121.78</c:v>
                </c:pt>
                <c:pt idx="29">
                  <c:v>125.17</c:v>
                </c:pt>
                <c:pt idx="30">
                  <c:v>117.89</c:v>
                </c:pt>
                <c:pt idx="31">
                  <c:v>118.53</c:v>
                </c:pt>
                <c:pt idx="32">
                  <c:v>121.4</c:v>
                </c:pt>
                <c:pt idx="33">
                  <c:v>122.53</c:v>
                </c:pt>
                <c:pt idx="34">
                  <c:v>116.91</c:v>
                </c:pt>
                <c:pt idx="35">
                  <c:v>107.14</c:v>
                </c:pt>
                <c:pt idx="36">
                  <c:v>89.1</c:v>
                </c:pt>
                <c:pt idx="37">
                  <c:v>92.57</c:v>
                </c:pt>
                <c:pt idx="38">
                  <c:v>100.73</c:v>
                </c:pt>
                <c:pt idx="39">
                  <c:v>94.4</c:v>
                </c:pt>
                <c:pt idx="40">
                  <c:v>97.59</c:v>
                </c:pt>
                <c:pt idx="41">
                  <c:v>90.33</c:v>
                </c:pt>
                <c:pt idx="42">
                  <c:v>93.47</c:v>
                </c:pt>
                <c:pt idx="43">
                  <c:v>97.67</c:v>
                </c:pt>
                <c:pt idx="44">
                  <c:v>93.84</c:v>
                </c:pt>
                <c:pt idx="45">
                  <c:v>95.51</c:v>
                </c:pt>
                <c:pt idx="46">
                  <c:v>98.89</c:v>
                </c:pt>
                <c:pt idx="47">
                  <c:v>101.4</c:v>
                </c:pt>
                <c:pt idx="48">
                  <c:v>108.52</c:v>
                </c:pt>
                <c:pt idx="49">
                  <c:v>106.51</c:v>
                </c:pt>
                <c:pt idx="50">
                  <c:v>98.49</c:v>
                </c:pt>
                <c:pt idx="51">
                  <c:v>96.74</c:v>
                </c:pt>
                <c:pt idx="52">
                  <c:v>97.14</c:v>
                </c:pt>
                <c:pt idx="53">
                  <c:v>91.82</c:v>
                </c:pt>
                <c:pt idx="54">
                  <c:v>92.12</c:v>
                </c:pt>
                <c:pt idx="55">
                  <c:v>84.25</c:v>
                </c:pt>
                <c:pt idx="56">
                  <c:v>88.79</c:v>
                </c:pt>
                <c:pt idx="57">
                  <c:v>93.22</c:v>
                </c:pt>
                <c:pt idx="58">
                  <c:v>98.97</c:v>
                </c:pt>
                <c:pt idx="59">
                  <c:v>102.2</c:v>
                </c:pt>
                <c:pt idx="60">
                  <c:v>96.58</c:v>
                </c:pt>
                <c:pt idx="61">
                  <c:v>92.91</c:v>
                </c:pt>
                <c:pt idx="62">
                  <c:v>96.22</c:v>
                </c:pt>
                <c:pt idx="63">
                  <c:v>98.65</c:v>
                </c:pt>
                <c:pt idx="64">
                  <c:v>99.96</c:v>
                </c:pt>
                <c:pt idx="65">
                  <c:v>95.05</c:v>
                </c:pt>
                <c:pt idx="66">
                  <c:v>88.36</c:v>
                </c:pt>
                <c:pt idx="67">
                  <c:v>88.38</c:v>
                </c:pt>
                <c:pt idx="68">
                  <c:v>89.29</c:v>
                </c:pt>
                <c:pt idx="69">
                  <c:v>93.99</c:v>
                </c:pt>
                <c:pt idx="70">
                  <c:v>95.82</c:v>
                </c:pt>
                <c:pt idx="71">
                  <c:v>102.6</c:v>
                </c:pt>
                <c:pt idx="72">
                  <c:v>104.89</c:v>
                </c:pt>
                <c:pt idx="73">
                  <c:v>108.03</c:v>
                </c:pt>
                <c:pt idx="74">
                  <c:v>108.07</c:v>
                </c:pt>
                <c:pt idx="75">
                  <c:v>106.9</c:v>
                </c:pt>
                <c:pt idx="76">
                  <c:v>107.18</c:v>
                </c:pt>
                <c:pt idx="77">
                  <c:v>106.47</c:v>
                </c:pt>
                <c:pt idx="78">
                  <c:v>109.02</c:v>
                </c:pt>
                <c:pt idx="79">
                  <c:v>107.91</c:v>
                </c:pt>
                <c:pt idx="80">
                  <c:v>119.78</c:v>
                </c:pt>
                <c:pt idx="81">
                  <c:v>121.3</c:v>
                </c:pt>
                <c:pt idx="82">
                  <c:v>120.88</c:v>
                </c:pt>
                <c:pt idx="83">
                  <c:v>125.7</c:v>
                </c:pt>
                <c:pt idx="84">
                  <c:v>125.07</c:v>
                </c:pt>
                <c:pt idx="85">
                  <c:v>128.86</c:v>
                </c:pt>
                <c:pt idx="86">
                  <c:v>132.59</c:v>
                </c:pt>
                <c:pt idx="87">
                  <c:v>129.47</c:v>
                </c:pt>
                <c:pt idx="88">
                  <c:v>130.22</c:v>
                </c:pt>
                <c:pt idx="89">
                  <c:v>122.1</c:v>
                </c:pt>
                <c:pt idx="90">
                  <c:v>104.73</c:v>
                </c:pt>
                <c:pt idx="91">
                  <c:v>102.28</c:v>
                </c:pt>
                <c:pt idx="92">
                  <c:v>111.88</c:v>
                </c:pt>
                <c:pt idx="93">
                  <c:v>115.98</c:v>
                </c:pt>
                <c:pt idx="94">
                  <c:v>120.35</c:v>
                </c:pt>
                <c:pt idx="95">
                  <c:v>118.87</c:v>
                </c:pt>
                <c:pt idx="96">
                  <c:v>118.73</c:v>
                </c:pt>
                <c:pt idx="97">
                  <c:v>117.31</c:v>
                </c:pt>
                <c:pt idx="98">
                  <c:v>118.53</c:v>
                </c:pt>
                <c:pt idx="99">
                  <c:v>121.28</c:v>
                </c:pt>
                <c:pt idx="100">
                  <c:v>122.06</c:v>
                </c:pt>
                <c:pt idx="101">
                  <c:v>122.43</c:v>
                </c:pt>
                <c:pt idx="102">
                  <c:v>121.54</c:v>
                </c:pt>
                <c:pt idx="103">
                  <c:v>122.63</c:v>
                </c:pt>
                <c:pt idx="104">
                  <c:v>118.9</c:v>
                </c:pt>
                <c:pt idx="105">
                  <c:v>125.12</c:v>
                </c:pt>
                <c:pt idx="106">
                  <c:v>119.49</c:v>
                </c:pt>
                <c:pt idx="107">
                  <c:v>122.8</c:v>
                </c:pt>
                <c:pt idx="108">
                  <c:v>125.75</c:v>
                </c:pt>
                <c:pt idx="109">
                  <c:v>130.45</c:v>
                </c:pt>
                <c:pt idx="110">
                  <c:v>128.52</c:v>
                </c:pt>
                <c:pt idx="111">
                  <c:v>129.09</c:v>
                </c:pt>
                <c:pt idx="112">
                  <c:v>126.21</c:v>
                </c:pt>
                <c:pt idx="113">
                  <c:v>126.4</c:v>
                </c:pt>
                <c:pt idx="114">
                  <c:v>129.17</c:v>
                </c:pt>
                <c:pt idx="115">
                  <c:v>126.66</c:v>
                </c:pt>
                <c:pt idx="116">
                  <c:v>133.23</c:v>
                </c:pt>
                <c:pt idx="117">
                  <c:v>131.67</c:v>
                </c:pt>
                <c:pt idx="118">
                  <c:v>131</c:v>
                </c:pt>
                <c:pt idx="119">
                  <c:v>130.02</c:v>
                </c:pt>
                <c:pt idx="120">
                  <c:v>124.95</c:v>
                </c:pt>
                <c:pt idx="121">
                  <c:v>120.44</c:v>
                </c:pt>
                <c:pt idx="122">
                  <c:v>118.51</c:v>
                </c:pt>
                <c:pt idx="123">
                  <c:v>122.78</c:v>
                </c:pt>
                <c:pt idx="124">
                  <c:v>120.55</c:v>
                </c:pt>
                <c:pt idx="125">
                  <c:v>122.98</c:v>
                </c:pt>
                <c:pt idx="126">
                  <c:v>123.63</c:v>
                </c:pt>
                <c:pt idx="127">
                  <c:v>125.29</c:v>
                </c:pt>
                <c:pt idx="128">
                  <c:v>134.07</c:v>
                </c:pt>
                <c:pt idx="129">
                  <c:v>136.76</c:v>
                </c:pt>
                <c:pt idx="130">
                  <c:v>136.59</c:v>
                </c:pt>
                <c:pt idx="131">
                  <c:v>135.68</c:v>
                </c:pt>
                <c:pt idx="132">
                  <c:v>136.57</c:v>
                </c:pt>
                <c:pt idx="133">
                  <c:v>131.86</c:v>
                </c:pt>
                <c:pt idx="134">
                  <c:v>131.39</c:v>
                </c:pt>
                <c:pt idx="135">
                  <c:v>135.59</c:v>
                </c:pt>
                <c:pt idx="136">
                  <c:v>121.52</c:v>
                </c:pt>
                <c:pt idx="137">
                  <c:v>115.84</c:v>
                </c:pt>
                <c:pt idx="138">
                  <c:v>117.88</c:v>
                </c:pt>
                <c:pt idx="139">
                  <c:v>122.24</c:v>
                </c:pt>
                <c:pt idx="140">
                  <c:v>121.72</c:v>
                </c:pt>
                <c:pt idx="141">
                  <c:v>127.74</c:v>
                </c:pt>
                <c:pt idx="142">
                  <c:v>132.69</c:v>
                </c:pt>
                <c:pt idx="143">
                  <c:v>136.13</c:v>
                </c:pt>
                <c:pt idx="144">
                  <c:v>142.77</c:v>
                </c:pt>
                <c:pt idx="145">
                  <c:v>144.26</c:v>
                </c:pt>
                <c:pt idx="146">
                  <c:v>141.68</c:v>
                </c:pt>
                <c:pt idx="147">
                  <c:v>141.83</c:v>
                </c:pt>
                <c:pt idx="148">
                  <c:v>145.26</c:v>
                </c:pt>
                <c:pt idx="149">
                  <c:v>146.63</c:v>
                </c:pt>
                <c:pt idx="150">
                  <c:v>154.34</c:v>
                </c:pt>
                <c:pt idx="151">
                  <c:v>156.75</c:v>
                </c:pt>
                <c:pt idx="152">
                  <c:v>155.51</c:v>
                </c:pt>
                <c:pt idx="153">
                  <c:v>156.64</c:v>
                </c:pt>
                <c:pt idx="154">
                  <c:v>153.56</c:v>
                </c:pt>
                <c:pt idx="155">
                  <c:v>135.14</c:v>
                </c:pt>
                <c:pt idx="156">
                  <c:v>137.27</c:v>
                </c:pt>
                <c:pt idx="157">
                  <c:v>137.74</c:v>
                </c:pt>
                <c:pt idx="158">
                  <c:v>147.29</c:v>
                </c:pt>
                <c:pt idx="159">
                  <c:v>144.47</c:v>
                </c:pt>
                <c:pt idx="160">
                  <c:v>145.88</c:v>
                </c:pt>
                <c:pt idx="161">
                  <c:v>149.14</c:v>
                </c:pt>
                <c:pt idx="162">
                  <c:v>138.04</c:v>
                </c:pt>
                <c:pt idx="163">
                  <c:v>137.09</c:v>
                </c:pt>
                <c:pt idx="164">
                  <c:v>141.41</c:v>
                </c:pt>
                <c:pt idx="165">
                  <c:v>142.11</c:v>
                </c:pt>
                <c:pt idx="166">
                  <c:v>144.79</c:v>
                </c:pt>
                <c:pt idx="167">
                  <c:v>143.87</c:v>
                </c:pt>
                <c:pt idx="168">
                  <c:v>146.62</c:v>
                </c:pt>
                <c:pt idx="169">
                  <c:v>149.88</c:v>
                </c:pt>
                <c:pt idx="170">
                  <c:v>146.46</c:v>
                </c:pt>
                <c:pt idx="171">
                  <c:v>140.81</c:v>
                </c:pt>
                <c:pt idx="172">
                  <c:v>143.82</c:v>
                </c:pt>
                <c:pt idx="173">
                  <c:v>153.33</c:v>
                </c:pt>
                <c:pt idx="174">
                  <c:v>151.16</c:v>
                </c:pt>
                <c:pt idx="175">
                  <c:v>145.86</c:v>
                </c:pt>
                <c:pt idx="176">
                  <c:v>138.27</c:v>
                </c:pt>
                <c:pt idx="177">
                  <c:v>139.08</c:v>
                </c:pt>
                <c:pt idx="178">
                  <c:v>131.7</c:v>
                </c:pt>
                <c:pt idx="179">
                  <c:v>131.05</c:v>
                </c:pt>
                <c:pt idx="180">
                  <c:v>135.52</c:v>
                </c:pt>
                <c:pt idx="181">
                  <c:v>136.37</c:v>
                </c:pt>
                <c:pt idx="182">
                  <c:v>132.99</c:v>
                </c:pt>
                <c:pt idx="183">
                  <c:v>135.45</c:v>
                </c:pt>
                <c:pt idx="184">
                  <c:v>135.33</c:v>
                </c:pt>
                <c:pt idx="185">
                  <c:v>137.32</c:v>
                </c:pt>
                <c:pt idx="186">
                  <c:v>144.01</c:v>
                </c:pt>
                <c:pt idx="187">
                  <c:v>147.18</c:v>
                </c:pt>
                <c:pt idx="188">
                  <c:v>152.06</c:v>
                </c:pt>
                <c:pt idx="189">
                  <c:v>160.69</c:v>
                </c:pt>
                <c:pt idx="190">
                  <c:v>161.85</c:v>
                </c:pt>
                <c:pt idx="191">
                  <c:v>164.55</c:v>
                </c:pt>
                <c:pt idx="192">
                  <c:v>168.58</c:v>
                </c:pt>
                <c:pt idx="193">
                  <c:v>177.16</c:v>
                </c:pt>
                <c:pt idx="194">
                  <c:v>175.2</c:v>
                </c:pt>
                <c:pt idx="195">
                  <c:v>184.45</c:v>
                </c:pt>
                <c:pt idx="196">
                  <c:v>181.74</c:v>
                </c:pt>
                <c:pt idx="197">
                  <c:v>158.88</c:v>
                </c:pt>
                <c:pt idx="198">
                  <c:v>151.8</c:v>
                </c:pt>
                <c:pt idx="199">
                  <c:v>163.67</c:v>
                </c:pt>
                <c:pt idx="200">
                  <c:v>168.46</c:v>
                </c:pt>
                <c:pt idx="201">
                  <c:v>176.68</c:v>
                </c:pt>
                <c:pt idx="202">
                  <c:v>179.31</c:v>
                </c:pt>
                <c:pt idx="203">
                  <c:v>183.69</c:v>
                </c:pt>
                <c:pt idx="204">
                  <c:v>186.74</c:v>
                </c:pt>
                <c:pt idx="205">
                  <c:v>189.94</c:v>
                </c:pt>
                <c:pt idx="206">
                  <c:v>192.4</c:v>
                </c:pt>
                <c:pt idx="207">
                  <c:v>185.36</c:v>
                </c:pt>
                <c:pt idx="208">
                  <c:v>182.95</c:v>
                </c:pt>
                <c:pt idx="209">
                  <c:v>189.35</c:v>
                </c:pt>
                <c:pt idx="210">
                  <c:v>184.38</c:v>
                </c:pt>
                <c:pt idx="211">
                  <c:v>188.61</c:v>
                </c:pt>
                <c:pt idx="212">
                  <c:v>191.66</c:v>
                </c:pt>
                <c:pt idx="213">
                  <c:v>194.2</c:v>
                </c:pt>
                <c:pt idx="214">
                  <c:v>188.44</c:v>
                </c:pt>
                <c:pt idx="215">
                  <c:v>200.68</c:v>
                </c:pt>
                <c:pt idx="216">
                  <c:v>206.09</c:v>
                </c:pt>
                <c:pt idx="217">
                  <c:v>205.31</c:v>
                </c:pt>
                <c:pt idx="218">
                  <c:v>189.18</c:v>
                </c:pt>
                <c:pt idx="219">
                  <c:v>188.41</c:v>
                </c:pt>
                <c:pt idx="220">
                  <c:v>195.26</c:v>
                </c:pt>
                <c:pt idx="221">
                  <c:v>196</c:v>
                </c:pt>
                <c:pt idx="222">
                  <c:v>197.45</c:v>
                </c:pt>
                <c:pt idx="223">
                  <c:v>198.62</c:v>
                </c:pt>
                <c:pt idx="224">
                  <c:v>192.25</c:v>
                </c:pt>
                <c:pt idx="225">
                  <c:v>190.7</c:v>
                </c:pt>
                <c:pt idx="226">
                  <c:v>174.38</c:v>
                </c:pt>
                <c:pt idx="227">
                  <c:v>170.76</c:v>
                </c:pt>
                <c:pt idx="228">
                  <c:v>166.76</c:v>
                </c:pt>
                <c:pt idx="229">
                  <c:v>175.27</c:v>
                </c:pt>
                <c:pt idx="230">
                  <c:v>179.44</c:v>
                </c:pt>
                <c:pt idx="231">
                  <c:v>187.64</c:v>
                </c:pt>
                <c:pt idx="232">
                  <c:v>191.97</c:v>
                </c:pt>
                <c:pt idx="233">
                  <c:v>198.85</c:v>
                </c:pt>
                <c:pt idx="234">
                  <c:v>205.24</c:v>
                </c:pt>
                <c:pt idx="235">
                  <c:v>205.03</c:v>
                </c:pt>
                <c:pt idx="236">
                  <c:v>208.6</c:v>
                </c:pt>
                <c:pt idx="237">
                  <c:v>222.04</c:v>
                </c:pt>
                <c:pt idx="238">
                  <c:v>222.07</c:v>
                </c:pt>
                <c:pt idx="239">
                  <c:v>224.44</c:v>
                </c:pt>
                <c:pt idx="240">
                  <c:v>232.23</c:v>
                </c:pt>
                <c:pt idx="241">
                  <c:v>237.27</c:v>
                </c:pt>
                <c:pt idx="242">
                  <c:v>227.65</c:v>
                </c:pt>
                <c:pt idx="243">
                  <c:v>241.22</c:v>
                </c:pt>
                <c:pt idx="244">
                  <c:v>243.18</c:v>
                </c:pt>
                <c:pt idx="245">
                  <c:v>219.88</c:v>
                </c:pt>
                <c:pt idx="246">
                  <c:v>216.16</c:v>
                </c:pt>
                <c:pt idx="247">
                  <c:v>209.13</c:v>
                </c:pt>
                <c:pt idx="248">
                  <c:v>206.46</c:v>
                </c:pt>
                <c:pt idx="249">
                  <c:v>212.11</c:v>
                </c:pt>
                <c:pt idx="250">
                  <c:v>230.01</c:v>
                </c:pt>
                <c:pt idx="251">
                  <c:v>240.07</c:v>
                </c:pt>
                <c:pt idx="252">
                  <c:v>226.65</c:v>
                </c:pt>
                <c:pt idx="253">
                  <c:v>227.21</c:v>
                </c:pt>
                <c:pt idx="254">
                  <c:v>233.12</c:v>
                </c:pt>
                <c:pt idx="255">
                  <c:v>227.26</c:v>
                </c:pt>
                <c:pt idx="256">
                  <c:v>235.79</c:v>
                </c:pt>
                <c:pt idx="257">
                  <c:v>243.7</c:v>
                </c:pt>
                <c:pt idx="258">
                  <c:v>245.54</c:v>
                </c:pt>
                <c:pt idx="259">
                  <c:v>253.51</c:v>
                </c:pt>
                <c:pt idx="260">
                  <c:v>266.33</c:v>
                </c:pt>
                <c:pt idx="261">
                  <c:v>265.12</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28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54" dirty="0">
                <a:solidFill>
                  <a:schemeClr val="tx2"/>
                </a:solidFill>
              </a:rPr>
              <a:t>BNP Paribas (Euronext Paris : BNP)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BNP Paribas</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400" dirty="0">
                <a:solidFill>
                  <a:srgbClr val="B9C4BE"/>
                </a:solidFill>
              </a:rPr>
              <a:t>Euronext Paris : BNP  ·  Finance / Banques  ·  France</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862" dirty="0">
                <a:solidFill>
                  <a:srgbClr val="FFFFFF"/>
                </a:solidFill>
              </a:rPr>
              <a:t>13 % de rentabilité des fonds propres tangibles pour 0,9x l'actif net tangible : la décote française va trop loin</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SURPONDÉRER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87,65 €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103,89 €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+19 %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Cours : clôture,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96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13,2 %</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RoTE, 9 mois 2026</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7,1x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2026e (consensus)</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6,8 %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2026e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21" b="1" dirty="0">
                <a:solidFill>
                  <a:schemeClr val="tx1"/>
                </a:solidFill>
              </a:rPr>
              <a:t>13 % de rentabilité des fonds propres tangibles pour 0,9x l'actif net tangible : la décote française va trop loin</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SURPONDÉRER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103,89 €</a:t>
            </a:r>
            <a:endParaRPr lang="en-US" sz="3000" dirty="0"/>
          </a:p>
          <a:p>
            <a:pPr indent="0" marL="0">
              <a:buNone/>
            </a:pPr>
            <a:r>
              <a:rPr lang="en-US" sz="1300" dirty="0">
                <a:solidFill>
                  <a:srgbClr val="5B6660"/>
                </a:solidFill>
              </a:rPr>
              <a:t>valeur centrale, +19 % vs 87,65 €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218" dirty="0">
                <a:solidFill>
                  <a:srgbClr val="141A17"/>
                </a:solidFill>
              </a:rPr>
              <a:t>BNP a dégagé 13,2 % de RoTE sur les neuf premiers mois de 2026, au-dessus de son objectif de 12 %, mais se traite sous son actif net tangible car le marché l'utilise comme un proxy du risque souverain français. Avec un CET1 de 12,9 % et un rachat d'actions de 1,3 Md€ qui démarre, nous voyons de la valeur dans cet écart.</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447" b="1" dirty="0">
                <a:solidFill>
                  <a:srgbClr val="141A17"/>
                </a:solidFill>
              </a:rPr>
              <a:t>La rentabilité dépasse l'objectif</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73" dirty="0">
                <a:solidFill>
                  <a:srgbClr val="2A322E"/>
                </a:solidFill>
              </a:rPr>
              <a:t>Un RoTE de 13,2 % et un coefficient d'exploitation de 59,0 % sur 9 mois 2026 battent les objectifs 2026 (~12 % et ~60 %). En février 2026, la banque a relevé ses objectifs 2028 : RoTE au-dessus de 13 % et coefficient sous 56 %.</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 cours reflète une décote souveraine, pas bancaire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234" dirty="0">
                <a:solidFill>
                  <a:srgbClr val="2A322E"/>
                </a:solidFill>
              </a:rPr>
              <a:t>Le titre a perdu environ 20 % sur les trois mois à fin octobre 2026, jusqu'à un plus bas de 28 semaines à 85,35 €, sans cause propre à la société, alors que l'OAT 10 ans atteignait ~4,9 % et l'écart OAT-Bund ~155 pb. Les obligations d'État françaises détenues représentent environ 19 Md€, dont 16 Md€ au coût amorti.</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 capital revient aux actionnaires</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76" dirty="0">
                <a:solidFill>
                  <a:srgbClr val="2A322E"/>
                </a:solidFill>
              </a:rPr>
              <a:t>Distribution 2026 de 60 % (au moins 50 % en dividende, 10 % en rachats), rachat de 1,3 Md€ à partir de novembre 2026, et à partir de 2027 distribution du CET1 au-delà de 13 %. Un nouveau plan 2030 est attendu le 2 février 2027.</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BNP Paribas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Banque commerciale et services</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250" dirty="0">
                <a:solidFill>
                  <a:srgbClr val="2A322E"/>
                </a:solidFill>
              </a:rPr>
              <a:t>Réseaux de détail en France, Belgique, Italie et Luxembourg, Europe-Méditerranée, plus Personal Finance, Arval (location automobile, Athlon acquis en juillet 2026) et Nickel.</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256" b="1" dirty="0">
                <a:solidFill>
                  <a:srgbClr val="0E6B4F"/>
                </a:solidFill>
              </a:rPr>
              <a:t>Banque de financement et d'investissement</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210" dirty="0">
                <a:solidFill>
                  <a:srgbClr val="2A322E"/>
                </a:solidFill>
              </a:rPr>
              <a:t>Global Banking, Global Markets et Securities Services ; la banque se présente comme la première banque d'investissement de la zone EMEA.</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Épargne, assurance et gestion</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Assurance, banque privée et gestion d'actifs, dont AXA IM, consolidé depuis juillet 2025.</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Capital</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214" dirty="0">
                <a:solidFill>
                  <a:srgbClr val="2A322E"/>
                </a:solidFill>
              </a:rPr>
              <a:t>CET1 de 12,9 % à fin septembre 2026, contre une exigence de 10,45 % ; visé au-dessus de 13 % fin 2026.</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56" i="1" dirty="0">
                <a:solidFill>
                  <a:schemeClr val="tx2"/>
                </a:solidFill>
              </a:rPr>
              <a:t>Source : publications de la société ; PNB par pôle, 9 mois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~4,9 %</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Taux français à 10 ans</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203" dirty="0">
                <a:solidFill>
                  <a:srgbClr val="2A322E"/>
                </a:solidFill>
              </a:rPr>
              <a:t>L'incertitude politique et budgétaire a fait monter les taux français en 2026 ; les banques françaises servent de proxy du souverain.</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~155 pb</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Écart OAT-Bund</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Un écart plus large renchérit le refinancement et la décote appliquée aux financières françaises.</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~115 $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Pétrole et inflation</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184" dirty="0">
                <a:solidFill>
                  <a:srgbClr val="2A322E"/>
                </a:solidFill>
              </a:rPr>
              <a:t>Brent autour de 115 $ le baril avec le conflit au Moyen-Orient : un risque pour la qualité du crédit et les anticipations de taux.</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39 pb</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Coût du risque</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165" dirty="0">
                <a:solidFill>
                  <a:srgbClr val="2A322E"/>
                </a:solidFill>
              </a:rPr>
              <a:t>T3 2026, en haut de la guidance &lt; 40 pb. Les prix des véhicules d'occasion d'Arval sont le point de pression visible.</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Classé 5 sur 203 en Finance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2,02, 5e sur 203 dans son secteur. </a:t>
            </a:r>
            <a:pPr indent="0" marL="0">
              <a:buNone/>
            </a:pPr>
            <a:r>
              <a:rPr lang="en-US" sz="1208" dirty="0">
                <a:solidFill>
                  <a:srgbClr val="2A322E"/>
                </a:solidFill>
              </a:rPr>
              <a:t>Le score fait la moyenne des z-scores ci-dessus (les financières n'utilisent que fonds propres et bénéfices). Les comptes ne sont utilisés qu'à partir de la clôture + 6 mois : en décembre 2025, le screen lisait les comptes de l'exercice clos en décembre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Société Générale, Crédit Agricole SA, Deutsche Bank, Santander, ING, UniCredit (pairs du pipeline).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45" b="1" dirty="0">
                <a:solidFill>
                  <a:schemeClr val="tx1"/>
                </a:solidFill>
              </a:rPr>
              <a:t>Détenu à 1 rebalancement sur 10 depuis décembre 2025</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0E6B4F"/>
                </a:solidFill>
              </a:rPr>
              <a:t>+26,2 %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0,5 % / 4,0 %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9 mois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Objectif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Revenus (PNB)</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48,8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41,9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5 % TCAC</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Coefficient d'exploitation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61,2 %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59,0 %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Coût du risque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36 pb</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39 pb (T3)</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&lt; 40 pb</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net part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7 % TCAC</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Rentabilité des fonds propres tangibles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13,2 %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Ratio CET1</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12,9 %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13 % (fin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par action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3,23 € acompte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distribution 60 %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bl>
          </a:graphicData>
        </a:graphic>
      </p:graphicFrame>
      <p:sp>
        <p:nvSpPr>
          <p:cNvPr id="5" name="Text 2"/>
          <p:cNvSpPr txBox="1"/>
          <p:nvPr/>
        </p:nvSpPr>
        <p:spPr>
          <a:xfrm>
            <a:off x="548640" y="5385816"/>
            <a:ext cx="11094415" cy="548640"/>
          </a:xfrm>
          <a:prstGeom prst="rect">
            <a:avLst/>
          </a:prstGeom>
          <a:noFill/>
          <a:ln/>
        </p:spPr>
        <p:txBody>
          <a:bodyPr wrap="square" lIns="0" tIns="0" rIns="0" bIns="0" rtlCol="0" anchor="t"/>
          <a:lstStyle/>
          <a:p>
            <a:pPr indent="0" marL="0">
              <a:buNone/>
            </a:pPr>
            <a:r>
              <a:rPr lang="en-US" sz="1100" dirty="0">
                <a:solidFill>
                  <a:srgbClr val="5B6660"/>
                </a:solidFill>
              </a:rPr>
              <a:t>Chiffres 2024 déduits des taux de croissance 2025 publiés par la banque. Méthode de calcul du RoTE modifiée au T4 2025. Sources : communiqués BNP Paribas 2025 et T3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59" i="1" dirty="0">
                <a:solidFill>
                  <a:srgbClr val="141A17"/>
                </a:solidFill>
              </a:rPr>
              <a:t>« BNP est un pari à levier sur la France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300" dirty="0">
                <a:solidFill>
                  <a:srgbClr val="141A17"/>
                </a:solidFill>
              </a:rPr>
              <a:t>Trois de ses quatre marchés domestiques sont hors de France, la BFI est la première de la zone EMEA, et IPS apporte des commissions. Les bénéfices sont plus diversifiés que ne le suggère le cours.</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Les revenus de marché sont au plus haut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230" dirty="0">
                <a:solidFill>
                  <a:srgbClr val="141A17"/>
                </a:solidFill>
              </a:rPr>
              <a:t>Global Markets est solide (+21,9 % au T3), mais l'objectif de RoTE a été battu même après 408 M€ de coûts de restructuration.</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Le litige Soudan est un passif sans limite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232" dirty="0">
                <a:solidFill>
                  <a:srgbClr val="141A17"/>
                </a:solidFill>
              </a:rPr>
              <a:t>Il est réel et non provisionné ; nous le traitons comme un risque extrême que l'appel (2027) clarifiera, et dimensionnons la position en conséquence.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85" b="1" dirty="0">
                <a:solidFill>
                  <a:schemeClr val="tx1"/>
                </a:solidFill>
              </a:rPr>
              <a:t>Valeur centrale 103,89 € par action, +19 %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300" b="1" dirty="0">
                <a:solidFill>
                  <a:srgbClr val="0E6B4F"/>
                </a:solidFill>
              </a:rPr>
              <a:t>Méthode : Multiple justifié de l'actif net tangible (Gordon)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025" dirty="0">
                          <a:solidFill>
                            <a:srgbClr val="2A322E"/>
                          </a:solidFill>
                          <a:latin typeface="Arial" pitchFamily="34" charset="0"/>
                          <a:ea typeface="Arial" pitchFamily="34" charset="-122"/>
                          <a:cs typeface="Arial" pitchFamily="34" charset="-120"/>
                        </a:rPr>
                        <a:t>RoTE 10,0 %, CoE 12,0 % → 0,80x l'ANCT</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RoTE à 10 % ; l'écart souverain s'élargit</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78,96 €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025" dirty="0">
                          <a:solidFill>
                            <a:srgbClr val="2A322E"/>
                          </a:solidFill>
                          <a:latin typeface="Arial" pitchFamily="34" charset="0"/>
                          <a:ea typeface="Arial" pitchFamily="34" charset="-122"/>
                          <a:cs typeface="Arial" pitchFamily="34" charset="-120"/>
                        </a:rPr>
                        <a:t>RoTE 12,0 %, CoE 11,5 % → 1,05x l'ANCT</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RoTE à l'objectif 2026 ; écart stable</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103,89 €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+19 %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025" dirty="0">
                          <a:solidFill>
                            <a:srgbClr val="2A322E"/>
                          </a:solidFill>
                          <a:latin typeface="Arial" pitchFamily="34" charset="0"/>
                          <a:ea typeface="Arial" pitchFamily="34" charset="-122"/>
                          <a:cs typeface="Arial" pitchFamily="34" charset="-120"/>
                        </a:rPr>
                        <a:t>RoTE 13,5 %, CoE 10,5 % → 1,35x l'ANCT</a:t>
                      </a:r>
                      <a:endParaRPr lang="en-US" sz="1100" dirty="0">
                        <a:latin typeface="Arial" charset="0"/>
                        <a:ea typeface="Arial" charset="0"/>
                        <a:cs typeface="Arial" charset="0"/>
                      </a:endParaRPr>
                    </a:p>
                    <a:p>
                      <a:pPr indent="0" marL="0">
                        <a:buNone/>
                      </a:pPr>
                      <a:r>
                        <a:rPr lang="en-US" sz="1016" dirty="0">
                          <a:solidFill>
                            <a:srgbClr val="2A322E"/>
                          </a:solidFill>
                          <a:latin typeface="Arial" pitchFamily="34" charset="0"/>
                          <a:ea typeface="Arial" pitchFamily="34" charset="-122"/>
                          <a:cs typeface="Arial" pitchFamily="34" charset="-120"/>
                        </a:rPr>
                        <a:t>Objectifs 2028 atteints ; écart normalisé</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133,54 €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+52 %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104" dirty="0">
                <a:solidFill>
                  <a:srgbClr val="2A322E"/>
                </a:solidFill>
              </a:rPr>
              <a:t>Une banque vaut (RoTE − g) / (coût des fonds propres − g) fois son actif net tangible. Nous utilisons un actif net tangible par action de 98,7 € à juin 2026 (estimation tierce : le communiqué de la banque ne le donne pas), une croissance de long terme de 2 % et un coût des fonds propres qui baisse à mesure que la prime de risque française se normalise.</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8196244" y="2542032"/>
            <a:ext cx="1795362"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78,83 € - 113,82 €</a:t>
            </a:r>
            <a:endParaRPr lang="en-US" sz="1000" dirty="0"/>
          </a:p>
        </p:txBody>
      </p:sp>
      <p:sp>
        <p:nvSpPr>
          <p:cNvPr id="11" name="Shape 8"/>
          <p:cNvSpPr/>
          <p:nvPr/>
        </p:nvSpPr>
        <p:spPr>
          <a:xfrm>
            <a:off x="8648804" y="2478024"/>
            <a:ext cx="0" cy="438912"/>
          </a:xfrm>
          <a:prstGeom prst="line">
            <a:avLst/>
          </a:prstGeom>
          <a:noFill/>
          <a:ln w="25400">
            <a:solidFill>
              <a:srgbClr val="141A17"/>
            </a:solidFill>
            <a:prstDash val="solid"/>
          </a:ln>
        </p:spPr>
        <p:txBody>
          <a:bodyPr/>
          <a:p/>
        </p:txBody>
      </p:sp>
      <p:sp>
        <p:nvSpPr>
          <p:cNvPr id="12" name="Shape 9"/>
          <p:cNvSpPr/>
          <p:nvPr/>
        </p:nvSpPr>
        <p:spPr>
          <a:xfrm>
            <a:off x="9482090"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202914" y="3502152"/>
            <a:ext cx="2800539"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78,96 € - 133,54 €</a:t>
            </a:r>
            <a:endParaRPr lang="en-US" sz="1000" dirty="0"/>
          </a:p>
        </p:txBody>
      </p:sp>
      <p:sp>
        <p:nvSpPr>
          <p:cNvPr id="16" name="Shape 13"/>
          <p:cNvSpPr/>
          <p:nvPr/>
        </p:nvSpPr>
        <p:spPr>
          <a:xfrm>
            <a:off x="8648804" y="3438144"/>
            <a:ext cx="0" cy="438912"/>
          </a:xfrm>
          <a:prstGeom prst="line">
            <a:avLst/>
          </a:prstGeom>
          <a:noFill/>
          <a:ln w="25400">
            <a:solidFill>
              <a:srgbClr val="141A17"/>
            </a:solidFill>
            <a:prstDash val="solid"/>
          </a:ln>
        </p:spPr>
        <p:txBody>
          <a:bodyPr/>
          <a:p/>
        </p:txBody>
      </p:sp>
      <p:sp>
        <p:nvSpPr>
          <p:cNvPr id="17" name="Shape 14"/>
          <p:cNvSpPr/>
          <p:nvPr/>
        </p:nvSpPr>
        <p:spPr>
          <a:xfrm>
            <a:off x="9482090"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10295878"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119,75 €</a:t>
            </a:r>
            <a:endParaRPr lang="en-US" sz="1000" dirty="0"/>
          </a:p>
        </p:txBody>
      </p:sp>
      <p:sp>
        <p:nvSpPr>
          <p:cNvPr id="21" name="Shape 18"/>
          <p:cNvSpPr/>
          <p:nvPr/>
        </p:nvSpPr>
        <p:spPr>
          <a:xfrm>
            <a:off x="8648804" y="4398264"/>
            <a:ext cx="0" cy="438912"/>
          </a:xfrm>
          <a:prstGeom prst="line">
            <a:avLst/>
          </a:prstGeom>
          <a:noFill/>
          <a:ln w="25400">
            <a:solidFill>
              <a:srgbClr val="141A17"/>
            </a:solidFill>
            <a:prstDash val="solid"/>
          </a:ln>
        </p:spPr>
        <p:txBody>
          <a:bodyPr/>
          <a:p/>
        </p:txBody>
      </p:sp>
      <p:sp>
        <p:nvSpPr>
          <p:cNvPr id="22" name="Shape 19"/>
          <p:cNvSpPr/>
          <p:nvPr/>
        </p:nvSpPr>
        <p:spPr>
          <a:xfrm>
            <a:off x="9482090" y="4398264"/>
            <a:ext cx="0" cy="438912"/>
          </a:xfrm>
          <a:prstGeom prst="line">
            <a:avLst/>
          </a:prstGeom>
          <a:noFill/>
          <a:ln w="25400">
            <a:solidFill>
              <a:srgbClr val="0E6B4F"/>
            </a:solidFill>
            <a:prstDash val="dash"/>
          </a:ln>
        </p:spPr>
        <p:txBody>
          <a:bodyPr/>
          <a:p/>
        </p:txBody>
      </p:sp>
      <p:sp>
        <p:nvSpPr>
          <p:cNvPr id="23" name="Text 20"/>
          <p:cNvSpPr txBox="1"/>
          <p:nvPr/>
        </p:nvSpPr>
        <p:spPr>
          <a:xfrm>
            <a:off x="7825844"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87,65 €</a:t>
            </a:r>
            <a:endParaRPr lang="en-US" sz="1000" dirty="0"/>
          </a:p>
        </p:txBody>
      </p:sp>
      <p:sp>
        <p:nvSpPr>
          <p:cNvPr id="24" name="Text 21"/>
          <p:cNvSpPr txBox="1"/>
          <p:nvPr/>
        </p:nvSpPr>
        <p:spPr>
          <a:xfrm>
            <a:off x="8659130"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103,89 €</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46" dirty="0">
                <a:solidFill>
                  <a:srgbClr val="141A17"/>
                </a:solidFill>
              </a:rPr>
              <a:t>Lancement du rachat d'actions de 1,3 Md€ (environ 1,4 % de la capitalisation)</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T4 2026</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Finalisation de la cession de BMCI (+15 pb de CET1) ; CET1 au-dessus de 13 % en fin d'année</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 févr.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31" dirty="0">
                <a:solidFill>
                  <a:srgbClr val="141A17"/>
                </a:solidFill>
              </a:rPr>
              <a:t>Plan stratégique 2030 avec de nouveaux objectifs de RoTE et de distribution</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83" dirty="0">
                <a:solidFill>
                  <a:srgbClr val="141A17"/>
                </a:solidFill>
              </a:rPr>
              <a:t>Décision en appel sur le dossier Soudan ; offre sur Allfunds (~400 M€ de plus-value si elle aboutit)</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Mai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Assemblée générale et solde du dividende 2026</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404" dirty="0">
                <a:solidFill>
                  <a:srgbClr val="141A17"/>
                </a:solidFill>
              </a:rPr>
              <a:t>RoTE 2026 sous 12 %, ou objectifs 2028 abaissés dans le plan 2030</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192" b="1" dirty="0">
                          <a:solidFill>
                            <a:srgbClr val="141A17"/>
                          </a:solidFill>
                          <a:latin typeface="Arial" pitchFamily="34" charset="0"/>
                          <a:ea typeface="Arial" pitchFamily="34" charset="-122"/>
                          <a:cs typeface="Arial" pitchFamily="34" charset="-120"/>
                        </a:rPr>
                        <a:t>Tensions souveraines et politiques en France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240" dirty="0">
                          <a:solidFill>
                            <a:srgbClr val="2A322E"/>
                          </a:solidFill>
                          <a:latin typeface="Arial" pitchFamily="34" charset="0"/>
                          <a:ea typeface="Arial" pitchFamily="34" charset="-122"/>
                          <a:cs typeface="Arial" pitchFamily="34" charset="-120"/>
                        </a:rPr>
                        <a:t>Bénéfices diversifiés ; obligations françaises surtout au coût amorti (16 Md€ sur 19 Md€)</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Litige Soudan, sans provision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Appel en cours ; position sous le plafond de 4 %</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243" b="1" dirty="0">
                          <a:solidFill>
                            <a:srgbClr val="141A17"/>
                          </a:solidFill>
                          <a:latin typeface="Arial" pitchFamily="34" charset="0"/>
                          <a:ea typeface="Arial" pitchFamily="34" charset="-122"/>
                          <a:cs typeface="Arial" pitchFamily="34" charset="-120"/>
                        </a:rPr>
                        <a:t>Normalisation des revenus de marché</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65" dirty="0">
                          <a:solidFill>
                            <a:srgbClr val="2A322E"/>
                          </a:solidFill>
                          <a:latin typeface="Arial" pitchFamily="34" charset="0"/>
                          <a:ea typeface="Arial" pitchFamily="34" charset="-122"/>
                          <a:cs typeface="Arial" pitchFamily="34" charset="-120"/>
                        </a:rPr>
                        <a:t>Objectifs battus même après les coûts de restructuration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Coût du risque au-dessus de 40 pb</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50" dirty="0">
                          <a:solidFill>
                            <a:srgbClr val="2A322E"/>
                          </a:solidFill>
                          <a:latin typeface="Arial" pitchFamily="34" charset="0"/>
                          <a:ea typeface="Arial" pitchFamily="34" charset="-122"/>
                          <a:cs typeface="Arial" pitchFamily="34" charset="-120"/>
                        </a:rPr>
                        <a:t>Ratio stage 3 de 1,6 % avec 67 % de couverture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VENDONS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311" dirty="0">
                <a:solidFill>
                  <a:srgbClr val="141A17"/>
                </a:solidFill>
              </a:rPr>
              <a:t>RoTE 2026 sous 12 %, ou objectifs 2028 abaissés dans le plan 2030</a:t>
            </a:r>
            <a:endParaRPr lang="en-US" sz="1400" dirty="0"/>
          </a:p>
          <a:p>
            <a:pPr marL="342900" indent="-342900">
              <a:spcAft>
                <a:spcPts val="1000"/>
              </a:spcAft>
              <a:buSzPct val="100000"/>
              <a:buChar char="•"/>
            </a:pPr>
            <a:r>
              <a:rPr lang="en-US" sz="1270" dirty="0">
                <a:solidFill>
                  <a:srgbClr val="141A17"/>
                </a:solidFill>
              </a:rPr>
              <a:t>CET1 sous 12,5 %, imposant des rachats plus faibles</a:t>
            </a:r>
            <a:endParaRPr lang="en-US" sz="1400" dirty="0"/>
          </a:p>
          <a:p>
            <a:pPr marL="342900" indent="-342900">
              <a:spcAft>
                <a:spcPts val="1000"/>
              </a:spcAft>
              <a:buSzPct val="100000"/>
              <a:buChar char="•"/>
            </a:pPr>
            <a:r>
              <a:rPr lang="en-US" sz="1204" dirty="0">
                <a:solidFill>
                  <a:srgbClr val="141A17"/>
                </a:solidFill>
              </a:rPr>
              <a:t>Décision défavorable sur le Soudan avec une provision significative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[B1] BNP Paribas, "Third quarter 2026 results" press release, Paris, 28/10/2026</a:t>
            </a:r>
            <a:endParaRPr lang="en-US" sz="1000" dirty="0"/>
          </a:p>
          <a:p>
            <a:pPr indent="0" marL="0">
              <a:spcAft>
                <a:spcPts val="500"/>
              </a:spcAft>
              <a:buNone/>
            </a:pPr>
            <a:r>
              <a:rPr lang="en-US" sz="1000" dirty="0">
                <a:solidFill>
                  <a:srgbClr val="2A322E"/>
                </a:solidFill>
              </a:rPr>
              <a:t>[B2] BNP Paribas, "4th quarter and full year 2025" results press release, 05/02/2026, via WebDisclosure</a:t>
            </a:r>
            <a:endParaRPr lang="en-US" sz="1000" dirty="0"/>
          </a:p>
          <a:p>
            <a:pPr indent="0" marL="0">
              <a:spcAft>
                <a:spcPts val="500"/>
              </a:spcAft>
              <a:buNone/>
            </a:pPr>
            <a:r>
              <a:rPr lang="en-US" sz="1000" dirty="0">
                <a:solidFill>
                  <a:srgbClr val="2A322E"/>
                </a:solidFill>
              </a:rPr>
              <a:t>[B3] Sudan litigation: BNP Paribas statement, 08/01/2026</a:t>
            </a:r>
            <a:endParaRPr lang="en-US" sz="1000" dirty="0"/>
          </a:p>
          <a:p>
            <a:pPr indent="0" marL="0">
              <a:spcAft>
                <a:spcPts val="500"/>
              </a:spcAft>
              <a:buNone/>
            </a:pPr>
            <a:r>
              <a:rPr lang="en-US" sz="1000" dirty="0">
                <a:solidFill>
                  <a:srgbClr val="2A322E"/>
                </a:solidFill>
              </a:rPr>
              <a:t>[B4] MarketScreener, BNP Paribas finances/consensus page, data 29/10/2026</a:t>
            </a:r>
            <a:endParaRPr lang="en-US" sz="1000" dirty="0"/>
          </a:p>
          <a:p>
            <a:pPr indent="0" marL="0">
              <a:spcAft>
                <a:spcPts val="500"/>
              </a:spcAft>
              <a:buNone/>
            </a:pPr>
            <a:r>
              <a:rPr lang="en-US" sz="1000" dirty="0">
                <a:solidFill>
                  <a:srgbClr val="2A322E"/>
                </a:solidFill>
              </a:rPr>
              <a:t>[B5] Teleborsa, T2 2026 results summary, 23/07/2026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[B6] StockAnalysis, BNP Paribas statistics, data 29/10/2026</a:t>
            </a:r>
            <a:endParaRPr lang="en-US" sz="1000" dirty="0"/>
          </a:p>
          <a:p>
            <a:pPr indent="0" marL="0">
              <a:spcAft>
                <a:spcPts val="500"/>
              </a:spcAft>
              <a:buNone/>
            </a:pPr>
            <a:r>
              <a:rPr lang="en-US" sz="1000" dirty="0">
                <a:solidFill>
                  <a:srgbClr val="2A322E"/>
                </a:solidFill>
              </a:rPr>
              <a:t>[B7] Ideal Investisseur, BNP Paribas stock page and news feed, data 29/10/2026</a:t>
            </a:r>
            <a:endParaRPr lang="en-US" sz="1000" dirty="0"/>
          </a:p>
          <a:p>
            <a:pPr indent="0" marL="0">
              <a:spcAft>
                <a:spcPts val="500"/>
              </a:spcAft>
              <a:buNone/>
            </a:pPr>
            <a:r>
              <a:rPr lang="en-US" sz="1000" dirty="0">
                <a:solidFill>
                  <a:srgbClr val="2A322E"/>
                </a:solidFill>
              </a:rPr>
              <a:t>[B8] KoalaGains, BNP fair value page (third-party TBVPS, T2 2026)</a:t>
            </a:r>
            <a:endParaRPr lang="en-US" sz="1000" dirty="0"/>
          </a:p>
          <a:p>
            <a:pPr indent="0" marL="0">
              <a:spcAft>
                <a:spcPts val="500"/>
              </a:spcAft>
              <a:buNone/>
            </a:pPr>
            <a:r>
              <a:rPr lang="en-US" sz="1000" dirty="0">
                <a:solidFill>
                  <a:srgbClr val="2A322E"/>
                </a:solidFill>
              </a:rPr>
              <a:t>[B9] Trading Economics, "BNP Paribas shares hit 19-week low", 08/10/2026 (and 22/10/2026 update, market data panel)</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BNP Paribas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