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bdd59f9-3627-12da-5a5c-8cfcdb4e0490}">
          <p14:sldIdLst>
            <p14:sldId id="256"/>
          </p14:sldIdLst>
        </p14:section>
        <p14:section name="Thesis" id="{7acf93df-70d0-eb8e-303a-1bbcbb54b61d}">
          <p14:sldIdLst>
            <p14:sldId id="257"/>
          </p14:sldIdLst>
        </p14:section>
        <p14:section name="Company" id="{4df8ca4a-a3bb-29e7-70cb-c2678c0f837b}">
          <p14:sldIdLst>
            <p14:sldId id="258"/>
            <p14:sldId id="259"/>
          </p14:sldIdLst>
        </p14:section>
        <p14:section name="Screen" id="{58e822e8-805e-7df5-aa76-f9fa68920bc7}">
          <p14:sldIdLst>
            <p14:sldId id="260"/>
            <p14:sldId id="261"/>
          </p14:sldIdLst>
        </p14:section>
        <p14:section name="Financials" id="{40b6d548-4ce5-3d5f-794f-75c20a0b6045}">
          <p14:sldIdLst>
            <p14:sldId id="262"/>
            <p14:sldId id="263"/>
          </p14:sldIdLst>
        </p14:section>
        <p14:section name="Valuation" id="{b115eff0-6d3b-6b43-dae1-bc1265edd0ac}">
          <p14:sldIdLst>
            <p14:sldId id="264"/>
          </p14:sldIdLst>
        </p14:section>
        <p14:section name="Catalysts and risks" id="{e62813fb-526a-b2ca-fb11-4f54c657a82e}">
          <p14:sldIdLst>
            <p14:sldId id="265"/>
            <p14:sldId id="266"/>
          </p14:sldIdLst>
        </p14:section>
        <p14:section name="Sources" id="{5a25cdad-30fa-7a14-f1fc-81b76b5effb2}">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Adhérents par produit, sept. 2026 (part du total)</a:t>
            </a:r>
          </a:p>
        </c:rich>
      </c:tx>
      <c:layout/>
      <c:overlay val="0"/>
    </c:title>
    <c:autoTitleDeleted val="0"/>
    <c:plotArea>
      <c:layout/>
      <c:barChart>
        <c:barDir val="bar"/>
        <c:grouping val="clustered"/>
        <c:varyColors val="0"/>
        <c:ser>
          <c:idx val="0"/>
          <c:order val="0"/>
          <c:tx>
            <c:strRef>
              <c:f>Sheet1!$B$1</c:f>
              <c:strCache>
                <c:ptCount val="1"/>
                <c:pt idx="0">
                  <c:v>Adhérents par produit, sept. 2026</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Sheet1!$A$2:$A$5</c:f>
              <c:multiLvlStrCache>
                <c:ptCount val="4"/>
                <c:lvl>
                  <c:pt idx="0">
                    <c:v>Medicaid</c:v>
                  </c:pt>
                  <c:pt idx="1">
                    <c:v>Medicare partie D (PDP)</c:v>
                  </c:pt>
                  <c:pt idx="2">
                    <c:v>Marketplace</c:v>
                  </c:pt>
                  <c:pt idx="3">
                    <c:v>Medicare Advantage et complémentaire</c:v>
                  </c:pt>
                </c:lvl>
              </c:multiLvlStrCache>
            </c:multiLvlStrRef>
          </c:cat>
          <c:val>
            <c:numRef>
              <c:f>Sheet1!$B$2:$B$5</c:f>
              <c:numCache>
                <c:formatCode>General</c:formatCode>
                <c:ptCount val="4"/>
                <c:pt idx="0">
                  <c:v>0.47316103379721675</c:v>
                </c:pt>
                <c:pt idx="1">
                  <c:v>0.3538767395626243</c:v>
                </c:pt>
                <c:pt idx="2">
                  <c:v>0.13518886679920478</c:v>
                </c:pt>
                <c:pt idx="3">
                  <c:v>0.03777335984095428</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Centene</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6.81</c:v>
                </c:pt>
                <c:pt idx="1">
                  <c:v>5.64</c:v>
                </c:pt>
                <c:pt idx="2">
                  <c:v>0.68</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9.85</c:v>
                </c:pt>
                <c:pt idx="1">
                  <c:v>19.73</c:v>
                </c:pt>
                <c:pt idx="2">
                  <c:v>1.66</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22.71</c:v>
                </c:pt>
                <c:pt idx="1">
                  <c:v>28.1</c:v>
                </c:pt>
                <c:pt idx="2">
                  <c:v>4.23</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B23A2E"/>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3.1884904250740274</c:v>
                </c:pt>
                <c:pt idx="1">
                  <c:v>4.064460959791948</c:v>
                </c:pt>
                <c:pt idx="2">
                  <c:v>-1.767193662484839</c:v>
                </c:pt>
                <c:pt idx="3">
                  <c:v>4.384171334621149</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Centene</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100.76</c:v>
                </c:pt>
                <c:pt idx="2">
                  <c:v>100.05</c:v>
                </c:pt>
                <c:pt idx="3">
                  <c:v>99.37</c:v>
                </c:pt>
                <c:pt idx="4">
                  <c:v>100.83</c:v>
                </c:pt>
                <c:pt idx="5">
                  <c:v>93.45</c:v>
                </c:pt>
                <c:pt idx="6">
                  <c:v>91.78</c:v>
                </c:pt>
                <c:pt idx="7">
                  <c:v>86.34</c:v>
                </c:pt>
                <c:pt idx="8">
                  <c:v>88.76</c:v>
                </c:pt>
                <c:pt idx="9">
                  <c:v>87.57</c:v>
                </c:pt>
                <c:pt idx="10">
                  <c:v>87.45</c:v>
                </c:pt>
                <c:pt idx="11">
                  <c:v>81.63</c:v>
                </c:pt>
                <c:pt idx="12">
                  <c:v>89.04</c:v>
                </c:pt>
                <c:pt idx="13">
                  <c:v>86.61</c:v>
                </c:pt>
                <c:pt idx="14">
                  <c:v>87.82</c:v>
                </c:pt>
                <c:pt idx="15">
                  <c:v>89.86</c:v>
                </c:pt>
                <c:pt idx="16">
                  <c:v>91</c:v>
                </c:pt>
                <c:pt idx="17">
                  <c:v>96.15</c:v>
                </c:pt>
                <c:pt idx="18">
                  <c:v>99.73</c:v>
                </c:pt>
                <c:pt idx="19">
                  <c:v>103.67</c:v>
                </c:pt>
                <c:pt idx="20">
                  <c:v>107.03</c:v>
                </c:pt>
                <c:pt idx="21">
                  <c:v>104.38</c:v>
                </c:pt>
                <c:pt idx="22">
                  <c:v>105.6</c:v>
                </c:pt>
                <c:pt idx="23">
                  <c:v>101.46</c:v>
                </c:pt>
                <c:pt idx="24">
                  <c:v>111.95</c:v>
                </c:pt>
                <c:pt idx="25">
                  <c:v>119.01</c:v>
                </c:pt>
                <c:pt idx="26">
                  <c:v>120.71</c:v>
                </c:pt>
                <c:pt idx="27">
                  <c:v>116.9</c:v>
                </c:pt>
                <c:pt idx="28">
                  <c:v>108.58</c:v>
                </c:pt>
                <c:pt idx="29">
                  <c:v>114.11</c:v>
                </c:pt>
                <c:pt idx="30">
                  <c:v>109.82</c:v>
                </c:pt>
                <c:pt idx="31">
                  <c:v>111.93</c:v>
                </c:pt>
                <c:pt idx="32">
                  <c:v>113.62</c:v>
                </c:pt>
                <c:pt idx="33">
                  <c:v>118.09</c:v>
                </c:pt>
                <c:pt idx="34">
                  <c:v>117.07</c:v>
                </c:pt>
                <c:pt idx="35">
                  <c:v>120.02</c:v>
                </c:pt>
                <c:pt idx="36">
                  <c:v>127.22</c:v>
                </c:pt>
                <c:pt idx="37">
                  <c:v>123.43</c:v>
                </c:pt>
                <c:pt idx="38">
                  <c:v>128.15</c:v>
                </c:pt>
                <c:pt idx="39">
                  <c:v>125.79</c:v>
                </c:pt>
                <c:pt idx="40">
                  <c:v>125.11</c:v>
                </c:pt>
                <c:pt idx="41">
                  <c:v>131.46</c:v>
                </c:pt>
                <c:pt idx="42">
                  <c:v>129.24</c:v>
                </c:pt>
                <c:pt idx="43">
                  <c:v>126.49</c:v>
                </c:pt>
                <c:pt idx="44">
                  <c:v>123.34</c:v>
                </c:pt>
                <c:pt idx="45">
                  <c:v>128.43</c:v>
                </c:pt>
                <c:pt idx="46">
                  <c:v>127.75</c:v>
                </c:pt>
                <c:pt idx="47">
                  <c:v>130.09</c:v>
                </c:pt>
                <c:pt idx="48">
                  <c:v>127.31</c:v>
                </c:pt>
                <c:pt idx="49">
                  <c:v>123.41</c:v>
                </c:pt>
                <c:pt idx="50">
                  <c:v>122.12</c:v>
                </c:pt>
                <c:pt idx="51">
                  <c:v>117.77</c:v>
                </c:pt>
                <c:pt idx="52">
                  <c:v>127.04</c:v>
                </c:pt>
                <c:pt idx="53">
                  <c:v>133.87</c:v>
                </c:pt>
                <c:pt idx="54">
                  <c:v>139.83</c:v>
                </c:pt>
                <c:pt idx="55">
                  <c:v>143.66</c:v>
                </c:pt>
                <c:pt idx="56">
                  <c:v>143.56</c:v>
                </c:pt>
                <c:pt idx="57">
                  <c:v>147.27</c:v>
                </c:pt>
                <c:pt idx="58">
                  <c:v>147.6</c:v>
                </c:pt>
                <c:pt idx="59">
                  <c:v>152.19</c:v>
                </c:pt>
                <c:pt idx="60">
                  <c:v>155.96</c:v>
                </c:pt>
                <c:pt idx="61">
                  <c:v>145.57</c:v>
                </c:pt>
                <c:pt idx="62">
                  <c:v>145.89</c:v>
                </c:pt>
                <c:pt idx="63">
                  <c:v>147.79</c:v>
                </c:pt>
                <c:pt idx="64">
                  <c:v>136.04</c:v>
                </c:pt>
                <c:pt idx="65">
                  <c:v>130.98</c:v>
                </c:pt>
                <c:pt idx="66">
                  <c:v>128.38</c:v>
                </c:pt>
                <c:pt idx="67">
                  <c:v>123.82</c:v>
                </c:pt>
                <c:pt idx="68">
                  <c:v>123.5</c:v>
                </c:pt>
                <c:pt idx="69">
                  <c:v>121.24</c:v>
                </c:pt>
                <c:pt idx="70">
                  <c:v>139.44</c:v>
                </c:pt>
                <c:pt idx="71">
                  <c:v>133.04</c:v>
                </c:pt>
                <c:pt idx="72">
                  <c:v>128.18</c:v>
                </c:pt>
                <c:pt idx="73">
                  <c:v>129.25</c:v>
                </c:pt>
                <c:pt idx="74">
                  <c:v>131.73</c:v>
                </c:pt>
                <c:pt idx="75">
                  <c:v>131.65</c:v>
                </c:pt>
                <c:pt idx="76">
                  <c:v>132.11</c:v>
                </c:pt>
                <c:pt idx="77">
                  <c:v>123.98</c:v>
                </c:pt>
                <c:pt idx="78">
                  <c:v>124.15</c:v>
                </c:pt>
                <c:pt idx="79">
                  <c:v>123.68</c:v>
                </c:pt>
                <c:pt idx="80">
                  <c:v>119.44</c:v>
                </c:pt>
                <c:pt idx="81">
                  <c:v>114.93</c:v>
                </c:pt>
                <c:pt idx="82">
                  <c:v>113.43</c:v>
                </c:pt>
                <c:pt idx="83">
                  <c:v>111.85</c:v>
                </c:pt>
                <c:pt idx="84">
                  <c:v>105.96</c:v>
                </c:pt>
                <c:pt idx="85">
                  <c:v>110.14</c:v>
                </c:pt>
                <c:pt idx="86">
                  <c:v>110.96</c:v>
                </c:pt>
                <c:pt idx="87">
                  <c:v>107.64</c:v>
                </c:pt>
                <c:pt idx="88">
                  <c:v>105.01</c:v>
                </c:pt>
                <c:pt idx="89">
                  <c:v>98.56</c:v>
                </c:pt>
                <c:pt idx="90">
                  <c:v>94.67</c:v>
                </c:pt>
                <c:pt idx="91">
                  <c:v>96.13</c:v>
                </c:pt>
                <c:pt idx="92">
                  <c:v>93.94</c:v>
                </c:pt>
                <c:pt idx="93">
                  <c:v>97.53</c:v>
                </c:pt>
                <c:pt idx="94">
                  <c:v>100.16</c:v>
                </c:pt>
                <c:pt idx="95">
                  <c:v>97.09</c:v>
                </c:pt>
                <c:pt idx="96">
                  <c:v>100.94</c:v>
                </c:pt>
                <c:pt idx="97">
                  <c:v>100.14</c:v>
                </c:pt>
                <c:pt idx="98">
                  <c:v>99.98</c:v>
                </c:pt>
                <c:pt idx="99">
                  <c:v>97.63</c:v>
                </c:pt>
                <c:pt idx="100">
                  <c:v>94.51</c:v>
                </c:pt>
                <c:pt idx="101">
                  <c:v>100.24</c:v>
                </c:pt>
                <c:pt idx="102">
                  <c:v>103.7</c:v>
                </c:pt>
                <c:pt idx="103">
                  <c:v>97</c:v>
                </c:pt>
                <c:pt idx="104">
                  <c:v>98.42</c:v>
                </c:pt>
                <c:pt idx="105">
                  <c:v>99.79</c:v>
                </c:pt>
                <c:pt idx="106">
                  <c:v>97.9</c:v>
                </c:pt>
                <c:pt idx="107">
                  <c:v>94.32</c:v>
                </c:pt>
                <c:pt idx="108">
                  <c:v>102.56</c:v>
                </c:pt>
                <c:pt idx="109">
                  <c:v>96.95</c:v>
                </c:pt>
                <c:pt idx="110">
                  <c:v>96.33</c:v>
                </c:pt>
                <c:pt idx="111">
                  <c:v>97.03</c:v>
                </c:pt>
                <c:pt idx="112">
                  <c:v>94.63</c:v>
                </c:pt>
                <c:pt idx="113">
                  <c:v>94.98</c:v>
                </c:pt>
                <c:pt idx="114">
                  <c:v>91.77</c:v>
                </c:pt>
                <c:pt idx="115">
                  <c:v>98.7</c:v>
                </c:pt>
                <c:pt idx="116">
                  <c:v>102.64</c:v>
                </c:pt>
                <c:pt idx="117">
                  <c:v>104.11</c:v>
                </c:pt>
                <c:pt idx="118">
                  <c:v>105.18</c:v>
                </c:pt>
                <c:pt idx="119">
                  <c:v>107.2</c:v>
                </c:pt>
                <c:pt idx="120">
                  <c:v>109.24</c:v>
                </c:pt>
                <c:pt idx="121">
                  <c:v>109.65</c:v>
                </c:pt>
                <c:pt idx="122">
                  <c:v>103</c:v>
                </c:pt>
                <c:pt idx="123">
                  <c:v>104.29</c:v>
                </c:pt>
                <c:pt idx="124">
                  <c:v>108.71</c:v>
                </c:pt>
                <c:pt idx="125">
                  <c:v>107.7</c:v>
                </c:pt>
                <c:pt idx="126">
                  <c:v>109.78</c:v>
                </c:pt>
                <c:pt idx="127">
                  <c:v>111.15</c:v>
                </c:pt>
                <c:pt idx="128">
                  <c:v>110.78</c:v>
                </c:pt>
                <c:pt idx="129">
                  <c:v>109.89</c:v>
                </c:pt>
                <c:pt idx="130">
                  <c:v>107.54</c:v>
                </c:pt>
                <c:pt idx="131">
                  <c:v>108.34</c:v>
                </c:pt>
                <c:pt idx="132">
                  <c:v>114.19</c:v>
                </c:pt>
                <c:pt idx="133">
                  <c:v>116.26</c:v>
                </c:pt>
                <c:pt idx="134">
                  <c:v>109.99</c:v>
                </c:pt>
                <c:pt idx="135">
                  <c:v>109.68</c:v>
                </c:pt>
                <c:pt idx="136">
                  <c:v>112.95</c:v>
                </c:pt>
                <c:pt idx="137">
                  <c:v>115.81</c:v>
                </c:pt>
                <c:pt idx="138">
                  <c:v>118.01</c:v>
                </c:pt>
                <c:pt idx="139">
                  <c:v>119.7</c:v>
                </c:pt>
                <c:pt idx="140">
                  <c:v>116.22</c:v>
                </c:pt>
                <c:pt idx="141">
                  <c:v>115.38</c:v>
                </c:pt>
                <c:pt idx="142">
                  <c:v>112</c:v>
                </c:pt>
                <c:pt idx="143">
                  <c:v>115</c:v>
                </c:pt>
                <c:pt idx="144">
                  <c:v>117.42</c:v>
                </c:pt>
                <c:pt idx="145">
                  <c:v>108.49</c:v>
                </c:pt>
                <c:pt idx="146">
                  <c:v>107.36</c:v>
                </c:pt>
                <c:pt idx="147">
                  <c:v>113.94</c:v>
                </c:pt>
                <c:pt idx="148">
                  <c:v>111.76</c:v>
                </c:pt>
                <c:pt idx="149">
                  <c:v>112.26</c:v>
                </c:pt>
                <c:pt idx="150">
                  <c:v>116.6</c:v>
                </c:pt>
                <c:pt idx="151">
                  <c:v>116.01</c:v>
                </c:pt>
                <c:pt idx="152">
                  <c:v>111.14</c:v>
                </c:pt>
                <c:pt idx="153">
                  <c:v>106.61</c:v>
                </c:pt>
                <c:pt idx="154">
                  <c:v>104.36</c:v>
                </c:pt>
                <c:pt idx="155">
                  <c:v>104.05</c:v>
                </c:pt>
                <c:pt idx="156">
                  <c:v>102.63</c:v>
                </c:pt>
                <c:pt idx="157">
                  <c:v>99.94</c:v>
                </c:pt>
                <c:pt idx="158">
                  <c:v>99.03</c:v>
                </c:pt>
                <c:pt idx="159">
                  <c:v>100.52</c:v>
                </c:pt>
                <c:pt idx="160">
                  <c:v>98.3</c:v>
                </c:pt>
                <c:pt idx="161">
                  <c:v>108.68</c:v>
                </c:pt>
                <c:pt idx="162">
                  <c:v>115.6</c:v>
                </c:pt>
                <c:pt idx="163">
                  <c:v>112.43</c:v>
                </c:pt>
                <c:pt idx="164">
                  <c:v>114.66</c:v>
                </c:pt>
                <c:pt idx="165">
                  <c:v>113.55</c:v>
                </c:pt>
                <c:pt idx="166">
                  <c:v>115.23</c:v>
                </c:pt>
                <c:pt idx="167">
                  <c:v>103.29</c:v>
                </c:pt>
                <c:pt idx="168">
                  <c:v>109.81</c:v>
                </c:pt>
                <c:pt idx="169">
                  <c:v>109.3</c:v>
                </c:pt>
                <c:pt idx="170">
                  <c:v>108.02</c:v>
                </c:pt>
                <c:pt idx="171">
                  <c:v>106.23</c:v>
                </c:pt>
                <c:pt idx="172">
                  <c:v>106.91</c:v>
                </c:pt>
                <c:pt idx="173">
                  <c:v>92.19</c:v>
                </c:pt>
                <c:pt idx="174">
                  <c:v>96.01</c:v>
                </c:pt>
                <c:pt idx="175">
                  <c:v>94.69</c:v>
                </c:pt>
                <c:pt idx="176">
                  <c:v>90.73</c:v>
                </c:pt>
                <c:pt idx="177">
                  <c:v>87.98</c:v>
                </c:pt>
                <c:pt idx="178">
                  <c:v>93.59</c:v>
                </c:pt>
                <c:pt idx="179">
                  <c:v>91.71</c:v>
                </c:pt>
                <c:pt idx="180">
                  <c:v>86.9</c:v>
                </c:pt>
                <c:pt idx="181">
                  <c:v>91.44</c:v>
                </c:pt>
                <c:pt idx="182">
                  <c:v>92.28</c:v>
                </c:pt>
                <c:pt idx="183">
                  <c:v>93.93</c:v>
                </c:pt>
                <c:pt idx="184">
                  <c:v>96.43</c:v>
                </c:pt>
                <c:pt idx="185">
                  <c:v>97.49</c:v>
                </c:pt>
                <c:pt idx="186">
                  <c:v>97.8</c:v>
                </c:pt>
                <c:pt idx="187">
                  <c:v>99.24</c:v>
                </c:pt>
                <c:pt idx="188">
                  <c:v>99.26</c:v>
                </c:pt>
                <c:pt idx="189">
                  <c:v>92.24</c:v>
                </c:pt>
                <c:pt idx="190">
                  <c:v>87.41</c:v>
                </c:pt>
                <c:pt idx="191">
                  <c:v>89.05</c:v>
                </c:pt>
                <c:pt idx="192">
                  <c:v>90.36</c:v>
                </c:pt>
                <c:pt idx="193">
                  <c:v>89.43</c:v>
                </c:pt>
                <c:pt idx="194">
                  <c:v>86.38</c:v>
                </c:pt>
                <c:pt idx="195">
                  <c:v>87.91</c:v>
                </c:pt>
                <c:pt idx="196">
                  <c:v>89.63</c:v>
                </c:pt>
                <c:pt idx="197">
                  <c:v>91.18</c:v>
                </c:pt>
                <c:pt idx="198">
                  <c:v>91.24</c:v>
                </c:pt>
                <c:pt idx="199">
                  <c:v>86.38</c:v>
                </c:pt>
                <c:pt idx="200">
                  <c:v>81.97</c:v>
                </c:pt>
                <c:pt idx="201">
                  <c:v>85.84</c:v>
                </c:pt>
                <c:pt idx="202">
                  <c:v>90.08</c:v>
                </c:pt>
                <c:pt idx="203">
                  <c:v>89.54</c:v>
                </c:pt>
                <c:pt idx="204">
                  <c:v>80.22</c:v>
                </c:pt>
                <c:pt idx="205">
                  <c:v>80.32</c:v>
                </c:pt>
                <c:pt idx="206">
                  <c:v>78.25</c:v>
                </c:pt>
                <c:pt idx="207">
                  <c:v>77.19</c:v>
                </c:pt>
                <c:pt idx="208">
                  <c:v>76.17</c:v>
                </c:pt>
                <c:pt idx="209">
                  <c:v>74.4</c:v>
                </c:pt>
                <c:pt idx="210">
                  <c:v>45.78</c:v>
                </c:pt>
                <c:pt idx="211">
                  <c:v>43.44</c:v>
                </c:pt>
                <c:pt idx="212">
                  <c:v>38.82</c:v>
                </c:pt>
                <c:pt idx="213">
                  <c:v>39.1</c:v>
                </c:pt>
                <c:pt idx="214">
                  <c:v>36.27</c:v>
                </c:pt>
                <c:pt idx="215">
                  <c:v>35.46</c:v>
                </c:pt>
                <c:pt idx="216">
                  <c:v>39.32</c:v>
                </c:pt>
                <c:pt idx="217">
                  <c:v>40.53</c:v>
                </c:pt>
                <c:pt idx="218">
                  <c:v>40.09</c:v>
                </c:pt>
                <c:pt idx="219">
                  <c:v>39.88</c:v>
                </c:pt>
                <c:pt idx="220">
                  <c:v>45.81</c:v>
                </c:pt>
                <c:pt idx="221">
                  <c:v>43.66</c:v>
                </c:pt>
                <c:pt idx="222">
                  <c:v>48.16</c:v>
                </c:pt>
                <c:pt idx="223">
                  <c:v>53.25</c:v>
                </c:pt>
                <c:pt idx="224">
                  <c:v>49.77</c:v>
                </c:pt>
                <c:pt idx="225">
                  <c:v>48.81</c:v>
                </c:pt>
                <c:pt idx="226">
                  <c:v>47.34</c:v>
                </c:pt>
                <c:pt idx="227">
                  <c:v>49.58</c:v>
                </c:pt>
                <c:pt idx="228">
                  <c:v>52.39</c:v>
                </c:pt>
                <c:pt idx="229">
                  <c:v>50.6</c:v>
                </c:pt>
                <c:pt idx="230">
                  <c:v>51.24</c:v>
                </c:pt>
                <c:pt idx="231">
                  <c:v>54.77</c:v>
                </c:pt>
                <c:pt idx="232">
                  <c:v>53.19</c:v>
                </c:pt>
                <c:pt idx="233">
                  <c:v>56.17</c:v>
                </c:pt>
                <c:pt idx="234">
                  <c:v>53.78</c:v>
                </c:pt>
                <c:pt idx="235">
                  <c:v>55.6</c:v>
                </c:pt>
                <c:pt idx="236">
                  <c:v>57.53</c:v>
                </c:pt>
                <c:pt idx="237">
                  <c:v>64.73</c:v>
                </c:pt>
                <c:pt idx="238">
                  <c:v>63.73</c:v>
                </c:pt>
                <c:pt idx="239">
                  <c:v>63.12</c:v>
                </c:pt>
                <c:pt idx="240">
                  <c:v>58.94</c:v>
                </c:pt>
                <c:pt idx="241">
                  <c:v>52.57</c:v>
                </c:pt>
                <c:pt idx="242">
                  <c:v>55.2</c:v>
                </c:pt>
                <c:pt idx="243">
                  <c:v>59.29</c:v>
                </c:pt>
                <c:pt idx="244">
                  <c:v>61.35</c:v>
                </c:pt>
                <c:pt idx="245">
                  <c:v>60.8</c:v>
                </c:pt>
                <c:pt idx="246">
                  <c:v>48.63</c:v>
                </c:pt>
                <c:pt idx="247">
                  <c:v>48.08</c:v>
                </c:pt>
                <c:pt idx="248">
                  <c:v>44.9</c:v>
                </c:pt>
                <c:pt idx="249">
                  <c:v>49.15</c:v>
                </c:pt>
                <c:pt idx="250">
                  <c:v>51.4</c:v>
                </c:pt>
                <c:pt idx="251">
                  <c:v>52.25</c:v>
                </c:pt>
                <c:pt idx="252">
                  <c:v>57.64</c:v>
                </c:pt>
                <c:pt idx="253">
                  <c:v>73.4</c:v>
                </c:pt>
                <c:pt idx="254">
                  <c:v>76.79</c:v>
                </c:pt>
                <c:pt idx="255">
                  <c:v>80.93</c:v>
                </c:pt>
                <c:pt idx="256">
                  <c:v>82.27</c:v>
                </c:pt>
                <c:pt idx="257">
                  <c:v>82.48</c:v>
                </c:pt>
                <c:pt idx="258">
                  <c:v>87.31</c:v>
                </c:pt>
                <c:pt idx="259">
                  <c:v>90.97</c:v>
                </c:pt>
                <c:pt idx="260">
                  <c:v>85.97</c:v>
                </c:pt>
                <c:pt idx="261">
                  <c:v>93.22</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180"/>
          <c:min val="2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48" dirty="0">
                <a:solidFill>
                  <a:schemeClr val="tx2"/>
                </a:solidFill>
              </a:rPr>
              <a:t>Centene (NYSE : CNC)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2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22.xml"/><Relationship Id="rId2" Type="http://schemas.openxmlformats.org/officeDocument/2006/relationships/chart" Target="../charts/chart2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Centene</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400" dirty="0">
                <a:solidFill>
                  <a:srgbClr val="B9C4BE"/>
                </a:solidFill>
              </a:rPr>
              <a:t>NYSE : CNC  ·  Santé / Assurance santé  ·  États-Unis</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876" dirty="0">
                <a:solidFill>
                  <a:srgbClr val="FFFFFF"/>
                </a:solidFill>
              </a:rPr>
              <a:t>Bon marché pour la mauvaise raison : le screen lisait des bénéfices périmés, et le rebond est venu d'ailleurs</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B07A12"/>
          </a:solidFill>
          <a:ln w="12700">
            <a:solidFill>
              <a:srgbClr val="B07A12"/>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NEUTRE</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Cas d'école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67,60 $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65,00 $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F08A7E"/>
                </a:solidFill>
              </a:rPr>
              <a:t>−4 %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950" dirty="0">
                <a:solidFill>
                  <a:srgbClr val="8E9A94"/>
                </a:solidFill>
              </a:rPr>
              <a:t>Cours : en séance,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33,5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&gt; 5,20 $</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BPA ajusté 2026 guidé</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13,0x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sur la guidance</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−8 %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Adhérents, sur un an</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3" b="1" dirty="0">
                <a:solidFill>
                  <a:schemeClr val="tx1"/>
                </a:solidFill>
              </a:rPr>
              <a:t>Cas d'école : bon marché pour la mauvaise raison</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B07A12"/>
          </a:solidFill>
          <a:ln w="12700">
            <a:solidFill>
              <a:srgbClr val="B07A12"/>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NEUTRE</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65,00 $</a:t>
            </a:r>
            <a:endParaRPr lang="en-US" sz="3000" dirty="0"/>
          </a:p>
          <a:p>
            <a:pPr indent="0" marL="0">
              <a:buNone/>
            </a:pPr>
            <a:r>
              <a:rPr lang="en-US" sz="1300" dirty="0">
                <a:solidFill>
                  <a:srgbClr val="5B6660"/>
                </a:solidFill>
              </a:rPr>
              <a:t>valeur centrale, −4 % vs 67,60 $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99" dirty="0">
                <a:solidFill>
                  <a:srgbClr val="141A17"/>
                </a:solidFill>
              </a:rPr>
              <a:t>En décembre 2025, Centene était l'action santé la moins chère de notre univers, sur des bénéfices 2024 qui n'existaient plus. Le BPA ajusté 2025 s'est effondré à 2,08 $ avant un rebond lié aux hausses de tarifs 2026, vers un plancher guidé au-dessus de 5,20 $. Le titre s'est redressé ; à 67,60 $ il est correctement valorisé, et la leçon porte sur le processus.</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Pourquoi le modèle l'a acheté</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88" dirty="0">
                <a:solidFill>
                  <a:srgbClr val="2A322E"/>
                </a:solidFill>
              </a:rPr>
              <a:t>Avec un décalage comptable de six mois, le score de décembre 2025 utilisait les comptes 2024 : un EBIT d'avant l'effondrement et des fonds propres d'avant une dépréciation de goodwill de 6,7 Md$. EV/EBIT, P/B et E/P sortaient tous en tête du secteur.</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Ce qui s'est réellement passé</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123" dirty="0">
                <a:solidFill>
                  <a:srgbClr val="2A322E"/>
                </a:solidFill>
              </a:rPr>
              <a:t>En juillet 2025, Centene a retiré sa guidance à cause de l'ajustement des risques sur la Marketplace et de la dérive des coûts Medicaid. Le BPA ajusté 2025 est sorti à 2,08 $. Les hausses de tarifs ont ensuite fonctionné : le plancher 2026 a été relevé quatre fois, de 3,00 $ à 5,20 $.</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Où en est-on</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225" dirty="0">
                <a:solidFill>
                  <a:srgbClr val="2A322E"/>
                </a:solidFill>
              </a:rPr>
              <a:t>À 67,60 $, le titre se traite 13x un chiffre 2026 qui inclut environ 0,50 $ d'éléments non récurrents. Les adhérents reculent (−8 % sur un an) et Medicaid tourne encore à 93,6 % de ratio de sinistralité. Potentiel et risque semblent équilibrés.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Centene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Medicaid</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243" dirty="0">
                <a:solidFill>
                  <a:srgbClr val="2A322E"/>
                </a:solidFill>
              </a:rPr>
              <a:t>Premier gestionnaire de Medicaid aux États-Unis : 11,9 M d'adhérents à fin septembre 2026, contre 12,7 M.</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Marketplace (ACA)</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233" dirty="0">
                <a:solidFill>
                  <a:srgbClr val="2A322E"/>
                </a:solidFill>
              </a:rPr>
              <a:t>Contrats Ambetter : 3,4 M d'adhérents contre 5,8 M un an plus tôt, après la fin des crédits d'impôt renforcés.</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Medicare</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Wellcare : 0,95 M d'adhérents Medicare Advantage et complémentaire, plus 8,9 M en partie D seule.</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Autres</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204" dirty="0">
                <a:solidFill>
                  <a:srgbClr val="2A322E"/>
                </a:solidFill>
              </a:rPr>
              <a:t>Activités restantes de Magellan Health en cours de cession (dépréciation de 513 M$, décembre 2025).</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777" i="1" dirty="0">
                <a:solidFill>
                  <a:schemeClr val="tx2"/>
                </a:solidFill>
              </a:rPr>
              <a:t>Source : publications de la société ; Adhérents par produit, sept.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−42 %</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Subventions ACA</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Adhérents Marketplace sur un an après la fin des crédits d'impôt renforcés le 31 déc. 2025.</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2027</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Réforme de Medicaid</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209" dirty="0">
                <a:solidFill>
                  <a:srgbClr val="2A322E"/>
                </a:solidFill>
              </a:rPr>
              <a:t>Obligations de travail de l'OBBBA et contrôles d'éligibilité plus fréquents à partir de fin 2026.</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+2,48 %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Tarifs Medicare</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241" dirty="0">
                <a:solidFill>
                  <a:srgbClr val="2A322E"/>
                </a:solidFill>
              </a:rPr>
              <a:t>Avis définitif CMS des tarifs Medicare Advantage 2027 (avril 2026), contre +0,09 % proposé.</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93,6 %</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Dérive des coûts médicaux</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225" dirty="0">
                <a:solidFill>
                  <a:srgbClr val="2A322E"/>
                </a:solidFill>
              </a:rPr>
              <a:t>Ratio de sinistralité Medicaid au T3 2026 : santé mentale, soins à domicile et médicaments coûteux.</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Classé 1 sur 108 en Santé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2,47, 1er sur 108 dans son secteur. </a:t>
            </a:r>
            <a:pPr indent="0" marL="0">
              <a:buNone/>
            </a:pPr>
            <a:r>
              <a:rPr lang="en-US" sz="1217" dirty="0">
                <a:solidFill>
                  <a:srgbClr val="2A322E"/>
                </a:solidFill>
              </a:rPr>
              <a:t>Le score fait la moyenne des z-scores ci-dessus (quatre ratios exprimés en rendements). Les comptes ne sont utilisés qu'à partir de la clôture + 6 mois : en décembre 2025, le screen lisait les comptes de l'exercice clos en décembre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pipeline du Portfolio Project (données Bloomberg) ; pairs : Elevance Health, Humana, Cigna, UnitedHealth, CVS Health (pairs du pipeline).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11" b="1" dirty="0">
                <a:solidFill>
                  <a:schemeClr val="tx1"/>
                </a:solidFill>
              </a:rPr>
              <a:t>Détenu à 10 rebalancements sur 10 depuis juin 2021</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0E6B4F"/>
                </a:solidFill>
              </a:rPr>
              <a:t>+62,0 %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1,7 % / 0,5 %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9 mois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T3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 total</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194,8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154,2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50,6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196,5-200,5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Ratio de sinistralité</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91,9 %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89,9 %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92,7 %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90,4-91,1 %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 dilué ajusté</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2,08 $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6,45 $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0,58 $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5,20 $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 dilué GAAP</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−13,53 $*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5,15 $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−0,14 $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&gt; 3,46 $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Dette totale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17,4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Dette / capitaux</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46,5 %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41,1 %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946904"/>
            <a:ext cx="11094415" cy="548640"/>
          </a:xfrm>
          <a:prstGeom prst="rect">
            <a:avLst/>
          </a:prstGeom>
          <a:noFill/>
          <a:ln/>
        </p:spPr>
        <p:txBody>
          <a:bodyPr wrap="square" lIns="0" tIns="0" rIns="0" bIns="0" rtlCol="0" anchor="t"/>
          <a:lstStyle/>
          <a:p>
            <a:pPr indent="0" marL="0">
              <a:buNone/>
            </a:pPr>
            <a:r>
              <a:rPr lang="en-US" sz="1005" dirty="0">
                <a:solidFill>
                  <a:srgbClr val="5B6660"/>
                </a:solidFill>
              </a:rPr>
              <a:t>*Inclut une dépréciation de goodwill sans impact cash de 6,7 Md$ (T3 2025). Pas de dividende. Sources : communiqués Centene 2025 et T3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5" b="1" dirty="0">
                <a:solidFill>
                  <a:schemeClr val="tx1"/>
                </a:solidFill>
              </a:rPr>
              <a:t>Ce que disent les optimistes, et ce que montrent les faits</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L'ARGUMENT OPTIMISTE</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CE QUE MONTRENT LES FAITS</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Le titre a doublé, donc le modèle avait raison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184" dirty="0">
                <a:solidFill>
                  <a:srgbClr val="141A17"/>
                </a:solidFill>
              </a:rPr>
              <a:t>Le rebond de 2026 vient des hausses de tarifs et de la politique, pas de la décote mesurée par le modèle. Le signal n'avait aucune défense contre une rupture rapide des fondamentaux.</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L'assurance santé est une valeur de croissance régulière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157" dirty="0">
                <a:solidFill>
                  <a:srgbClr val="141A17"/>
                </a:solidFill>
              </a:rPr>
              <a:t>Les marges sont minces : chaque 10 pb de ratio de sinistralité sur ~175 Md$ de primes vaut environ 175 M$ de résultat avant impôt.</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Les relèvements de guidance signifient du potentiel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300" dirty="0">
                <a:solidFill>
                  <a:srgbClr val="141A17"/>
                </a:solidFill>
              </a:rPr>
              <a:t>Le format plancher (« plus de 5,20 $ ») et ~0,50 $ d'éléments non récurrents flattent 2026 ; la guidance 2027 de février sera le vrai test.</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77" b="1" dirty="0">
                <a:solidFill>
                  <a:schemeClr val="tx1"/>
                </a:solidFill>
              </a:rPr>
              <a:t>Valeur centrale 65,00 $ par action, −4 %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225" b="1" dirty="0">
                <a:solidFill>
                  <a:srgbClr val="0E6B4F"/>
                </a:solidFill>
              </a:rPr>
              <a:t>Méthode : PER sur le BPA ajusté 2027</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3,50 $ × 11x</a:t>
                      </a:r>
                      <a:endParaRPr lang="en-US" sz="1100" dirty="0">
                        <a:latin typeface="Arial" charset="0"/>
                        <a:ea typeface="Arial" charset="0"/>
                        <a:cs typeface="Arial" charset="0"/>
                      </a:endParaRPr>
                    </a:p>
                    <a:p>
                      <a:pPr indent="0" marL="0">
                        <a:buNone/>
                      </a:pPr>
                      <a:r>
                        <a:rPr lang="en-US" sz="963" dirty="0">
                          <a:solidFill>
                            <a:srgbClr val="2A322E"/>
                          </a:solidFill>
                          <a:latin typeface="Arial" pitchFamily="34" charset="0"/>
                          <a:ea typeface="Arial" pitchFamily="34" charset="-122"/>
                          <a:cs typeface="Arial" pitchFamily="34" charset="-120"/>
                        </a:rPr>
                        <a:t>Les marges Medicaid restent dans le rouge ; choc d'ajustement des risques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38,50 $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−43 %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5,00 $ × 13x</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La capacité bénéficiaire 2026 tient hors éléments non récurrents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65,00 $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−4 %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6,50 $ × 14x</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Les tarifs Medicaid rattrapent les coûts ; reprise des rachats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91,00 $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+35 %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67" dirty="0">
                <a:solidFill>
                  <a:srgbClr val="2A322E"/>
                </a:solidFill>
              </a:rPr>
              <a:t>Les assureurs santé se valorisent sur leurs bénéfices. Nous appliquons des PER de la fourchette des pairs à trois BPA ajustés 2027 : un recul sous le plancher 2026 hors éléments non récurrents (~4,70 $), une année stable et la poursuite du redressement des marges.</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7852820" y="2542032"/>
            <a:ext cx="2268114"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31,63 $ - 72,50 $</a:t>
            </a:r>
            <a:endParaRPr lang="en-US" sz="1000" dirty="0"/>
          </a:p>
        </p:txBody>
      </p:sp>
      <p:sp>
        <p:nvSpPr>
          <p:cNvPr id="11" name="Shape 8"/>
          <p:cNvSpPr/>
          <p:nvPr/>
        </p:nvSpPr>
        <p:spPr>
          <a:xfrm>
            <a:off x="9849004" y="2478024"/>
            <a:ext cx="0" cy="438912"/>
          </a:xfrm>
          <a:prstGeom prst="line">
            <a:avLst/>
          </a:prstGeom>
          <a:noFill/>
          <a:ln w="25400">
            <a:solidFill>
              <a:srgbClr val="141A17"/>
            </a:solidFill>
            <a:prstDash val="solid"/>
          </a:ln>
        </p:spPr>
        <p:txBody>
          <a:bodyPr/>
          <a:p/>
        </p:txBody>
      </p:sp>
      <p:sp>
        <p:nvSpPr>
          <p:cNvPr id="12" name="Shape 9"/>
          <p:cNvSpPr/>
          <p:nvPr/>
        </p:nvSpPr>
        <p:spPr>
          <a:xfrm>
            <a:off x="9704715"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234076" y="3502152"/>
            <a:ext cx="2913530"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38,50 $ - 91,00 $</a:t>
            </a:r>
            <a:endParaRPr lang="en-US" sz="1000" dirty="0"/>
          </a:p>
        </p:txBody>
      </p:sp>
      <p:sp>
        <p:nvSpPr>
          <p:cNvPr id="16" name="Shape 13"/>
          <p:cNvSpPr/>
          <p:nvPr/>
        </p:nvSpPr>
        <p:spPr>
          <a:xfrm>
            <a:off x="9849004" y="3438144"/>
            <a:ext cx="0" cy="438912"/>
          </a:xfrm>
          <a:prstGeom prst="line">
            <a:avLst/>
          </a:prstGeom>
          <a:noFill/>
          <a:ln w="25400">
            <a:solidFill>
              <a:srgbClr val="141A17"/>
            </a:solidFill>
            <a:prstDash val="solid"/>
          </a:ln>
        </p:spPr>
        <p:txBody>
          <a:bodyPr/>
          <a:p/>
        </p:txBody>
      </p:sp>
      <p:sp>
        <p:nvSpPr>
          <p:cNvPr id="17" name="Shape 14"/>
          <p:cNvSpPr/>
          <p:nvPr/>
        </p:nvSpPr>
        <p:spPr>
          <a:xfrm>
            <a:off x="9704715"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10231925"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74,50 $</a:t>
            </a:r>
            <a:endParaRPr lang="en-US" sz="1000" dirty="0"/>
          </a:p>
        </p:txBody>
      </p:sp>
      <p:sp>
        <p:nvSpPr>
          <p:cNvPr id="21" name="Shape 18"/>
          <p:cNvSpPr/>
          <p:nvPr/>
        </p:nvSpPr>
        <p:spPr>
          <a:xfrm>
            <a:off x="9849004" y="4398264"/>
            <a:ext cx="0" cy="438912"/>
          </a:xfrm>
          <a:prstGeom prst="line">
            <a:avLst/>
          </a:prstGeom>
          <a:noFill/>
          <a:ln w="25400">
            <a:solidFill>
              <a:srgbClr val="141A17"/>
            </a:solidFill>
            <a:prstDash val="solid"/>
          </a:ln>
        </p:spPr>
        <p:txBody>
          <a:bodyPr/>
          <a:p/>
        </p:txBody>
      </p:sp>
      <p:sp>
        <p:nvSpPr>
          <p:cNvPr id="22" name="Shape 19"/>
          <p:cNvSpPr/>
          <p:nvPr/>
        </p:nvSpPr>
        <p:spPr>
          <a:xfrm>
            <a:off x="9704715" y="4398264"/>
            <a:ext cx="0" cy="438912"/>
          </a:xfrm>
          <a:prstGeom prst="line">
            <a:avLst/>
          </a:prstGeom>
          <a:noFill/>
          <a:ln w="25400">
            <a:solidFill>
              <a:srgbClr val="0E6B4F"/>
            </a:solidFill>
            <a:prstDash val="dash"/>
          </a:ln>
        </p:spPr>
        <p:txBody>
          <a:bodyPr/>
          <a:p/>
        </p:txBody>
      </p:sp>
      <p:sp>
        <p:nvSpPr>
          <p:cNvPr id="23" name="Text 20"/>
          <p:cNvSpPr txBox="1"/>
          <p:nvPr/>
        </p:nvSpPr>
        <p:spPr>
          <a:xfrm>
            <a:off x="9026044"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67,60 $</a:t>
            </a:r>
            <a:endParaRPr lang="en-US" sz="1000" dirty="0"/>
          </a:p>
        </p:txBody>
      </p:sp>
      <p:sp>
        <p:nvSpPr>
          <p:cNvPr id="24" name="Text 21"/>
          <p:cNvSpPr txBox="1"/>
          <p:nvPr/>
        </p:nvSpPr>
        <p:spPr>
          <a:xfrm>
            <a:off x="8881755"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65,00 $</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Nov. 2026-janv. 2027</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88" dirty="0">
                <a:solidFill>
                  <a:srgbClr val="141A17"/>
                </a:solidFill>
              </a:rPr>
              <a:t>Période d'inscription ACA pour 2027 (primes médianes +15 %)</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Févr. 2027</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321" dirty="0">
                <a:solidFill>
                  <a:srgbClr val="141A17"/>
                </a:solidFill>
              </a:rPr>
              <a:t>Résultats du T4 2026 et première guidance 2027</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À partir de janv.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86" dirty="0">
                <a:solidFill>
                  <a:srgbClr val="141A17"/>
                </a:solidFill>
              </a:rPr>
              <a:t>Obligations de travail et contrôles d'éligibilité Medicaid</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Avr. 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80" dirty="0">
                <a:solidFill>
                  <a:srgbClr val="141A17"/>
                </a:solidFill>
              </a:rPr>
              <a:t>Avis définitif des tarifs Medicare Advantage 2028</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Juin-juil.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309" dirty="0">
                <a:solidFill>
                  <a:srgbClr val="141A17"/>
                </a:solidFill>
              </a:rPr>
              <a:t>Données d'ajustement des risques de l'année 2026</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500" dirty="0">
                <a:solidFill>
                  <a:srgbClr val="141A17"/>
                </a:solidFill>
              </a:rPr>
              <a:t>Guidance 2027 nettement sous ~4,70 $ de BPA ajusté</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07" b="1" dirty="0">
                <a:solidFill>
                  <a:schemeClr val="tx1"/>
                </a:solidFill>
              </a:rPr>
              <a:t>Ce qui nous ferait changer d'avis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Le risque Marketplace se dégrade à mesure que les adhérents en bonne santé partent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29" dirty="0">
                          <a:solidFill>
                            <a:srgbClr val="2A322E"/>
                          </a:solidFill>
                          <a:latin typeface="Arial" pitchFamily="34" charset="0"/>
                          <a:ea typeface="Arial" pitchFamily="34" charset="-122"/>
                          <a:cs typeface="Arial" pitchFamily="34" charset="-120"/>
                        </a:rPr>
                        <a:t>Hausses de tarifs déjà déposées ; portefeuille plus petit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Adéquation des tarifs Medicaid à la gravité des cas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62" dirty="0">
                          <a:solidFill>
                            <a:srgbClr val="2A322E"/>
                          </a:solidFill>
                          <a:latin typeface="Arial" pitchFamily="34" charset="0"/>
                          <a:ea typeface="Arial" pitchFamily="34" charset="-122"/>
                          <a:cs typeface="Arial" pitchFamily="34" charset="-120"/>
                        </a:rPr>
                        <a:t>Hausses de tarifs des États en 2026</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148" b="1" dirty="0">
                          <a:solidFill>
                            <a:srgbClr val="141A17"/>
                          </a:solidFill>
                          <a:latin typeface="Arial" pitchFamily="34" charset="0"/>
                          <a:ea typeface="Arial" pitchFamily="34" charset="-122"/>
                          <a:cs typeface="Arial" pitchFamily="34" charset="-120"/>
                        </a:rPr>
                        <a:t>Des notes Medicare Star faibles limitent les bonus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Petit portefeuille MA (0,95 M d'adhérents)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74" b="1" dirty="0">
                          <a:solidFill>
                            <a:srgbClr val="141A17"/>
                          </a:solidFill>
                          <a:latin typeface="Arial" pitchFamily="34" charset="0"/>
                          <a:ea typeface="Arial" pitchFamily="34" charset="-122"/>
                          <a:cs typeface="Arial" pitchFamily="34" charset="-120"/>
                        </a:rPr>
                        <a:t>Peu de trésorerie non régulée (175 M$)</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Dette réduite de 17,4 à 15,5 Md$</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EEF2EF"/>
          </a:solidFill>
          <a:ln w="12700">
            <a:solidFill>
              <a:srgbClr val="D7EBE2"/>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NOUS CHANGERIONS D'AVIS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400" dirty="0">
                <a:solidFill>
                  <a:srgbClr val="141A17"/>
                </a:solidFill>
              </a:rPr>
              <a:t>Guidance 2027 nettement sous ~4,70 $ de BPA ajusté</a:t>
            </a:r>
            <a:endParaRPr lang="en-US" sz="1400" dirty="0"/>
          </a:p>
          <a:p>
            <a:pPr marL="342900" indent="-342900">
              <a:spcAft>
                <a:spcPts val="1000"/>
              </a:spcAft>
              <a:buSzPct val="100000"/>
              <a:buChar char="•"/>
            </a:pPr>
            <a:r>
              <a:rPr lang="en-US" sz="1317" dirty="0">
                <a:solidFill>
                  <a:srgbClr val="141A17"/>
                </a:solidFill>
              </a:rPr>
              <a:t>Ratio de sinistralité Medicaid qui ne baisse pas sous ~93,5 %</a:t>
            </a:r>
            <a:endParaRPr lang="en-US" sz="1400" dirty="0"/>
          </a:p>
          <a:p>
            <a:pPr marL="342900" indent="-342900">
              <a:spcAft>
                <a:spcPts val="1000"/>
              </a:spcAft>
              <a:buSzPct val="100000"/>
              <a:buChar char="•"/>
            </a:pPr>
            <a:r>
              <a:rPr lang="en-US" sz="1204" dirty="0">
                <a:solidFill>
                  <a:srgbClr val="141A17"/>
                </a:solidFill>
              </a:rPr>
              <a:t>Nouveau choc d'ajustement des risques en cours d'année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[1] Centene, "Centene Corporation Reports Third Quarter 2026 Results", 8-K Ex. 99,1, 27 Oct 2026</a:t>
            </a:r>
            <a:endParaRPr lang="en-US" sz="1000" dirty="0"/>
          </a:p>
          <a:p>
            <a:pPr indent="0" marL="0">
              <a:spcAft>
                <a:spcPts val="500"/>
              </a:spcAft>
              <a:buNone/>
            </a:pPr>
            <a:r>
              <a:rPr lang="en-US" sz="1000" dirty="0">
                <a:solidFill>
                  <a:srgbClr val="2A322E"/>
                </a:solidFill>
              </a:rPr>
              <a:t>[2] Centene, "Centene Corporation Reports 2025 Results and Announces 2026 Guidance", 8-K Ex. 99,1, 6 Feb 2026</a:t>
            </a:r>
            <a:endParaRPr lang="en-US" sz="1000" dirty="0"/>
          </a:p>
          <a:p>
            <a:pPr indent="0" marL="0">
              <a:spcAft>
                <a:spcPts val="500"/>
              </a:spcAft>
              <a:buNone/>
            </a:pPr>
            <a:r>
              <a:rPr lang="en-US" sz="1000" dirty="0">
                <a:solidFill>
                  <a:srgbClr val="2A322E"/>
                </a:solidFill>
              </a:rPr>
              <a:t>[3] Centene, Form 10-Q for the quarter ended 30 Sep 2026 (financial statements and notes only), filed Oct 2026</a:t>
            </a:r>
            <a:endParaRPr lang="en-US" sz="1000" dirty="0"/>
          </a:p>
          <a:p>
            <a:pPr indent="0" marL="0">
              <a:spcAft>
                <a:spcPts val="500"/>
              </a:spcAft>
              <a:buNone/>
            </a:pPr>
            <a:r>
              <a:rPr lang="en-US" sz="1000" dirty="0">
                <a:solidFill>
                  <a:srgbClr val="2A322E"/>
                </a:solidFill>
              </a:rPr>
              <a:t>[4] Centene, "Centene Corporation Withdraws 2025 Guidance", 8-K Ex. 99,1, 1 Jul 2025</a:t>
            </a:r>
            <a:endParaRPr lang="en-US" sz="1000" dirty="0"/>
          </a:p>
          <a:p>
            <a:pPr indent="0" marL="0">
              <a:spcAft>
                <a:spcPts val="500"/>
              </a:spcAft>
              <a:buNone/>
            </a:pPr>
            <a:r>
              <a:rPr lang="en-US" sz="1000" dirty="0">
                <a:solidFill>
                  <a:srgbClr val="2A322E"/>
                </a:solidFill>
              </a:rPr>
              <a:t>[5] Centene, "Centene Corporation Reports Third Quarter 2025 Results", 8-K Ex. 99,1, 29 Oct 2025 (content via search excerpt)</a:t>
            </a:r>
            <a:endParaRPr lang="en-US" sz="1000" dirty="0"/>
          </a:p>
          <a:p>
            <a:pPr indent="0" marL="0">
              <a:spcAft>
                <a:spcPts val="500"/>
              </a:spcAft>
              <a:buNone/>
            </a:pPr>
            <a:r>
              <a:rPr lang="en-US" sz="1000" dirty="0">
                <a:solidFill>
                  <a:srgbClr val="2A322E"/>
                </a:solidFill>
              </a:rPr>
              <a:t>[6] Centene, "Centene Corporation Reports First Quarter 2026 Results", 8-K Ex. 99,1, 28 Apr 2026 (content via search excerpt)</a:t>
            </a:r>
            <a:endParaRPr lang="en-US" sz="1000" dirty="0"/>
          </a:p>
          <a:p>
            <a:pPr indent="0" marL="0">
              <a:spcAft>
                <a:spcPts val="500"/>
              </a:spcAft>
              <a:buNone/>
            </a:pPr>
            <a:r>
              <a:rPr lang="en-US" sz="1000" dirty="0">
                <a:solidFill>
                  <a:srgbClr val="2A322E"/>
                </a:solidFill>
              </a:rPr>
              <a:t>[7] Centene, "Centene Corporation Reports Second Quarter 2026 Results", 8-K Ex. 99,1, 28 Jul 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[8] Fierce Healthcare, "CMS gives Medicare Advantage rates a 2,48 % bump for 2027 plan year in final rule", Apr 2026</a:t>
            </a:r>
            <a:endParaRPr lang="en-US" sz="1000" dirty="0"/>
          </a:p>
          <a:p>
            <a:pPr indent="0" marL="0">
              <a:spcAft>
                <a:spcPts val="500"/>
              </a:spcAft>
              <a:buNone/>
            </a:pPr>
            <a:r>
              <a:rPr lang="en-US" sz="1000" dirty="0">
                <a:solidFill>
                  <a:srgbClr val="2A322E"/>
                </a:solidFill>
              </a:rPr>
              <a:t>[9] American Hospital Association, "CMS releases 2027 Medicare Advantage, Part D star ratings", 9 Oct 2026; Becker's Payer Issues, 2027 star ratings coverage, Oct 2026</a:t>
            </a:r>
            <a:endParaRPr lang="en-US" sz="1000" dirty="0"/>
          </a:p>
          <a:p>
            <a:pPr indent="0" marL="0">
              <a:spcAft>
                <a:spcPts val="500"/>
              </a:spcAft>
              <a:buNone/>
            </a:pPr>
            <a:r>
              <a:rPr lang="en-US" sz="1000" dirty="0">
                <a:solidFill>
                  <a:srgbClr val="2A322E"/>
                </a:solidFill>
              </a:rPr>
              <a:t>[10] Fierce Healthcare, "Centene posts $71M loss, 50 $.6B in revenue for Q3", Oct 2026 (page blocked; content via search excerpt)</a:t>
            </a:r>
            <a:endParaRPr lang="en-US" sz="1000" dirty="0"/>
          </a:p>
          <a:p>
            <a:pPr indent="0" marL="0">
              <a:spcAft>
                <a:spcPts val="500"/>
              </a:spcAft>
              <a:buNone/>
            </a:pPr>
            <a:r>
              <a:rPr lang="en-US" sz="1000" dirty="0">
                <a:solidFill>
                  <a:srgbClr val="2A322E"/>
                </a:solidFill>
              </a:rPr>
              <a:t>[11] Becker's Payer Issues, ACA enhanced subsidy coverage (expiry 31 Dec 2025; talks collapsed per WSJ, 5 Feb 2026); Fierce Healthcare, "Centene, Oscar Health outline 2027 ACA marketplace plans" (KFF 15 % median 2027 increase), 2026</a:t>
            </a:r>
            <a:endParaRPr lang="en-US" sz="1000" dirty="0"/>
          </a:p>
          <a:p>
            <a:pPr indent="0" marL="0">
              <a:spcAft>
                <a:spcPts val="500"/>
              </a:spcAft>
              <a:buNone/>
            </a:pPr>
            <a:r>
              <a:rPr lang="en-US" sz="1000" dirty="0">
                <a:solidFill>
                  <a:srgbClr val="2A322E"/>
                </a:solidFill>
              </a:rPr>
              <a:t>[12] stockanalysis.com, Centene (CNC) quote page, data as of 29 Oct 2026 (third-party)</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Centene stock pitch</dc:title>
  <dc:subject>PptxGenJS Presentation</dc:subject>
  <dc:creator>Noah Doose</dc:creator>
  <cp:lastModifiedBy>Noah Doose</cp:lastModifiedBy>
  <cp:revision>1</cp:revision>
  <dcterms:created xsi:type="dcterms:W3CDTF">2026-10-30T06:38:34Z</dcterms:created>
  <dcterms:modified xsi:type="dcterms:W3CDTF">2026-10-30T06:38:34Z</dcterms:modified>
</cp:coreProperties>
</file>