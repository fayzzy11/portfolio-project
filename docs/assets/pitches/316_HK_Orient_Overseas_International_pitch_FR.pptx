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e60a13b3-382a-7939-e91c-12a1218579ad}">
          <p14:sldIdLst>
            <p14:sldId id="256"/>
          </p14:sldIdLst>
        </p14:section>
        <p14:section name="Thesis" id="{8c06e2fe-6749-9db5-ee3e-491e31be4b7d}">
          <p14:sldIdLst>
            <p14:sldId id="257"/>
          </p14:sldIdLst>
        </p14:section>
        <p14:section name="Company" id="{24f975a0-74c1-b965-a2c8-ee52037d0c25}">
          <p14:sldIdLst>
            <p14:sldId id="258"/>
            <p14:sldId id="259"/>
          </p14:sldIdLst>
        </p14:section>
        <p14:section name="Screen" id="{f32115ef-5237-ebcb-621f-422722b34eca}">
          <p14:sldIdLst>
            <p14:sldId id="260"/>
            <p14:sldId id="261"/>
          </p14:sldIdLst>
        </p14:section>
        <p14:section name="Financials" id="{bbb05374-fb64-6c92-1f63-259161bc2e3c}">
          <p14:sldIdLst>
            <p14:sldId id="262"/>
            <p14:sldId id="263"/>
          </p14:sldIdLst>
        </p14:section>
        <p14:section name="Valuation" id="{2b26a3da-017c-582f-3c9e-0562d55041aa}">
          <p14:sldIdLst>
            <p14:sldId id="264"/>
          </p14:sldIdLst>
        </p14:section>
        <p14:section name="Catalysts and risks" id="{7d9f50e0-8ed3-4b74-9990-78be1cc8f66a}">
          <p14:sldIdLst>
            <p14:sldId id="265"/>
            <p14:sldId id="266"/>
          </p14:sldIdLst>
        </p14:section>
        <p14:section name="Sources" id="{9518dbc1-739a-2d0d-e102-6aab4eb9fb56}">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CA maritime par route commerciale, 2025 (part du total)</a:t>
            </a:r>
          </a:p>
        </c:rich>
      </c:tx>
      <c:layout/>
      <c:overlay val="0"/>
    </c:title>
    <c:autoTitleDeleted val="0"/>
    <c:plotArea>
      <c:layout/>
      <c:barChart>
        <c:barDir val="bar"/>
        <c:grouping val="clustered"/>
        <c:varyColors val="0"/>
        <c:ser>
          <c:idx val="0"/>
          <c:order val="0"/>
          <c:tx>
            <c:strRef>
              <c:f>Sheet1!$B$1</c:f>
              <c:strCache>
                <c:ptCount val="1"/>
                <c:pt idx="0">
                  <c:v>CA maritime par route commerciale, 2025</c:v>
                </c:pt>
              </c:strCache>
            </c:strRef>
          </c:tx>
          <c:spPr>
            <a:solidFill>
              <a:srgbClr val="0E6B4F"/>
            </a:solidFill>
            <a:effectLst/>
          </c:spPr>
          <c:invertIfNegative val="0"/>
          <c:dLbls>
            <c:numFmt formatCode="0%" sourceLinked="0"/>
            <c:txPr>
              <a:bodyPr/>
              <a:lstStyle/>
              <a:p>
                <a:pPr>
                  <a:defRPr b="0" i="0" strike="noStrike" sz="1200" u="none">
                    <a:solidFill>
                      <a:srgbClr val="141A17"/>
                    </a:solidFill>
                    <a:latin typeface="+mn-lt"/>
                  </a:defRPr>
                </a:pPr>
              </a:p>
            </c:txPr>
            <c:showLegendKey val="0"/>
            <c:showVal val="1"/>
            <c:showCatName val="0"/>
            <c:showSerName val="0"/>
            <c:showPercent val="0"/>
            <c:showBubbleSize val="0"/>
            <c:showLeaderLines val="0"/>
          </c:dLbls>
          <c:cat>
            <c:multiLvlStrRef>
              <c:f>Sheet1!$A$2:$A$5</c:f>
              <c:multiLvlStrCache>
                <c:ptCount val="4"/>
                <c:lvl>
                  <c:pt idx="0">
                    <c:v>Transpacifique</c:v>
                  </c:pt>
                  <c:pt idx="1">
                    <c:v>Intra-Asie / Australasie</c:v>
                  </c:pt>
                  <c:pt idx="2">
                    <c:v>Asie-Europe</c:v>
                  </c:pt>
                  <c:pt idx="3">
                    <c:v>Transatlantique</c:v>
                  </c:pt>
                </c:lvl>
              </c:multiLvlStrCache>
            </c:multiLvlStrRef>
          </c:cat>
          <c:val>
            <c:numRef>
              <c:f>Sheet1!$B$2:$B$5</c:f>
              <c:numCache>
                <c:formatCode>General</c:formatCode>
                <c:ptCount val="4"/>
                <c:pt idx="0">
                  <c:v>0.3660704113022673</c:v>
                </c:pt>
                <c:pt idx="1">
                  <c:v>0.3429417796513615</c:v>
                </c:pt>
                <c:pt idx="2">
                  <c:v>0.21032243363335992</c:v>
                </c:pt>
                <c:pt idx="3">
                  <c:v>0.08066537541301128</c:v>
                </c:pt>
              </c:numCache>
            </c:numRef>
          </c:val>
        </c:ser>
        <c:dLbls>
          <c:numFmt formatCode="0%" sourceLinked="0"/>
          <c:txPr>
            <a:bodyPr/>
            <a:lstStyle/>
            <a:p>
              <a:pPr>
                <a:defRPr b="0" i="0" strike="noStrike" sz="12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max val="1.1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Multiples au 31 déc. 2025 (dernier exercice utilisable)</a:t>
            </a:r>
          </a:p>
        </c:rich>
      </c:tx>
      <c:layout/>
      <c:overlay val="0"/>
    </c:title>
    <c:autoTitleDeleted val="0"/>
    <c:plotArea>
      <c:layout/>
      <c:barChart>
        <c:barDir val="col"/>
        <c:grouping val="clustered"/>
        <c:varyColors val="0"/>
        <c:ser>
          <c:idx val="0"/>
          <c:order val="0"/>
          <c:tx>
            <c:strRef>
              <c:f>Sheet1!$B$1</c:f>
              <c:strCache>
                <c:ptCount val="1"/>
                <c:pt idx="0">
                  <c:v>Orient Overseas (International)</c:v>
                </c:pt>
              </c:strCache>
            </c:strRef>
          </c:tx>
          <c:spPr>
            <a:solidFill>
              <a:srgbClr val="0E6B4F"/>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P/B</c:v>
                  </c:pt>
                </c:lvl>
              </c:multiLvlStrCache>
            </c:multiLvlStrRef>
          </c:cat>
          <c:val>
            <c:numRef>
              <c:f>Sheet1!$B$2:$B$4</c:f>
              <c:numCache>
                <c:formatCode>General</c:formatCode>
                <c:ptCount val="3"/>
                <c:pt idx="0">
                  <c:v>1.63</c:v>
                </c:pt>
                <c:pt idx="1">
                  <c:v>3.8</c:v>
                </c:pt>
                <c:pt idx="2">
                  <c:v>0.71</c:v>
                </c:pt>
              </c:numCache>
            </c:numRef>
          </c:val>
        </c:ser>
        <c:ser>
          <c:idx val="1"/>
          <c:order val="1"/>
          <c:tx>
            <c:strRef>
              <c:f>Sheet1!$C$1</c:f>
              <c:strCache>
                <c:ptCount val="1"/>
                <c:pt idx="0">
                  <c:v>Médiane des pairs</c:v>
                </c:pt>
              </c:strCache>
            </c:strRef>
          </c:tx>
          <c:spPr>
            <a:solidFill>
              <a:srgbClr val="9AAAA2"/>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P/B</c:v>
                  </c:pt>
                </c:lvl>
              </c:multiLvlStrCache>
            </c:multiLvlStrRef>
          </c:cat>
          <c:val>
            <c:numRef>
              <c:f>Sheet1!$C$2:$C$4</c:f>
              <c:numCache>
                <c:formatCode>General</c:formatCode>
                <c:ptCount val="3"/>
                <c:pt idx="0">
                  <c:v>13.03</c:v>
                </c:pt>
                <c:pt idx="1">
                  <c:v>4.08</c:v>
                </c:pt>
                <c:pt idx="2">
                  <c:v>0.62</c:v>
                </c:pt>
              </c:numCache>
            </c:numRef>
          </c:val>
        </c:ser>
        <c:ser>
          <c:idx val="2"/>
          <c:order val="2"/>
          <c:tx>
            <c:strRef>
              <c:f>Sheet1!$D$1</c:f>
              <c:strCache>
                <c:ptCount val="1"/>
                <c:pt idx="0">
                  <c:v>Médiane du secteur</c:v>
                </c:pt>
              </c:strCache>
            </c:strRef>
          </c:tx>
          <c:spPr>
            <a:solidFill>
              <a:srgbClr val="D5DBD6"/>
            </a:solidFill>
            <a:effectLst/>
          </c:spPr>
          <c:invertIfNegative val="0"/>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cat>
            <c:multiLvlStrRef>
              <c:f>Sheet1!$A$2:$A$4</c:f>
              <c:multiLvlStrCache>
                <c:ptCount val="3"/>
                <c:lvl>
                  <c:pt idx="0">
                    <c:v>VE/EBIT</c:v>
                  </c:pt>
                  <c:pt idx="1">
                    <c:v>PER</c:v>
                  </c:pt>
                  <c:pt idx="2">
                    <c:v>P/B</c:v>
                  </c:pt>
                </c:lvl>
              </c:multiLvlStrCache>
            </c:multiLvlStrRef>
          </c:cat>
          <c:val>
            <c:numRef>
              <c:f>Sheet1!$D$2:$D$4</c:f>
              <c:numCache>
                <c:formatCode>General</c:formatCode>
                <c:ptCount val="3"/>
                <c:pt idx="0">
                  <c:v>21.25</c:v>
                </c:pt>
                <c:pt idx="1">
                  <c:v>23.54</c:v>
                </c:pt>
                <c:pt idx="2">
                  <c:v>4.44</c:v>
                </c:pt>
              </c:numCache>
            </c:numRef>
          </c:val>
        </c:ser>
        <c:dLbls>
          <c:numFmt formatCode="0.0&quot;x&quot;" sourceLinked="0"/>
          <c:txPr>
            <a:bodyPr/>
            <a:lstStyle/>
            <a:p>
              <a:pPr>
                <a:defRPr b="0" i="0" strike="noStrike" sz="10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Z-scores value dans le secteur (déc. 2025)</a:t>
            </a:r>
          </a:p>
        </c:rich>
      </c:tx>
      <c:layout/>
      <c:overlay val="0"/>
    </c:title>
    <c:autoTitleDeleted val="0"/>
    <c:plotArea>
      <c:layout/>
      <c:barChart>
        <c:barDir val="bar"/>
        <c:grouping val="clustered"/>
        <c:varyColors val="0"/>
        <c:ser>
          <c:idx val="0"/>
          <c:order val="0"/>
          <c:tx>
            <c:strRef>
              <c:f>Sheet1!$B$1</c:f>
              <c:strCache>
                <c:ptCount val="1"/>
                <c:pt idx="0">
                  <c:v>z-score</c:v>
                </c:pt>
              </c:strCache>
            </c:strRef>
          </c:tx>
          <c:spPr>
            <a:solidFill>
              <a:srgbClr val="0E6B4F"/>
            </a:solidFill>
            <a:effectLst/>
          </c:spPr>
          <c:invertIfNegative val="0"/>
          <c:dLbls>
            <c:numFmt formatCode="+0.0;−0.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dPt>
            <c:idx val="0"/>
            <c:invertIfNegative val="0"/>
            <c:bubble3D val="0"/>
            <c:spPr>
              <a:solidFill>
                <a:srgbClr val="0E6B4F"/>
              </a:solidFill>
              <a:effectLst/>
            </c:spPr>
          </c:dPt>
          <c:dPt>
            <c:idx val="1"/>
            <c:invertIfNegative val="0"/>
            <c:bubble3D val="0"/>
            <c:spPr>
              <a:solidFill>
                <a:srgbClr val="0E6B4F"/>
              </a:solidFill>
              <a:effectLst/>
            </c:spPr>
          </c:dPt>
          <c:dPt>
            <c:idx val="2"/>
            <c:invertIfNegative val="0"/>
            <c:bubble3D val="0"/>
            <c:spPr>
              <a:solidFill>
                <a:srgbClr val="0E6B4F"/>
              </a:solidFill>
              <a:effectLst/>
            </c:spPr>
          </c:dPt>
          <c:dPt>
            <c:idx val="3"/>
            <c:invertIfNegative val="0"/>
            <c:bubble3D val="0"/>
            <c:spPr>
              <a:solidFill>
                <a:srgbClr val="0E6B4F"/>
              </a:solidFill>
              <a:effectLst/>
            </c:spPr>
          </c:dPt>
          <c:cat>
            <c:multiLvlStrRef>
              <c:f>Sheet1!$A$2:$A$5</c:f>
              <c:multiLvlStrCache>
                <c:ptCount val="4"/>
                <c:lvl>
                  <c:pt idx="0">
                    <c:v>EBIT / VE</c:v>
                  </c:pt>
                  <c:pt idx="1">
                    <c:v>Valeur comptable / cours</c:v>
                  </c:pt>
                  <c:pt idx="2">
                    <c:v>Rendement FCF</c:v>
                  </c:pt>
                  <c:pt idx="3">
                    <c:v>CA / VE</c:v>
                  </c:pt>
                </c:lvl>
              </c:multiLvlStrCache>
            </c:multiLvlStrRef>
          </c:cat>
          <c:val>
            <c:numRef>
              <c:f>Sheet1!$B$2:$B$5</c:f>
              <c:numCache>
                <c:formatCode>General</c:formatCode>
                <c:ptCount val="4"/>
                <c:pt idx="0">
                  <c:v>7.90190818073518</c:v>
                </c:pt>
                <c:pt idx="1">
                  <c:v>2.9340387294903496</c:v>
                </c:pt>
                <c:pt idx="2">
                  <c:v>4.59646191723744</c:v>
                </c:pt>
                <c:pt idx="3">
                  <c:v>6.737462523859864</c:v>
                </c:pt>
              </c:numCache>
            </c:numRef>
          </c:val>
        </c:ser>
        <c:dLbls>
          <c:numFmt formatCode="+0.0;−0.0" sourceLinked="0"/>
          <c:txPr>
            <a:bodyPr/>
            <a:lstStyle/>
            <a:p>
              <a:pPr>
                <a:defRPr b="0" i="0" strike="noStrike" sz="1100" u="none">
                  <a:solidFill>
                    <a:srgbClr val="141A1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66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1A17"/>
                </a:solidFill>
                <a:latin typeface="+mn-lt"/>
              </a:defRPr>
            </a:pPr>
            <a:r>
              <a:rPr sz="1300" b="0" i="0" u="none" strike="noStrike">
                <a:solidFill>
                  <a:srgbClr val="141A17"/>
                </a:solidFill>
                <a:latin typeface="+mn-lt"/>
              </a:rPr>
              <a:t>Rendement total en EUR, base 100 (juin 2021 - juin 2026, hebdo)</a:t>
            </a:r>
          </a:p>
        </c:rich>
      </c:tx>
      <c:layout/>
      <c:overlay val="0"/>
    </c:title>
    <c:autoTitleDeleted val="0"/>
    <c:plotArea>
      <c:layout/>
      <c:lineChart>
        <c:varyColors val="0"/>
        <c:ser>
          <c:idx val="0"/>
          <c:order val="0"/>
          <c:tx>
            <c:strRef>
              <c:f>Sheet1!$B$1</c:f>
              <c:strCache>
                <c:ptCount val="1"/>
                <c:pt idx="0">
                  <c:v>Orient Overseas (International)</c:v>
                </c:pt>
              </c:strCache>
            </c:strRef>
          </c:tx>
          <c:spPr>
            <a:solidFill>
              <a:srgbClr val="0E6B4F"/>
            </a:solidFill>
            <a:ln w="25400" cap="flat">
              <a:solidFill>
                <a:srgbClr val="0E6B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E6B4F"/>
              </a:solidFill>
              <a:ln w="9525" cap="flat">
                <a:solidFill>
                  <a:srgbClr val="0E6B4F"/>
                </a:solidFill>
                <a:prstDash val="solid"/>
                <a:round/>
              </a:ln>
              <a:effectLst/>
            </c:spPr>
          </c:marker>
          <c:cat>
            <c:multiLvlStrRef>
              <c:f>Sheet1!$A$2:$A$263</c:f>
              <c:multiLvlStrCache>
                <c:ptCount val="262"/>
                <c:lvl>
                  <c:pt idx="0">
                    <c:v>2021</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2022</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2023</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2024</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2025</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2026</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lvl>
              </c:multiLvlStrCache>
            </c:multiLvlStrRef>
          </c:cat>
          <c:val>
            <c:numRef>
              <c:f>Sheet1!$B$2:$B$263</c:f>
              <c:numCache>
                <c:formatCode>General</c:formatCode>
                <c:ptCount val="262"/>
                <c:pt idx="0">
                  <c:v>100</c:v>
                </c:pt>
                <c:pt idx="1">
                  <c:v>109.31</c:v>
                </c:pt>
                <c:pt idx="2">
                  <c:v>102.53</c:v>
                </c:pt>
                <c:pt idx="3">
                  <c:v>95.39</c:v>
                </c:pt>
                <c:pt idx="4">
                  <c:v>93.4</c:v>
                </c:pt>
                <c:pt idx="5">
                  <c:v>92.98</c:v>
                </c:pt>
                <c:pt idx="6">
                  <c:v>111.39</c:v>
                </c:pt>
                <c:pt idx="7">
                  <c:v>115.02</c:v>
                </c:pt>
                <c:pt idx="8">
                  <c:v>122.69</c:v>
                </c:pt>
                <c:pt idx="9">
                  <c:v>120.52</c:v>
                </c:pt>
                <c:pt idx="10">
                  <c:v>133.18</c:v>
                </c:pt>
                <c:pt idx="11">
                  <c:v>125.53</c:v>
                </c:pt>
                <c:pt idx="12">
                  <c:v>129.45</c:v>
                </c:pt>
                <c:pt idx="13">
                  <c:v>126.77</c:v>
                </c:pt>
                <c:pt idx="14">
                  <c:v>109.62</c:v>
                </c:pt>
                <c:pt idx="15">
                  <c:v>98.83</c:v>
                </c:pt>
                <c:pt idx="16">
                  <c:v>91.12</c:v>
                </c:pt>
                <c:pt idx="17">
                  <c:v>107.21</c:v>
                </c:pt>
                <c:pt idx="18">
                  <c:v>116.93</c:v>
                </c:pt>
                <c:pt idx="19">
                  <c:v>107.17</c:v>
                </c:pt>
                <c:pt idx="20">
                  <c:v>106.94</c:v>
                </c:pt>
                <c:pt idx="21">
                  <c:v>112.94</c:v>
                </c:pt>
                <c:pt idx="22">
                  <c:v>113.18</c:v>
                </c:pt>
                <c:pt idx="23">
                  <c:v>125.51</c:v>
                </c:pt>
                <c:pt idx="24">
                  <c:v>144.38</c:v>
                </c:pt>
                <c:pt idx="25">
                  <c:v>143.08</c:v>
                </c:pt>
                <c:pt idx="26">
                  <c:v>148.81</c:v>
                </c:pt>
                <c:pt idx="27">
                  <c:v>157.39</c:v>
                </c:pt>
                <c:pt idx="28">
                  <c:v>157.2</c:v>
                </c:pt>
                <c:pt idx="29">
                  <c:v>175.29</c:v>
                </c:pt>
                <c:pt idx="30">
                  <c:v>155.62</c:v>
                </c:pt>
                <c:pt idx="31">
                  <c:v>154.25</c:v>
                </c:pt>
                <c:pt idx="32">
                  <c:v>163.49</c:v>
                </c:pt>
                <c:pt idx="33">
                  <c:v>167.15</c:v>
                </c:pt>
                <c:pt idx="34">
                  <c:v>172.18</c:v>
                </c:pt>
                <c:pt idx="35">
                  <c:v>169.92</c:v>
                </c:pt>
                <c:pt idx="36">
                  <c:v>195.05</c:v>
                </c:pt>
                <c:pt idx="37">
                  <c:v>195.22</c:v>
                </c:pt>
                <c:pt idx="38">
                  <c:v>206.67</c:v>
                </c:pt>
                <c:pt idx="39">
                  <c:v>185.92</c:v>
                </c:pt>
                <c:pt idx="40">
                  <c:v>185.45</c:v>
                </c:pt>
                <c:pt idx="41">
                  <c:v>168.67</c:v>
                </c:pt>
                <c:pt idx="42">
                  <c:v>174.46</c:v>
                </c:pt>
                <c:pt idx="43">
                  <c:v>176.18</c:v>
                </c:pt>
                <c:pt idx="44">
                  <c:v>194.67</c:v>
                </c:pt>
                <c:pt idx="45">
                  <c:v>193.87</c:v>
                </c:pt>
                <c:pt idx="46">
                  <c:v>198.09</c:v>
                </c:pt>
                <c:pt idx="47">
                  <c:v>214.74</c:v>
                </c:pt>
                <c:pt idx="48">
                  <c:v>238.52</c:v>
                </c:pt>
                <c:pt idx="49">
                  <c:v>256.14</c:v>
                </c:pt>
                <c:pt idx="50">
                  <c:v>231.1</c:v>
                </c:pt>
                <c:pt idx="51">
                  <c:v>226.65</c:v>
                </c:pt>
                <c:pt idx="52">
                  <c:v>212.45</c:v>
                </c:pt>
                <c:pt idx="53">
                  <c:v>204.93</c:v>
                </c:pt>
                <c:pt idx="54">
                  <c:v>226.69</c:v>
                </c:pt>
                <c:pt idx="55">
                  <c:v>239.65</c:v>
                </c:pt>
                <c:pt idx="56">
                  <c:v>268.24</c:v>
                </c:pt>
                <c:pt idx="57">
                  <c:v>276.41</c:v>
                </c:pt>
                <c:pt idx="58">
                  <c:v>278.82</c:v>
                </c:pt>
                <c:pt idx="59">
                  <c:v>267.13</c:v>
                </c:pt>
                <c:pt idx="60">
                  <c:v>241.88</c:v>
                </c:pt>
                <c:pt idx="61">
                  <c:v>227.48</c:v>
                </c:pt>
                <c:pt idx="62">
                  <c:v>197.54</c:v>
                </c:pt>
                <c:pt idx="63">
                  <c:v>188.98</c:v>
                </c:pt>
                <c:pt idx="64">
                  <c:v>186.84</c:v>
                </c:pt>
                <c:pt idx="65">
                  <c:v>189.22</c:v>
                </c:pt>
                <c:pt idx="66">
                  <c:v>184.4</c:v>
                </c:pt>
                <c:pt idx="67">
                  <c:v>178.89</c:v>
                </c:pt>
                <c:pt idx="68">
                  <c:v>181.3</c:v>
                </c:pt>
                <c:pt idx="69">
                  <c:v>172.27</c:v>
                </c:pt>
                <c:pt idx="70">
                  <c:v>151.12</c:v>
                </c:pt>
                <c:pt idx="71">
                  <c:v>160.89</c:v>
                </c:pt>
                <c:pt idx="72">
                  <c:v>164.17</c:v>
                </c:pt>
                <c:pt idx="73">
                  <c:v>156.95</c:v>
                </c:pt>
                <c:pt idx="74">
                  <c:v>170.54</c:v>
                </c:pt>
                <c:pt idx="75">
                  <c:v>172.49</c:v>
                </c:pt>
                <c:pt idx="76">
                  <c:v>173.14</c:v>
                </c:pt>
                <c:pt idx="77">
                  <c:v>190.28</c:v>
                </c:pt>
                <c:pt idx="78">
                  <c:v>177.19</c:v>
                </c:pt>
                <c:pt idx="79">
                  <c:v>173.9</c:v>
                </c:pt>
                <c:pt idx="80">
                  <c:v>168.39</c:v>
                </c:pt>
                <c:pt idx="81">
                  <c:v>169.76</c:v>
                </c:pt>
                <c:pt idx="82">
                  <c:v>161.5</c:v>
                </c:pt>
                <c:pt idx="83">
                  <c:v>155.91</c:v>
                </c:pt>
                <c:pt idx="84">
                  <c:v>163.08</c:v>
                </c:pt>
                <c:pt idx="85">
                  <c:v>168.48</c:v>
                </c:pt>
                <c:pt idx="86">
                  <c:v>155.38</c:v>
                </c:pt>
                <c:pt idx="87">
                  <c:v>162.6</c:v>
                </c:pt>
                <c:pt idx="88">
                  <c:v>169.54</c:v>
                </c:pt>
                <c:pt idx="89">
                  <c:v>164.05</c:v>
                </c:pt>
                <c:pt idx="90">
                  <c:v>164.85</c:v>
                </c:pt>
                <c:pt idx="91">
                  <c:v>183.61</c:v>
                </c:pt>
                <c:pt idx="92">
                  <c:v>181.43</c:v>
                </c:pt>
                <c:pt idx="93">
                  <c:v>178.91</c:v>
                </c:pt>
                <c:pt idx="94">
                  <c:v>190.99</c:v>
                </c:pt>
                <c:pt idx="95">
                  <c:v>200.01</c:v>
                </c:pt>
                <c:pt idx="96">
                  <c:v>189.01</c:v>
                </c:pt>
                <c:pt idx="97">
                  <c:v>190.59</c:v>
                </c:pt>
                <c:pt idx="98">
                  <c:v>191.1</c:v>
                </c:pt>
                <c:pt idx="99">
                  <c:v>183.03</c:v>
                </c:pt>
                <c:pt idx="100">
                  <c:v>161.26</c:v>
                </c:pt>
                <c:pt idx="101">
                  <c:v>152.09</c:v>
                </c:pt>
                <c:pt idx="102">
                  <c:v>162.08</c:v>
                </c:pt>
                <c:pt idx="103">
                  <c:v>160.91</c:v>
                </c:pt>
                <c:pt idx="104">
                  <c:v>153.65</c:v>
                </c:pt>
                <c:pt idx="105">
                  <c:v>163.01</c:v>
                </c:pt>
                <c:pt idx="106">
                  <c:v>175.52</c:v>
                </c:pt>
                <c:pt idx="107">
                  <c:v>173.92</c:v>
                </c:pt>
                <c:pt idx="108">
                  <c:v>182.06</c:v>
                </c:pt>
                <c:pt idx="109">
                  <c:v>198.02</c:v>
                </c:pt>
                <c:pt idx="110">
                  <c:v>195.71</c:v>
                </c:pt>
                <c:pt idx="111">
                  <c:v>202.98</c:v>
                </c:pt>
                <c:pt idx="112">
                  <c:v>188.11</c:v>
                </c:pt>
                <c:pt idx="113">
                  <c:v>181.47</c:v>
                </c:pt>
                <c:pt idx="114">
                  <c:v>174.27</c:v>
                </c:pt>
                <c:pt idx="115">
                  <c:v>168.85</c:v>
                </c:pt>
                <c:pt idx="116">
                  <c:v>174.31</c:v>
                </c:pt>
                <c:pt idx="117">
                  <c:v>178.27</c:v>
                </c:pt>
                <c:pt idx="118">
                  <c:v>177.67</c:v>
                </c:pt>
                <c:pt idx="119">
                  <c:v>177.64</c:v>
                </c:pt>
                <c:pt idx="120">
                  <c:v>169.66</c:v>
                </c:pt>
                <c:pt idx="121">
                  <c:v>169.19</c:v>
                </c:pt>
                <c:pt idx="122">
                  <c:v>173.86</c:v>
                </c:pt>
                <c:pt idx="123">
                  <c:v>169.31</c:v>
                </c:pt>
                <c:pt idx="124">
                  <c:v>158.03</c:v>
                </c:pt>
                <c:pt idx="125">
                  <c:v>156.72</c:v>
                </c:pt>
                <c:pt idx="126">
                  <c:v>156.42</c:v>
                </c:pt>
                <c:pt idx="127">
                  <c:v>154.96</c:v>
                </c:pt>
                <c:pt idx="128">
                  <c:v>156.23</c:v>
                </c:pt>
                <c:pt idx="129">
                  <c:v>170.87</c:v>
                </c:pt>
                <c:pt idx="130">
                  <c:v>184.91</c:v>
                </c:pt>
                <c:pt idx="131">
                  <c:v>177.63</c:v>
                </c:pt>
                <c:pt idx="132">
                  <c:v>193.74</c:v>
                </c:pt>
                <c:pt idx="133">
                  <c:v>184.7</c:v>
                </c:pt>
                <c:pt idx="134">
                  <c:v>186.25</c:v>
                </c:pt>
                <c:pt idx="135">
                  <c:v>196.91</c:v>
                </c:pt>
                <c:pt idx="136">
                  <c:v>188.53</c:v>
                </c:pt>
                <c:pt idx="137">
                  <c:v>176.15</c:v>
                </c:pt>
                <c:pt idx="138">
                  <c:v>188.95</c:v>
                </c:pt>
                <c:pt idx="139">
                  <c:v>207.83</c:v>
                </c:pt>
                <c:pt idx="140">
                  <c:v>201.17</c:v>
                </c:pt>
                <c:pt idx="141">
                  <c:v>206.25</c:v>
                </c:pt>
                <c:pt idx="142">
                  <c:v>201.31</c:v>
                </c:pt>
                <c:pt idx="143">
                  <c:v>166.13</c:v>
                </c:pt>
                <c:pt idx="144">
                  <c:v>155.84</c:v>
                </c:pt>
                <c:pt idx="145">
                  <c:v>159.54</c:v>
                </c:pt>
                <c:pt idx="146">
                  <c:v>169.54</c:v>
                </c:pt>
                <c:pt idx="147">
                  <c:v>172.29</c:v>
                </c:pt>
                <c:pt idx="148">
                  <c:v>180.15</c:v>
                </c:pt>
                <c:pt idx="149">
                  <c:v>191.77</c:v>
                </c:pt>
                <c:pt idx="150">
                  <c:v>216.59</c:v>
                </c:pt>
                <c:pt idx="151">
                  <c:v>223.85</c:v>
                </c:pt>
                <c:pt idx="152">
                  <c:v>221.01</c:v>
                </c:pt>
                <c:pt idx="153">
                  <c:v>222.82</c:v>
                </c:pt>
                <c:pt idx="154">
                  <c:v>233.54</c:v>
                </c:pt>
                <c:pt idx="155">
                  <c:v>213</c:v>
                </c:pt>
                <c:pt idx="156">
                  <c:v>221.74</c:v>
                </c:pt>
                <c:pt idx="157">
                  <c:v>215.52</c:v>
                </c:pt>
                <c:pt idx="158">
                  <c:v>216.09</c:v>
                </c:pt>
                <c:pt idx="159">
                  <c:v>192.25</c:v>
                </c:pt>
                <c:pt idx="160">
                  <c:v>179.48</c:v>
                </c:pt>
                <c:pt idx="161">
                  <c:v>176.01</c:v>
                </c:pt>
                <c:pt idx="162">
                  <c:v>183.47</c:v>
                </c:pt>
                <c:pt idx="163">
                  <c:v>170.51</c:v>
                </c:pt>
                <c:pt idx="164">
                  <c:v>181.35</c:v>
                </c:pt>
                <c:pt idx="165">
                  <c:v>173.86</c:v>
                </c:pt>
                <c:pt idx="166">
                  <c:v>179.25</c:v>
                </c:pt>
                <c:pt idx="167">
                  <c:v>170.81</c:v>
                </c:pt>
                <c:pt idx="168">
                  <c:v>163.32</c:v>
                </c:pt>
                <c:pt idx="169">
                  <c:v>175.79</c:v>
                </c:pt>
                <c:pt idx="170">
                  <c:v>192.06</c:v>
                </c:pt>
                <c:pt idx="171">
                  <c:v>184.33</c:v>
                </c:pt>
                <c:pt idx="172">
                  <c:v>184.97</c:v>
                </c:pt>
                <c:pt idx="173">
                  <c:v>191.87</c:v>
                </c:pt>
                <c:pt idx="174">
                  <c:v>198.82</c:v>
                </c:pt>
                <c:pt idx="175">
                  <c:v>196.66</c:v>
                </c:pt>
                <c:pt idx="176">
                  <c:v>197.79</c:v>
                </c:pt>
                <c:pt idx="177">
                  <c:v>194.16</c:v>
                </c:pt>
                <c:pt idx="178">
                  <c:v>194.4</c:v>
                </c:pt>
                <c:pt idx="179">
                  <c:v>180.51</c:v>
                </c:pt>
                <c:pt idx="180">
                  <c:v>184.25</c:v>
                </c:pt>
                <c:pt idx="181">
                  <c:v>192.09</c:v>
                </c:pt>
                <c:pt idx="182">
                  <c:v>186.83</c:v>
                </c:pt>
                <c:pt idx="183">
                  <c:v>211.91</c:v>
                </c:pt>
                <c:pt idx="184">
                  <c:v>222.16</c:v>
                </c:pt>
                <c:pt idx="185">
                  <c:v>200.84</c:v>
                </c:pt>
                <c:pt idx="186">
                  <c:v>200.54</c:v>
                </c:pt>
                <c:pt idx="187">
                  <c:v>194.26</c:v>
                </c:pt>
                <c:pt idx="188">
                  <c:v>191.38</c:v>
                </c:pt>
                <c:pt idx="189">
                  <c:v>201.83</c:v>
                </c:pt>
                <c:pt idx="190">
                  <c:v>199.94</c:v>
                </c:pt>
                <c:pt idx="191">
                  <c:v>198.37</c:v>
                </c:pt>
                <c:pt idx="192">
                  <c:v>192.22</c:v>
                </c:pt>
                <c:pt idx="193">
                  <c:v>189.74</c:v>
                </c:pt>
                <c:pt idx="194">
                  <c:v>198.39</c:v>
                </c:pt>
                <c:pt idx="195">
                  <c:v>203.75</c:v>
                </c:pt>
                <c:pt idx="196">
                  <c:v>204.37</c:v>
                </c:pt>
                <c:pt idx="197">
                  <c:v>194.43</c:v>
                </c:pt>
                <c:pt idx="198">
                  <c:v>177.41</c:v>
                </c:pt>
                <c:pt idx="199">
                  <c:v>179.77</c:v>
                </c:pt>
                <c:pt idx="200">
                  <c:v>182.35</c:v>
                </c:pt>
                <c:pt idx="201">
                  <c:v>189.59</c:v>
                </c:pt>
                <c:pt idx="202">
                  <c:v>196.07</c:v>
                </c:pt>
                <c:pt idx="203">
                  <c:v>235.25</c:v>
                </c:pt>
                <c:pt idx="204">
                  <c:v>246.24</c:v>
                </c:pt>
                <c:pt idx="205">
                  <c:v>244.11</c:v>
                </c:pt>
                <c:pt idx="206">
                  <c:v>229.81</c:v>
                </c:pt>
                <c:pt idx="207">
                  <c:v>242.89</c:v>
                </c:pt>
                <c:pt idx="208">
                  <c:v>236.89</c:v>
                </c:pt>
                <c:pt idx="209">
                  <c:v>233.12</c:v>
                </c:pt>
                <c:pt idx="210">
                  <c:v>237.82</c:v>
                </c:pt>
                <c:pt idx="211">
                  <c:v>235.82</c:v>
                </c:pt>
                <c:pt idx="212">
                  <c:v>237.17</c:v>
                </c:pt>
                <c:pt idx="213">
                  <c:v>256.04</c:v>
                </c:pt>
                <c:pt idx="214">
                  <c:v>248.89</c:v>
                </c:pt>
                <c:pt idx="215">
                  <c:v>252.2</c:v>
                </c:pt>
                <c:pt idx="216">
                  <c:v>254.25</c:v>
                </c:pt>
                <c:pt idx="217">
                  <c:v>258.8</c:v>
                </c:pt>
                <c:pt idx="218">
                  <c:v>240.3</c:v>
                </c:pt>
                <c:pt idx="219">
                  <c:v>232.68</c:v>
                </c:pt>
                <c:pt idx="220">
                  <c:v>244.02</c:v>
                </c:pt>
                <c:pt idx="221">
                  <c:v>245.15</c:v>
                </c:pt>
                <c:pt idx="222">
                  <c:v>234.28</c:v>
                </c:pt>
                <c:pt idx="223">
                  <c:v>231.12</c:v>
                </c:pt>
                <c:pt idx="224">
                  <c:v>228.35</c:v>
                </c:pt>
                <c:pt idx="225">
                  <c:v>237.11</c:v>
                </c:pt>
                <c:pt idx="226">
                  <c:v>237.98</c:v>
                </c:pt>
                <c:pt idx="227">
                  <c:v>251.81</c:v>
                </c:pt>
                <c:pt idx="228">
                  <c:v>250.24</c:v>
                </c:pt>
                <c:pt idx="229">
                  <c:v>250.41</c:v>
                </c:pt>
                <c:pt idx="230">
                  <c:v>236.22</c:v>
                </c:pt>
                <c:pt idx="231">
                  <c:v>234.63</c:v>
                </c:pt>
                <c:pt idx="232">
                  <c:v>247.15</c:v>
                </c:pt>
                <c:pt idx="233">
                  <c:v>232.34</c:v>
                </c:pt>
                <c:pt idx="234">
                  <c:v>227.28</c:v>
                </c:pt>
                <c:pt idx="235">
                  <c:v>227.42</c:v>
                </c:pt>
                <c:pt idx="236">
                  <c:v>233.01</c:v>
                </c:pt>
                <c:pt idx="237">
                  <c:v>234.5</c:v>
                </c:pt>
                <c:pt idx="238">
                  <c:v>222.7</c:v>
                </c:pt>
                <c:pt idx="239">
                  <c:v>226.09</c:v>
                </c:pt>
                <c:pt idx="240">
                  <c:v>231.31</c:v>
                </c:pt>
                <c:pt idx="241">
                  <c:v>240.44</c:v>
                </c:pt>
                <c:pt idx="242">
                  <c:v>245.11</c:v>
                </c:pt>
                <c:pt idx="243">
                  <c:v>256.64</c:v>
                </c:pt>
                <c:pt idx="244">
                  <c:v>271.22</c:v>
                </c:pt>
                <c:pt idx="245">
                  <c:v>288.58</c:v>
                </c:pt>
                <c:pt idx="246">
                  <c:v>267.15</c:v>
                </c:pt>
                <c:pt idx="247">
                  <c:v>272.05</c:v>
                </c:pt>
                <c:pt idx="248">
                  <c:v>263.29</c:v>
                </c:pt>
                <c:pt idx="249">
                  <c:v>256.82</c:v>
                </c:pt>
                <c:pt idx="250">
                  <c:v>262.67</c:v>
                </c:pt>
                <c:pt idx="251">
                  <c:v>250.84</c:v>
                </c:pt>
                <c:pt idx="252">
                  <c:v>249.13</c:v>
                </c:pt>
                <c:pt idx="253">
                  <c:v>249.18</c:v>
                </c:pt>
                <c:pt idx="254">
                  <c:v>256.04</c:v>
                </c:pt>
                <c:pt idx="255">
                  <c:v>260</c:v>
                </c:pt>
                <c:pt idx="256">
                  <c:v>266.87</c:v>
                </c:pt>
                <c:pt idx="257">
                  <c:v>255.29</c:v>
                </c:pt>
                <c:pt idx="258">
                  <c:v>271.94</c:v>
                </c:pt>
                <c:pt idx="259">
                  <c:v>247.24</c:v>
                </c:pt>
                <c:pt idx="260">
                  <c:v>235.24</c:v>
                </c:pt>
                <c:pt idx="261">
                  <c:v>233.97</c:v>
                </c:pt>
              </c:numCache>
            </c:numRef>
          </c:val>
          <c:smooth val="0"/>
        </c:ser>
        <c:ser>
          <c:idx val="1"/>
          <c:order val="1"/>
          <c:tx>
            <c:strRef>
              <c:f>Sheet1!$C$1</c:f>
              <c:strCache>
                <c:ptCount val="1"/>
                <c:pt idx="0">
                  <c:v>MSCI World Net EUR</c:v>
                </c:pt>
              </c:strCache>
            </c:strRef>
          </c:tx>
          <c:spPr>
            <a:solidFill>
              <a:srgbClr val="9AAAA2"/>
            </a:solidFill>
            <a:ln w="25400" cap="flat">
              <a:solidFill>
                <a:srgbClr val="9AAAA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9AAAA2"/>
              </a:solidFill>
              <a:ln w="9525" cap="flat">
                <a:solidFill>
                  <a:srgbClr val="9AAAA2"/>
                </a:solidFill>
                <a:prstDash val="solid"/>
                <a:round/>
              </a:ln>
              <a:effectLst/>
            </c:spPr>
          </c:marker>
          <c:cat>
            <c:multiLvlStrRef>
              <c:f>Sheet1!$A$2:$A$263</c:f>
              <c:multiLvlStrCache>
                <c:ptCount val="262"/>
                <c:lvl>
                  <c:pt idx="0">
                    <c:v>2021</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2022</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2023</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2024</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2025</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2026</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lvl>
              </c:multiLvlStrCache>
            </c:multiLvlStrRef>
          </c:cat>
          <c:val>
            <c:numRef>
              <c:f>Sheet1!$C$2:$C$263</c:f>
              <c:numCache>
                <c:formatCode>General</c:formatCode>
                <c:ptCount val="262"/>
                <c:pt idx="0">
                  <c:v>100</c:v>
                </c:pt>
                <c:pt idx="1">
                  <c:v>101.65</c:v>
                </c:pt>
                <c:pt idx="2">
                  <c:v>101.72</c:v>
                </c:pt>
                <c:pt idx="3">
                  <c:v>101.25</c:v>
                </c:pt>
                <c:pt idx="4">
                  <c:v>103.28</c:v>
                </c:pt>
                <c:pt idx="5">
                  <c:v>102.35</c:v>
                </c:pt>
                <c:pt idx="6">
                  <c:v>104.19</c:v>
                </c:pt>
                <c:pt idx="7">
                  <c:v>104.86</c:v>
                </c:pt>
                <c:pt idx="8">
                  <c:v>104.39</c:v>
                </c:pt>
                <c:pt idx="9">
                  <c:v>105.27</c:v>
                </c:pt>
                <c:pt idx="10">
                  <c:v>105.49</c:v>
                </c:pt>
                <c:pt idx="11">
                  <c:v>104.52</c:v>
                </c:pt>
                <c:pt idx="12">
                  <c:v>104.54</c:v>
                </c:pt>
                <c:pt idx="13">
                  <c:v>104.99</c:v>
                </c:pt>
                <c:pt idx="14">
                  <c:v>103.36</c:v>
                </c:pt>
                <c:pt idx="15">
                  <c:v>104.31</c:v>
                </c:pt>
                <c:pt idx="16">
                  <c:v>106.29</c:v>
                </c:pt>
                <c:pt idx="17">
                  <c:v>107.34</c:v>
                </c:pt>
                <c:pt idx="18">
                  <c:v>108.86</c:v>
                </c:pt>
                <c:pt idx="19">
                  <c:v>111.02</c:v>
                </c:pt>
                <c:pt idx="20">
                  <c:v>111.83</c:v>
                </c:pt>
                <c:pt idx="21">
                  <c:v>112.98</c:v>
                </c:pt>
                <c:pt idx="22">
                  <c:v>109.93</c:v>
                </c:pt>
                <c:pt idx="23">
                  <c:v>108.71</c:v>
                </c:pt>
                <c:pt idx="24">
                  <c:v>112.07</c:v>
                </c:pt>
                <c:pt idx="25">
                  <c:v>110.68</c:v>
                </c:pt>
                <c:pt idx="26">
                  <c:v>112.51</c:v>
                </c:pt>
                <c:pt idx="27">
                  <c:v>112.98</c:v>
                </c:pt>
                <c:pt idx="28">
                  <c:v>111.35</c:v>
                </c:pt>
                <c:pt idx="29">
                  <c:v>110.37</c:v>
                </c:pt>
                <c:pt idx="30">
                  <c:v>106.03</c:v>
                </c:pt>
                <c:pt idx="31">
                  <c:v>107.08</c:v>
                </c:pt>
                <c:pt idx="32">
                  <c:v>106.43</c:v>
                </c:pt>
                <c:pt idx="33">
                  <c:v>106.05</c:v>
                </c:pt>
                <c:pt idx="34">
                  <c:v>104.72</c:v>
                </c:pt>
                <c:pt idx="35">
                  <c:v>105.54</c:v>
                </c:pt>
                <c:pt idx="36">
                  <c:v>105.67</c:v>
                </c:pt>
                <c:pt idx="37">
                  <c:v>103.22</c:v>
                </c:pt>
                <c:pt idx="38">
                  <c:v>108.65</c:v>
                </c:pt>
                <c:pt idx="39">
                  <c:v>110.71</c:v>
                </c:pt>
                <c:pt idx="40">
                  <c:v>110.56</c:v>
                </c:pt>
                <c:pt idx="41">
                  <c:v>110.61</c:v>
                </c:pt>
                <c:pt idx="42">
                  <c:v>109.69</c:v>
                </c:pt>
                <c:pt idx="43">
                  <c:v>106.87</c:v>
                </c:pt>
                <c:pt idx="44">
                  <c:v>105.92</c:v>
                </c:pt>
                <c:pt idx="45">
                  <c:v>104.38</c:v>
                </c:pt>
                <c:pt idx="46">
                  <c:v>104</c:v>
                </c:pt>
                <c:pt idx="47">
                  <c:v>100.73</c:v>
                </c:pt>
                <c:pt idx="48">
                  <c:v>104.83</c:v>
                </c:pt>
                <c:pt idx="49">
                  <c:v>103.87</c:v>
                </c:pt>
                <c:pt idx="50">
                  <c:v>100.55</c:v>
                </c:pt>
                <c:pt idx="51">
                  <c:v>95.31</c:v>
                </c:pt>
                <c:pt idx="52">
                  <c:v>99.62</c:v>
                </c:pt>
                <c:pt idx="53">
                  <c:v>98.82</c:v>
                </c:pt>
                <c:pt idx="54">
                  <c:v>102.69</c:v>
                </c:pt>
                <c:pt idx="55">
                  <c:v>102.26</c:v>
                </c:pt>
                <c:pt idx="56">
                  <c:v>103.99</c:v>
                </c:pt>
                <c:pt idx="57">
                  <c:v>108.12</c:v>
                </c:pt>
                <c:pt idx="58">
                  <c:v>108.7</c:v>
                </c:pt>
                <c:pt idx="59">
                  <c:v>111.15</c:v>
                </c:pt>
                <c:pt idx="60">
                  <c:v>111.57</c:v>
                </c:pt>
                <c:pt idx="61">
                  <c:v>108.14</c:v>
                </c:pt>
                <c:pt idx="62">
                  <c:v>104.5</c:v>
                </c:pt>
                <c:pt idx="63">
                  <c:v>107.49</c:v>
                </c:pt>
                <c:pt idx="64">
                  <c:v>103.08</c:v>
                </c:pt>
                <c:pt idx="65">
                  <c:v>101.13</c:v>
                </c:pt>
                <c:pt idx="66">
                  <c:v>97.81</c:v>
                </c:pt>
                <c:pt idx="67">
                  <c:v>99.55</c:v>
                </c:pt>
                <c:pt idx="68">
                  <c:v>98.19</c:v>
                </c:pt>
                <c:pt idx="69">
                  <c:v>101.3</c:v>
                </c:pt>
                <c:pt idx="70">
                  <c:v>103.75</c:v>
                </c:pt>
                <c:pt idx="71">
                  <c:v>102.15</c:v>
                </c:pt>
                <c:pt idx="72">
                  <c:v>104.43</c:v>
                </c:pt>
                <c:pt idx="73">
                  <c:v>103.55</c:v>
                </c:pt>
                <c:pt idx="74">
                  <c:v>104.86</c:v>
                </c:pt>
                <c:pt idx="75">
                  <c:v>105.36</c:v>
                </c:pt>
                <c:pt idx="76">
                  <c:v>102.02</c:v>
                </c:pt>
                <c:pt idx="77">
                  <c:v>99.16</c:v>
                </c:pt>
                <c:pt idx="78">
                  <c:v>99.16</c:v>
                </c:pt>
                <c:pt idx="79">
                  <c:v>98.55</c:v>
                </c:pt>
                <c:pt idx="80">
                  <c:v>101.01</c:v>
                </c:pt>
                <c:pt idx="81">
                  <c:v>102.12</c:v>
                </c:pt>
                <c:pt idx="82">
                  <c:v>101.73</c:v>
                </c:pt>
                <c:pt idx="83">
                  <c:v>103.91</c:v>
                </c:pt>
                <c:pt idx="84">
                  <c:v>105.06</c:v>
                </c:pt>
                <c:pt idx="85">
                  <c:v>105.47</c:v>
                </c:pt>
                <c:pt idx="86">
                  <c:v>105.5</c:v>
                </c:pt>
                <c:pt idx="87">
                  <c:v>103.95</c:v>
                </c:pt>
                <c:pt idx="88">
                  <c:v>105.4</c:v>
                </c:pt>
                <c:pt idx="89">
                  <c:v>100.76</c:v>
                </c:pt>
                <c:pt idx="90">
                  <c:v>101.15</c:v>
                </c:pt>
                <c:pt idx="91">
                  <c:v>101.45</c:v>
                </c:pt>
                <c:pt idx="92">
                  <c:v>104.29</c:v>
                </c:pt>
                <c:pt idx="93">
                  <c:v>103.73</c:v>
                </c:pt>
                <c:pt idx="94">
                  <c:v>104.27</c:v>
                </c:pt>
                <c:pt idx="95">
                  <c:v>104.51</c:v>
                </c:pt>
                <c:pt idx="96">
                  <c:v>104.43</c:v>
                </c:pt>
                <c:pt idx="97">
                  <c:v>104.28</c:v>
                </c:pt>
                <c:pt idx="98">
                  <c:v>105.27</c:v>
                </c:pt>
                <c:pt idx="99">
                  <c:v>107.33</c:v>
                </c:pt>
                <c:pt idx="100">
                  <c:v>107.63</c:v>
                </c:pt>
                <c:pt idx="101">
                  <c:v>109.2</c:v>
                </c:pt>
                <c:pt idx="102">
                  <c:v>109.37</c:v>
                </c:pt>
                <c:pt idx="103">
                  <c:v>110.58</c:v>
                </c:pt>
                <c:pt idx="104">
                  <c:v>108.79</c:v>
                </c:pt>
                <c:pt idx="105">
                  <c:v>110.94</c:v>
                </c:pt>
                <c:pt idx="106">
                  <c:v>108.99</c:v>
                </c:pt>
                <c:pt idx="107">
                  <c:v>109.57</c:v>
                </c:pt>
                <c:pt idx="108">
                  <c:v>111.24</c:v>
                </c:pt>
                <c:pt idx="109">
                  <c:v>113.13</c:v>
                </c:pt>
                <c:pt idx="110">
                  <c:v>110.64</c:v>
                </c:pt>
                <c:pt idx="111">
                  <c:v>110.69</c:v>
                </c:pt>
                <c:pt idx="112">
                  <c:v>108.92</c:v>
                </c:pt>
                <c:pt idx="113">
                  <c:v>110.53</c:v>
                </c:pt>
                <c:pt idx="114">
                  <c:v>113.13</c:v>
                </c:pt>
                <c:pt idx="115">
                  <c:v>112.58</c:v>
                </c:pt>
                <c:pt idx="116">
                  <c:v>113.59</c:v>
                </c:pt>
                <c:pt idx="117">
                  <c:v>110.58</c:v>
                </c:pt>
                <c:pt idx="118">
                  <c:v>110.37</c:v>
                </c:pt>
                <c:pt idx="119">
                  <c:v>110.59</c:v>
                </c:pt>
                <c:pt idx="120">
                  <c:v>111.64</c:v>
                </c:pt>
                <c:pt idx="121">
                  <c:v>108.01</c:v>
                </c:pt>
                <c:pt idx="122">
                  <c:v>105.82</c:v>
                </c:pt>
                <c:pt idx="123">
                  <c:v>110.11</c:v>
                </c:pt>
                <c:pt idx="124">
                  <c:v>111.45</c:v>
                </c:pt>
                <c:pt idx="125">
                  <c:v>112.48</c:v>
                </c:pt>
                <c:pt idx="126">
                  <c:v>113.09</c:v>
                </c:pt>
                <c:pt idx="127">
                  <c:v>115.18</c:v>
                </c:pt>
                <c:pt idx="128">
                  <c:v>116.17</c:v>
                </c:pt>
                <c:pt idx="129">
                  <c:v>117.6</c:v>
                </c:pt>
                <c:pt idx="130">
                  <c:v>117.55</c:v>
                </c:pt>
                <c:pt idx="131">
                  <c:v>117.86</c:v>
                </c:pt>
                <c:pt idx="132">
                  <c:v>116.78</c:v>
                </c:pt>
                <c:pt idx="133">
                  <c:v>118.73</c:v>
                </c:pt>
                <c:pt idx="134">
                  <c:v>119.91</c:v>
                </c:pt>
                <c:pt idx="135">
                  <c:v>121.69</c:v>
                </c:pt>
                <c:pt idx="136">
                  <c:v>123.59</c:v>
                </c:pt>
                <c:pt idx="137">
                  <c:v>125.08</c:v>
                </c:pt>
                <c:pt idx="138">
                  <c:v>125.45</c:v>
                </c:pt>
                <c:pt idx="139">
                  <c:v>126.75</c:v>
                </c:pt>
                <c:pt idx="140">
                  <c:v>127.77</c:v>
                </c:pt>
                <c:pt idx="141">
                  <c:v>126.99</c:v>
                </c:pt>
                <c:pt idx="142">
                  <c:v>127.23</c:v>
                </c:pt>
                <c:pt idx="143">
                  <c:v>130.6</c:v>
                </c:pt>
                <c:pt idx="144">
                  <c:v>131.25</c:v>
                </c:pt>
                <c:pt idx="145">
                  <c:v>129.7</c:v>
                </c:pt>
                <c:pt idx="146">
                  <c:v>130.05</c:v>
                </c:pt>
                <c:pt idx="147">
                  <c:v>125.9</c:v>
                </c:pt>
                <c:pt idx="148">
                  <c:v>128.92</c:v>
                </c:pt>
                <c:pt idx="149">
                  <c:v>128.93</c:v>
                </c:pt>
                <c:pt idx="150">
                  <c:v>131.31</c:v>
                </c:pt>
                <c:pt idx="151">
                  <c:v>132.05</c:v>
                </c:pt>
                <c:pt idx="152">
                  <c:v>132.06</c:v>
                </c:pt>
                <c:pt idx="153">
                  <c:v>131.34</c:v>
                </c:pt>
                <c:pt idx="154">
                  <c:v>133.2</c:v>
                </c:pt>
                <c:pt idx="155">
                  <c:v>135.3</c:v>
                </c:pt>
                <c:pt idx="156">
                  <c:v>136</c:v>
                </c:pt>
                <c:pt idx="157">
                  <c:v>135.74</c:v>
                </c:pt>
                <c:pt idx="158">
                  <c:v>137.07</c:v>
                </c:pt>
                <c:pt idx="159">
                  <c:v>137.79</c:v>
                </c:pt>
                <c:pt idx="160">
                  <c:v>135.24</c:v>
                </c:pt>
                <c:pt idx="161">
                  <c:v>134.55</c:v>
                </c:pt>
                <c:pt idx="162">
                  <c:v>130.89</c:v>
                </c:pt>
                <c:pt idx="163">
                  <c:v>130.88</c:v>
                </c:pt>
                <c:pt idx="164">
                  <c:v>135.29</c:v>
                </c:pt>
                <c:pt idx="165">
                  <c:v>135.47</c:v>
                </c:pt>
                <c:pt idx="166">
                  <c:v>137.28</c:v>
                </c:pt>
                <c:pt idx="167">
                  <c:v>131.36</c:v>
                </c:pt>
                <c:pt idx="168">
                  <c:v>136.13</c:v>
                </c:pt>
                <c:pt idx="169">
                  <c:v>137.06</c:v>
                </c:pt>
                <c:pt idx="170">
                  <c:v>138.55</c:v>
                </c:pt>
                <c:pt idx="171">
                  <c:v>140.15</c:v>
                </c:pt>
                <c:pt idx="172">
                  <c:v>141.77</c:v>
                </c:pt>
                <c:pt idx="173">
                  <c:v>143.72</c:v>
                </c:pt>
                <c:pt idx="174">
                  <c:v>142.27</c:v>
                </c:pt>
                <c:pt idx="175">
                  <c:v>140.3</c:v>
                </c:pt>
                <c:pt idx="176">
                  <c:v>146.72</c:v>
                </c:pt>
                <c:pt idx="177">
                  <c:v>146.56</c:v>
                </c:pt>
                <c:pt idx="178">
                  <c:v>150.59</c:v>
                </c:pt>
                <c:pt idx="179">
                  <c:v>150.19</c:v>
                </c:pt>
                <c:pt idx="180">
                  <c:v>151.97</c:v>
                </c:pt>
                <c:pt idx="181">
                  <c:v>151.58</c:v>
                </c:pt>
                <c:pt idx="182">
                  <c:v>149.15</c:v>
                </c:pt>
                <c:pt idx="183">
                  <c:v>150.12</c:v>
                </c:pt>
                <c:pt idx="184">
                  <c:v>151.37</c:v>
                </c:pt>
                <c:pt idx="185">
                  <c:v>149.57</c:v>
                </c:pt>
                <c:pt idx="186">
                  <c:v>152.87</c:v>
                </c:pt>
                <c:pt idx="187">
                  <c:v>152.86</c:v>
                </c:pt>
                <c:pt idx="188">
                  <c:v>153.86</c:v>
                </c:pt>
                <c:pt idx="189">
                  <c:v>154.48</c:v>
                </c:pt>
                <c:pt idx="190">
                  <c:v>154.75</c:v>
                </c:pt>
                <c:pt idx="191">
                  <c:v>153.36</c:v>
                </c:pt>
                <c:pt idx="192">
                  <c:v>152.69</c:v>
                </c:pt>
                <c:pt idx="193">
                  <c:v>143.65</c:v>
                </c:pt>
                <c:pt idx="194">
                  <c:v>140.81</c:v>
                </c:pt>
                <c:pt idx="195">
                  <c:v>142.61</c:v>
                </c:pt>
                <c:pt idx="196">
                  <c:v>140.41</c:v>
                </c:pt>
                <c:pt idx="197">
                  <c:v>126.6</c:v>
                </c:pt>
                <c:pt idx="198">
                  <c:v>128.09</c:v>
                </c:pt>
                <c:pt idx="199">
                  <c:v>128.15</c:v>
                </c:pt>
                <c:pt idx="200">
                  <c:v>133.26</c:v>
                </c:pt>
                <c:pt idx="201">
                  <c:v>137.2</c:v>
                </c:pt>
                <c:pt idx="202">
                  <c:v>138.02</c:v>
                </c:pt>
                <c:pt idx="203">
                  <c:v>145.22</c:v>
                </c:pt>
                <c:pt idx="204">
                  <c:v>140.63</c:v>
                </c:pt>
                <c:pt idx="205">
                  <c:v>142.82</c:v>
                </c:pt>
                <c:pt idx="206">
                  <c:v>144.29</c:v>
                </c:pt>
                <c:pt idx="207">
                  <c:v>141.88</c:v>
                </c:pt>
                <c:pt idx="208">
                  <c:v>141.56</c:v>
                </c:pt>
                <c:pt idx="209">
                  <c:v>143.7</c:v>
                </c:pt>
                <c:pt idx="210">
                  <c:v>144.86</c:v>
                </c:pt>
                <c:pt idx="211">
                  <c:v>145.41</c:v>
                </c:pt>
                <c:pt idx="212">
                  <c:v>146.68</c:v>
                </c:pt>
                <c:pt idx="213">
                  <c:v>147.87</c:v>
                </c:pt>
                <c:pt idx="214">
                  <c:v>146.33</c:v>
                </c:pt>
                <c:pt idx="215">
                  <c:v>148.78</c:v>
                </c:pt>
                <c:pt idx="216">
                  <c:v>149.9</c:v>
                </c:pt>
                <c:pt idx="217">
                  <c:v>150.52</c:v>
                </c:pt>
                <c:pt idx="218">
                  <c:v>150.18</c:v>
                </c:pt>
                <c:pt idx="219">
                  <c:v>150.3</c:v>
                </c:pt>
                <c:pt idx="220">
                  <c:v>152.65</c:v>
                </c:pt>
                <c:pt idx="221">
                  <c:v>153.75</c:v>
                </c:pt>
                <c:pt idx="222">
                  <c:v>154</c:v>
                </c:pt>
                <c:pt idx="223">
                  <c:v>155.65</c:v>
                </c:pt>
                <c:pt idx="224">
                  <c:v>154.21</c:v>
                </c:pt>
                <c:pt idx="225">
                  <c:v>155.19</c:v>
                </c:pt>
                <c:pt idx="226">
                  <c:v>158.47</c:v>
                </c:pt>
                <c:pt idx="227">
                  <c:v>160.34</c:v>
                </c:pt>
                <c:pt idx="228">
                  <c:v>157.57</c:v>
                </c:pt>
                <c:pt idx="229">
                  <c:v>157.75</c:v>
                </c:pt>
                <c:pt idx="230">
                  <c:v>155.62</c:v>
                </c:pt>
                <c:pt idx="231">
                  <c:v>159.91</c:v>
                </c:pt>
                <c:pt idx="232">
                  <c:v>160.1</c:v>
                </c:pt>
                <c:pt idx="233">
                  <c:v>158.5</c:v>
                </c:pt>
                <c:pt idx="234">
                  <c:v>159.12</c:v>
                </c:pt>
                <c:pt idx="235">
                  <c:v>160.36</c:v>
                </c:pt>
                <c:pt idx="236">
                  <c:v>159.74</c:v>
                </c:pt>
                <c:pt idx="237">
                  <c:v>163.66</c:v>
                </c:pt>
                <c:pt idx="238">
                  <c:v>164.49</c:v>
                </c:pt>
                <c:pt idx="239">
                  <c:v>161.87</c:v>
                </c:pt>
                <c:pt idx="240">
                  <c:v>160.78</c:v>
                </c:pt>
                <c:pt idx="241">
                  <c:v>161.89</c:v>
                </c:pt>
                <c:pt idx="242">
                  <c:v>160.84</c:v>
                </c:pt>
                <c:pt idx="243">
                  <c:v>163.37</c:v>
                </c:pt>
                <c:pt idx="244">
                  <c:v>163.19</c:v>
                </c:pt>
                <c:pt idx="245">
                  <c:v>160.99</c:v>
                </c:pt>
                <c:pt idx="246">
                  <c:v>160.1</c:v>
                </c:pt>
                <c:pt idx="247">
                  <c:v>155.6</c:v>
                </c:pt>
                <c:pt idx="248">
                  <c:v>153.66</c:v>
                </c:pt>
                <c:pt idx="249">
                  <c:v>158.32</c:v>
                </c:pt>
                <c:pt idx="250">
                  <c:v>161.68</c:v>
                </c:pt>
                <c:pt idx="251">
                  <c:v>166.87</c:v>
                </c:pt>
                <c:pt idx="252">
                  <c:v>167.84</c:v>
                </c:pt>
                <c:pt idx="253">
                  <c:v>168.5</c:v>
                </c:pt>
                <c:pt idx="254">
                  <c:v>171.47</c:v>
                </c:pt>
                <c:pt idx="255">
                  <c:v>173.12</c:v>
                </c:pt>
                <c:pt idx="256">
                  <c:v>175.85</c:v>
                </c:pt>
                <c:pt idx="257">
                  <c:v>177.13</c:v>
                </c:pt>
                <c:pt idx="258">
                  <c:v>174.88</c:v>
                </c:pt>
                <c:pt idx="259">
                  <c:v>175.86</c:v>
                </c:pt>
                <c:pt idx="260">
                  <c:v>178.96</c:v>
                </c:pt>
                <c:pt idx="261">
                  <c:v>177.04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660"/>
                </a:solidFill>
                <a:latin typeface="+mn-lt"/>
              </a:defRPr>
            </a:pPr>
            <a:endParaRPr lang="en-US"/>
          </a:p>
        </c:txPr>
        <c:crossAx val="2094734552"/>
        <c:crosses val="autoZero"/>
        <c:auto val="1"/>
        <c:lblAlgn val="ctr"/>
        <c:noMultiLvlLbl val="1"/>
        <c:tickLblSkip val="1"/>
      </c:catAx>
      <c:valAx>
        <c:axId val="2094734552"/>
        <c:scaling>
          <c:orientation val="minMax"/>
          <c:max val="300"/>
          <c:min val="80"/>
        </c:scaling>
        <c:delete val="0"/>
        <c:axPos val="l"/>
        <c:majorGridlines>
          <c:spPr>
            <a:ln w="6350" cap="flat">
              <a:solidFill>
                <a:srgbClr val="D5DB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6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66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1A1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100" b="1" spc="15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4" name="Text 0"/>
          <p:cNvSpPr/>
          <p:nvPr/>
        </p:nvSpPr>
        <p:spPr>
          <a:xfrm>
            <a:off x="548640" y="6419088"/>
            <a:ext cx="9601200" cy="256032"/>
          </a:xfrm>
          <a:prstGeom prst="rect">
            <a:avLst/>
          </a:prstGeom>
          <a:noFill/>
          <a:ln/>
        </p:spPr>
        <p:txBody>
          <a:bodyPr wrap="square" lIns="0" tIns="0" rIns="0" bIns="0" rtlCol="0" anchor="ctr"/>
          <a:lstStyle/>
          <a:p>
            <a:pPr indent="0" marL="0">
              <a:buNone/>
            </a:pPr>
            <a:r>
              <a:rPr lang="en-US" sz="857" dirty="0">
                <a:solidFill>
                  <a:schemeClr val="tx2"/>
                </a:solidFill>
              </a:rPr>
              <a:t>Orient Overseas (International) (HKEX : 316)  ·  Noah Doose  ·  Travail étudiant, pas un conseil en investissement  ·  Données au 29 oct.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charts/chart25.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26.xml"/><Relationship Id="rId2" Type="http://schemas.openxmlformats.org/officeDocument/2006/relationships/chart" Target="../charts/chart27.xml"/><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28.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02920"/>
            <a:ext cx="8229600" cy="274320"/>
          </a:xfrm>
          <a:prstGeom prst="rect">
            <a:avLst/>
          </a:prstGeom>
          <a:noFill/>
          <a:ln/>
        </p:spPr>
        <p:txBody>
          <a:bodyPr wrap="square" lIns="0" tIns="0" rIns="0" bIns="0" rtlCol="0" anchor="ctr"/>
          <a:lstStyle/>
          <a:p>
            <a:pPr indent="0" marL="0">
              <a:buNone/>
            </a:pPr>
            <a:r>
              <a:rPr lang="en-US" sz="1058" b="1" spc="150" kern="0" dirty="0">
                <a:solidFill>
                  <a:srgbClr val="D7EBE2"/>
                </a:solidFill>
              </a:rPr>
              <a:t>STOCK PITCH  ·  PORTEFEUILLE VALUE SYSTÉMATIQUE  ·  29 OCTOBRE 2026</a:t>
            </a:r>
            <a:endParaRPr lang="en-US" sz="1100" dirty="0"/>
          </a:p>
        </p:txBody>
      </p:sp>
      <p:sp>
        <p:nvSpPr>
          <p:cNvPr id="3" name="Text 1"/>
          <p:cNvSpPr txBox="1"/>
          <p:nvPr/>
        </p:nvSpPr>
        <p:spPr>
          <a:xfrm>
            <a:off x="548640" y="960120"/>
            <a:ext cx="7406640" cy="1005840"/>
          </a:xfrm>
          <a:prstGeom prst="rect">
            <a:avLst/>
          </a:prstGeom>
          <a:noFill/>
          <a:ln/>
        </p:spPr>
        <p:txBody>
          <a:bodyPr wrap="square" lIns="0" tIns="0" rIns="0" bIns="0" rtlCol="0" anchor="t">
            <a:normAutofit/>
          </a:bodyPr>
          <a:lstStyle/>
          <a:p>
            <a:pPr indent="0" marL="0">
              <a:buNone/>
            </a:pPr>
            <a:r>
              <a:rPr lang="en-US" sz="3200" b="1" dirty="0">
                <a:solidFill>
                  <a:srgbClr val="FFFFFF"/>
                </a:solidFill>
              </a:rPr>
              <a:t>Orient Overseas (International)</a:t>
            </a:r>
            <a:endParaRPr lang="en-US" sz="3200" dirty="0"/>
          </a:p>
        </p:txBody>
      </p:sp>
      <p:sp>
        <p:nvSpPr>
          <p:cNvPr id="4" name="Text 2"/>
          <p:cNvSpPr txBox="1"/>
          <p:nvPr/>
        </p:nvSpPr>
        <p:spPr>
          <a:xfrm>
            <a:off x="548640" y="2011680"/>
            <a:ext cx="7406640" cy="320040"/>
          </a:xfrm>
          <a:prstGeom prst="rect">
            <a:avLst/>
          </a:prstGeom>
          <a:noFill/>
          <a:ln/>
        </p:spPr>
        <p:txBody>
          <a:bodyPr wrap="square" lIns="0" tIns="0" rIns="0" bIns="0" rtlCol="0" anchor="ctr"/>
          <a:lstStyle/>
          <a:p>
            <a:pPr indent="0" marL="0">
              <a:buNone/>
            </a:pPr>
            <a:r>
              <a:rPr lang="en-US" sz="1400" dirty="0">
                <a:solidFill>
                  <a:srgbClr val="B9C4BE"/>
                </a:solidFill>
              </a:rPr>
              <a:t>HKEX : 316  ·  Industrie / Transport de conteneurs  ·  Hong Kong</a:t>
            </a:r>
            <a:endParaRPr lang="en-US" sz="1400" dirty="0"/>
          </a:p>
        </p:txBody>
      </p:sp>
      <p:sp>
        <p:nvSpPr>
          <p:cNvPr id="5" name="Text 3"/>
          <p:cNvSpPr txBox="1"/>
          <p:nvPr/>
        </p:nvSpPr>
        <p:spPr>
          <a:xfrm>
            <a:off x="548640" y="2606040"/>
            <a:ext cx="7132320" cy="1371600"/>
          </a:xfrm>
          <a:prstGeom prst="rect">
            <a:avLst/>
          </a:prstGeom>
          <a:noFill/>
          <a:ln/>
        </p:spPr>
        <p:txBody>
          <a:bodyPr wrap="square" lIns="0" tIns="0" rIns="0" bIns="0" rtlCol="0" anchor="t"/>
          <a:lstStyle/>
          <a:p>
            <a:pPr indent="0" marL="0">
              <a:buNone/>
            </a:pPr>
            <a:r>
              <a:rPr lang="en-US" sz="1814" dirty="0">
                <a:solidFill>
                  <a:srgbClr val="FFFFFF"/>
                </a:solidFill>
              </a:rPr>
              <a:t>Le meilleur score value de notre univers, sur des bénéfices de haut de cycle : un pari sur les taux de fret, pas une valeur de rendement</a:t>
            </a:r>
            <a:endParaRPr lang="en-US" sz="2000" dirty="0"/>
          </a:p>
        </p:txBody>
      </p:sp>
      <p:sp>
        <p:nvSpPr>
          <p:cNvPr id="6" name="rating card"/>
          <p:cNvSpPr/>
          <p:nvPr/>
        </p:nvSpPr>
        <p:spPr>
          <a:xfrm>
            <a:off x="8138160" y="960120"/>
            <a:ext cx="3504895" cy="3154680"/>
          </a:xfrm>
          <a:prstGeom prst="roundRect">
            <a:avLst>
              <a:gd name="adj" fmla="val 2319"/>
            </a:avLst>
          </a:prstGeom>
          <a:solidFill>
            <a:srgbClr val="2A322E"/>
          </a:solidFill>
          <a:ln w="9525">
            <a:solidFill>
              <a:srgbClr val="3A4540"/>
            </a:solidFill>
            <a:prstDash val="solid"/>
          </a:ln>
        </p:spPr>
        <p:txBody>
          <a:bodyPr/>
          <a:p/>
        </p:txBody>
      </p:sp>
      <p:sp>
        <p:nvSpPr>
          <p:cNvPr id="7" name="Shape 5"/>
          <p:cNvSpPr/>
          <p:nvPr/>
        </p:nvSpPr>
        <p:spPr>
          <a:xfrm>
            <a:off x="8412480" y="1234440"/>
            <a:ext cx="1828800" cy="384048"/>
          </a:xfrm>
          <a:prstGeom prst="roundRect">
            <a:avLst>
              <a:gd name="adj" fmla="val 50000"/>
            </a:avLst>
          </a:prstGeom>
          <a:solidFill>
            <a:srgbClr val="B23A2E"/>
          </a:solidFill>
          <a:ln w="12700">
            <a:solidFill>
              <a:srgbClr val="B23A2E"/>
            </a:solidFill>
            <a:prstDash val="solid"/>
          </a:ln>
        </p:spPr>
        <p:txBody>
          <a:bodyPr/>
          <a:p/>
        </p:txBody>
      </p:sp>
      <p:sp>
        <p:nvSpPr>
          <p:cNvPr id="8" name="Text 6"/>
          <p:cNvSpPr txBox="1"/>
          <p:nvPr/>
        </p:nvSpPr>
        <p:spPr>
          <a:xfrm>
            <a:off x="8412480" y="1234440"/>
            <a:ext cx="1828800" cy="384048"/>
          </a:xfrm>
          <a:prstGeom prst="rect">
            <a:avLst/>
          </a:prstGeom>
          <a:noFill/>
          <a:ln/>
        </p:spPr>
        <p:txBody>
          <a:bodyPr wrap="square" lIns="0" tIns="0" rIns="0" bIns="0" rtlCol="0" anchor="ctr"/>
          <a:lstStyle/>
          <a:p>
            <a:pPr algn="ctr" indent="0" marL="0">
              <a:buNone/>
            </a:pPr>
            <a:r>
              <a:rPr lang="en-US" sz="1300" b="1" dirty="0">
                <a:solidFill>
                  <a:srgbClr val="FFFFFF"/>
                </a:solidFill>
              </a:rPr>
              <a:t>SOUS-PONDÉRER</a:t>
            </a:r>
            <a:endParaRPr lang="en-US" sz="1300" dirty="0"/>
          </a:p>
        </p:txBody>
      </p:sp>
      <p:sp>
        <p:nvSpPr>
          <p:cNvPr id="9" name="Text 7"/>
          <p:cNvSpPr txBox="1"/>
          <p:nvPr/>
        </p:nvSpPr>
        <p:spPr>
          <a:xfrm>
            <a:off x="10378440" y="1234440"/>
            <a:ext cx="1127455" cy="384048"/>
          </a:xfrm>
          <a:prstGeom prst="rect">
            <a:avLst/>
          </a:prstGeom>
          <a:noFill/>
          <a:ln/>
        </p:spPr>
        <p:txBody>
          <a:bodyPr wrap="square" lIns="0" tIns="0" rIns="0" bIns="0" rtlCol="0" anchor="ctr"/>
          <a:lstStyle/>
          <a:p>
            <a:pPr indent="0" marL="0">
              <a:buNone/>
            </a:pPr>
            <a:r>
              <a:rPr lang="en-US" sz="1200" dirty="0">
                <a:solidFill>
                  <a:srgbClr val="B9C4BE"/>
                </a:solidFill>
              </a:rPr>
              <a:t>Cas d'école</a:t>
            </a:r>
            <a:endParaRPr lang="en-US" sz="1200" dirty="0"/>
          </a:p>
        </p:txBody>
      </p:sp>
      <p:sp>
        <p:nvSpPr>
          <p:cNvPr id="10" name="Text 8"/>
          <p:cNvSpPr txBox="1"/>
          <p:nvPr/>
        </p:nvSpPr>
        <p:spPr>
          <a:xfrm>
            <a:off x="8412480" y="1828800"/>
            <a:ext cx="1828800" cy="411480"/>
          </a:xfrm>
          <a:prstGeom prst="rect">
            <a:avLst/>
          </a:prstGeom>
          <a:noFill/>
          <a:ln/>
        </p:spPr>
        <p:txBody>
          <a:bodyPr wrap="square" lIns="0" tIns="0" rIns="0" bIns="0" rtlCol="0" anchor="ctr"/>
          <a:lstStyle/>
          <a:p>
            <a:pPr indent="0" marL="0">
              <a:buNone/>
            </a:pPr>
            <a:r>
              <a:rPr lang="en-US" sz="1300" dirty="0">
                <a:solidFill>
                  <a:srgbClr val="B9C4BE"/>
                </a:solidFill>
              </a:rPr>
              <a:t>Cours</a:t>
            </a:r>
            <a:endParaRPr lang="en-US" sz="1300" dirty="0"/>
          </a:p>
        </p:txBody>
      </p:sp>
      <p:sp>
        <p:nvSpPr>
          <p:cNvPr id="11" name="Text 9"/>
          <p:cNvSpPr txBox="1"/>
          <p:nvPr/>
        </p:nvSpPr>
        <p:spPr>
          <a:xfrm>
            <a:off x="10058400" y="1828800"/>
            <a:ext cx="1310335" cy="411480"/>
          </a:xfrm>
          <a:prstGeom prst="rect">
            <a:avLst/>
          </a:prstGeom>
          <a:noFill/>
          <a:ln/>
        </p:spPr>
        <p:txBody>
          <a:bodyPr wrap="square" lIns="0" tIns="0" rIns="0" bIns="0" rtlCol="0" anchor="ctr"/>
          <a:lstStyle/>
          <a:p>
            <a:pPr algn="r" indent="0" marL="0">
              <a:buNone/>
            </a:pPr>
            <a:r>
              <a:rPr lang="en-US" sz="1700" b="1" dirty="0">
                <a:solidFill>
                  <a:srgbClr val="FFFFFF"/>
                </a:solidFill>
              </a:rPr>
              <a:t>153,30 HK$</a:t>
            </a:r>
            <a:endParaRPr lang="en-US" sz="1700" dirty="0"/>
          </a:p>
        </p:txBody>
      </p:sp>
      <p:sp>
        <p:nvSpPr>
          <p:cNvPr id="12" name="Text 10"/>
          <p:cNvSpPr txBox="1"/>
          <p:nvPr/>
        </p:nvSpPr>
        <p:spPr>
          <a:xfrm>
            <a:off x="8412480" y="2331720"/>
            <a:ext cx="1828800" cy="411480"/>
          </a:xfrm>
          <a:prstGeom prst="rect">
            <a:avLst/>
          </a:prstGeom>
          <a:noFill/>
          <a:ln/>
        </p:spPr>
        <p:txBody>
          <a:bodyPr wrap="square" lIns="0" tIns="0" rIns="0" bIns="0" rtlCol="0" anchor="ctr"/>
          <a:lstStyle/>
          <a:p>
            <a:pPr indent="0" marL="0">
              <a:buNone/>
            </a:pPr>
            <a:r>
              <a:rPr lang="en-US" sz="1300" dirty="0">
                <a:solidFill>
                  <a:srgbClr val="B9C4BE"/>
                </a:solidFill>
              </a:rPr>
              <a:t>Objectif (scénario central)</a:t>
            </a:r>
            <a:endParaRPr lang="en-US" sz="1300" dirty="0"/>
          </a:p>
        </p:txBody>
      </p:sp>
      <p:sp>
        <p:nvSpPr>
          <p:cNvPr id="13" name="Text 11"/>
          <p:cNvSpPr txBox="1"/>
          <p:nvPr/>
        </p:nvSpPr>
        <p:spPr>
          <a:xfrm>
            <a:off x="10058400" y="2331720"/>
            <a:ext cx="1310335" cy="411480"/>
          </a:xfrm>
          <a:prstGeom prst="rect">
            <a:avLst/>
          </a:prstGeom>
          <a:noFill/>
          <a:ln/>
        </p:spPr>
        <p:txBody>
          <a:bodyPr wrap="square" lIns="0" tIns="0" rIns="0" bIns="0" rtlCol="0" anchor="ctr"/>
          <a:lstStyle/>
          <a:p>
            <a:pPr algn="r" indent="0" marL="0">
              <a:buNone/>
            </a:pPr>
            <a:r>
              <a:rPr lang="en-US" sz="1700" b="1" dirty="0">
                <a:solidFill>
                  <a:srgbClr val="FFFFFF"/>
                </a:solidFill>
              </a:rPr>
              <a:t>123,92 HK$</a:t>
            </a:r>
            <a:endParaRPr lang="en-US" sz="1700" dirty="0"/>
          </a:p>
        </p:txBody>
      </p:sp>
      <p:sp>
        <p:nvSpPr>
          <p:cNvPr id="14" name="Text 12"/>
          <p:cNvSpPr txBox="1"/>
          <p:nvPr/>
        </p:nvSpPr>
        <p:spPr>
          <a:xfrm>
            <a:off x="8412480" y="2834640"/>
            <a:ext cx="1828800" cy="411480"/>
          </a:xfrm>
          <a:prstGeom prst="rect">
            <a:avLst/>
          </a:prstGeom>
          <a:noFill/>
          <a:ln/>
        </p:spPr>
        <p:txBody>
          <a:bodyPr wrap="square" lIns="0" tIns="0" rIns="0" bIns="0" rtlCol="0" anchor="ctr"/>
          <a:lstStyle/>
          <a:p>
            <a:pPr indent="0" marL="0">
              <a:buNone/>
            </a:pPr>
            <a:r>
              <a:rPr lang="en-US" sz="1300" dirty="0">
                <a:solidFill>
                  <a:srgbClr val="B9C4BE"/>
                </a:solidFill>
              </a:rPr>
              <a:t>Potentiel</a:t>
            </a:r>
            <a:endParaRPr lang="en-US" sz="1300" dirty="0"/>
          </a:p>
        </p:txBody>
      </p:sp>
      <p:sp>
        <p:nvSpPr>
          <p:cNvPr id="15" name="Text 13"/>
          <p:cNvSpPr txBox="1"/>
          <p:nvPr/>
        </p:nvSpPr>
        <p:spPr>
          <a:xfrm>
            <a:off x="10058400" y="2834640"/>
            <a:ext cx="1310335" cy="411480"/>
          </a:xfrm>
          <a:prstGeom prst="rect">
            <a:avLst/>
          </a:prstGeom>
          <a:noFill/>
          <a:ln/>
        </p:spPr>
        <p:txBody>
          <a:bodyPr wrap="square" lIns="0" tIns="0" rIns="0" bIns="0" rtlCol="0" anchor="ctr"/>
          <a:lstStyle/>
          <a:p>
            <a:pPr algn="r" indent="0" marL="0">
              <a:buNone/>
            </a:pPr>
            <a:r>
              <a:rPr lang="en-US" sz="2200" b="1" dirty="0">
                <a:solidFill>
                  <a:srgbClr val="F08A7E"/>
                </a:solidFill>
              </a:rPr>
              <a:t>−19 %</a:t>
            </a:r>
            <a:endParaRPr lang="en-US" sz="2200" dirty="0"/>
          </a:p>
        </p:txBody>
      </p:sp>
      <p:sp>
        <p:nvSpPr>
          <p:cNvPr id="16" name="Text 14"/>
          <p:cNvSpPr txBox="1"/>
          <p:nvPr/>
        </p:nvSpPr>
        <p:spPr>
          <a:xfrm>
            <a:off x="8412480" y="3337560"/>
            <a:ext cx="1828800" cy="411480"/>
          </a:xfrm>
          <a:prstGeom prst="rect">
            <a:avLst/>
          </a:prstGeom>
          <a:noFill/>
          <a:ln/>
        </p:spPr>
        <p:txBody>
          <a:bodyPr wrap="square" lIns="0" tIns="0" rIns="0" bIns="0" rtlCol="0" anchor="ctr"/>
          <a:lstStyle/>
          <a:p>
            <a:pPr indent="0" marL="0">
              <a:buNone/>
            </a:pPr>
            <a:r>
              <a:rPr lang="en-US" sz="1300" dirty="0">
                <a:solidFill>
                  <a:srgbClr val="B9C4BE"/>
                </a:solidFill>
              </a:rPr>
              <a:t>Horizon</a:t>
            </a:r>
            <a:endParaRPr lang="en-US" sz="1300" dirty="0"/>
          </a:p>
        </p:txBody>
      </p:sp>
      <p:sp>
        <p:nvSpPr>
          <p:cNvPr id="17" name="Text 15"/>
          <p:cNvSpPr txBox="1"/>
          <p:nvPr/>
        </p:nvSpPr>
        <p:spPr>
          <a:xfrm>
            <a:off x="10058400" y="3337560"/>
            <a:ext cx="1310335" cy="411480"/>
          </a:xfrm>
          <a:prstGeom prst="rect">
            <a:avLst/>
          </a:prstGeom>
          <a:noFill/>
          <a:ln/>
        </p:spPr>
        <p:txBody>
          <a:bodyPr wrap="square" lIns="0" tIns="0" rIns="0" bIns="0" rtlCol="0" anchor="ctr"/>
          <a:lstStyle/>
          <a:p>
            <a:pPr algn="r" indent="0" marL="0">
              <a:buNone/>
            </a:pPr>
            <a:r>
              <a:rPr lang="en-US" sz="1500" b="1" dirty="0">
                <a:solidFill>
                  <a:srgbClr val="FFFFFF"/>
                </a:solidFill>
              </a:rPr>
              <a:t>12 mois</a:t>
            </a:r>
            <a:endParaRPr lang="en-US" sz="1500" dirty="0"/>
          </a:p>
        </p:txBody>
      </p:sp>
      <p:sp>
        <p:nvSpPr>
          <p:cNvPr id="18" name="Text 16"/>
          <p:cNvSpPr txBox="1"/>
          <p:nvPr/>
        </p:nvSpPr>
        <p:spPr>
          <a:xfrm>
            <a:off x="8412480" y="3785616"/>
            <a:ext cx="2956255" cy="274320"/>
          </a:xfrm>
          <a:prstGeom prst="rect">
            <a:avLst/>
          </a:prstGeom>
          <a:noFill/>
          <a:ln/>
        </p:spPr>
        <p:txBody>
          <a:bodyPr wrap="square" lIns="0" tIns="0" rIns="0" bIns="0" rtlCol="0" anchor="ctr"/>
          <a:lstStyle/>
          <a:p>
            <a:pPr indent="0" marL="0">
              <a:buNone/>
            </a:pPr>
            <a:r>
              <a:rPr lang="en-US" sz="1000" dirty="0">
                <a:solidFill>
                  <a:srgbClr val="8E9A94"/>
                </a:solidFill>
              </a:rPr>
              <a:t>Cours : clôture, 29 oct. 2026</a:t>
            </a:r>
            <a:endParaRPr lang="en-US" sz="1000" dirty="0"/>
          </a:p>
        </p:txBody>
      </p:sp>
      <p:sp>
        <p:nvSpPr>
          <p:cNvPr id="19" name="Text 17"/>
          <p:cNvSpPr txBox="1"/>
          <p:nvPr/>
        </p:nvSpPr>
        <p:spPr>
          <a:xfrm>
            <a:off x="548640"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101 Md HK$</a:t>
            </a:r>
            <a:endParaRPr lang="en-US" sz="2800" dirty="0"/>
          </a:p>
        </p:txBody>
      </p:sp>
      <p:sp>
        <p:nvSpPr>
          <p:cNvPr id="20" name="Text 18"/>
          <p:cNvSpPr txBox="1"/>
          <p:nvPr/>
        </p:nvSpPr>
        <p:spPr>
          <a:xfrm>
            <a:off x="548640"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Capitalisation</a:t>
            </a:r>
            <a:endParaRPr lang="en-US" sz="1200" dirty="0"/>
          </a:p>
        </p:txBody>
      </p:sp>
      <p:sp>
        <p:nvSpPr>
          <p:cNvPr id="21" name="Text 19"/>
          <p:cNvSpPr txBox="1"/>
          <p:nvPr/>
        </p:nvSpPr>
        <p:spPr>
          <a:xfrm>
            <a:off x="3322244"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4,5 Md US$</a:t>
            </a:r>
            <a:endParaRPr lang="en-US" sz="2800" dirty="0"/>
          </a:p>
        </p:txBody>
      </p:sp>
      <p:sp>
        <p:nvSpPr>
          <p:cNvPr id="22" name="Text 20"/>
          <p:cNvSpPr txBox="1"/>
          <p:nvPr/>
        </p:nvSpPr>
        <p:spPr>
          <a:xfrm>
            <a:off x="3322244"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Trésorerie nette (juin 2026)</a:t>
            </a:r>
            <a:endParaRPr lang="en-US" sz="1200" dirty="0"/>
          </a:p>
        </p:txBody>
      </p:sp>
      <p:sp>
        <p:nvSpPr>
          <p:cNvPr id="23" name="Text 21"/>
          <p:cNvSpPr txBox="1"/>
          <p:nvPr/>
        </p:nvSpPr>
        <p:spPr>
          <a:xfrm>
            <a:off x="6095848"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8,0x</a:t>
            </a:r>
            <a:endParaRPr lang="en-US" sz="2800" dirty="0"/>
          </a:p>
        </p:txBody>
      </p:sp>
      <p:sp>
        <p:nvSpPr>
          <p:cNvPr id="24" name="Text 22"/>
          <p:cNvSpPr txBox="1"/>
          <p:nvPr/>
        </p:nvSpPr>
        <p:spPr>
          <a:xfrm>
            <a:off x="6095848"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PER prospectif (tiers)</a:t>
            </a:r>
            <a:endParaRPr lang="en-US" sz="1200" dirty="0"/>
          </a:p>
        </p:txBody>
      </p:sp>
      <p:sp>
        <p:nvSpPr>
          <p:cNvPr id="25" name="Text 23"/>
          <p:cNvSpPr txBox="1"/>
          <p:nvPr/>
        </p:nvSpPr>
        <p:spPr>
          <a:xfrm>
            <a:off x="8869451" y="4617720"/>
            <a:ext cx="2499284" cy="640080"/>
          </a:xfrm>
          <a:prstGeom prst="rect">
            <a:avLst/>
          </a:prstGeom>
          <a:noFill/>
          <a:ln/>
        </p:spPr>
        <p:txBody>
          <a:bodyPr wrap="square" lIns="0" tIns="0" rIns="0" bIns="0" rtlCol="0" anchor="b"/>
          <a:lstStyle/>
          <a:p>
            <a:pPr indent="0" marL="0">
              <a:buNone/>
            </a:pPr>
            <a:r>
              <a:rPr lang="en-US" sz="2800" b="1" dirty="0">
                <a:solidFill>
                  <a:srgbClr val="FFFFFF"/>
                </a:solidFill>
              </a:rPr>
              <a:t>5,8 %</a:t>
            </a:r>
            <a:endParaRPr lang="en-US" sz="2800" dirty="0"/>
          </a:p>
        </p:txBody>
      </p:sp>
      <p:sp>
        <p:nvSpPr>
          <p:cNvPr id="26" name="Text 24"/>
          <p:cNvSpPr txBox="1"/>
          <p:nvPr/>
        </p:nvSpPr>
        <p:spPr>
          <a:xfrm>
            <a:off x="8869451" y="5303520"/>
            <a:ext cx="2499284" cy="320040"/>
          </a:xfrm>
          <a:prstGeom prst="rect">
            <a:avLst/>
          </a:prstGeom>
          <a:noFill/>
          <a:ln/>
        </p:spPr>
        <p:txBody>
          <a:bodyPr wrap="square" lIns="0" tIns="0" rIns="0" bIns="0" rtlCol="0" anchor="ctr"/>
          <a:lstStyle/>
          <a:p>
            <a:pPr indent="0" marL="0">
              <a:buNone/>
            </a:pPr>
            <a:r>
              <a:rPr lang="en-US" sz="1200" dirty="0">
                <a:solidFill>
                  <a:srgbClr val="B9C4BE"/>
                </a:solidFill>
              </a:rPr>
              <a:t>Rendement (passé)</a:t>
            </a:r>
            <a:endParaRPr lang="en-US" sz="1200" dirty="0"/>
          </a:p>
        </p:txBody>
      </p:sp>
      <p:sp>
        <p:nvSpPr>
          <p:cNvPr id="27" name="Text 25"/>
          <p:cNvSpPr txBox="1"/>
          <p:nvPr/>
        </p:nvSpPr>
        <p:spPr>
          <a:xfrm>
            <a:off x="548640" y="6263640"/>
            <a:ext cx="11094415" cy="274320"/>
          </a:xfrm>
          <a:prstGeom prst="rect">
            <a:avLst/>
          </a:prstGeom>
          <a:noFill/>
          <a:ln/>
        </p:spPr>
        <p:txBody>
          <a:bodyPr wrap="square" lIns="0" tIns="0" rIns="0" bIns="0" rtlCol="0" anchor="ctr"/>
          <a:lstStyle/>
          <a:p>
            <a:pPr indent="0" marL="0">
              <a:buNone/>
            </a:pPr>
            <a:r>
              <a:rPr lang="en-US" sz="1000" dirty="0">
                <a:solidFill>
                  <a:srgbClr val="8E9A94"/>
                </a:solidFill>
              </a:rPr>
              <a:t>Noah Doose  ·  MSc Financial Markets &amp; Investments, SKEMA Business School  ·  Travail étudiant à visée pédagogique, pas un conseil en investissement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01  SYNTHÈSE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73" b="1" dirty="0">
                <a:solidFill>
                  <a:schemeClr val="tx1"/>
                </a:solidFill>
              </a:rPr>
              <a:t>Cas d'école : le meilleur score value de notre univers, sur des bénéfices de haut de cycle</a:t>
            </a:r>
            <a:endParaRPr lang="en-US" sz="2600" dirty="0"/>
          </a:p>
        </p:txBody>
      </p:sp>
      <p:sp>
        <p:nvSpPr>
          <p:cNvPr id="4" name="view panel"/>
          <p:cNvSpPr/>
          <p:nvPr/>
        </p:nvSpPr>
        <p:spPr>
          <a:xfrm>
            <a:off x="548640" y="1691640"/>
            <a:ext cx="3657600" cy="4206240"/>
          </a:xfrm>
          <a:prstGeom prst="rect">
            <a:avLst/>
          </a:prstGeom>
          <a:solidFill>
            <a:srgbClr val="F2F4F1"/>
          </a:solidFill>
          <a:ln w="12700">
            <a:solidFill>
              <a:srgbClr val="F2F4F1"/>
            </a:solidFill>
            <a:prstDash val="solid"/>
          </a:ln>
        </p:spPr>
        <p:txBody>
          <a:bodyPr/>
          <a:p/>
        </p:txBody>
      </p:sp>
      <p:sp>
        <p:nvSpPr>
          <p:cNvPr id="5" name="Shape 3"/>
          <p:cNvSpPr/>
          <p:nvPr/>
        </p:nvSpPr>
        <p:spPr>
          <a:xfrm>
            <a:off x="822960" y="1920240"/>
            <a:ext cx="1737360" cy="365760"/>
          </a:xfrm>
          <a:prstGeom prst="roundRect">
            <a:avLst>
              <a:gd name="adj" fmla="val 50000"/>
            </a:avLst>
          </a:prstGeom>
          <a:solidFill>
            <a:srgbClr val="B23A2E"/>
          </a:solidFill>
          <a:ln w="12700">
            <a:solidFill>
              <a:srgbClr val="B23A2E"/>
            </a:solidFill>
            <a:prstDash val="solid"/>
          </a:ln>
        </p:spPr>
        <p:txBody>
          <a:bodyPr/>
          <a:p/>
        </p:txBody>
      </p:sp>
      <p:sp>
        <p:nvSpPr>
          <p:cNvPr id="6" name="Text 4"/>
          <p:cNvSpPr txBox="1"/>
          <p:nvPr/>
        </p:nvSpPr>
        <p:spPr>
          <a:xfrm>
            <a:off x="822960" y="1920240"/>
            <a:ext cx="1737360" cy="365760"/>
          </a:xfrm>
          <a:prstGeom prst="rect">
            <a:avLst/>
          </a:prstGeom>
          <a:noFill/>
          <a:ln/>
        </p:spPr>
        <p:txBody>
          <a:bodyPr wrap="square" lIns="0" tIns="0" rIns="0" bIns="0" rtlCol="0" anchor="ctr"/>
          <a:lstStyle/>
          <a:p>
            <a:pPr algn="ctr" indent="0" marL="0">
              <a:buNone/>
            </a:pPr>
            <a:r>
              <a:rPr lang="en-US" sz="1200" b="1" dirty="0">
                <a:solidFill>
                  <a:srgbClr val="FFFFFF"/>
                </a:solidFill>
              </a:rPr>
              <a:t>SOUS-PONDÉRER</a:t>
            </a:r>
            <a:endParaRPr lang="en-US" sz="1200" dirty="0"/>
          </a:p>
        </p:txBody>
      </p:sp>
      <p:sp>
        <p:nvSpPr>
          <p:cNvPr id="7" name="Text 5"/>
          <p:cNvSpPr txBox="1"/>
          <p:nvPr/>
        </p:nvSpPr>
        <p:spPr>
          <a:xfrm>
            <a:off x="822960" y="2423160"/>
            <a:ext cx="3108960" cy="960120"/>
          </a:xfrm>
          <a:prstGeom prst="rect">
            <a:avLst/>
          </a:prstGeom>
          <a:noFill/>
          <a:ln/>
        </p:spPr>
        <p:txBody>
          <a:bodyPr wrap="square" lIns="0" tIns="0" rIns="0" bIns="0" rtlCol="0" anchor="t"/>
          <a:lstStyle/>
          <a:p>
            <a:pPr indent="0" marL="0">
              <a:buNone/>
            </a:pPr>
            <a:r>
              <a:rPr lang="en-US" sz="3000" b="1" dirty="0">
                <a:solidFill>
                  <a:srgbClr val="141A17"/>
                </a:solidFill>
              </a:rPr>
              <a:t>123,92 HK$</a:t>
            </a:r>
            <a:endParaRPr lang="en-US" sz="3000" dirty="0"/>
          </a:p>
          <a:p>
            <a:pPr indent="0" marL="0">
              <a:buNone/>
            </a:pPr>
            <a:r>
              <a:rPr lang="en-US" sz="1300" dirty="0">
                <a:solidFill>
                  <a:srgbClr val="5B6660"/>
                </a:solidFill>
              </a:rPr>
              <a:t>valeur centrale, −19 % vs 153,30 HK$</a:t>
            </a:r>
            <a:endParaRPr lang="en-US" sz="3000" dirty="0"/>
          </a:p>
        </p:txBody>
      </p:sp>
      <p:sp>
        <p:nvSpPr>
          <p:cNvPr id="8" name="Text 6"/>
          <p:cNvSpPr txBox="1"/>
          <p:nvPr/>
        </p:nvSpPr>
        <p:spPr>
          <a:xfrm>
            <a:off x="822960" y="3474720"/>
            <a:ext cx="3154680" cy="2286000"/>
          </a:xfrm>
          <a:prstGeom prst="rect">
            <a:avLst/>
          </a:prstGeom>
          <a:noFill/>
          <a:ln/>
        </p:spPr>
        <p:txBody>
          <a:bodyPr wrap="square" lIns="0" tIns="0" rIns="0" bIns="0" rtlCol="0" anchor="t">
            <a:normAutofit/>
          </a:bodyPr>
          <a:lstStyle/>
          <a:p>
            <a:pPr indent="0" marL="0">
              <a:buNone/>
            </a:pPr>
            <a:r>
              <a:rPr lang="en-US" sz="1161" dirty="0">
                <a:solidFill>
                  <a:srgbClr val="141A17"/>
                </a:solidFill>
              </a:rPr>
              <a:t>OOIL (OOCL) avait le meilleur score de tout notre univers en décembre 2025. Le screen voyait un PER inférieur à 4x sur le bénéfice 2024 ; le bénéfice 2025 a ensuite chuté de 41 %, puis celui du S1 2026 de 24 %. Un choc de guerre en 2026 a relancé les taux de fret, mais sur des bénéfices normalisés le titre n'est pas bon marché. Nous gardons le poids plancher du modèle et attendons un retour à la moyenne.</a:t>
            </a:r>
            <a:endParaRPr lang="en-US" sz="1300" dirty="0"/>
          </a:p>
        </p:txBody>
      </p:sp>
      <p:sp>
        <p:nvSpPr>
          <p:cNvPr id="9" name="Shape 7"/>
          <p:cNvSpPr/>
          <p:nvPr/>
        </p:nvSpPr>
        <p:spPr>
          <a:xfrm>
            <a:off x="4526280" y="1737360"/>
            <a:ext cx="457200" cy="457200"/>
          </a:xfrm>
          <a:prstGeom prst="ellipse">
            <a:avLst/>
          </a:prstGeom>
          <a:solidFill>
            <a:srgbClr val="0E6B4F"/>
          </a:solidFill>
          <a:ln w="12700">
            <a:solidFill>
              <a:srgbClr val="0E6B4F"/>
            </a:solidFill>
            <a:prstDash val="solid"/>
          </a:ln>
        </p:spPr>
        <p:txBody>
          <a:bodyPr/>
          <a:p/>
        </p:txBody>
      </p:sp>
      <p:sp>
        <p:nvSpPr>
          <p:cNvPr id="10" name="Text 8"/>
          <p:cNvSpPr txBox="1"/>
          <p:nvPr/>
        </p:nvSpPr>
        <p:spPr>
          <a:xfrm>
            <a:off x="45262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1" name="Text 9"/>
          <p:cNvSpPr txBox="1"/>
          <p:nvPr/>
        </p:nvSpPr>
        <p:spPr>
          <a:xfrm>
            <a:off x="5166360" y="1691640"/>
            <a:ext cx="6476695" cy="365760"/>
          </a:xfrm>
          <a:prstGeom prst="rect">
            <a:avLst/>
          </a:prstGeom>
          <a:noFill/>
          <a:ln/>
        </p:spPr>
        <p:txBody>
          <a:bodyPr wrap="square" lIns="0" tIns="0" rIns="0" bIns="0" rtlCol="0" anchor="t"/>
          <a:lstStyle/>
          <a:p>
            <a:pPr indent="0" marL="0">
              <a:buNone/>
            </a:pPr>
            <a:r>
              <a:rPr lang="en-US" sz="1600" b="1" dirty="0">
                <a:solidFill>
                  <a:srgbClr val="141A17"/>
                </a:solidFill>
              </a:rPr>
              <a:t>Pourquoi le modèle l'a acheté</a:t>
            </a:r>
            <a:endParaRPr lang="en-US" sz="1600" dirty="0"/>
          </a:p>
        </p:txBody>
      </p:sp>
      <p:sp>
        <p:nvSpPr>
          <p:cNvPr id="12" name="Text 10"/>
          <p:cNvSpPr txBox="1"/>
          <p:nvPr/>
        </p:nvSpPr>
        <p:spPr>
          <a:xfrm>
            <a:off x="5166360" y="2075688"/>
            <a:ext cx="6476695" cy="960120"/>
          </a:xfrm>
          <a:prstGeom prst="rect">
            <a:avLst/>
          </a:prstGeom>
          <a:noFill/>
          <a:ln/>
        </p:spPr>
        <p:txBody>
          <a:bodyPr wrap="square" lIns="0" tIns="0" rIns="0" bIns="0" rtlCol="0" anchor="t">
            <a:normAutofit/>
          </a:bodyPr>
          <a:lstStyle/>
          <a:p>
            <a:pPr indent="0" marL="0">
              <a:buNone/>
            </a:pPr>
            <a:r>
              <a:rPr lang="en-US" sz="1173" dirty="0">
                <a:solidFill>
                  <a:srgbClr val="2A322E"/>
                </a:solidFill>
              </a:rPr>
              <a:t>Avec un décalage de six mois, le score de décembre 2025 utilisait les comptes 2024 : un EBIT de 2,6 Md US$. L'exercice 2025 a ensuite livré 1,5 Md US$. Sur les bénéfices réellement produits, le titre était environ 40 % moins bon marché que ne le montrait le screen.</a:t>
            </a:r>
            <a:endParaRPr lang="en-US" sz="1300" dirty="0"/>
          </a:p>
        </p:txBody>
      </p:sp>
      <p:sp>
        <p:nvSpPr>
          <p:cNvPr id="13" name="Shape 11"/>
          <p:cNvSpPr/>
          <p:nvPr/>
        </p:nvSpPr>
        <p:spPr>
          <a:xfrm>
            <a:off x="4526280" y="3172968"/>
            <a:ext cx="457200" cy="457200"/>
          </a:xfrm>
          <a:prstGeom prst="ellipse">
            <a:avLst/>
          </a:prstGeom>
          <a:solidFill>
            <a:srgbClr val="0E6B4F"/>
          </a:solidFill>
          <a:ln w="12700">
            <a:solidFill>
              <a:srgbClr val="0E6B4F"/>
            </a:solidFill>
            <a:prstDash val="solid"/>
          </a:ln>
        </p:spPr>
        <p:txBody>
          <a:bodyPr/>
          <a:p/>
        </p:txBody>
      </p:sp>
      <p:sp>
        <p:nvSpPr>
          <p:cNvPr id="14" name="Text 12"/>
          <p:cNvSpPr txBox="1"/>
          <p:nvPr/>
        </p:nvSpPr>
        <p:spPr>
          <a:xfrm>
            <a:off x="4526280" y="3172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5" name="Text 13"/>
          <p:cNvSpPr txBox="1"/>
          <p:nvPr/>
        </p:nvSpPr>
        <p:spPr>
          <a:xfrm>
            <a:off x="5166360" y="3127248"/>
            <a:ext cx="6476695" cy="365760"/>
          </a:xfrm>
          <a:prstGeom prst="rect">
            <a:avLst/>
          </a:prstGeom>
          <a:noFill/>
          <a:ln/>
        </p:spPr>
        <p:txBody>
          <a:bodyPr wrap="square" lIns="0" tIns="0" rIns="0" bIns="0" rtlCol="0" anchor="t"/>
          <a:lstStyle/>
          <a:p>
            <a:pPr indent="0" marL="0">
              <a:buNone/>
            </a:pPr>
            <a:r>
              <a:rPr lang="en-US" sz="1600" b="1" dirty="0">
                <a:solidFill>
                  <a:srgbClr val="141A17"/>
                </a:solidFill>
              </a:rPr>
              <a:t>Les bénéfices = un taux de fret × un volume</a:t>
            </a:r>
            <a:endParaRPr lang="en-US" sz="1600" dirty="0"/>
          </a:p>
        </p:txBody>
      </p:sp>
      <p:sp>
        <p:nvSpPr>
          <p:cNvPr id="16" name="Text 14"/>
          <p:cNvSpPr txBox="1"/>
          <p:nvPr/>
        </p:nvSpPr>
        <p:spPr>
          <a:xfrm>
            <a:off x="5166360" y="3511296"/>
            <a:ext cx="6476695" cy="960120"/>
          </a:xfrm>
          <a:prstGeom prst="rect">
            <a:avLst/>
          </a:prstGeom>
          <a:noFill/>
          <a:ln/>
        </p:spPr>
        <p:txBody>
          <a:bodyPr wrap="square" lIns="0" tIns="0" rIns="0" bIns="0" rtlCol="0" anchor="t">
            <a:normAutofit/>
          </a:bodyPr>
          <a:lstStyle/>
          <a:p>
            <a:pPr indent="0" marL="0">
              <a:buNone/>
            </a:pPr>
            <a:r>
              <a:rPr lang="en-US" sz="1152" dirty="0">
                <a:solidFill>
                  <a:srgbClr val="2A322E"/>
                </a:solidFill>
              </a:rPr>
              <a:t>Le bénéfice a été multiplié par plus de 60 entre la base opérationnelle de 2019 et le pic de 2022, puis a chuté de 86 % en un an. Un screen qui achète le PER passé le plus bas du transport maritime achète juste après le pic des bénéfices.</a:t>
            </a:r>
            <a:endParaRPr lang="en-US" sz="1300" dirty="0"/>
          </a:p>
        </p:txBody>
      </p:sp>
      <p:sp>
        <p:nvSpPr>
          <p:cNvPr id="17" name="Shape 15"/>
          <p:cNvSpPr/>
          <p:nvPr/>
        </p:nvSpPr>
        <p:spPr>
          <a:xfrm>
            <a:off x="4526280" y="4608576"/>
            <a:ext cx="457200" cy="457200"/>
          </a:xfrm>
          <a:prstGeom prst="ellipse">
            <a:avLst/>
          </a:prstGeom>
          <a:solidFill>
            <a:srgbClr val="0E6B4F"/>
          </a:solidFill>
          <a:ln w="12700">
            <a:solidFill>
              <a:srgbClr val="0E6B4F"/>
            </a:solidFill>
            <a:prstDash val="solid"/>
          </a:ln>
        </p:spPr>
        <p:txBody>
          <a:bodyPr/>
          <a:p/>
        </p:txBody>
      </p:sp>
      <p:sp>
        <p:nvSpPr>
          <p:cNvPr id="18" name="Text 16"/>
          <p:cNvSpPr txBox="1"/>
          <p:nvPr/>
        </p:nvSpPr>
        <p:spPr>
          <a:xfrm>
            <a:off x="4526280" y="46085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9" name="Text 17"/>
          <p:cNvSpPr txBox="1"/>
          <p:nvPr/>
        </p:nvSpPr>
        <p:spPr>
          <a:xfrm>
            <a:off x="5166360" y="4562856"/>
            <a:ext cx="6476695" cy="365760"/>
          </a:xfrm>
          <a:prstGeom prst="rect">
            <a:avLst/>
          </a:prstGeom>
          <a:noFill/>
          <a:ln/>
        </p:spPr>
        <p:txBody>
          <a:bodyPr wrap="square" lIns="0" tIns="0" rIns="0" bIns="0" rtlCol="0" anchor="t"/>
          <a:lstStyle/>
          <a:p>
            <a:pPr indent="0" marL="0">
              <a:buNone/>
            </a:pPr>
            <a:r>
              <a:rPr lang="en-US" sz="1413" b="1" dirty="0">
                <a:solidFill>
                  <a:srgbClr val="141A17"/>
                </a:solidFill>
              </a:rPr>
              <a:t>2026 a été sauvé par une guerre, pas par la valeur</a:t>
            </a:r>
            <a:endParaRPr lang="en-US" sz="1600" dirty="0"/>
          </a:p>
        </p:txBody>
      </p:sp>
      <p:sp>
        <p:nvSpPr>
          <p:cNvPr id="20" name="Text 18"/>
          <p:cNvSpPr txBox="1"/>
          <p:nvPr/>
        </p:nvSpPr>
        <p:spPr>
          <a:xfrm>
            <a:off x="5166360" y="4946904"/>
            <a:ext cx="6476695" cy="960120"/>
          </a:xfrm>
          <a:prstGeom prst="rect">
            <a:avLst/>
          </a:prstGeom>
          <a:noFill/>
          <a:ln/>
        </p:spPr>
        <p:txBody>
          <a:bodyPr wrap="square" lIns="0" tIns="0" rIns="0" bIns="0" rtlCol="0" anchor="t">
            <a:normAutofit/>
          </a:bodyPr>
          <a:lstStyle/>
          <a:p>
            <a:pPr indent="0" marL="0">
              <a:buNone/>
            </a:pPr>
            <a:r>
              <a:rPr lang="en-US" sz="1120" dirty="0">
                <a:solidFill>
                  <a:srgbClr val="2A322E"/>
                </a:solidFill>
              </a:rPr>
              <a:t>La guerre États-Unis-Iran et la perturbation d'Ormuz ont fait monter les taux Asie-États-Unis de 109 % en juin 2026 et le chiffre d'affaires du T3 de 45 %. La croissance de la flotte (4,6 %) dépasse toujours la demande (4,1 %), et les navires reviennent vers Suez.</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02  LA SOCIÉTÉ</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Orient Overseas (International) en bref</a:t>
            </a:r>
            <a:endParaRPr lang="en-US" sz="2600" dirty="0"/>
          </a:p>
        </p:txBody>
      </p:sp>
      <p:sp>
        <p:nvSpPr>
          <p:cNvPr id="4" name="Text 2"/>
          <p:cNvSpPr txBox="1"/>
          <p:nvPr/>
        </p:nvSpPr>
        <p:spPr>
          <a:xfrm>
            <a:off x="548640" y="169164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Transport de conteneurs (OOCL)</a:t>
            </a:r>
            <a:endParaRPr lang="en-US" sz="1400" dirty="0"/>
          </a:p>
        </p:txBody>
      </p:sp>
      <p:sp>
        <p:nvSpPr>
          <p:cNvPr id="5" name="Text 3"/>
          <p:cNvSpPr txBox="1"/>
          <p:nvPr/>
        </p:nvSpPr>
        <p:spPr>
          <a:xfrm>
            <a:off x="548640" y="1993392"/>
            <a:ext cx="5852160" cy="713232"/>
          </a:xfrm>
          <a:prstGeom prst="rect">
            <a:avLst/>
          </a:prstGeom>
          <a:noFill/>
          <a:ln/>
        </p:spPr>
        <p:txBody>
          <a:bodyPr wrap="square" lIns="0" tIns="0" rIns="0" bIns="0" rtlCol="0" anchor="t">
            <a:normAutofit/>
          </a:bodyPr>
          <a:lstStyle/>
          <a:p>
            <a:pPr indent="0" marL="0">
              <a:buNone/>
            </a:pPr>
            <a:r>
              <a:rPr lang="en-US" sz="1300" dirty="0">
                <a:solidFill>
                  <a:srgbClr val="2A322E"/>
                </a:solidFill>
              </a:rPr>
              <a:t>Un armateur pur : 139 navires et 1,15 M EVP de capacité fin 2025, membre de l'Ocean Alliance.</a:t>
            </a:r>
            <a:endParaRPr lang="en-US" sz="1300" dirty="0"/>
          </a:p>
        </p:txBody>
      </p:sp>
      <p:sp>
        <p:nvSpPr>
          <p:cNvPr id="6" name="Text 4"/>
          <p:cNvSpPr txBox="1"/>
          <p:nvPr/>
        </p:nvSpPr>
        <p:spPr>
          <a:xfrm>
            <a:off x="548640" y="274320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Routes commerciales</a:t>
            </a:r>
            <a:endParaRPr lang="en-US" sz="1400" dirty="0"/>
          </a:p>
        </p:txBody>
      </p:sp>
      <p:sp>
        <p:nvSpPr>
          <p:cNvPr id="7" name="Text 5"/>
          <p:cNvSpPr txBox="1"/>
          <p:nvPr/>
        </p:nvSpPr>
        <p:spPr>
          <a:xfrm>
            <a:off x="548640" y="3044952"/>
            <a:ext cx="5852160" cy="713232"/>
          </a:xfrm>
          <a:prstGeom prst="rect">
            <a:avLst/>
          </a:prstGeom>
          <a:noFill/>
          <a:ln/>
        </p:spPr>
        <p:txBody>
          <a:bodyPr wrap="square" lIns="0" tIns="0" rIns="0" bIns="0" rtlCol="0" anchor="t">
            <a:normAutofit/>
          </a:bodyPr>
          <a:lstStyle/>
          <a:p>
            <a:pPr indent="0" marL="0">
              <a:buNone/>
            </a:pPr>
            <a:r>
              <a:rPr lang="en-US" sz="1151" dirty="0">
                <a:solidFill>
                  <a:srgbClr val="2A322E"/>
                </a:solidFill>
              </a:rPr>
              <a:t>Transpacifique (la plus exposée à la politique américaine), Asie-Europe, Transatlantique et Intra-Asie (le plus gros volume).</a:t>
            </a:r>
            <a:endParaRPr lang="en-US" sz="1300" dirty="0"/>
          </a:p>
        </p:txBody>
      </p:sp>
      <p:sp>
        <p:nvSpPr>
          <p:cNvPr id="8" name="Text 6"/>
          <p:cNvSpPr txBox="1"/>
          <p:nvPr/>
        </p:nvSpPr>
        <p:spPr>
          <a:xfrm>
            <a:off x="548640" y="379476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Contrôle</a:t>
            </a:r>
            <a:endParaRPr lang="en-US" sz="1400" dirty="0"/>
          </a:p>
        </p:txBody>
      </p:sp>
      <p:sp>
        <p:nvSpPr>
          <p:cNvPr id="9" name="Text 7"/>
          <p:cNvSpPr txBox="1"/>
          <p:nvPr/>
        </p:nvSpPr>
        <p:spPr>
          <a:xfrm>
            <a:off x="548640" y="4096512"/>
            <a:ext cx="5852160" cy="713232"/>
          </a:xfrm>
          <a:prstGeom prst="rect">
            <a:avLst/>
          </a:prstGeom>
          <a:noFill/>
          <a:ln/>
        </p:spPr>
        <p:txBody>
          <a:bodyPr wrap="square" lIns="0" tIns="0" rIns="0" bIns="0" rtlCol="0" anchor="t">
            <a:normAutofit/>
          </a:bodyPr>
          <a:lstStyle/>
          <a:p>
            <a:pPr indent="0" marL="0">
              <a:buNone/>
            </a:pPr>
            <a:r>
              <a:rPr lang="en-US" sz="1300" dirty="0">
                <a:solidFill>
                  <a:srgbClr val="2A322E"/>
                </a:solidFill>
              </a:rPr>
              <a:t>COSCO Shipping détient 71,07 % et Shanghai International Port Group 9,06 % : le flottant est d'environ 20 %.</a:t>
            </a:r>
            <a:endParaRPr lang="en-US" sz="1300" dirty="0"/>
          </a:p>
        </p:txBody>
      </p:sp>
      <p:sp>
        <p:nvSpPr>
          <p:cNvPr id="10" name="Text 8"/>
          <p:cNvSpPr txBox="1"/>
          <p:nvPr/>
        </p:nvSpPr>
        <p:spPr>
          <a:xfrm>
            <a:off x="548640" y="4846320"/>
            <a:ext cx="5852160" cy="292608"/>
          </a:xfrm>
          <a:prstGeom prst="rect">
            <a:avLst/>
          </a:prstGeom>
          <a:noFill/>
          <a:ln/>
        </p:spPr>
        <p:txBody>
          <a:bodyPr wrap="square" lIns="0" tIns="0" rIns="0" bIns="0" rtlCol="0" anchor="ctr"/>
          <a:lstStyle/>
          <a:p>
            <a:pPr indent="0" marL="0">
              <a:buNone/>
            </a:pPr>
            <a:r>
              <a:rPr lang="en-US" sz="1400" b="1" dirty="0">
                <a:solidFill>
                  <a:srgbClr val="0E6B4F"/>
                </a:solidFill>
              </a:rPr>
              <a:t>Bilan</a:t>
            </a:r>
            <a:endParaRPr lang="en-US" sz="1400" dirty="0"/>
          </a:p>
        </p:txBody>
      </p:sp>
      <p:sp>
        <p:nvSpPr>
          <p:cNvPr id="11" name="Text 9"/>
          <p:cNvSpPr txBox="1"/>
          <p:nvPr/>
        </p:nvSpPr>
        <p:spPr>
          <a:xfrm>
            <a:off x="548640" y="5148072"/>
            <a:ext cx="5852160" cy="713232"/>
          </a:xfrm>
          <a:prstGeom prst="rect">
            <a:avLst/>
          </a:prstGeom>
          <a:noFill/>
          <a:ln/>
        </p:spPr>
        <p:txBody>
          <a:bodyPr wrap="square" lIns="0" tIns="0" rIns="0" bIns="0" rtlCol="0" anchor="t">
            <a:normAutofit/>
          </a:bodyPr>
          <a:lstStyle/>
          <a:p>
            <a:pPr indent="0" marL="0">
              <a:buNone/>
            </a:pPr>
            <a:r>
              <a:rPr lang="en-US" sz="1183" dirty="0">
                <a:solidFill>
                  <a:srgbClr val="2A322E"/>
                </a:solidFill>
              </a:rPr>
              <a:t>Aucune dette bancaire ; 5,8 Md US$ de trésorerie contre 1,3 Md US$ de dettes locatives à juin 2026.</a:t>
            </a:r>
            <a:endParaRPr lang="en-US" sz="1300" dirty="0"/>
          </a:p>
        </p:txBody>
      </p:sp>
      <p:graphicFrame>
        <p:nvGraphicFramePr>
          <p:cNvPr id="12" name="Chart 0" descr=""/>
          <p:cNvGraphicFramePr/>
          <p:nvPr/>
        </p:nvGraphicFramePr>
        <p:xfrm>
          <a:off x="6766560" y="1645920"/>
          <a:ext cx="4876495" cy="420624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794" i="1" dirty="0">
                <a:solidFill>
                  <a:schemeClr val="tx2"/>
                </a:solidFill>
              </a:rPr>
              <a:t>Source : publications de la société ; CA maritime par route commerciale, 2025</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03  SECTEUR ET MACRO</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19" b="1" dirty="0">
                <a:solidFill>
                  <a:schemeClr val="tx1"/>
                </a:solidFill>
              </a:rPr>
              <a:t>Ce qui fait bouger le titre au-delà de la société</a:t>
            </a:r>
            <a:endParaRPr lang="en-US" sz="2600" dirty="0"/>
          </a:p>
        </p:txBody>
      </p:sp>
      <p:sp>
        <p:nvSpPr>
          <p:cNvPr id="4" name="macro card 1"/>
          <p:cNvSpPr/>
          <p:nvPr/>
        </p:nvSpPr>
        <p:spPr>
          <a:xfrm>
            <a:off x="548640" y="1691640"/>
            <a:ext cx="5364328" cy="1965960"/>
          </a:xfrm>
          <a:prstGeom prst="rect">
            <a:avLst/>
          </a:prstGeom>
          <a:solidFill>
            <a:srgbClr val="F2F4F1"/>
          </a:solidFill>
          <a:ln w="12700">
            <a:solidFill>
              <a:srgbClr val="F2F4F1"/>
            </a:solidFill>
            <a:prstDash val="solid"/>
          </a:ln>
        </p:spPr>
        <p:txBody>
          <a:bodyPr/>
          <a:p/>
        </p:txBody>
      </p:sp>
      <p:sp>
        <p:nvSpPr>
          <p:cNvPr id="5" name="Text 3"/>
          <p:cNvSpPr txBox="1"/>
          <p:nvPr/>
        </p:nvSpPr>
        <p:spPr>
          <a:xfrm>
            <a:off x="822960" y="187452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+109 %</a:t>
            </a:r>
            <a:endParaRPr lang="en-US" sz="2800" dirty="0"/>
          </a:p>
        </p:txBody>
      </p:sp>
      <p:sp>
        <p:nvSpPr>
          <p:cNvPr id="6" name="Text 4"/>
          <p:cNvSpPr txBox="1"/>
          <p:nvPr/>
        </p:nvSpPr>
        <p:spPr>
          <a:xfrm>
            <a:off x="3291840" y="192024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Taux de fret</a:t>
            </a:r>
            <a:endParaRPr lang="en-US" sz="1500" dirty="0"/>
          </a:p>
        </p:txBody>
      </p:sp>
      <p:sp>
        <p:nvSpPr>
          <p:cNvPr id="7" name="Text 5"/>
          <p:cNvSpPr txBox="1"/>
          <p:nvPr/>
        </p:nvSpPr>
        <p:spPr>
          <a:xfrm>
            <a:off x="822960" y="2697480"/>
            <a:ext cx="4815688" cy="868680"/>
          </a:xfrm>
          <a:prstGeom prst="rect">
            <a:avLst/>
          </a:prstGeom>
          <a:noFill/>
          <a:ln/>
        </p:spPr>
        <p:txBody>
          <a:bodyPr wrap="square" lIns="0" tIns="0" rIns="0" bIns="0" rtlCol="0" anchor="t">
            <a:normAutofit/>
          </a:bodyPr>
          <a:lstStyle/>
          <a:p>
            <a:pPr indent="0" marL="0">
              <a:buNone/>
            </a:pPr>
            <a:r>
              <a:rPr lang="en-US" sz="1300" dirty="0">
                <a:solidFill>
                  <a:srgbClr val="2A322E"/>
                </a:solidFill>
              </a:rPr>
              <a:t>Taux spot Asie-États-Unis début juin 2026 après la perturbation d'Ormuz (retour par le Cap).</a:t>
            </a:r>
            <a:endParaRPr lang="en-US" sz="1300" dirty="0"/>
          </a:p>
        </p:txBody>
      </p:sp>
      <p:sp>
        <p:nvSpPr>
          <p:cNvPr id="8" name="macro card 2"/>
          <p:cNvSpPr/>
          <p:nvPr/>
        </p:nvSpPr>
        <p:spPr>
          <a:xfrm>
            <a:off x="6278728" y="1691640"/>
            <a:ext cx="5364328" cy="1965960"/>
          </a:xfrm>
          <a:prstGeom prst="rect">
            <a:avLst/>
          </a:prstGeom>
          <a:solidFill>
            <a:srgbClr val="F2F4F1"/>
          </a:solidFill>
          <a:ln w="12700">
            <a:solidFill>
              <a:srgbClr val="F2F4F1"/>
            </a:solidFill>
            <a:prstDash val="solid"/>
          </a:ln>
        </p:spPr>
        <p:txBody>
          <a:bodyPr/>
          <a:p/>
        </p:txBody>
      </p:sp>
      <p:sp>
        <p:nvSpPr>
          <p:cNvPr id="9" name="Text 7"/>
          <p:cNvSpPr txBox="1"/>
          <p:nvPr/>
        </p:nvSpPr>
        <p:spPr>
          <a:xfrm>
            <a:off x="6553048" y="187452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4,6 % vs 4,1 %</a:t>
            </a:r>
            <a:endParaRPr lang="en-US" sz="2800" dirty="0"/>
          </a:p>
        </p:txBody>
      </p:sp>
      <p:sp>
        <p:nvSpPr>
          <p:cNvPr id="10" name="Text 8"/>
          <p:cNvSpPr txBox="1"/>
          <p:nvPr/>
        </p:nvSpPr>
        <p:spPr>
          <a:xfrm>
            <a:off x="9021928" y="192024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Flotte vs demande</a:t>
            </a:r>
            <a:endParaRPr lang="en-US" sz="1500" dirty="0"/>
          </a:p>
        </p:txBody>
      </p:sp>
      <p:sp>
        <p:nvSpPr>
          <p:cNvPr id="11" name="Text 9"/>
          <p:cNvSpPr txBox="1"/>
          <p:nvPr/>
        </p:nvSpPr>
        <p:spPr>
          <a:xfrm>
            <a:off x="6553048" y="2697480"/>
            <a:ext cx="4815688" cy="868680"/>
          </a:xfrm>
          <a:prstGeom prst="rect">
            <a:avLst/>
          </a:prstGeom>
          <a:noFill/>
          <a:ln/>
        </p:spPr>
        <p:txBody>
          <a:bodyPr wrap="square" lIns="0" tIns="0" rIns="0" bIns="0" rtlCol="0" anchor="t">
            <a:normAutofit/>
          </a:bodyPr>
          <a:lstStyle/>
          <a:p>
            <a:pPr indent="0" marL="0">
              <a:buNone/>
            </a:pPr>
            <a:r>
              <a:rPr lang="en-US" sz="1118" dirty="0">
                <a:solidFill>
                  <a:srgbClr val="2A322E"/>
                </a:solidFill>
              </a:rPr>
              <a:t>Croissance de la flotte 2026 supérieure à celle de la demande : la pression structurelle sur les taux.</a:t>
            </a:r>
            <a:endParaRPr lang="en-US" sz="1300" dirty="0"/>
          </a:p>
        </p:txBody>
      </p:sp>
      <p:sp>
        <p:nvSpPr>
          <p:cNvPr id="12" name="macro card 3"/>
          <p:cNvSpPr/>
          <p:nvPr/>
        </p:nvSpPr>
        <p:spPr>
          <a:xfrm>
            <a:off x="548640" y="3886200"/>
            <a:ext cx="5364328" cy="1965960"/>
          </a:xfrm>
          <a:prstGeom prst="rect">
            <a:avLst/>
          </a:prstGeom>
          <a:solidFill>
            <a:srgbClr val="F2F4F1"/>
          </a:solidFill>
          <a:ln w="12700">
            <a:solidFill>
              <a:srgbClr val="F2F4F1"/>
            </a:solidFill>
            <a:prstDash val="solid"/>
          </a:ln>
        </p:spPr>
        <p:txBody>
          <a:bodyPr/>
          <a:p/>
        </p:txBody>
      </p:sp>
      <p:sp>
        <p:nvSpPr>
          <p:cNvPr id="13" name="Text 11"/>
          <p:cNvSpPr txBox="1"/>
          <p:nvPr/>
        </p:nvSpPr>
        <p:spPr>
          <a:xfrm>
            <a:off x="822960" y="406908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10 nov. 2026</a:t>
            </a:r>
            <a:endParaRPr lang="en-US" sz="2800" dirty="0"/>
          </a:p>
        </p:txBody>
      </p:sp>
      <p:sp>
        <p:nvSpPr>
          <p:cNvPr id="14" name="Text 12"/>
          <p:cNvSpPr txBox="1"/>
          <p:nvPr/>
        </p:nvSpPr>
        <p:spPr>
          <a:xfrm>
            <a:off x="3291840" y="411480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Taxes portuaires US</a:t>
            </a:r>
            <a:endParaRPr lang="en-US" sz="1500" dirty="0"/>
          </a:p>
        </p:txBody>
      </p:sp>
      <p:sp>
        <p:nvSpPr>
          <p:cNvPr id="15" name="Text 13"/>
          <p:cNvSpPr txBox="1"/>
          <p:nvPr/>
        </p:nvSpPr>
        <p:spPr>
          <a:xfrm>
            <a:off x="822960" y="4892040"/>
            <a:ext cx="4815688" cy="868680"/>
          </a:xfrm>
          <a:prstGeom prst="rect">
            <a:avLst/>
          </a:prstGeom>
          <a:noFill/>
          <a:ln/>
        </p:spPr>
        <p:txBody>
          <a:bodyPr wrap="square" lIns="0" tIns="0" rIns="0" bIns="0" rtlCol="0" anchor="t">
            <a:normAutofit/>
          </a:bodyPr>
          <a:lstStyle/>
          <a:p>
            <a:pPr indent="0" marL="0">
              <a:buNone/>
            </a:pPr>
            <a:r>
              <a:rPr lang="en-US" sz="1158" dirty="0">
                <a:solidFill>
                  <a:srgbClr val="2A322E"/>
                </a:solidFill>
              </a:rPr>
              <a:t>Les taxes Section 301 sur les armateurs chinois (50 US$ par tonne nette) reprennent sauf prolongation.</a:t>
            </a:r>
            <a:endParaRPr lang="en-US" sz="1300" dirty="0"/>
          </a:p>
        </p:txBody>
      </p:sp>
      <p:sp>
        <p:nvSpPr>
          <p:cNvPr id="16" name="macro card 4"/>
          <p:cNvSpPr/>
          <p:nvPr/>
        </p:nvSpPr>
        <p:spPr>
          <a:xfrm>
            <a:off x="6278728" y="3886200"/>
            <a:ext cx="5364328" cy="1965960"/>
          </a:xfrm>
          <a:prstGeom prst="rect">
            <a:avLst/>
          </a:prstGeom>
          <a:solidFill>
            <a:srgbClr val="F2F4F1"/>
          </a:solidFill>
          <a:ln w="12700">
            <a:solidFill>
              <a:srgbClr val="F2F4F1"/>
            </a:solidFill>
            <a:prstDash val="solid"/>
          </a:ln>
        </p:spPr>
        <p:txBody>
          <a:bodyPr/>
          <a:p/>
        </p:txBody>
      </p:sp>
      <p:sp>
        <p:nvSpPr>
          <p:cNvPr id="17" name="Text 15"/>
          <p:cNvSpPr txBox="1"/>
          <p:nvPr/>
        </p:nvSpPr>
        <p:spPr>
          <a:xfrm>
            <a:off x="6553048" y="4069080"/>
            <a:ext cx="2377440" cy="731520"/>
          </a:xfrm>
          <a:prstGeom prst="rect">
            <a:avLst/>
          </a:prstGeom>
          <a:noFill/>
          <a:ln/>
        </p:spPr>
        <p:txBody>
          <a:bodyPr wrap="square" lIns="0" tIns="0" rIns="0" bIns="0" rtlCol="0" anchor="ctr">
            <a:normAutofit/>
          </a:bodyPr>
          <a:lstStyle/>
          <a:p>
            <a:pPr indent="0" marL="0">
              <a:buNone/>
            </a:pPr>
            <a:r>
              <a:rPr lang="en-US" sz="2800" b="1" dirty="0">
                <a:solidFill>
                  <a:srgbClr val="0E6B4F"/>
                </a:solidFill>
              </a:rPr>
              <a:t>582 US$/t</a:t>
            </a:r>
            <a:endParaRPr lang="en-US" sz="2800" dirty="0"/>
          </a:p>
        </p:txBody>
      </p:sp>
      <p:sp>
        <p:nvSpPr>
          <p:cNvPr id="18" name="Text 16"/>
          <p:cNvSpPr txBox="1"/>
          <p:nvPr/>
        </p:nvSpPr>
        <p:spPr>
          <a:xfrm>
            <a:off x="9021928" y="4114800"/>
            <a:ext cx="2346808" cy="640080"/>
          </a:xfrm>
          <a:prstGeom prst="rect">
            <a:avLst/>
          </a:prstGeom>
          <a:noFill/>
          <a:ln/>
        </p:spPr>
        <p:txBody>
          <a:bodyPr wrap="square" lIns="0" tIns="0" rIns="0" bIns="0" rtlCol="0" anchor="ctr"/>
          <a:lstStyle/>
          <a:p>
            <a:pPr indent="0" marL="0">
              <a:buNone/>
            </a:pPr>
            <a:r>
              <a:rPr lang="en-US" sz="1500" b="1" dirty="0">
                <a:solidFill>
                  <a:srgbClr val="141A17"/>
                </a:solidFill>
              </a:rPr>
              <a:t>Carburant de soute</a:t>
            </a:r>
            <a:endParaRPr lang="en-US" sz="1500" dirty="0"/>
          </a:p>
        </p:txBody>
      </p:sp>
      <p:sp>
        <p:nvSpPr>
          <p:cNvPr id="19" name="Text 17"/>
          <p:cNvSpPr txBox="1"/>
          <p:nvPr/>
        </p:nvSpPr>
        <p:spPr>
          <a:xfrm>
            <a:off x="6553048" y="4892040"/>
            <a:ext cx="4815688" cy="868680"/>
          </a:xfrm>
          <a:prstGeom prst="rect">
            <a:avLst/>
          </a:prstGeom>
          <a:noFill/>
          <a:ln/>
        </p:spPr>
        <p:txBody>
          <a:bodyPr wrap="square" lIns="0" tIns="0" rIns="0" bIns="0" rtlCol="0" anchor="t">
            <a:normAutofit/>
          </a:bodyPr>
          <a:lstStyle/>
          <a:p>
            <a:pPr indent="0" marL="0">
              <a:buNone/>
            </a:pPr>
            <a:r>
              <a:rPr lang="en-US" sz="1300" dirty="0">
                <a:solidFill>
                  <a:srgbClr val="2A322E"/>
                </a:solidFill>
              </a:rPr>
              <a:t>Coût moyen S1 2026 (+8 %) : le premier coût variable.</a:t>
            </a:r>
            <a:endParaRPr lang="en-US" sz="1300" dirty="0"/>
          </a:p>
        </p:txBody>
      </p:sp>
      <p:sp>
        <p:nvSpPr>
          <p:cNvPr id="20" name="Text 18"/>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03" i="1" dirty="0">
                <a:solidFill>
                  <a:schemeClr val="tx2"/>
                </a:solidFill>
              </a:rPr>
              <a:t>Source : communiqués de la société et note de recherche (voir la slide Sources)</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04  POURQUOI LE SCREEN L'A CHOISI</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Classé 1 sur 199 en Industrie sur notre score value</a:t>
            </a:r>
            <a:endParaRPr lang="en-US" sz="2600" dirty="0"/>
          </a:p>
        </p:txBody>
      </p:sp>
      <p:graphicFrame>
        <p:nvGraphicFramePr>
          <p:cNvPr id="4" name="Chart 0" descr=""/>
          <p:cNvGraphicFramePr/>
          <p:nvPr/>
        </p:nvGraphicFramePr>
        <p:xfrm>
          <a:off x="548640" y="1645920"/>
          <a:ext cx="566928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492240" y="1645920"/>
          <a:ext cx="5150815" cy="246888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6492240" y="4251960"/>
            <a:ext cx="5150815" cy="1645920"/>
          </a:xfrm>
          <a:prstGeom prst="rect">
            <a:avLst/>
          </a:prstGeom>
          <a:noFill/>
          <a:ln/>
        </p:spPr>
        <p:txBody>
          <a:bodyPr wrap="square" lIns="0" tIns="0" rIns="0" bIns="0" rtlCol="0" anchor="t">
            <a:normAutofit/>
          </a:bodyPr>
          <a:lstStyle/>
          <a:p>
            <a:pPr indent="0" marL="0">
              <a:buNone/>
            </a:pPr>
            <a:r>
              <a:rPr lang="en-US" sz="1300" b="1" dirty="0">
                <a:solidFill>
                  <a:srgbClr val="2A322E"/>
                </a:solidFill>
              </a:rPr>
              <a:t>Score composite 5,54, 1er sur 199 dans son secteur. </a:t>
            </a:r>
            <a:pPr indent="0" marL="0">
              <a:buNone/>
            </a:pPr>
            <a:r>
              <a:rPr lang="en-US" sz="1217" dirty="0">
                <a:solidFill>
                  <a:srgbClr val="2A322E"/>
                </a:solidFill>
              </a:rPr>
              <a:t>Le score fait la moyenne des z-scores ci-dessus (quatre ratios exprimés en rendements). Les comptes ne sont utilisés qu'à partir de la clôture + 6 mois : en décembre 2025, le screen lisait les comptes de l'exercice clos en décembre 2024.</a:t>
            </a:r>
            <a:endParaRPr lang="en-US" sz="1300" dirty="0"/>
          </a:p>
        </p:txBody>
      </p:sp>
      <p:sp>
        <p:nvSpPr>
          <p:cNvPr id="7" name="Text 3"/>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65" i="1" dirty="0">
                <a:solidFill>
                  <a:schemeClr val="tx2"/>
                </a:solidFill>
              </a:rPr>
              <a:t>Source : pipeline du Portfolio Project (données Bloomberg) ; pairs : Maersk, NYK, Mitsui OSK, Kawasaki Kisen (pairs du pipeline); COSCO Shipping, Hapag-Lloyd, Evergreen pour le contexte.</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05  HISTORIQUE DANS LE PORTEFEUILLE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422" b="1" dirty="0">
                <a:solidFill>
                  <a:schemeClr val="tx1"/>
                </a:solidFill>
              </a:rPr>
              <a:t>Détenu à 4 rebalancements sur 10 depuis décembre 2022</a:t>
            </a:r>
            <a:endParaRPr lang="en-US" sz="2600" dirty="0"/>
          </a:p>
        </p:txBody>
      </p:sp>
      <p:graphicFrame>
        <p:nvGraphicFramePr>
          <p:cNvPr id="4" name="Chart 0" descr=""/>
          <p:cNvGraphicFramePr/>
          <p:nvPr/>
        </p:nvGraphicFramePr>
        <p:xfrm>
          <a:off x="548640" y="1645920"/>
          <a:ext cx="694944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63840" y="1691640"/>
            <a:ext cx="3779215" cy="548640"/>
          </a:xfrm>
          <a:prstGeom prst="rect">
            <a:avLst/>
          </a:prstGeom>
          <a:noFill/>
          <a:ln/>
        </p:spPr>
        <p:txBody>
          <a:bodyPr wrap="square" lIns="0" tIns="0" rIns="0" bIns="0" rtlCol="0" anchor="b"/>
          <a:lstStyle/>
          <a:p>
            <a:pPr indent="0" marL="0">
              <a:buNone/>
            </a:pPr>
            <a:r>
              <a:rPr lang="en-US" sz="2600" b="1" dirty="0">
                <a:solidFill>
                  <a:srgbClr val="B23A2E"/>
                </a:solidFill>
              </a:rPr>
              <a:t>+0,4 %</a:t>
            </a:r>
            <a:endParaRPr lang="en-US" sz="2600" dirty="0"/>
          </a:p>
        </p:txBody>
      </p:sp>
      <p:sp>
        <p:nvSpPr>
          <p:cNvPr id="6" name="Text 3"/>
          <p:cNvSpPr txBox="1"/>
          <p:nvPr/>
        </p:nvSpPr>
        <p:spPr>
          <a:xfrm>
            <a:off x="7863840" y="2240280"/>
            <a:ext cx="3779215" cy="320040"/>
          </a:xfrm>
          <a:prstGeom prst="rect">
            <a:avLst/>
          </a:prstGeom>
          <a:noFill/>
          <a:ln/>
        </p:spPr>
        <p:txBody>
          <a:bodyPr wrap="square" lIns="0" tIns="0" rIns="0" bIns="0" rtlCol="0" anchor="ctr"/>
          <a:lstStyle/>
          <a:p>
            <a:pPr indent="0" marL="0">
              <a:buNone/>
            </a:pPr>
            <a:r>
              <a:rPr lang="en-US" sz="1200" dirty="0">
                <a:solidFill>
                  <a:srgbClr val="5B6660"/>
                </a:solidFill>
              </a:rPr>
              <a:t>Performance S1 2026 (EUR)</a:t>
            </a:r>
            <a:endParaRPr lang="en-US" sz="1200" dirty="0"/>
          </a:p>
        </p:txBody>
      </p:sp>
      <p:sp>
        <p:nvSpPr>
          <p:cNvPr id="7" name="Text 4"/>
          <p:cNvSpPr txBox="1"/>
          <p:nvPr/>
        </p:nvSpPr>
        <p:spPr>
          <a:xfrm>
            <a:off x="7863840" y="274320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+10,8 %</a:t>
            </a:r>
            <a:endParaRPr lang="en-US" sz="2600" dirty="0"/>
          </a:p>
        </p:txBody>
      </p:sp>
      <p:sp>
        <p:nvSpPr>
          <p:cNvPr id="8" name="Text 5"/>
          <p:cNvSpPr txBox="1"/>
          <p:nvPr/>
        </p:nvSpPr>
        <p:spPr>
          <a:xfrm>
            <a:off x="7863840" y="3291840"/>
            <a:ext cx="3779215" cy="320040"/>
          </a:xfrm>
          <a:prstGeom prst="rect">
            <a:avLst/>
          </a:prstGeom>
          <a:noFill/>
          <a:ln/>
        </p:spPr>
        <p:txBody>
          <a:bodyPr wrap="square" lIns="0" tIns="0" rIns="0" bIns="0" rtlCol="0" anchor="ctr"/>
          <a:lstStyle/>
          <a:p>
            <a:pPr indent="0" marL="0">
              <a:buNone/>
            </a:pPr>
            <a:r>
              <a:rPr lang="en-US" sz="1200" dirty="0">
                <a:solidFill>
                  <a:srgbClr val="5B6660"/>
                </a:solidFill>
              </a:rPr>
              <a:t>MSCI World Net EUR, S1 2026</a:t>
            </a:r>
            <a:endParaRPr lang="en-US" sz="1200" dirty="0"/>
          </a:p>
        </p:txBody>
      </p:sp>
      <p:sp>
        <p:nvSpPr>
          <p:cNvPr id="9" name="Text 6"/>
          <p:cNvSpPr txBox="1"/>
          <p:nvPr/>
        </p:nvSpPr>
        <p:spPr>
          <a:xfrm>
            <a:off x="7863840" y="379476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2,0 %</a:t>
            </a:r>
            <a:endParaRPr lang="en-US" sz="2600" dirty="0"/>
          </a:p>
        </p:txBody>
      </p:sp>
      <p:sp>
        <p:nvSpPr>
          <p:cNvPr id="10" name="Text 7"/>
          <p:cNvSpPr txBox="1"/>
          <p:nvPr/>
        </p:nvSpPr>
        <p:spPr>
          <a:xfrm>
            <a:off x="7863840" y="4343400"/>
            <a:ext cx="3779215" cy="320040"/>
          </a:xfrm>
          <a:prstGeom prst="rect">
            <a:avLst/>
          </a:prstGeom>
          <a:noFill/>
          <a:ln/>
        </p:spPr>
        <p:txBody>
          <a:bodyPr wrap="square" lIns="0" tIns="0" rIns="0" bIns="0" rtlCol="0" anchor="ctr"/>
          <a:lstStyle/>
          <a:p>
            <a:pPr indent="0" marL="0">
              <a:buNone/>
            </a:pPr>
            <a:r>
              <a:rPr lang="en-US" sz="1200" dirty="0">
                <a:solidFill>
                  <a:srgbClr val="5B6660"/>
                </a:solidFill>
              </a:rPr>
              <a:t>Poids, équipondéré</a:t>
            </a:r>
            <a:endParaRPr lang="en-US" sz="1200" dirty="0"/>
          </a:p>
        </p:txBody>
      </p:sp>
      <p:sp>
        <p:nvSpPr>
          <p:cNvPr id="11" name="Text 8"/>
          <p:cNvSpPr txBox="1"/>
          <p:nvPr/>
        </p:nvSpPr>
        <p:spPr>
          <a:xfrm>
            <a:off x="7863840" y="4846320"/>
            <a:ext cx="3779215" cy="548640"/>
          </a:xfrm>
          <a:prstGeom prst="rect">
            <a:avLst/>
          </a:prstGeom>
          <a:noFill/>
          <a:ln/>
        </p:spPr>
        <p:txBody>
          <a:bodyPr wrap="square" lIns="0" tIns="0" rIns="0" bIns="0" rtlCol="0" anchor="b"/>
          <a:lstStyle/>
          <a:p>
            <a:pPr indent="0" marL="0">
              <a:buNone/>
            </a:pPr>
            <a:r>
              <a:rPr lang="en-US" sz="2600" b="1" dirty="0">
                <a:solidFill>
                  <a:srgbClr val="141A17"/>
                </a:solidFill>
              </a:rPr>
              <a:t>1,8 % / 4,0 %</a:t>
            </a:r>
            <a:endParaRPr lang="en-US" sz="2600" dirty="0"/>
          </a:p>
        </p:txBody>
      </p:sp>
      <p:sp>
        <p:nvSpPr>
          <p:cNvPr id="12" name="Text 9"/>
          <p:cNvSpPr txBox="1"/>
          <p:nvPr/>
        </p:nvSpPr>
        <p:spPr>
          <a:xfrm>
            <a:off x="7863840" y="5394960"/>
            <a:ext cx="3779215" cy="320040"/>
          </a:xfrm>
          <a:prstGeom prst="rect">
            <a:avLst/>
          </a:prstGeom>
          <a:noFill/>
          <a:ln/>
        </p:spPr>
        <p:txBody>
          <a:bodyPr wrap="square" lIns="0" tIns="0" rIns="0" bIns="0" rtlCol="0" anchor="ctr"/>
          <a:lstStyle/>
          <a:p>
            <a:pPr indent="0" marL="0">
              <a:buNone/>
            </a:pPr>
            <a:r>
              <a:rPr lang="en-US" sz="1058" dirty="0">
                <a:solidFill>
                  <a:srgbClr val="5B6660"/>
                </a:solidFill>
              </a:rPr>
              <a:t>Variance minimale / moyenne-variance</a:t>
            </a:r>
            <a:endParaRPr lang="en-US" sz="1200" dirty="0"/>
          </a:p>
        </p:txBody>
      </p:sp>
      <p:sp>
        <p:nvSpPr>
          <p:cNvPr id="13" name="Text 10"/>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11" i="1" dirty="0">
                <a:solidFill>
                  <a:schemeClr val="tx2"/>
                </a:solidFill>
              </a:rPr>
              <a:t>Source : rendements totaux hebdomadaires du pipeline (EUR, nets de retenue à la source) et poids du portefeuille au rebalancement du 31 déc. 2025</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06  CHIFFRES CLÉS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Chiffres publiés et guidance</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776472"/>
                <a:gridCol w="1828800"/>
                <a:gridCol w="1828800"/>
                <a:gridCol w="1828800"/>
                <a:gridCol w="1828800"/>
              </a:tblGrid>
              <a:tr h="438912">
                <a:tc>
                  <a:txBody>
                    <a:bodyPr/>
                    <a:lstStyle/>
                    <a:p>
                      <a:pPr algn="l" indent="0" marL="0">
                        <a:buNone/>
                      </a:pP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FY2024</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FY2025</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S1 2026</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Tendance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0E6B4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Chiffre d'affaires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10,7 Md US$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9,7 Md US$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5,2 Md US$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CA maritime T3 +45 %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Résultat opérationnel</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2,62 Md US$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1,54 Md US$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0,72 Md US$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Marge opérationnelle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24,6 %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15,9 %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13,9 %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Résultat part du groupe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2,58 Md US$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1,51 Md US$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0,73 Md US$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BPA</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3,90 US$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2,29 US$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1,10 US$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Dividende par action</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1,95 US$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1,14 US$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0,55 US$ acompte</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distribution ~50 %</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38912">
                <a:tc>
                  <a:txBody>
                    <a:bodyPr/>
                    <a:lstStyle/>
                    <a:p>
                      <a:pPr algn="l" indent="0" marL="0">
                        <a:buNone/>
                      </a:pPr>
                      <a:r>
                        <a:rPr lang="en-US" sz="1300" b="1" dirty="0">
                          <a:solidFill>
                            <a:srgbClr val="141A17"/>
                          </a:solidFill>
                          <a:latin typeface="Arial" pitchFamily="34" charset="0"/>
                          <a:ea typeface="Arial" pitchFamily="34" charset="-122"/>
                          <a:cs typeface="Arial" pitchFamily="34" charset="-120"/>
                        </a:rPr>
                        <a:t>Trésorerie nette (cash − loyers)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4,96 Md US$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4,51 Md US$</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algn="r" indent="0" marL="0">
                        <a:buNone/>
                      </a:pPr>
                      <a:r>
                        <a:rPr lang="en-US" sz="1300" dirty="0">
                          <a:solidFill>
                            <a:srgbClr val="141A17"/>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2F4F1"/>
                    </a:solidFill>
                  </a:tcPr>
                </a:tc>
              </a:tr>
            </a:tbl>
          </a:graphicData>
        </a:graphic>
      </p:graphicFrame>
      <p:sp>
        <p:nvSpPr>
          <p:cNvPr id="5" name="Text 2"/>
          <p:cNvSpPr txBox="1"/>
          <p:nvPr/>
        </p:nvSpPr>
        <p:spPr>
          <a:xfrm>
            <a:off x="548640" y="5385816"/>
            <a:ext cx="11094415" cy="548640"/>
          </a:xfrm>
          <a:prstGeom prst="rect">
            <a:avLst/>
          </a:prstGeom>
          <a:noFill/>
          <a:ln/>
        </p:spPr>
        <p:txBody>
          <a:bodyPr wrap="square" lIns="0" tIns="0" rIns="0" bIns="0" rtlCol="0" anchor="t"/>
          <a:lstStyle/>
          <a:p>
            <a:pPr indent="0" marL="0">
              <a:buNone/>
            </a:pPr>
            <a:r>
              <a:rPr lang="en-US" sz="1100" dirty="0">
                <a:solidFill>
                  <a:srgbClr val="5B6660"/>
                </a:solidFill>
              </a:rPr>
              <a:t>Pas de guidance chiffrée. FCF après loyers d'environ −0,69 Md US$ en 2025 et −0,35 Md US$ au S1 2026 (calculé). Sources : rapport annuel 2025 et rapport semestriel 2026 d'OOIL.</a:t>
            </a:r>
            <a:endParaRPr lang="en-US" sz="11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07  VARIANT PERCEPTION</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15" b="1" dirty="0">
                <a:solidFill>
                  <a:schemeClr val="tx1"/>
                </a:solidFill>
              </a:rPr>
              <a:t>Ce que disent les optimistes, et ce que montrent les faits</a:t>
            </a:r>
            <a:endParaRPr lang="en-US" sz="2600" dirty="0"/>
          </a:p>
        </p:txBody>
      </p:sp>
      <p:sp>
        <p:nvSpPr>
          <p:cNvPr id="4" name="Text 2"/>
          <p:cNvSpPr txBox="1"/>
          <p:nvPr/>
        </p:nvSpPr>
        <p:spPr>
          <a:xfrm>
            <a:off x="548640" y="1645920"/>
            <a:ext cx="5364328" cy="320040"/>
          </a:xfrm>
          <a:prstGeom prst="rect">
            <a:avLst/>
          </a:prstGeom>
          <a:noFill/>
          <a:ln/>
        </p:spPr>
        <p:txBody>
          <a:bodyPr wrap="square" lIns="0" tIns="0" rIns="0" bIns="0" rtlCol="0" anchor="ctr"/>
          <a:lstStyle/>
          <a:p>
            <a:pPr indent="0" marL="0">
              <a:buNone/>
            </a:pPr>
            <a:r>
              <a:rPr lang="en-US" sz="1200" b="1" spc="100" kern="0" dirty="0">
                <a:solidFill>
                  <a:srgbClr val="5B6660"/>
                </a:solidFill>
              </a:rPr>
              <a:t>L'ARGUMENT OPTIMISTE</a:t>
            </a:r>
            <a:endParaRPr lang="en-US" sz="1200" dirty="0"/>
          </a:p>
        </p:txBody>
      </p:sp>
      <p:sp>
        <p:nvSpPr>
          <p:cNvPr id="5" name="Text 3"/>
          <p:cNvSpPr txBox="1"/>
          <p:nvPr/>
        </p:nvSpPr>
        <p:spPr>
          <a:xfrm>
            <a:off x="6278728" y="1645920"/>
            <a:ext cx="5364328" cy="320040"/>
          </a:xfrm>
          <a:prstGeom prst="rect">
            <a:avLst/>
          </a:prstGeom>
          <a:noFill/>
          <a:ln/>
        </p:spPr>
        <p:txBody>
          <a:bodyPr wrap="square" lIns="0" tIns="0" rIns="0" bIns="0" rtlCol="0" anchor="ctr"/>
          <a:lstStyle/>
          <a:p>
            <a:pPr indent="0" marL="0">
              <a:buNone/>
            </a:pPr>
            <a:r>
              <a:rPr lang="en-US" sz="1200" b="1" spc="100" kern="0" dirty="0">
                <a:solidFill>
                  <a:srgbClr val="0E6B4F"/>
                </a:solidFill>
              </a:rPr>
              <a:t>CE QUE MONTRENT LES FAITS</a:t>
            </a:r>
            <a:endParaRPr lang="en-US" sz="1200" dirty="0"/>
          </a:p>
        </p:txBody>
      </p:sp>
      <p:sp>
        <p:nvSpPr>
          <p:cNvPr id="6" name="Shape 4"/>
          <p:cNvSpPr/>
          <p:nvPr/>
        </p:nvSpPr>
        <p:spPr>
          <a:xfrm>
            <a:off x="548640" y="2057400"/>
            <a:ext cx="5364328" cy="1203960"/>
          </a:xfrm>
          <a:prstGeom prst="rect">
            <a:avLst/>
          </a:prstGeom>
          <a:solidFill>
            <a:srgbClr val="F2F4F1"/>
          </a:solidFill>
          <a:ln w="12700">
            <a:solidFill>
              <a:srgbClr val="F2F4F1"/>
            </a:solidFill>
            <a:prstDash val="solid"/>
          </a:ln>
        </p:spPr>
        <p:txBody>
          <a:bodyPr/>
          <a:p/>
        </p:txBody>
      </p:sp>
      <p:sp>
        <p:nvSpPr>
          <p:cNvPr id="7" name="Text 5"/>
          <p:cNvSpPr txBox="1"/>
          <p:nvPr/>
        </p:nvSpPr>
        <p:spPr>
          <a:xfrm>
            <a:off x="777240" y="2057400"/>
            <a:ext cx="4907128" cy="1203960"/>
          </a:xfrm>
          <a:prstGeom prst="rect">
            <a:avLst/>
          </a:prstGeom>
          <a:noFill/>
          <a:ln/>
        </p:spPr>
        <p:txBody>
          <a:bodyPr wrap="square" lIns="0" tIns="0" rIns="0" bIns="0" rtlCol="0" anchor="ctr">
            <a:normAutofit/>
          </a:bodyPr>
          <a:lstStyle/>
          <a:p>
            <a:pPr indent="0" marL="0">
              <a:buNone/>
            </a:pPr>
            <a:r>
              <a:rPr lang="en-US" sz="1204" i="1" dirty="0">
                <a:solidFill>
                  <a:srgbClr val="141A17"/>
                </a:solidFill>
              </a:rPr>
              <a:t>« 4,5 Md US$ de trésorerie nette le rendent sûr »</a:t>
            </a:r>
            <a:endParaRPr lang="en-US" sz="1400" dirty="0"/>
          </a:p>
        </p:txBody>
      </p:sp>
      <p:sp>
        <p:nvSpPr>
          <p:cNvPr id="8" name="Shape 6"/>
          <p:cNvSpPr/>
          <p:nvPr/>
        </p:nvSpPr>
        <p:spPr>
          <a:xfrm>
            <a:off x="6278728" y="2057400"/>
            <a:ext cx="5364328" cy="1203960"/>
          </a:xfrm>
          <a:prstGeom prst="rect">
            <a:avLst/>
          </a:prstGeom>
          <a:solidFill>
            <a:srgbClr val="EEF2EF"/>
          </a:solidFill>
          <a:ln w="12700">
            <a:solidFill>
              <a:srgbClr val="D7EBE2"/>
            </a:solidFill>
            <a:prstDash val="solid"/>
          </a:ln>
        </p:spPr>
        <p:txBody>
          <a:bodyPr/>
          <a:p/>
        </p:txBody>
      </p:sp>
      <p:sp>
        <p:nvSpPr>
          <p:cNvPr id="9" name="Text 7"/>
          <p:cNvSpPr txBox="1"/>
          <p:nvPr/>
        </p:nvSpPr>
        <p:spPr>
          <a:xfrm>
            <a:off x="6507328" y="2057400"/>
            <a:ext cx="4907128" cy="1203960"/>
          </a:xfrm>
          <a:prstGeom prst="rect">
            <a:avLst/>
          </a:prstGeom>
          <a:noFill/>
          <a:ln/>
        </p:spPr>
        <p:txBody>
          <a:bodyPr wrap="square" lIns="0" tIns="0" rIns="0" bIns="0" rtlCol="0" anchor="ctr">
            <a:normAutofit/>
          </a:bodyPr>
          <a:lstStyle/>
          <a:p>
            <a:pPr indent="0" marL="0">
              <a:buNone/>
            </a:pPr>
            <a:r>
              <a:rPr lang="en-US" sz="1118" dirty="0">
                <a:solidFill>
                  <a:srgbClr val="141A17"/>
                </a:solidFill>
              </a:rPr>
              <a:t>Les engagements de chantiers et d'affrètement (~7,5 Md US$) dépassent la trésorerie nette ; le FCF après loyers était négatif en 2025 et au S1 2026.</a:t>
            </a:r>
            <a:endParaRPr lang="en-US" sz="1300" dirty="0"/>
          </a:p>
        </p:txBody>
      </p:sp>
      <p:sp>
        <p:nvSpPr>
          <p:cNvPr id="10" name="Shape 8"/>
          <p:cNvSpPr/>
          <p:nvPr/>
        </p:nvSpPr>
        <p:spPr>
          <a:xfrm>
            <a:off x="548640" y="3398520"/>
            <a:ext cx="5364328" cy="1203960"/>
          </a:xfrm>
          <a:prstGeom prst="rect">
            <a:avLst/>
          </a:prstGeom>
          <a:solidFill>
            <a:srgbClr val="F2F4F1"/>
          </a:solidFill>
          <a:ln w="12700">
            <a:solidFill>
              <a:srgbClr val="F2F4F1"/>
            </a:solidFill>
            <a:prstDash val="solid"/>
          </a:ln>
        </p:spPr>
        <p:txBody>
          <a:bodyPr/>
          <a:p/>
        </p:txBody>
      </p:sp>
      <p:sp>
        <p:nvSpPr>
          <p:cNvPr id="11" name="Text 9"/>
          <p:cNvSpPr txBox="1"/>
          <p:nvPr/>
        </p:nvSpPr>
        <p:spPr>
          <a:xfrm>
            <a:off x="777240" y="3398520"/>
            <a:ext cx="4907128" cy="1203960"/>
          </a:xfrm>
          <a:prstGeom prst="rect">
            <a:avLst/>
          </a:prstGeom>
          <a:noFill/>
          <a:ln/>
        </p:spPr>
        <p:txBody>
          <a:bodyPr wrap="square" lIns="0" tIns="0" rIns="0" bIns="0" rtlCol="0" anchor="ctr">
            <a:normAutofit/>
          </a:bodyPr>
          <a:lstStyle/>
          <a:p>
            <a:pPr indent="0" marL="0">
              <a:buNone/>
            </a:pPr>
            <a:r>
              <a:rPr lang="en-US" sz="1244" i="1" dirty="0">
                <a:solidFill>
                  <a:srgbClr val="141A17"/>
                </a:solidFill>
              </a:rPr>
              <a:t>« Le rendement du dividende est attractif »</a:t>
            </a:r>
            <a:endParaRPr lang="en-US" sz="1400" dirty="0"/>
          </a:p>
        </p:txBody>
      </p:sp>
      <p:sp>
        <p:nvSpPr>
          <p:cNvPr id="12" name="Shape 10"/>
          <p:cNvSpPr/>
          <p:nvPr/>
        </p:nvSpPr>
        <p:spPr>
          <a:xfrm>
            <a:off x="6278728" y="3398520"/>
            <a:ext cx="5364328" cy="1203960"/>
          </a:xfrm>
          <a:prstGeom prst="rect">
            <a:avLst/>
          </a:prstGeom>
          <a:solidFill>
            <a:srgbClr val="EEF2EF"/>
          </a:solidFill>
          <a:ln w="12700">
            <a:solidFill>
              <a:srgbClr val="D7EBE2"/>
            </a:solidFill>
            <a:prstDash val="solid"/>
          </a:ln>
        </p:spPr>
        <p:txBody>
          <a:bodyPr/>
          <a:p/>
        </p:txBody>
      </p:sp>
      <p:sp>
        <p:nvSpPr>
          <p:cNvPr id="13" name="Text 11"/>
          <p:cNvSpPr txBox="1"/>
          <p:nvPr/>
        </p:nvSpPr>
        <p:spPr>
          <a:xfrm>
            <a:off x="6507328" y="3398520"/>
            <a:ext cx="4907128" cy="1203960"/>
          </a:xfrm>
          <a:prstGeom prst="rect">
            <a:avLst/>
          </a:prstGeom>
          <a:noFill/>
          <a:ln/>
        </p:spPr>
        <p:txBody>
          <a:bodyPr wrap="square" lIns="0" tIns="0" rIns="0" bIns="0" rtlCol="0" anchor="ctr">
            <a:normAutofit/>
          </a:bodyPr>
          <a:lstStyle/>
          <a:p>
            <a:pPr indent="0" marL="0">
              <a:buNone/>
            </a:pPr>
            <a:r>
              <a:rPr lang="en-US" sz="1198" dirty="0">
                <a:solidFill>
                  <a:srgbClr val="141A17"/>
                </a:solidFill>
              </a:rPr>
              <a:t>Les dividendes suivent les profits : 10,56 US$ par action en 2022, 1,14 US$ en 2025. Un rendement passé surestime les revenus futurs.</a:t>
            </a:r>
            <a:endParaRPr lang="en-US" sz="1300" dirty="0"/>
          </a:p>
        </p:txBody>
      </p:sp>
      <p:sp>
        <p:nvSpPr>
          <p:cNvPr id="14" name="Shape 12"/>
          <p:cNvSpPr/>
          <p:nvPr/>
        </p:nvSpPr>
        <p:spPr>
          <a:xfrm>
            <a:off x="548640" y="4739640"/>
            <a:ext cx="5364328" cy="1203960"/>
          </a:xfrm>
          <a:prstGeom prst="rect">
            <a:avLst/>
          </a:prstGeom>
          <a:solidFill>
            <a:srgbClr val="F2F4F1"/>
          </a:solidFill>
          <a:ln w="12700">
            <a:solidFill>
              <a:srgbClr val="F2F4F1"/>
            </a:solidFill>
            <a:prstDash val="solid"/>
          </a:ln>
        </p:spPr>
        <p:txBody>
          <a:bodyPr/>
          <a:p/>
        </p:txBody>
      </p:sp>
      <p:sp>
        <p:nvSpPr>
          <p:cNvPr id="15" name="Text 13"/>
          <p:cNvSpPr txBox="1"/>
          <p:nvPr/>
        </p:nvSpPr>
        <p:spPr>
          <a:xfrm>
            <a:off x="777240" y="4739640"/>
            <a:ext cx="4907128" cy="1203960"/>
          </a:xfrm>
          <a:prstGeom prst="rect">
            <a:avLst/>
          </a:prstGeom>
          <a:noFill/>
          <a:ln/>
        </p:spPr>
        <p:txBody>
          <a:bodyPr wrap="square" lIns="0" tIns="0" rIns="0" bIns="0" rtlCol="0" anchor="ctr">
            <a:normAutofit/>
          </a:bodyPr>
          <a:lstStyle/>
          <a:p>
            <a:pPr indent="0" marL="0">
              <a:buNone/>
            </a:pPr>
            <a:r>
              <a:rPr lang="en-US" sz="1204" i="1" dirty="0">
                <a:solidFill>
                  <a:srgbClr val="141A17"/>
                </a:solidFill>
              </a:rPr>
              <a:t>« Le T3 2026 montre un nouveau cycle haussier »</a:t>
            </a:r>
            <a:endParaRPr lang="en-US" sz="1400" dirty="0"/>
          </a:p>
        </p:txBody>
      </p:sp>
      <p:sp>
        <p:nvSpPr>
          <p:cNvPr id="16" name="Shape 14"/>
          <p:cNvSpPr/>
          <p:nvPr/>
        </p:nvSpPr>
        <p:spPr>
          <a:xfrm>
            <a:off x="6278728" y="4739640"/>
            <a:ext cx="5364328" cy="1203960"/>
          </a:xfrm>
          <a:prstGeom prst="rect">
            <a:avLst/>
          </a:prstGeom>
          <a:solidFill>
            <a:srgbClr val="EEF2EF"/>
          </a:solidFill>
          <a:ln w="12700">
            <a:solidFill>
              <a:srgbClr val="D7EBE2"/>
            </a:solidFill>
            <a:prstDash val="solid"/>
          </a:ln>
        </p:spPr>
        <p:txBody>
          <a:bodyPr/>
          <a:p/>
        </p:txBody>
      </p:sp>
      <p:sp>
        <p:nvSpPr>
          <p:cNvPr id="17" name="Text 15"/>
          <p:cNvSpPr txBox="1"/>
          <p:nvPr/>
        </p:nvSpPr>
        <p:spPr>
          <a:xfrm>
            <a:off x="6507328" y="4739640"/>
            <a:ext cx="4907128" cy="1203960"/>
          </a:xfrm>
          <a:prstGeom prst="rect">
            <a:avLst/>
          </a:prstGeom>
          <a:noFill/>
          <a:ln/>
        </p:spPr>
        <p:txBody>
          <a:bodyPr wrap="square" lIns="0" tIns="0" rIns="0" bIns="0" rtlCol="0" anchor="ctr">
            <a:normAutofit/>
          </a:bodyPr>
          <a:lstStyle/>
          <a:p>
            <a:pPr indent="0" marL="0">
              <a:buNone/>
            </a:pPr>
            <a:r>
              <a:rPr lang="en-US" sz="1180" dirty="0">
                <a:solidFill>
                  <a:srgbClr val="141A17"/>
                </a:solidFill>
              </a:rPr>
              <a:t>Le pic est géopolitique. Les taxes portuaires sur les armateurs chinois peuvent revenir le 10 novembre 2026.</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08  VALORISATION</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93" b="1" dirty="0">
                <a:solidFill>
                  <a:schemeClr val="tx1"/>
                </a:solidFill>
              </a:rPr>
              <a:t>Valeur centrale 123,92 HK$ par action, −19 % vs aujourd'hui</a:t>
            </a:r>
            <a:endParaRPr lang="en-US" sz="2600" dirty="0"/>
          </a:p>
        </p:txBody>
      </p:sp>
      <p:sp>
        <p:nvSpPr>
          <p:cNvPr id="4" name="Text 2"/>
          <p:cNvSpPr txBox="1"/>
          <p:nvPr/>
        </p:nvSpPr>
        <p:spPr>
          <a:xfrm>
            <a:off x="548640" y="1325880"/>
            <a:ext cx="11094415" cy="274320"/>
          </a:xfrm>
          <a:prstGeom prst="rect">
            <a:avLst/>
          </a:prstGeom>
          <a:noFill/>
          <a:ln/>
        </p:spPr>
        <p:txBody>
          <a:bodyPr wrap="square" lIns="0" tIns="0" rIns="0" bIns="0" rtlCol="0" anchor="ctr"/>
          <a:lstStyle/>
          <a:p>
            <a:pPr indent="0" marL="0">
              <a:buNone/>
            </a:pPr>
            <a:r>
              <a:rPr lang="en-US" sz="1229" b="1" dirty="0">
                <a:solidFill>
                  <a:srgbClr val="0E6B4F"/>
                </a:solidFill>
              </a:rPr>
              <a:t>Méthode : PER sur bénéfices normalisés</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583680" cy="914400"/>
        </p:xfrm>
        <a:graphic>
          <a:graphicData uri="http://schemas.openxmlformats.org/drawingml/2006/table">
            <a:tbl>
              <a:tblPr/>
              <a:tblGrid>
                <a:gridCol w="1097280"/>
                <a:gridCol w="3291840"/>
                <a:gridCol w="1234440"/>
                <a:gridCol w="960120"/>
              </a:tblGrid>
              <a:tr h="384048">
                <a:tc>
                  <a:txBody>
                    <a:bodyPr/>
                    <a:lstStyle/>
                    <a:p>
                      <a:pPr indent="0" marL="0">
                        <a:buNone/>
                      </a:pPr>
                      <a:r>
                        <a:rPr lang="en-US" sz="1300" b="1" dirty="0">
                          <a:solidFill>
                            <a:srgbClr val="FFFFFF"/>
                          </a:solidFill>
                          <a:latin typeface="Arial" pitchFamily="34" charset="0"/>
                          <a:ea typeface="Arial" pitchFamily="34" charset="-122"/>
                          <a:cs typeface="Arial" pitchFamily="34" charset="-120"/>
                        </a:rPr>
                        <a:t>Scénario</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Hypothèses</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Valeur / action</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c>
                  <a:txBody>
                    <a:bodyPr/>
                    <a:lstStyle/>
                    <a:p>
                      <a:pPr algn="r" indent="0" marL="0">
                        <a:buNone/>
                      </a:pPr>
                      <a:r>
                        <a:rPr lang="en-US" sz="1300" b="1" dirty="0">
                          <a:solidFill>
                            <a:srgbClr val="FFFFFF"/>
                          </a:solidFill>
                          <a:latin typeface="Arial" pitchFamily="34" charset="0"/>
                          <a:ea typeface="Arial" pitchFamily="34" charset="-122"/>
                          <a:cs typeface="Arial" pitchFamily="34" charset="-120"/>
                        </a:rPr>
                        <a:t>vs cours</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E6B4F"/>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Pessimiste</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BPA 1,39 US$ × 7x</a:t>
                      </a:r>
                      <a:endParaRPr lang="en-US" sz="1100" dirty="0">
                        <a:latin typeface="Arial" charset="0"/>
                        <a:ea typeface="Arial" charset="0"/>
                        <a:cs typeface="Arial" charset="0"/>
                      </a:endParaRPr>
                    </a:p>
                    <a:p>
                      <a:pPr indent="0" marL="0">
                        <a:buNone/>
                      </a:pPr>
                      <a:r>
                        <a:rPr lang="en-US" sz="960" dirty="0">
                          <a:solidFill>
                            <a:srgbClr val="2A322E"/>
                          </a:solidFill>
                          <a:latin typeface="Arial" pitchFamily="34" charset="0"/>
                          <a:ea typeface="Arial" pitchFamily="34" charset="-122"/>
                          <a:cs typeface="Arial" pitchFamily="34" charset="-120"/>
                        </a:rPr>
                        <a:t>Réouverture complète de Suez ; surcapacité</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75,90 HK$</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B23A2E"/>
                          </a:solidFill>
                          <a:latin typeface="Arial" pitchFamily="34" charset="0"/>
                          <a:ea typeface="Arial" pitchFamily="34" charset="-122"/>
                          <a:cs typeface="Arial" pitchFamily="34" charset="-120"/>
                        </a:rPr>
                        <a:t>−50 %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Central</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BPA 1,99 US$ × 8x</a:t>
                      </a:r>
                      <a:endParaRPr lang="en-US" sz="1100" dirty="0">
                        <a:latin typeface="Arial" charset="0"/>
                        <a:ea typeface="Arial" charset="0"/>
                        <a:cs typeface="Arial" charset="0"/>
                      </a:endParaRPr>
                    </a:p>
                    <a:p>
                      <a:pPr indent="0" marL="0">
                        <a:buNone/>
                      </a:pPr>
                      <a:r>
                        <a:rPr lang="en-US" sz="1100" dirty="0">
                          <a:solidFill>
                            <a:srgbClr val="2A322E"/>
                          </a:solidFill>
                          <a:latin typeface="Arial" pitchFamily="34" charset="0"/>
                          <a:ea typeface="Arial" pitchFamily="34" charset="-122"/>
                          <a:cs typeface="Arial" pitchFamily="34" charset="-120"/>
                        </a:rPr>
                        <a:t>Bénéfices normalisés, multiple normal</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123,92 HK$</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c>
                  <a:txBody>
                    <a:bodyPr/>
                    <a:lstStyle/>
                    <a:p>
                      <a:pPr algn="r" indent="0" marL="0">
                        <a:buNone/>
                      </a:pPr>
                      <a:r>
                        <a:rPr lang="en-US" sz="1300" b="1" dirty="0">
                          <a:solidFill>
                            <a:srgbClr val="B23A2E"/>
                          </a:solidFill>
                          <a:latin typeface="Arial" pitchFamily="34" charset="0"/>
                          <a:ea typeface="Arial" pitchFamily="34" charset="-122"/>
                          <a:cs typeface="Arial" pitchFamily="34" charset="-120"/>
                        </a:rPr>
                        <a:t>−19 %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7EBE2"/>
                    </a:solidFill>
                  </a:tcPr>
                </a:tc>
              </a:tr>
              <a:tr h="777240">
                <a:tc>
                  <a:txBody>
                    <a:bodyPr/>
                    <a:lstStyle/>
                    <a:p>
                      <a:pPr indent="0" marL="0">
                        <a:buNone/>
                      </a:pPr>
                      <a:r>
                        <a:rPr lang="en-US" sz="1300" b="1" dirty="0">
                          <a:solidFill>
                            <a:srgbClr val="141A17"/>
                          </a:solidFill>
                          <a:latin typeface="Arial" pitchFamily="34" charset="0"/>
                          <a:ea typeface="Arial" pitchFamily="34" charset="-122"/>
                          <a:cs typeface="Arial" pitchFamily="34" charset="-120"/>
                        </a:rPr>
                        <a:t>Optimiste</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indent="0" marL="0">
                        <a:buNone/>
                      </a:pPr>
                      <a:r>
                        <a:rPr lang="en-US" sz="1100" dirty="0">
                          <a:solidFill>
                            <a:srgbClr val="2A322E"/>
                          </a:solidFill>
                          <a:latin typeface="Arial" pitchFamily="34" charset="0"/>
                          <a:ea typeface="Arial" pitchFamily="34" charset="-122"/>
                          <a:cs typeface="Arial" pitchFamily="34" charset="-120"/>
                        </a:rPr>
                        <a:t>BPA 2,98 US$ × 9x</a:t>
                      </a:r>
                      <a:endParaRPr lang="en-US" sz="1100" dirty="0">
                        <a:latin typeface="Arial" charset="0"/>
                        <a:ea typeface="Arial" charset="0"/>
                        <a:cs typeface="Arial" charset="0"/>
                      </a:endParaRPr>
                    </a:p>
                    <a:p>
                      <a:pPr indent="0" marL="0">
                        <a:buNone/>
                      </a:pPr>
                      <a:r>
                        <a:rPr lang="en-US" sz="1046" dirty="0">
                          <a:solidFill>
                            <a:srgbClr val="2A322E"/>
                          </a:solidFill>
                          <a:latin typeface="Arial" pitchFamily="34" charset="0"/>
                          <a:ea typeface="Arial" pitchFamily="34" charset="-122"/>
                          <a:cs typeface="Arial" pitchFamily="34" charset="-120"/>
                        </a:rPr>
                        <a:t>La perturbation dure ; capacités absorbées</a:t>
                      </a:r>
                      <a:endParaRPr lang="en-US" sz="11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141A17"/>
                          </a:solidFill>
                          <a:latin typeface="Arial" pitchFamily="34" charset="0"/>
                          <a:ea typeface="Arial" pitchFamily="34" charset="-122"/>
                          <a:cs typeface="Arial" pitchFamily="34" charset="-120"/>
                        </a:rPr>
                        <a:t>209,11 HK$</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c>
                  <a:txBody>
                    <a:bodyPr/>
                    <a:lstStyle/>
                    <a:p>
                      <a:pPr algn="r" indent="0" marL="0">
                        <a:buNone/>
                      </a:pPr>
                      <a:r>
                        <a:rPr lang="en-US" sz="1300" b="1" dirty="0">
                          <a:solidFill>
                            <a:srgbClr val="0E6B4F"/>
                          </a:solidFill>
                          <a:latin typeface="Arial" pitchFamily="34" charset="0"/>
                          <a:ea typeface="Arial" pitchFamily="34" charset="-122"/>
                          <a:cs typeface="Arial" pitchFamily="34" charset="-120"/>
                        </a:rPr>
                        <a:t>+36 %</a:t>
                      </a:r>
                      <a:endParaRPr lang="en-US" sz="1300" dirty="0">
                        <a:latin typeface="Arial" charset="0"/>
                        <a:ea typeface="Arial" charset="0"/>
                        <a:cs typeface="Arial" charset="0"/>
                      </a:endParaRPr>
                    </a:p>
                  </a:txBody>
                  <a:tcPr marL="91440" marR="91440" marT="36576" marB="36576"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2F4F1"/>
                    </a:solidFill>
                  </a:tcPr>
                </a:tc>
              </a:tr>
            </a:tbl>
          </a:graphicData>
        </a:graphic>
      </p:graphicFrame>
      <p:sp>
        <p:nvSpPr>
          <p:cNvPr id="6" name="Text 3"/>
          <p:cNvSpPr txBox="1"/>
          <p:nvPr/>
        </p:nvSpPr>
        <p:spPr>
          <a:xfrm>
            <a:off x="548640" y="4754880"/>
            <a:ext cx="6583680" cy="1234440"/>
          </a:xfrm>
          <a:prstGeom prst="rect">
            <a:avLst/>
          </a:prstGeom>
          <a:noFill/>
          <a:ln/>
        </p:spPr>
        <p:txBody>
          <a:bodyPr wrap="square" lIns="0" tIns="0" rIns="0" bIns="0" rtlCol="0" anchor="t">
            <a:normAutofit/>
          </a:bodyPr>
          <a:lstStyle/>
          <a:p>
            <a:pPr indent="0" marL="0">
              <a:buNone/>
            </a:pPr>
            <a:r>
              <a:rPr lang="en-US" sz="1090" dirty="0">
                <a:solidFill>
                  <a:srgbClr val="2A322E"/>
                </a:solidFill>
              </a:rPr>
              <a:t>Pour un armateur, on valorise l'année moyenne, pas la dernière. Nous faisons la moyenne des bénéfices 2019-2025 en excluant le supercycle 2021-22 et le gain exceptionnel de 2019 (environ 1,3 Md US$, soit 1,99 US$ par action), puis appliquons 7-9x et convertissons à 7,8 HK$ par US$.</a:t>
            </a:r>
            <a:endParaRPr lang="en-US" sz="1200" dirty="0"/>
          </a:p>
        </p:txBody>
      </p:sp>
      <p:sp>
        <p:nvSpPr>
          <p:cNvPr id="7" name="Text 4"/>
          <p:cNvSpPr txBox="1"/>
          <p:nvPr/>
        </p:nvSpPr>
        <p:spPr>
          <a:xfrm>
            <a:off x="7406640" y="1645920"/>
            <a:ext cx="4206240" cy="320040"/>
          </a:xfrm>
          <a:prstGeom prst="rect">
            <a:avLst/>
          </a:prstGeom>
          <a:noFill/>
          <a:ln/>
        </p:spPr>
        <p:txBody>
          <a:bodyPr wrap="square" lIns="0" tIns="0" rIns="0" bIns="0" rtlCol="0" anchor="ctr"/>
          <a:lstStyle/>
          <a:p>
            <a:pPr indent="0" marL="0">
              <a:buNone/>
            </a:pPr>
            <a:r>
              <a:rPr lang="en-US" sz="1300" b="1" dirty="0">
                <a:solidFill>
                  <a:srgbClr val="141A17"/>
                </a:solidFill>
              </a:rPr>
              <a:t>Fourchette de valorisation</a:t>
            </a:r>
            <a:endParaRPr lang="en-US" sz="1300" dirty="0"/>
          </a:p>
        </p:txBody>
      </p:sp>
      <p:sp>
        <p:nvSpPr>
          <p:cNvPr id="8" name="Text 5"/>
          <p:cNvSpPr txBox="1"/>
          <p:nvPr/>
        </p:nvSpPr>
        <p:spPr>
          <a:xfrm>
            <a:off x="7406640" y="2240280"/>
            <a:ext cx="4206240" cy="256032"/>
          </a:xfrm>
          <a:prstGeom prst="rect">
            <a:avLst/>
          </a:prstGeom>
          <a:noFill/>
          <a:ln/>
        </p:spPr>
        <p:txBody>
          <a:bodyPr wrap="square" lIns="0" tIns="0" rIns="0" bIns="0" rtlCol="0" anchor="ctr"/>
          <a:lstStyle/>
          <a:p>
            <a:pPr indent="0" marL="0">
              <a:buNone/>
            </a:pPr>
            <a:r>
              <a:rPr lang="en-US" sz="1100" dirty="0">
                <a:solidFill>
                  <a:srgbClr val="5B6660"/>
                </a:solidFill>
              </a:rPr>
              <a:t>Plage 52 semaines</a:t>
            </a:r>
            <a:endParaRPr lang="en-US" sz="1100" dirty="0"/>
          </a:p>
        </p:txBody>
      </p:sp>
      <p:sp>
        <p:nvSpPr>
          <p:cNvPr id="9" name="Shape 6"/>
          <p:cNvSpPr/>
          <p:nvPr/>
        </p:nvSpPr>
        <p:spPr>
          <a:xfrm>
            <a:off x="8900650" y="2542032"/>
            <a:ext cx="1498153" cy="310896"/>
          </a:xfrm>
          <a:prstGeom prst="rect">
            <a:avLst/>
          </a:prstGeom>
          <a:solidFill>
            <a:srgbClr val="9AAAA2"/>
          </a:solidFill>
          <a:ln w="12700">
            <a:solidFill>
              <a:srgbClr val="9AAAA2"/>
            </a:solidFill>
            <a:prstDash val="solid"/>
          </a:ln>
        </p:spPr>
        <p:txBody>
          <a:bodyPr/>
          <a:p/>
        </p:txBody>
      </p:sp>
      <p:sp>
        <p:nvSpPr>
          <p:cNvPr id="10" name="Text 7"/>
          <p:cNvSpPr txBox="1"/>
          <p:nvPr/>
        </p:nvSpPr>
        <p:spPr>
          <a:xfrm>
            <a:off x="7406640" y="2880360"/>
            <a:ext cx="4206240" cy="228600"/>
          </a:xfrm>
          <a:prstGeom prst="rect">
            <a:avLst/>
          </a:prstGeom>
          <a:noFill/>
          <a:ln/>
        </p:spPr>
        <p:txBody>
          <a:bodyPr wrap="square" lIns="0" tIns="0" rIns="0" bIns="0" rtlCol="0" anchor="ctr"/>
          <a:lstStyle/>
          <a:p>
            <a:pPr indent="0" marL="0">
              <a:buNone/>
            </a:pPr>
            <a:r>
              <a:rPr lang="en-US" sz="1000" dirty="0">
                <a:solidFill>
                  <a:srgbClr val="141A17"/>
                </a:solidFill>
              </a:rPr>
              <a:t>117,90 HK$ - 178,90 HK$</a:t>
            </a:r>
            <a:endParaRPr lang="en-US" sz="1000" dirty="0"/>
          </a:p>
        </p:txBody>
      </p:sp>
      <p:sp>
        <p:nvSpPr>
          <p:cNvPr id="11" name="Shape 8"/>
          <p:cNvSpPr/>
          <p:nvPr/>
        </p:nvSpPr>
        <p:spPr>
          <a:xfrm>
            <a:off x="9770070" y="2478024"/>
            <a:ext cx="0" cy="438912"/>
          </a:xfrm>
          <a:prstGeom prst="line">
            <a:avLst/>
          </a:prstGeom>
          <a:noFill/>
          <a:ln w="25400">
            <a:solidFill>
              <a:srgbClr val="141A17"/>
            </a:solidFill>
            <a:prstDash val="solid"/>
          </a:ln>
        </p:spPr>
        <p:txBody>
          <a:bodyPr/>
          <a:p/>
        </p:txBody>
      </p:sp>
      <p:sp>
        <p:nvSpPr>
          <p:cNvPr id="12" name="Shape 9"/>
          <p:cNvSpPr/>
          <p:nvPr/>
        </p:nvSpPr>
        <p:spPr>
          <a:xfrm>
            <a:off x="9048500" y="2478024"/>
            <a:ext cx="0" cy="438912"/>
          </a:xfrm>
          <a:prstGeom prst="line">
            <a:avLst/>
          </a:prstGeom>
          <a:noFill/>
          <a:ln w="25400">
            <a:solidFill>
              <a:srgbClr val="0E6B4F"/>
            </a:solidFill>
            <a:prstDash val="dash"/>
          </a:ln>
        </p:spPr>
        <p:txBody>
          <a:bodyPr/>
          <a:p/>
        </p:txBody>
      </p:sp>
      <p:sp>
        <p:nvSpPr>
          <p:cNvPr id="13" name="Text 10"/>
          <p:cNvSpPr txBox="1"/>
          <p:nvPr/>
        </p:nvSpPr>
        <p:spPr>
          <a:xfrm>
            <a:off x="7406640" y="3200400"/>
            <a:ext cx="4206240" cy="256032"/>
          </a:xfrm>
          <a:prstGeom prst="rect">
            <a:avLst/>
          </a:prstGeom>
          <a:noFill/>
          <a:ln/>
        </p:spPr>
        <p:txBody>
          <a:bodyPr wrap="square" lIns="0" tIns="0" rIns="0" bIns="0" rtlCol="0" anchor="ctr"/>
          <a:lstStyle/>
          <a:p>
            <a:pPr indent="0" marL="0">
              <a:buNone/>
            </a:pPr>
            <a:r>
              <a:rPr lang="en-US" sz="998" dirty="0">
                <a:solidFill>
                  <a:srgbClr val="5B6660"/>
                </a:solidFill>
              </a:rPr>
              <a:t>Scénarios (pessimiste - optimiste)</a:t>
            </a:r>
            <a:endParaRPr lang="en-US" sz="1100" dirty="0"/>
          </a:p>
        </p:txBody>
      </p:sp>
      <p:sp>
        <p:nvSpPr>
          <p:cNvPr id="14" name="Shape 11"/>
          <p:cNvSpPr/>
          <p:nvPr/>
        </p:nvSpPr>
        <p:spPr>
          <a:xfrm>
            <a:off x="7869134" y="3502152"/>
            <a:ext cx="3271623" cy="310896"/>
          </a:xfrm>
          <a:prstGeom prst="rect">
            <a:avLst/>
          </a:prstGeom>
          <a:solidFill>
            <a:srgbClr val="0E6B4F"/>
          </a:solidFill>
          <a:ln w="12700">
            <a:solidFill>
              <a:srgbClr val="0E6B4F"/>
            </a:solidFill>
            <a:prstDash val="solid"/>
          </a:ln>
        </p:spPr>
        <p:txBody>
          <a:bodyPr/>
          <a:p/>
        </p:txBody>
      </p:sp>
      <p:sp>
        <p:nvSpPr>
          <p:cNvPr id="15" name="Text 12"/>
          <p:cNvSpPr txBox="1"/>
          <p:nvPr/>
        </p:nvSpPr>
        <p:spPr>
          <a:xfrm>
            <a:off x="7406640" y="3840480"/>
            <a:ext cx="4206240" cy="228600"/>
          </a:xfrm>
          <a:prstGeom prst="rect">
            <a:avLst/>
          </a:prstGeom>
          <a:noFill/>
          <a:ln/>
        </p:spPr>
        <p:txBody>
          <a:bodyPr wrap="square" lIns="0" tIns="0" rIns="0" bIns="0" rtlCol="0" anchor="ctr"/>
          <a:lstStyle/>
          <a:p>
            <a:pPr indent="0" marL="0">
              <a:buNone/>
            </a:pPr>
            <a:r>
              <a:rPr lang="en-US" sz="1000" dirty="0">
                <a:solidFill>
                  <a:srgbClr val="141A17"/>
                </a:solidFill>
              </a:rPr>
              <a:t>75,90 HK$ - 209,11 HK$</a:t>
            </a:r>
            <a:endParaRPr lang="en-US" sz="1000" dirty="0"/>
          </a:p>
        </p:txBody>
      </p:sp>
      <p:sp>
        <p:nvSpPr>
          <p:cNvPr id="16" name="Shape 13"/>
          <p:cNvSpPr/>
          <p:nvPr/>
        </p:nvSpPr>
        <p:spPr>
          <a:xfrm>
            <a:off x="9770070" y="3438144"/>
            <a:ext cx="0" cy="438912"/>
          </a:xfrm>
          <a:prstGeom prst="line">
            <a:avLst/>
          </a:prstGeom>
          <a:noFill/>
          <a:ln w="25400">
            <a:solidFill>
              <a:srgbClr val="141A17"/>
            </a:solidFill>
            <a:prstDash val="solid"/>
          </a:ln>
        </p:spPr>
        <p:txBody>
          <a:bodyPr/>
          <a:p/>
        </p:txBody>
      </p:sp>
      <p:sp>
        <p:nvSpPr>
          <p:cNvPr id="17" name="Shape 14"/>
          <p:cNvSpPr/>
          <p:nvPr/>
        </p:nvSpPr>
        <p:spPr>
          <a:xfrm>
            <a:off x="9048500" y="3438144"/>
            <a:ext cx="0" cy="438912"/>
          </a:xfrm>
          <a:prstGeom prst="line">
            <a:avLst/>
          </a:prstGeom>
          <a:noFill/>
          <a:ln w="25400">
            <a:solidFill>
              <a:srgbClr val="0E6B4F"/>
            </a:solidFill>
            <a:prstDash val="dash"/>
          </a:ln>
        </p:spPr>
        <p:txBody>
          <a:bodyPr/>
          <a:p/>
        </p:txBody>
      </p:sp>
      <p:sp>
        <p:nvSpPr>
          <p:cNvPr id="18" name="Text 15"/>
          <p:cNvSpPr txBox="1"/>
          <p:nvPr/>
        </p:nvSpPr>
        <p:spPr>
          <a:xfrm>
            <a:off x="7406640" y="4160520"/>
            <a:ext cx="4206240" cy="256032"/>
          </a:xfrm>
          <a:prstGeom prst="rect">
            <a:avLst/>
          </a:prstGeom>
          <a:noFill/>
          <a:ln/>
        </p:spPr>
        <p:txBody>
          <a:bodyPr wrap="square" lIns="0" tIns="0" rIns="0" bIns="0" rtlCol="0" anchor="ctr"/>
          <a:lstStyle/>
          <a:p>
            <a:pPr indent="0" marL="0">
              <a:buNone/>
            </a:pPr>
            <a:r>
              <a:rPr lang="en-US" sz="1100" dirty="0">
                <a:solidFill>
                  <a:srgbClr val="5B6660"/>
                </a:solidFill>
              </a:rPr>
              <a:t>Objectif du consensus (tiers)</a:t>
            </a:r>
            <a:endParaRPr lang="en-US" sz="1100" dirty="0"/>
          </a:p>
        </p:txBody>
      </p:sp>
      <p:sp>
        <p:nvSpPr>
          <p:cNvPr id="19" name="Shape 16"/>
          <p:cNvSpPr/>
          <p:nvPr/>
        </p:nvSpPr>
        <p:spPr>
          <a:xfrm>
            <a:off x="9509735" y="4462272"/>
            <a:ext cx="73152" cy="310896"/>
          </a:xfrm>
          <a:prstGeom prst="rect">
            <a:avLst/>
          </a:prstGeom>
          <a:solidFill>
            <a:srgbClr val="9AAAA2"/>
          </a:solidFill>
          <a:ln w="12700">
            <a:solidFill>
              <a:srgbClr val="9AAAA2"/>
            </a:solidFill>
            <a:prstDash val="solid"/>
          </a:ln>
        </p:spPr>
        <p:txBody>
          <a:bodyPr/>
          <a:p/>
        </p:txBody>
      </p:sp>
      <p:sp>
        <p:nvSpPr>
          <p:cNvPr id="20" name="Text 17"/>
          <p:cNvSpPr txBox="1"/>
          <p:nvPr/>
        </p:nvSpPr>
        <p:spPr>
          <a:xfrm>
            <a:off x="7406640" y="4800600"/>
            <a:ext cx="4206240" cy="228600"/>
          </a:xfrm>
          <a:prstGeom prst="rect">
            <a:avLst/>
          </a:prstGeom>
          <a:noFill/>
          <a:ln/>
        </p:spPr>
        <p:txBody>
          <a:bodyPr wrap="square" lIns="0" tIns="0" rIns="0" bIns="0" rtlCol="0" anchor="ctr"/>
          <a:lstStyle/>
          <a:p>
            <a:pPr indent="0" marL="0">
              <a:buNone/>
            </a:pPr>
            <a:r>
              <a:rPr lang="en-US" sz="1000" dirty="0">
                <a:solidFill>
                  <a:srgbClr val="141A17"/>
                </a:solidFill>
              </a:rPr>
              <a:t>142,70 HK$</a:t>
            </a:r>
            <a:endParaRPr lang="en-US" sz="1000" dirty="0"/>
          </a:p>
        </p:txBody>
      </p:sp>
      <p:sp>
        <p:nvSpPr>
          <p:cNvPr id="21" name="Shape 18"/>
          <p:cNvSpPr/>
          <p:nvPr/>
        </p:nvSpPr>
        <p:spPr>
          <a:xfrm>
            <a:off x="9770070" y="4398264"/>
            <a:ext cx="0" cy="438912"/>
          </a:xfrm>
          <a:prstGeom prst="line">
            <a:avLst/>
          </a:prstGeom>
          <a:noFill/>
          <a:ln w="25400">
            <a:solidFill>
              <a:srgbClr val="141A17"/>
            </a:solidFill>
            <a:prstDash val="solid"/>
          </a:ln>
        </p:spPr>
        <p:txBody>
          <a:bodyPr/>
          <a:p/>
        </p:txBody>
      </p:sp>
      <p:sp>
        <p:nvSpPr>
          <p:cNvPr id="22" name="Shape 19"/>
          <p:cNvSpPr/>
          <p:nvPr/>
        </p:nvSpPr>
        <p:spPr>
          <a:xfrm>
            <a:off x="9048500" y="4398264"/>
            <a:ext cx="0" cy="438912"/>
          </a:xfrm>
          <a:prstGeom prst="line">
            <a:avLst/>
          </a:prstGeom>
          <a:noFill/>
          <a:ln w="25400">
            <a:solidFill>
              <a:srgbClr val="0E6B4F"/>
            </a:solidFill>
            <a:prstDash val="dash"/>
          </a:ln>
        </p:spPr>
        <p:txBody>
          <a:bodyPr/>
          <a:p/>
        </p:txBody>
      </p:sp>
      <p:sp>
        <p:nvSpPr>
          <p:cNvPr id="23" name="Text 20"/>
          <p:cNvSpPr txBox="1"/>
          <p:nvPr/>
        </p:nvSpPr>
        <p:spPr>
          <a:xfrm>
            <a:off x="8947110" y="5074920"/>
            <a:ext cx="1645920" cy="256032"/>
          </a:xfrm>
          <a:prstGeom prst="rect">
            <a:avLst/>
          </a:prstGeom>
          <a:noFill/>
          <a:ln/>
        </p:spPr>
        <p:txBody>
          <a:bodyPr wrap="square" lIns="0" tIns="0" rIns="0" bIns="0" rtlCol="0" anchor="ctr"/>
          <a:lstStyle/>
          <a:p>
            <a:pPr algn="ctr" indent="0" marL="0">
              <a:buNone/>
            </a:pPr>
            <a:r>
              <a:rPr lang="en-US" sz="1000" b="1" dirty="0">
                <a:solidFill>
                  <a:srgbClr val="141A17"/>
                </a:solidFill>
              </a:rPr>
              <a:t>│ Cours 153,30 HK$</a:t>
            </a:r>
            <a:endParaRPr lang="en-US" sz="1000" dirty="0"/>
          </a:p>
        </p:txBody>
      </p:sp>
      <p:sp>
        <p:nvSpPr>
          <p:cNvPr id="24" name="Text 21"/>
          <p:cNvSpPr txBox="1"/>
          <p:nvPr/>
        </p:nvSpPr>
        <p:spPr>
          <a:xfrm>
            <a:off x="8225540" y="5349240"/>
            <a:ext cx="1645920" cy="256032"/>
          </a:xfrm>
          <a:prstGeom prst="rect">
            <a:avLst/>
          </a:prstGeom>
          <a:noFill/>
          <a:ln/>
        </p:spPr>
        <p:txBody>
          <a:bodyPr wrap="square" lIns="0" tIns="0" rIns="0" bIns="0" rtlCol="0" anchor="ctr"/>
          <a:lstStyle/>
          <a:p>
            <a:pPr algn="ctr" indent="0" marL="0">
              <a:buNone/>
            </a:pPr>
            <a:r>
              <a:rPr lang="en-US" sz="1000" b="1" dirty="0">
                <a:solidFill>
                  <a:srgbClr val="0E6B4F"/>
                </a:solidFill>
              </a:rPr>
              <a:t>┆ Scénario central 123,92 HK$</a:t>
            </a:r>
            <a:endParaRPr lang="en-US" sz="1000" dirty="0"/>
          </a:p>
        </p:txBody>
      </p:sp>
      <p:sp>
        <p:nvSpPr>
          <p:cNvPr id="25" name="Text 22"/>
          <p:cNvSpPr txBox="1"/>
          <p:nvPr/>
        </p:nvSpPr>
        <p:spPr>
          <a:xfrm>
            <a:off x="548640" y="6089904"/>
            <a:ext cx="11094415" cy="274320"/>
          </a:xfrm>
          <a:prstGeom prst="rect">
            <a:avLst/>
          </a:prstGeom>
          <a:noFill/>
          <a:ln/>
        </p:spPr>
        <p:txBody>
          <a:bodyPr wrap="square" lIns="0" tIns="0" rIns="0" bIns="0" rtlCol="0" anchor="ctr"/>
          <a:lstStyle/>
          <a:p>
            <a:pPr indent="0" marL="0">
              <a:buNone/>
            </a:pPr>
            <a:r>
              <a:rPr lang="en-US" sz="830" i="1" dirty="0">
                <a:solidFill>
                  <a:schemeClr val="tx2"/>
                </a:solidFill>
              </a:rPr>
              <a:t>Source : valorisation propre ; plage 52 semaines et consensus issus de données tierces (29 oct. 2026)</a:t>
            </a:r>
            <a:endParaRPr lang="en-US" sz="9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09  CATALYSEURS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16" b="1" dirty="0">
                <a:solidFill>
                  <a:schemeClr val="tx1"/>
                </a:solidFill>
              </a:rPr>
              <a:t>Ce qui peut faire bouger le titre dans les 12-18 prochains mois</a:t>
            </a:r>
            <a:endParaRPr lang="en-US" sz="2600" dirty="0"/>
          </a:p>
        </p:txBody>
      </p:sp>
      <p:sp>
        <p:nvSpPr>
          <p:cNvPr id="4" name="Shape 2"/>
          <p:cNvSpPr/>
          <p:nvPr/>
        </p:nvSpPr>
        <p:spPr>
          <a:xfrm>
            <a:off x="731520" y="2395728"/>
            <a:ext cx="10728655" cy="0"/>
          </a:xfrm>
          <a:prstGeom prst="line">
            <a:avLst/>
          </a:prstGeom>
          <a:noFill/>
          <a:ln w="25400">
            <a:solidFill>
              <a:srgbClr val="D5DBD6"/>
            </a:solidFill>
            <a:prstDash val="solid"/>
          </a:ln>
        </p:spPr>
        <p:txBody>
          <a:bodyPr/>
          <a:p/>
        </p:txBody>
      </p:sp>
      <p:sp>
        <p:nvSpPr>
          <p:cNvPr id="5" name="Shape 3"/>
          <p:cNvSpPr/>
          <p:nvPr/>
        </p:nvSpPr>
        <p:spPr>
          <a:xfrm>
            <a:off x="640080" y="2240280"/>
            <a:ext cx="310896" cy="310896"/>
          </a:xfrm>
          <a:prstGeom prst="ellipse">
            <a:avLst/>
          </a:prstGeom>
          <a:solidFill>
            <a:srgbClr val="0E6B4F"/>
          </a:solidFill>
          <a:ln w="25400">
            <a:solidFill>
              <a:srgbClr val="FFFFFF"/>
            </a:solidFill>
            <a:prstDash val="solid"/>
          </a:ln>
        </p:spPr>
        <p:txBody>
          <a:bodyPr/>
          <a:p/>
        </p:txBody>
      </p:sp>
      <p:sp>
        <p:nvSpPr>
          <p:cNvPr id="6" name="Text 4"/>
          <p:cNvSpPr txBox="1"/>
          <p:nvPr/>
        </p:nvSpPr>
        <p:spPr>
          <a:xfrm>
            <a:off x="548640"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10 nov. 2026</a:t>
            </a:r>
            <a:endParaRPr lang="en-US" sz="1400" dirty="0"/>
          </a:p>
        </p:txBody>
      </p:sp>
      <p:sp>
        <p:nvSpPr>
          <p:cNvPr id="7" name="Text 5"/>
          <p:cNvSpPr txBox="1"/>
          <p:nvPr/>
        </p:nvSpPr>
        <p:spPr>
          <a:xfrm>
            <a:off x="548640" y="2788920"/>
            <a:ext cx="1990283" cy="1737360"/>
          </a:xfrm>
          <a:prstGeom prst="rect">
            <a:avLst/>
          </a:prstGeom>
          <a:noFill/>
          <a:ln/>
        </p:spPr>
        <p:txBody>
          <a:bodyPr wrap="square" lIns="0" tIns="0" rIns="0" bIns="0" rtlCol="0" anchor="t">
            <a:normAutofit/>
          </a:bodyPr>
          <a:lstStyle/>
          <a:p>
            <a:pPr indent="0" marL="0">
              <a:buNone/>
            </a:pPr>
            <a:r>
              <a:rPr lang="en-US" sz="1204" dirty="0">
                <a:solidFill>
                  <a:srgbClr val="141A17"/>
                </a:solidFill>
              </a:rPr>
              <a:t>Reprise ou prolongation des taxes portuaires américaines sur les armateurs chinois</a:t>
            </a:r>
            <a:endParaRPr lang="en-US" sz="1400" dirty="0"/>
          </a:p>
        </p:txBody>
      </p:sp>
      <p:sp>
        <p:nvSpPr>
          <p:cNvPr id="8" name="Shape 6"/>
          <p:cNvSpPr/>
          <p:nvPr/>
        </p:nvSpPr>
        <p:spPr>
          <a:xfrm>
            <a:off x="2858963" y="2240280"/>
            <a:ext cx="310896" cy="310896"/>
          </a:xfrm>
          <a:prstGeom prst="ellipse">
            <a:avLst/>
          </a:prstGeom>
          <a:solidFill>
            <a:srgbClr val="0E6B4F"/>
          </a:solidFill>
          <a:ln w="25400">
            <a:solidFill>
              <a:srgbClr val="FFFFFF"/>
            </a:solidFill>
            <a:prstDash val="solid"/>
          </a:ln>
        </p:spPr>
        <p:txBody>
          <a:bodyPr/>
          <a:p/>
        </p:txBody>
      </p:sp>
      <p:sp>
        <p:nvSpPr>
          <p:cNvPr id="9" name="Text 7"/>
          <p:cNvSpPr txBox="1"/>
          <p:nvPr/>
        </p:nvSpPr>
        <p:spPr>
          <a:xfrm>
            <a:off x="2767523"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10 janv. 2027</a:t>
            </a:r>
            <a:endParaRPr lang="en-US" sz="1400" dirty="0"/>
          </a:p>
        </p:txBody>
      </p:sp>
      <p:sp>
        <p:nvSpPr>
          <p:cNvPr id="10" name="Text 8"/>
          <p:cNvSpPr txBox="1"/>
          <p:nvPr/>
        </p:nvSpPr>
        <p:spPr>
          <a:xfrm>
            <a:off x="2767523" y="2788920"/>
            <a:ext cx="1990283" cy="1737360"/>
          </a:xfrm>
          <a:prstGeom prst="rect">
            <a:avLst/>
          </a:prstGeom>
          <a:noFill/>
          <a:ln/>
        </p:spPr>
        <p:txBody>
          <a:bodyPr wrap="square" lIns="0" tIns="0" rIns="0" bIns="0" rtlCol="0" anchor="t">
            <a:normAutofit/>
          </a:bodyPr>
          <a:lstStyle/>
          <a:p>
            <a:pPr indent="0" marL="0">
              <a:buNone/>
            </a:pPr>
            <a:r>
              <a:rPr lang="en-US" sz="1400" dirty="0">
                <a:solidFill>
                  <a:srgbClr val="141A17"/>
                </a:solidFill>
              </a:rPr>
              <a:t>Fin de la trêve sino-américaine</a:t>
            </a:r>
            <a:endParaRPr lang="en-US" sz="1400" dirty="0"/>
          </a:p>
        </p:txBody>
      </p:sp>
      <p:sp>
        <p:nvSpPr>
          <p:cNvPr id="11" name="Shape 9"/>
          <p:cNvSpPr/>
          <p:nvPr/>
        </p:nvSpPr>
        <p:spPr>
          <a:xfrm>
            <a:off x="5077846" y="2240280"/>
            <a:ext cx="310896" cy="310896"/>
          </a:xfrm>
          <a:prstGeom prst="ellipse">
            <a:avLst/>
          </a:prstGeom>
          <a:solidFill>
            <a:srgbClr val="0E6B4F"/>
          </a:solidFill>
          <a:ln w="25400">
            <a:solidFill>
              <a:srgbClr val="FFFFFF"/>
            </a:solidFill>
            <a:prstDash val="solid"/>
          </a:ln>
        </p:spPr>
        <p:txBody>
          <a:bodyPr/>
          <a:p/>
        </p:txBody>
      </p:sp>
      <p:sp>
        <p:nvSpPr>
          <p:cNvPr id="12" name="Text 10"/>
          <p:cNvSpPr txBox="1"/>
          <p:nvPr/>
        </p:nvSpPr>
        <p:spPr>
          <a:xfrm>
            <a:off x="4986406"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Mi-janv. 2027</a:t>
            </a:r>
            <a:endParaRPr lang="en-US" sz="1400" dirty="0"/>
          </a:p>
        </p:txBody>
      </p:sp>
      <p:sp>
        <p:nvSpPr>
          <p:cNvPr id="13" name="Text 11"/>
          <p:cNvSpPr txBox="1"/>
          <p:nvPr/>
        </p:nvSpPr>
        <p:spPr>
          <a:xfrm>
            <a:off x="4986406" y="2788920"/>
            <a:ext cx="1990283" cy="1737360"/>
          </a:xfrm>
          <a:prstGeom prst="rect">
            <a:avLst/>
          </a:prstGeom>
          <a:noFill/>
          <a:ln/>
        </p:spPr>
        <p:txBody>
          <a:bodyPr wrap="square" lIns="0" tIns="0" rIns="0" bIns="0" rtlCol="0" anchor="t">
            <a:normAutofit/>
          </a:bodyPr>
          <a:lstStyle/>
          <a:p>
            <a:pPr indent="0" marL="0">
              <a:buNone/>
            </a:pPr>
            <a:r>
              <a:rPr lang="en-US" sz="1400" dirty="0">
                <a:solidFill>
                  <a:srgbClr val="141A17"/>
                </a:solidFill>
              </a:rPr>
              <a:t>Point d'activité du T4 2026</a:t>
            </a:r>
            <a:endParaRPr lang="en-US" sz="1400" dirty="0"/>
          </a:p>
        </p:txBody>
      </p:sp>
      <p:sp>
        <p:nvSpPr>
          <p:cNvPr id="14" name="Shape 12"/>
          <p:cNvSpPr/>
          <p:nvPr/>
        </p:nvSpPr>
        <p:spPr>
          <a:xfrm>
            <a:off x="7296729" y="2240280"/>
            <a:ext cx="310896" cy="310896"/>
          </a:xfrm>
          <a:prstGeom prst="ellipse">
            <a:avLst/>
          </a:prstGeom>
          <a:solidFill>
            <a:srgbClr val="0E6B4F"/>
          </a:solidFill>
          <a:ln w="25400">
            <a:solidFill>
              <a:srgbClr val="FFFFFF"/>
            </a:solidFill>
            <a:prstDash val="solid"/>
          </a:ln>
        </p:spPr>
        <p:txBody>
          <a:bodyPr/>
          <a:p/>
        </p:txBody>
      </p:sp>
      <p:sp>
        <p:nvSpPr>
          <p:cNvPr id="15" name="Text 13"/>
          <p:cNvSpPr txBox="1"/>
          <p:nvPr/>
        </p:nvSpPr>
        <p:spPr>
          <a:xfrm>
            <a:off x="7205289"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Mars 2027</a:t>
            </a:r>
            <a:endParaRPr lang="en-US" sz="1400" dirty="0"/>
          </a:p>
        </p:txBody>
      </p:sp>
      <p:sp>
        <p:nvSpPr>
          <p:cNvPr id="16" name="Text 14"/>
          <p:cNvSpPr txBox="1"/>
          <p:nvPr/>
        </p:nvSpPr>
        <p:spPr>
          <a:xfrm>
            <a:off x="7205289" y="2788920"/>
            <a:ext cx="1990283" cy="1737360"/>
          </a:xfrm>
          <a:prstGeom prst="rect">
            <a:avLst/>
          </a:prstGeom>
          <a:noFill/>
          <a:ln/>
        </p:spPr>
        <p:txBody>
          <a:bodyPr wrap="square" lIns="0" tIns="0" rIns="0" bIns="0" rtlCol="0" anchor="t">
            <a:normAutofit/>
          </a:bodyPr>
          <a:lstStyle/>
          <a:p>
            <a:pPr indent="0" marL="0">
              <a:buNone/>
            </a:pPr>
            <a:r>
              <a:rPr lang="en-US" sz="1204" dirty="0">
                <a:solidFill>
                  <a:srgbClr val="141A17"/>
                </a:solidFill>
              </a:rPr>
              <a:t>Résultats 2026 et nouvelle politique de dividende à partir de 2027</a:t>
            </a:r>
            <a:endParaRPr lang="en-US" sz="1400" dirty="0"/>
          </a:p>
        </p:txBody>
      </p:sp>
      <p:sp>
        <p:nvSpPr>
          <p:cNvPr id="17" name="Shape 15"/>
          <p:cNvSpPr/>
          <p:nvPr/>
        </p:nvSpPr>
        <p:spPr>
          <a:xfrm>
            <a:off x="9515612" y="2240280"/>
            <a:ext cx="310896" cy="310896"/>
          </a:xfrm>
          <a:prstGeom prst="ellipse">
            <a:avLst/>
          </a:prstGeom>
          <a:solidFill>
            <a:srgbClr val="0E6B4F"/>
          </a:solidFill>
          <a:ln w="25400">
            <a:solidFill>
              <a:srgbClr val="FFFFFF"/>
            </a:solidFill>
            <a:prstDash val="solid"/>
          </a:ln>
        </p:spPr>
        <p:txBody>
          <a:bodyPr/>
          <a:p/>
        </p:txBody>
      </p:sp>
      <p:sp>
        <p:nvSpPr>
          <p:cNvPr id="18" name="Text 16"/>
          <p:cNvSpPr txBox="1"/>
          <p:nvPr/>
        </p:nvSpPr>
        <p:spPr>
          <a:xfrm>
            <a:off x="9424172" y="1691640"/>
            <a:ext cx="2036003" cy="411480"/>
          </a:xfrm>
          <a:prstGeom prst="rect">
            <a:avLst/>
          </a:prstGeom>
          <a:noFill/>
          <a:ln/>
        </p:spPr>
        <p:txBody>
          <a:bodyPr wrap="square" lIns="0" tIns="0" rIns="0" bIns="0" rtlCol="0" anchor="b"/>
          <a:lstStyle/>
          <a:p>
            <a:pPr indent="0" marL="0">
              <a:buNone/>
            </a:pPr>
            <a:r>
              <a:rPr lang="en-US" sz="1400" b="1" dirty="0">
                <a:solidFill>
                  <a:srgbClr val="0E6B4F"/>
                </a:solidFill>
              </a:rPr>
              <a:t>Printemps 2027</a:t>
            </a:r>
            <a:endParaRPr lang="en-US" sz="1400" dirty="0"/>
          </a:p>
        </p:txBody>
      </p:sp>
      <p:sp>
        <p:nvSpPr>
          <p:cNvPr id="19" name="Text 17"/>
          <p:cNvSpPr txBox="1"/>
          <p:nvPr/>
        </p:nvSpPr>
        <p:spPr>
          <a:xfrm>
            <a:off x="9424172" y="2788920"/>
            <a:ext cx="1990283" cy="1737360"/>
          </a:xfrm>
          <a:prstGeom prst="rect">
            <a:avLst/>
          </a:prstGeom>
          <a:noFill/>
          <a:ln/>
        </p:spPr>
        <p:txBody>
          <a:bodyPr wrap="square" lIns="0" tIns="0" rIns="0" bIns="0" rtlCol="0" anchor="t">
            <a:normAutofit/>
          </a:bodyPr>
          <a:lstStyle/>
          <a:p>
            <a:pPr indent="0" marL="0">
              <a:buNone/>
            </a:pPr>
            <a:r>
              <a:rPr lang="en-US" sz="1280" dirty="0">
                <a:solidFill>
                  <a:srgbClr val="141A17"/>
                </a:solidFill>
              </a:rPr>
              <a:t>Saison des contrats annuels transpacifiques</a:t>
            </a:r>
            <a:endParaRPr lang="en-US" sz="1400" dirty="0"/>
          </a:p>
        </p:txBody>
      </p:sp>
      <p:sp>
        <p:nvSpPr>
          <p:cNvPr id="20" name="Shape 18"/>
          <p:cNvSpPr/>
          <p:nvPr/>
        </p:nvSpPr>
        <p:spPr>
          <a:xfrm>
            <a:off x="548640" y="4800600"/>
            <a:ext cx="11094415" cy="868680"/>
          </a:xfrm>
          <a:prstGeom prst="rect">
            <a:avLst/>
          </a:prstGeom>
          <a:solidFill>
            <a:srgbClr val="F2F4F1"/>
          </a:solidFill>
          <a:ln w="12700">
            <a:solidFill>
              <a:srgbClr val="F2F4F1"/>
            </a:solidFill>
            <a:prstDash val="solid"/>
          </a:ln>
        </p:spPr>
        <p:txBody>
          <a:bodyPr/>
          <a:p/>
        </p:txBody>
      </p:sp>
      <p:sp>
        <p:nvSpPr>
          <p:cNvPr id="21" name="Text 19"/>
          <p:cNvSpPr txBox="1"/>
          <p:nvPr/>
        </p:nvSpPr>
        <p:spPr>
          <a:xfrm>
            <a:off x="822960" y="4800600"/>
            <a:ext cx="10545775" cy="868680"/>
          </a:xfrm>
          <a:prstGeom prst="rect">
            <a:avLst/>
          </a:prstGeom>
          <a:noFill/>
          <a:ln/>
        </p:spPr>
        <p:txBody>
          <a:bodyPr wrap="square" lIns="0" tIns="0" rIns="0" bIns="0" rtlCol="0" anchor="ctr"/>
          <a:lstStyle/>
          <a:p>
            <a:pPr indent="0" marL="0">
              <a:buNone/>
            </a:pPr>
            <a:r>
              <a:rPr lang="en-US" sz="1500" b="1" dirty="0">
                <a:solidFill>
                  <a:srgbClr val="0E6B4F"/>
                </a:solidFill>
              </a:rPr>
              <a:t>Le chiffre à suivre : </a:t>
            </a:r>
            <a:pPr indent="0" marL="0">
              <a:buNone/>
            </a:pPr>
            <a:r>
              <a:rPr lang="en-US" sz="1396" dirty="0">
                <a:solidFill>
                  <a:srgbClr val="141A17"/>
                </a:solidFill>
              </a:rPr>
              <a:t>Nous deviendrions positifs si le cours passait sous la valeur normalisée (environ 124 HK$)</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015" b="1" spc="150" kern="0" dirty="0">
                <a:solidFill>
                  <a:schemeClr val="accent1"/>
                </a:solidFill>
              </a:rPr>
              <a:t>10  RISQUES ET DISCIPLINE DE VENTE</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307" b="1" dirty="0">
                <a:solidFill>
                  <a:schemeClr val="tx1"/>
                </a:solidFill>
              </a:rPr>
              <a:t>Ce qui nous ferait changer d'avis</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766560" cy="914400"/>
        </p:xfrm>
        <a:graphic>
          <a:graphicData uri="http://schemas.openxmlformats.org/drawingml/2006/table">
            <a:tbl>
              <a:tblPr/>
              <a:tblGrid>
                <a:gridCol w="3566160"/>
                <a:gridCol w="3200400"/>
              </a:tblGrid>
              <a:tr h="713232">
                <a:tc>
                  <a:txBody>
                    <a:bodyPr/>
                    <a:lstStyle/>
                    <a:p>
                      <a:pPr indent="0" marL="0">
                        <a:buNone/>
                      </a:pPr>
                      <a:r>
                        <a:rPr lang="en-US" sz="1300" b="1" dirty="0">
                          <a:solidFill>
                            <a:srgbClr val="FFFFFF"/>
                          </a:solidFill>
                          <a:latin typeface="Arial" pitchFamily="34" charset="0"/>
                          <a:ea typeface="Arial" pitchFamily="34" charset="-122"/>
                          <a:cs typeface="Arial" pitchFamily="34" charset="-120"/>
                        </a:rPr>
                        <a:t>Risque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141A17"/>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Atténuation</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141A17"/>
                    </a:solidFill>
                  </a:tcPr>
                </a:tc>
              </a:tr>
              <a:tr h="713232">
                <a:tc>
                  <a:txBody>
                    <a:bodyPr/>
                    <a:lstStyle/>
                    <a:p>
                      <a:pPr indent="0" marL="0">
                        <a:buNone/>
                      </a:pPr>
                      <a:r>
                        <a:rPr lang="en-US" sz="1300" b="1" dirty="0">
                          <a:solidFill>
                            <a:srgbClr val="141A17"/>
                          </a:solidFill>
                          <a:latin typeface="Arial" pitchFamily="34" charset="0"/>
                          <a:ea typeface="Arial" pitchFamily="34" charset="-122"/>
                          <a:cs typeface="Arial" pitchFamily="34" charset="-120"/>
                        </a:rPr>
                        <a:t>La perturbation dure (Ormuz, route du Cap)</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indent="0" marL="0">
                        <a:buNone/>
                      </a:pPr>
                      <a:r>
                        <a:rPr lang="en-US" sz="1118" dirty="0">
                          <a:solidFill>
                            <a:srgbClr val="2A322E"/>
                          </a:solidFill>
                          <a:latin typeface="Arial" pitchFamily="34" charset="0"/>
                          <a:ea typeface="Arial" pitchFamily="34" charset="-122"/>
                          <a:cs typeface="Arial" pitchFamily="34" charset="-120"/>
                        </a:rPr>
                        <a:t>Sous-pondérer, pas vendre à découvert : nous gardons le poids du modèle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r>
              <a:tr h="713232">
                <a:tc>
                  <a:txBody>
                    <a:bodyPr/>
                    <a:lstStyle/>
                    <a:p>
                      <a:pPr indent="0" marL="0">
                        <a:buNone/>
                      </a:pPr>
                      <a:r>
                        <a:rPr lang="en-US" sz="1118" b="1" dirty="0">
                          <a:solidFill>
                            <a:srgbClr val="141A17"/>
                          </a:solidFill>
                          <a:latin typeface="Arial" pitchFamily="34" charset="0"/>
                          <a:ea typeface="Arial" pitchFamily="34" charset="-122"/>
                          <a:cs typeface="Arial" pitchFamily="34" charset="-120"/>
                        </a:rPr>
                        <a:t>Dividende exceptionnel financé par la trésorerie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3" dirty="0">
                          <a:solidFill>
                            <a:srgbClr val="2A322E"/>
                          </a:solidFill>
                          <a:latin typeface="Arial" pitchFamily="34" charset="0"/>
                          <a:ea typeface="Arial" pitchFamily="34" charset="-122"/>
                          <a:cs typeface="Arial" pitchFamily="34" charset="-120"/>
                        </a:rPr>
                        <a:t>Possible selon la politique de distribution ; réduirait l'écart</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r h="713232">
                <a:tc>
                  <a:txBody>
                    <a:bodyPr/>
                    <a:lstStyle/>
                    <a:p>
                      <a:pPr indent="0" marL="0">
                        <a:buNone/>
                      </a:pPr>
                      <a:r>
                        <a:rPr lang="en-US" sz="1300" b="1" dirty="0">
                          <a:solidFill>
                            <a:srgbClr val="141A17"/>
                          </a:solidFill>
                          <a:latin typeface="Arial" pitchFamily="34" charset="0"/>
                          <a:ea typeface="Arial" pitchFamily="34" charset="-122"/>
                          <a:cs typeface="Arial" pitchFamily="34" charset="-120"/>
                        </a:rPr>
                        <a:t>Allocation du capital liée à COSCO</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c>
                  <a:txBody>
                    <a:bodyPr/>
                    <a:lstStyle/>
                    <a:p>
                      <a:pPr indent="0" marL="0">
                        <a:buNone/>
                      </a:pPr>
                      <a:r>
                        <a:rPr lang="en-US" sz="1118" dirty="0">
                          <a:solidFill>
                            <a:srgbClr val="2A322E"/>
                          </a:solidFill>
                          <a:latin typeface="Arial" pitchFamily="34" charset="0"/>
                          <a:ea typeface="Arial" pitchFamily="34" charset="-122"/>
                          <a:cs typeface="Arial" pitchFamily="34" charset="-120"/>
                        </a:rPr>
                        <a:t>Gouvernance fixée par la maison mère ; flottant étroit</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2F4F1"/>
                    </a:solidFill>
                  </a:tcPr>
                </a:tc>
              </a:tr>
              <a:tr h="713232">
                <a:tc>
                  <a:txBody>
                    <a:bodyPr/>
                    <a:lstStyle/>
                    <a:p>
                      <a:pPr indent="0" marL="0">
                        <a:buNone/>
                      </a:pPr>
                      <a:r>
                        <a:rPr lang="en-US" sz="1300" b="1" dirty="0">
                          <a:solidFill>
                            <a:srgbClr val="141A17"/>
                          </a:solidFill>
                          <a:latin typeface="Arial" pitchFamily="34" charset="0"/>
                          <a:ea typeface="Arial" pitchFamily="34" charset="-122"/>
                          <a:cs typeface="Arial" pitchFamily="34" charset="-120"/>
                        </a:rPr>
                        <a:t>Revirements de la politique sino-américaine</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118" dirty="0">
                          <a:solidFill>
                            <a:srgbClr val="2A322E"/>
                          </a:solidFill>
                          <a:latin typeface="Arial" pitchFamily="34" charset="0"/>
                          <a:ea typeface="Arial" pitchFamily="34" charset="-122"/>
                          <a:cs typeface="Arial" pitchFamily="34" charset="-120"/>
                        </a:rPr>
                        <a:t>Taxes et droits de douane jouent dans les deux sens</a:t>
                      </a:r>
                      <a:endParaRPr lang="en-US" sz="1300" dirty="0">
                        <a:latin typeface="Arial" charset="0"/>
                        <a:ea typeface="Arial" charset="0"/>
                        <a:cs typeface="Arial"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Shape 2"/>
          <p:cNvSpPr/>
          <p:nvPr/>
        </p:nvSpPr>
        <p:spPr>
          <a:xfrm>
            <a:off x="7680960" y="1691640"/>
            <a:ext cx="3962095" cy="4160520"/>
          </a:xfrm>
          <a:prstGeom prst="rect">
            <a:avLst/>
          </a:prstGeom>
          <a:solidFill>
            <a:srgbClr val="EEF2EF"/>
          </a:solidFill>
          <a:ln w="12700">
            <a:solidFill>
              <a:srgbClr val="D7EBE2"/>
            </a:solidFill>
            <a:prstDash val="solid"/>
          </a:ln>
        </p:spPr>
        <p:txBody>
          <a:bodyPr/>
          <a:p/>
        </p:txBody>
      </p:sp>
      <p:sp>
        <p:nvSpPr>
          <p:cNvPr id="6" name="Text 3"/>
          <p:cNvSpPr txBox="1"/>
          <p:nvPr/>
        </p:nvSpPr>
        <p:spPr>
          <a:xfrm>
            <a:off x="7955280" y="1874520"/>
            <a:ext cx="3413455" cy="320040"/>
          </a:xfrm>
          <a:prstGeom prst="rect">
            <a:avLst/>
          </a:prstGeom>
          <a:noFill/>
          <a:ln/>
        </p:spPr>
        <p:txBody>
          <a:bodyPr wrap="square" lIns="0" tIns="0" rIns="0" bIns="0" rtlCol="0" anchor="ctr"/>
          <a:lstStyle/>
          <a:p>
            <a:pPr indent="0" marL="0">
              <a:buNone/>
            </a:pPr>
            <a:r>
              <a:rPr lang="en-US" sz="1200" b="1" spc="100" kern="0" dirty="0">
                <a:solidFill>
                  <a:srgbClr val="0E6B4F"/>
                </a:solidFill>
              </a:rPr>
              <a:t>NOUS CHANGERIONS D'AVIS SI</a:t>
            </a:r>
            <a:endParaRPr lang="en-US" sz="1200" dirty="0"/>
          </a:p>
        </p:txBody>
      </p:sp>
      <p:sp>
        <p:nvSpPr>
          <p:cNvPr id="7" name="Text 4"/>
          <p:cNvSpPr txBox="1"/>
          <p:nvPr/>
        </p:nvSpPr>
        <p:spPr>
          <a:xfrm>
            <a:off x="7955280" y="2286000"/>
            <a:ext cx="3413455" cy="338328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303" dirty="0">
                <a:solidFill>
                  <a:srgbClr val="141A17"/>
                </a:solidFill>
              </a:rPr>
              <a:t>Nous deviendrions positifs si le cours passait sous la valeur normalisée (environ 124 HK$)</a:t>
            </a:r>
            <a:endParaRPr lang="en-US" sz="1400" dirty="0"/>
          </a:p>
          <a:p>
            <a:pPr marL="342900" indent="-342900">
              <a:spcAft>
                <a:spcPts val="1000"/>
              </a:spcAft>
              <a:buSzPct val="100000"/>
              <a:buChar char="•"/>
            </a:pPr>
            <a:r>
              <a:rPr lang="en-US" sz="1256" dirty="0">
                <a:solidFill>
                  <a:srgbClr val="141A17"/>
                </a:solidFill>
              </a:rPr>
              <a:t>Ou si le carnet de commandes était réduit et la trésorerie rendue aux actionnaires</a:t>
            </a:r>
            <a:endParaRPr lang="en-US" sz="1400" dirty="0"/>
          </a:p>
          <a:p>
            <a:pPr marL="342900" indent="-342900">
              <a:spcAft>
                <a:spcPts val="1000"/>
              </a:spcAft>
              <a:buSzPct val="100000"/>
              <a:buChar char="•"/>
            </a:pPr>
            <a:r>
              <a:rPr lang="en-US" sz="1329" dirty="0">
                <a:solidFill>
                  <a:srgbClr val="141A17"/>
                </a:solidFill>
              </a:rPr>
              <a:t>Ou si une discipline durable des capacités apparaissait dans le secteur</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nchor="ctr"/>
          <a:lstStyle/>
          <a:p>
            <a:pPr indent="0" marL="0">
              <a:buNone/>
            </a:pPr>
            <a:r>
              <a:rPr lang="en-US" sz="1100" b="1" spc="150" kern="0" dirty="0">
                <a:solidFill>
                  <a:schemeClr val="accent1"/>
                </a:solidFill>
              </a:rPr>
              <a:t>11  SOURCES ET AVERTISSEMENTS</a:t>
            </a:r>
            <a:endParaRPr lang="en-US" sz="1100" dirty="0"/>
          </a:p>
        </p:txBody>
      </p:sp>
      <p:sp>
        <p:nvSpPr>
          <p:cNvPr id="3" name="Text 0"/>
          <p:cNvSpPr/>
          <p:nvPr>
            <p:ph idx="101" type="title" hasCustomPrompt="1"/>
          </p:nvPr>
        </p:nvSpPr>
        <p:spPr>
          <a:xfrm>
            <a:off x="548640" y="640080"/>
            <a:ext cx="11094415" cy="868680"/>
          </a:xfrm>
          <a:prstGeom prst="rect">
            <a:avLst/>
          </a:prstGeom>
          <a:noFill/>
          <a:ln/>
        </p:spPr>
        <p:txBody>
          <a:bodyPr wrap="square" lIns="0" tIns="0" rIns="0" bIns="0" rtlCol="0" anchor="t"/>
          <a:lstStyle/>
          <a:p>
            <a:pPr algn="l" indent="0" marL="0">
              <a:buNone/>
            </a:pPr>
            <a:r>
              <a:rPr lang="en-US" sz="2600" b="1" dirty="0">
                <a:solidFill>
                  <a:schemeClr val="tx1"/>
                </a:solidFill>
              </a:rPr>
              <a:t>Sources</a:t>
            </a:r>
            <a:endParaRPr lang="en-US" sz="2600" dirty="0"/>
          </a:p>
        </p:txBody>
      </p:sp>
      <p:sp>
        <p:nvSpPr>
          <p:cNvPr id="4" name="Text 2"/>
          <p:cNvSpPr txBox="1"/>
          <p:nvPr/>
        </p:nvSpPr>
        <p:spPr>
          <a:xfrm>
            <a:off x="548640" y="1691640"/>
            <a:ext cx="5364328" cy="3566160"/>
          </a:xfrm>
          <a:prstGeom prst="rect">
            <a:avLst/>
          </a:prstGeom>
          <a:noFill/>
          <a:ln/>
        </p:spPr>
        <p:txBody>
          <a:bodyPr wrap="square" lIns="0" tIns="0" rIns="0" bIns="0" rtlCol="0" anchor="t">
            <a:normAutofit/>
          </a:bodyPr>
          <a:lstStyle/>
          <a:p>
            <a:pPr indent="0" marL="0">
              <a:spcAft>
                <a:spcPts val="500"/>
              </a:spcAft>
              <a:buNone/>
            </a:pPr>
            <a:r>
              <a:rPr lang="en-US" sz="1000" dirty="0">
                <a:solidFill>
                  <a:srgbClr val="2A322E"/>
                </a:solidFill>
              </a:rPr>
              <a:t>[O1] OOIL, *Announcement of Interim Results for the six months ended 30 June 2026*, HKEX, 27 Aug 2026</a:t>
            </a:r>
            <a:endParaRPr lang="en-US" sz="1000" dirty="0"/>
          </a:p>
          <a:p>
            <a:pPr indent="0" marL="0">
              <a:spcAft>
                <a:spcPts val="500"/>
              </a:spcAft>
              <a:buNone/>
            </a:pPr>
            <a:r>
              <a:rPr lang="en-US" sz="1000" dirty="0">
                <a:solidFill>
                  <a:srgbClr val="2A322E"/>
                </a:solidFill>
              </a:rPr>
              <a:t>[O2] OOIL, *Annual Report 2025*: financial highlights, Chairman's statement, ship operations, dividend policy, 10-year summary, substantial shareholders. HKEX, 22 Apr 2026</a:t>
            </a:r>
            <a:endParaRPr lang="en-US" sz="1000" dirty="0"/>
          </a:p>
          <a:p>
            <a:pPr indent="0" marL="0">
              <a:spcAft>
                <a:spcPts val="500"/>
              </a:spcAft>
              <a:buNone/>
            </a:pPr>
            <a:r>
              <a:rPr lang="en-US" sz="1000" dirty="0">
                <a:solidFill>
                  <a:srgbClr val="2A322E"/>
                </a:solidFill>
              </a:rPr>
              <a:t>[O3] OOIL, *2019 Annual Results Announcement*, HKEX, 20 Mar 2020</a:t>
            </a:r>
            <a:endParaRPr lang="en-US" sz="1000" dirty="0"/>
          </a:p>
          <a:p>
            <a:pPr indent="0" marL="0">
              <a:spcAft>
                <a:spcPts val="500"/>
              </a:spcAft>
              <a:buNone/>
            </a:pPr>
            <a:r>
              <a:rPr lang="en-US" sz="1000" dirty="0">
                <a:solidFill>
                  <a:srgbClr val="2A322E"/>
                </a:solidFill>
              </a:rPr>
              <a:t>[O4] OOIL, *2022 Annual Results Announcement*, HKEX, 22 Mar 2023 (cross-check of 2021–22 profit)</a:t>
            </a:r>
            <a:endParaRPr lang="en-US" sz="1000" dirty="0"/>
          </a:p>
          <a:p>
            <a:pPr indent="0" marL="0">
              <a:spcAft>
                <a:spcPts val="500"/>
              </a:spcAft>
              <a:buNone/>
            </a:pPr>
            <a:r>
              <a:rPr lang="en-US" sz="1000" dirty="0">
                <a:solidFill>
                  <a:srgbClr val="2A322E"/>
                </a:solidFill>
              </a:rPr>
              <a:t>[O5] OOIL, *2024 Annual Results Announcement*, HKEX, 13 Mar 2025 (not opened; 2023–24 figures taken from [O2])</a:t>
            </a:r>
            <a:endParaRPr lang="en-US" sz="1000" dirty="0"/>
          </a:p>
          <a:p>
            <a:pPr indent="0" marL="0">
              <a:spcAft>
                <a:spcPts val="500"/>
              </a:spcAft>
              <a:buNone/>
            </a:pPr>
            <a:r>
              <a:rPr lang="en-US" sz="1000" dirty="0">
                <a:solidFill>
                  <a:srgbClr val="2A322E"/>
                </a:solidFill>
              </a:rPr>
              <a:t>[O6] Container News, "OOCL reports 45 % revenue surge in third quarter of 2026", 9 Oct 2026</a:t>
            </a:r>
            <a:endParaRPr lang="en-US" sz="1000" dirty="0"/>
          </a:p>
          <a:p>
            <a:pPr indent="0" marL="0">
              <a:spcAft>
                <a:spcPts val="500"/>
              </a:spcAft>
              <a:buNone/>
            </a:pPr>
            <a:r>
              <a:rPr lang="en-US" sz="1000" dirty="0">
                <a:solidFill>
                  <a:srgbClr val="2A322E"/>
                </a:solidFill>
              </a:rPr>
              <a:t>[O7] Tiger Brokers news, OOIL shares after the T3 update, 12 Oct 2026</a:t>
            </a:r>
            <a:endParaRPr lang="en-US" sz="1000" dirty="0"/>
          </a:p>
        </p:txBody>
      </p:sp>
      <p:sp>
        <p:nvSpPr>
          <p:cNvPr id="5" name="Text 3"/>
          <p:cNvSpPr txBox="1"/>
          <p:nvPr/>
        </p:nvSpPr>
        <p:spPr>
          <a:xfrm>
            <a:off x="6187288" y="1691640"/>
            <a:ext cx="5364328" cy="3566160"/>
          </a:xfrm>
          <a:prstGeom prst="rect">
            <a:avLst/>
          </a:prstGeom>
          <a:noFill/>
          <a:ln/>
        </p:spPr>
        <p:txBody>
          <a:bodyPr wrap="square" lIns="0" tIns="0" rIns="0" bIns="0" rtlCol="0" anchor="t">
            <a:normAutofit/>
          </a:bodyPr>
          <a:lstStyle/>
          <a:p>
            <a:pPr indent="0" marL="0">
              <a:spcAft>
                <a:spcPts val="500"/>
              </a:spcAft>
              <a:buNone/>
            </a:pPr>
            <a:r>
              <a:rPr lang="en-US" sz="1000" dirty="0">
                <a:solidFill>
                  <a:srgbClr val="2A322E"/>
                </a:solidFill>
              </a:rPr>
              <a:t>[O8] Container News, FY2025 results (13 Mar 2026) and S1 2026 results (28 Aug 2026)</a:t>
            </a:r>
            <a:endParaRPr lang="en-US" sz="1000" dirty="0"/>
          </a:p>
          <a:p>
            <a:pPr indent="0" marL="0">
              <a:spcAft>
                <a:spcPts val="500"/>
              </a:spcAft>
              <a:buNone/>
            </a:pPr>
            <a:r>
              <a:rPr lang="en-US" sz="1000" dirty="0">
                <a:solidFill>
                  <a:srgbClr val="2A322E"/>
                </a:solidFill>
              </a:rPr>
              <a:t>[O9] Tiger Brokers news, "Faulkner sells 469 million shares to COSCO SHIP HOLD Hong Kong", 11 Dec 2025</a:t>
            </a:r>
            <a:endParaRPr lang="en-US" sz="1000" dirty="0"/>
          </a:p>
          <a:p>
            <a:pPr indent="0" marL="0">
              <a:spcAft>
                <a:spcPts val="500"/>
              </a:spcAft>
              <a:buNone/>
            </a:pPr>
            <a:r>
              <a:rPr lang="en-US" sz="1000" dirty="0">
                <a:solidFill>
                  <a:srgbClr val="2A322E"/>
                </a:solidFill>
              </a:rPr>
              <a:t>[O10] Holland &amp; Knight, "USTR Port Fee Suspension: What You Need to Know", 12 Nov 2025</a:t>
            </a:r>
            <a:endParaRPr lang="en-US" sz="1000" dirty="0"/>
          </a:p>
          <a:p>
            <a:pPr indent="0" marL="0">
              <a:spcAft>
                <a:spcPts val="500"/>
              </a:spcAft>
              <a:buNone/>
            </a:pPr>
            <a:r>
              <a:rPr lang="en-US" sz="1000" dirty="0">
                <a:solidFill>
                  <a:srgbClr val="2A322E"/>
                </a:solidFill>
              </a:rPr>
              <a:t>[O11] FreightWaves, "No mention of U.S.-China ship taxes in trade truce", 28 Sep 2026</a:t>
            </a:r>
            <a:endParaRPr lang="en-US" sz="1000" dirty="0"/>
          </a:p>
          <a:p>
            <a:pPr indent="0" marL="0">
              <a:spcAft>
                <a:spcPts val="500"/>
              </a:spcAft>
              <a:buNone/>
            </a:pPr>
            <a:r>
              <a:rPr lang="en-US" sz="1000" dirty="0">
                <a:solidFill>
                  <a:srgbClr val="2A322E"/>
                </a:solidFill>
              </a:rPr>
              <a:t>[O12] gCaptain / Bloomberg, "Asia-to-US container rates spike 109 % since Iran war started", 6 Jun 2026</a:t>
            </a:r>
            <a:endParaRPr lang="en-US" sz="1000" dirty="0"/>
          </a:p>
          <a:p>
            <a:pPr indent="0" marL="0">
              <a:spcAft>
                <a:spcPts val="500"/>
              </a:spcAft>
              <a:buNone/>
            </a:pPr>
            <a:r>
              <a:rPr lang="en-US" sz="940" dirty="0">
                <a:solidFill>
                  <a:srgbClr val="2A322E"/>
                </a:solidFill>
              </a:rPr>
              <a:t>Pipeline du Portfolio Project : scores, multiples, poids et rendements calculés à partir de données Bloomberg extraites sur le terminal de SKEMA (oct. 2026).</a:t>
            </a:r>
            <a:endParaRPr lang="en-US" sz="1000" dirty="0"/>
          </a:p>
        </p:txBody>
      </p:sp>
      <p:sp>
        <p:nvSpPr>
          <p:cNvPr id="6" name="Text 4"/>
          <p:cNvSpPr txBox="1"/>
          <p:nvPr/>
        </p:nvSpPr>
        <p:spPr>
          <a:xfrm>
            <a:off x="548640" y="5394960"/>
            <a:ext cx="11094415" cy="685800"/>
          </a:xfrm>
          <a:prstGeom prst="rect">
            <a:avLst/>
          </a:prstGeom>
          <a:noFill/>
          <a:ln/>
        </p:spPr>
        <p:txBody>
          <a:bodyPr wrap="square" lIns="0" tIns="0" rIns="0" bIns="0" rtlCol="0" anchor="t"/>
          <a:lstStyle/>
          <a:p>
            <a:pPr indent="0" marL="0">
              <a:buNone/>
            </a:pPr>
            <a:r>
              <a:rPr lang="en-US" sz="929" dirty="0">
                <a:solidFill>
                  <a:srgbClr val="5B6660"/>
                </a:solidFill>
              </a:rPr>
              <a:t>Avertissement : travail étudiant préparé à des fins pédagogiques et pour des entretiens. Ce n'est ni un conseil en investissement ni une sollicitation. Les données de marché tierces (cours, consensus, multiples prospectifs) sont signalées et ont été consultées le 29 octobre 2026 ; elles doivent être vérifiées dans les publications des sociétés ou sur un terminal Bloomberg avant usage. Les résultats de backtest sont hypothétiques.</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5B6660"/>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Research Ledger">
  <a:themeElements>
    <a:clrScheme name="Research Ledger">
      <a:dk1>
        <a:srgbClr val="141A17"/>
      </a:dk1>
      <a:lt1>
        <a:srgbClr val="FFFFFF"/>
      </a:lt1>
      <a:dk2>
        <a:srgbClr val="5B6660"/>
      </a:dk2>
      <a:lt2>
        <a:srgbClr val="F2F4F1"/>
      </a:lt2>
      <a:accent1>
        <a:srgbClr val="0E6B4F"/>
      </a:accent1>
      <a:accent2>
        <a:srgbClr val="D7EBE2"/>
      </a:accent2>
      <a:accent3>
        <a:srgbClr val="B23A2E"/>
      </a:accent3>
      <a:accent4>
        <a:srgbClr val="B07A12"/>
      </a:accent4>
      <a:accent5>
        <a:srgbClr val="9AAAA2"/>
      </a:accent5>
      <a:accent6>
        <a:srgbClr val="D5DBD6"/>
      </a:accent6>
      <a:hlink>
        <a:srgbClr val="0E6B4F"/>
      </a:hlink>
      <a:folHlink>
        <a:srgbClr val="5B6660"/>
      </a:folHlink>
    </a:clrScheme>
    <a:fontScheme name="Research Ledg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Noah Doose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Orient Overseas (International) stock pitch</dc:title>
  <dc:subject>PptxGenJS Presentation</dc:subject>
  <dc:creator>Noah Doose</dc:creator>
  <cp:lastModifiedBy>Noah Doose</cp:lastModifiedBy>
  <cp:revision>1</cp:revision>
  <dcterms:created xsi:type="dcterms:W3CDTF">2026-10-30T06:38:34Z</dcterms:created>
  <dcterms:modified xsi:type="dcterms:W3CDTF">2026-10-30T06:38:34Z</dcterms:modified>
</cp:coreProperties>
</file>