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24863ab-7a23-894d-f7ef-725197b7110e}">
          <p14:sldIdLst>
            <p14:sldId id="256"/>
          </p14:sldIdLst>
        </p14:section>
        <p14:section name="Thesis" id="{eb0cf7c3-3fe3-5ea4-24c2-2c1b66773d37}">
          <p14:sldIdLst>
            <p14:sldId id="257"/>
          </p14:sldIdLst>
        </p14:section>
        <p14:section name="Company" id="{3ccef227-25e9-9870-3ff3-a07ceaa2820a}">
          <p14:sldIdLst>
            <p14:sldId id="258"/>
            <p14:sldId id="259"/>
          </p14:sldIdLst>
        </p14:section>
        <p14:section name="Screen" id="{4fd3d31c-4510-3493-520f-e61bab675c37}">
          <p14:sldIdLst>
            <p14:sldId id="260"/>
            <p14:sldId id="261"/>
          </p14:sldIdLst>
        </p14:section>
        <p14:section name="Financials" id="{23d749dd-ebf0-2b61-6fb7-584938450fd4}">
          <p14:sldIdLst>
            <p14:sldId id="262"/>
            <p14:sldId id="263"/>
          </p14:sldIdLst>
        </p14:section>
        <p14:section name="Valuation" id="{5cc2be93-fdca-9779-caed-0e3aae344d0b}">
          <p14:sldIdLst>
            <p14:sldId id="264"/>
          </p14:sldIdLst>
        </p14:section>
        <p14:section name="Catalysts and risks" id="{b8372142-1c09-e921-8f69-5e83ea3dac09}">
          <p14:sldIdLst>
            <p14:sldId id="265"/>
            <p14:sldId id="266"/>
          </p14:sldIdLst>
        </p14:section>
        <p14:section name="Sources" id="{0de5dd9d-54a2-a864-459f-c7caa069b95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Own generation mix, FY2025 (94.2 TWh)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 generation mix, FY2025 (94.2 TWh)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Nuclear</c:v>
                  </c:pt>
                  <c:pt idx="1">
                    <c:v>Thermal</c:v>
                  </c:pt>
                  <c:pt idx="2">
                    <c:v>Hydro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</c:v>
                </c:pt>
                <c:pt idx="1">
                  <c:v>0.37</c:v>
                </c:pt>
                <c:pt idx="2">
                  <c:v>0.14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Kansai Electric Power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12.96</c:v>
                </c:pt>
                <c:pt idx="1">
                  <c:v>5.79</c:v>
                </c:pt>
                <c:pt idx="2">
                  <c:v>0.79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19.18</c:v>
                </c:pt>
                <c:pt idx="1">
                  <c:v>18.44</c:v>
                </c:pt>
                <c:pt idx="2">
                  <c:v>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22.47</c:v>
                </c:pt>
                <c:pt idx="1">
                  <c:v>20.08</c:v>
                </c:pt>
                <c:pt idx="2">
                  <c:v>2.02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1.2749326735729731</c:v>
                </c:pt>
                <c:pt idx="1">
                  <c:v>3.31165594060876</c:v>
                </c:pt>
                <c:pt idx="2">
                  <c:v>0.9024902560621832</c:v>
                </c:pt>
                <c:pt idx="3">
                  <c:v>1.7663412368999243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Kansai Electric Power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99.13</c:v>
                </c:pt>
                <c:pt idx="2">
                  <c:v>98.9</c:v>
                </c:pt>
                <c:pt idx="3">
                  <c:v>99.61</c:v>
                </c:pt>
                <c:pt idx="4">
                  <c:v>98.96</c:v>
                </c:pt>
                <c:pt idx="5">
                  <c:v>97.74</c:v>
                </c:pt>
                <c:pt idx="6">
                  <c:v>101.77</c:v>
                </c:pt>
                <c:pt idx="7">
                  <c:v>104.84</c:v>
                </c:pt>
                <c:pt idx="8">
                  <c:v>104.62</c:v>
                </c:pt>
                <c:pt idx="9">
                  <c:v>105.14</c:v>
                </c:pt>
                <c:pt idx="10">
                  <c:v>104.03</c:v>
                </c:pt>
                <c:pt idx="11">
                  <c:v>106.79</c:v>
                </c:pt>
                <c:pt idx="12">
                  <c:v>109.78</c:v>
                </c:pt>
                <c:pt idx="13">
                  <c:v>107.41</c:v>
                </c:pt>
                <c:pt idx="14">
                  <c:v>104.38</c:v>
                </c:pt>
                <c:pt idx="15">
                  <c:v>107.04</c:v>
                </c:pt>
                <c:pt idx="16">
                  <c:v>101.83</c:v>
                </c:pt>
                <c:pt idx="17">
                  <c:v>102.09</c:v>
                </c:pt>
                <c:pt idx="18">
                  <c:v>100.06</c:v>
                </c:pt>
                <c:pt idx="19">
                  <c:v>100.62</c:v>
                </c:pt>
                <c:pt idx="20">
                  <c:v>101.2</c:v>
                </c:pt>
                <c:pt idx="21">
                  <c:v>100.34</c:v>
                </c:pt>
                <c:pt idx="22">
                  <c:v>101.88</c:v>
                </c:pt>
                <c:pt idx="23">
                  <c:v>103.41</c:v>
                </c:pt>
                <c:pt idx="24">
                  <c:v>104.34</c:v>
                </c:pt>
                <c:pt idx="25">
                  <c:v>106.3</c:v>
                </c:pt>
                <c:pt idx="26">
                  <c:v>103.25</c:v>
                </c:pt>
                <c:pt idx="27">
                  <c:v>103.58</c:v>
                </c:pt>
                <c:pt idx="28">
                  <c:v>105.2</c:v>
                </c:pt>
                <c:pt idx="29">
                  <c:v>105.67</c:v>
                </c:pt>
                <c:pt idx="30">
                  <c:v>107.62</c:v>
                </c:pt>
                <c:pt idx="31">
                  <c:v>104.46</c:v>
                </c:pt>
                <c:pt idx="32">
                  <c:v>102.17</c:v>
                </c:pt>
                <c:pt idx="33">
                  <c:v>106.21</c:v>
                </c:pt>
                <c:pt idx="34">
                  <c:v>112.3</c:v>
                </c:pt>
                <c:pt idx="35">
                  <c:v>110.99</c:v>
                </c:pt>
                <c:pt idx="36">
                  <c:v>116.57</c:v>
                </c:pt>
                <c:pt idx="37">
                  <c:v>111.61</c:v>
                </c:pt>
                <c:pt idx="38">
                  <c:v>114.17</c:v>
                </c:pt>
                <c:pt idx="39">
                  <c:v>111.36</c:v>
                </c:pt>
                <c:pt idx="40">
                  <c:v>108.78</c:v>
                </c:pt>
                <c:pt idx="41">
                  <c:v>107.99</c:v>
                </c:pt>
                <c:pt idx="42">
                  <c:v>113.32</c:v>
                </c:pt>
                <c:pt idx="43">
                  <c:v>111.77</c:v>
                </c:pt>
                <c:pt idx="44">
                  <c:v>106.25</c:v>
                </c:pt>
                <c:pt idx="45">
                  <c:v>113.94</c:v>
                </c:pt>
                <c:pt idx="46">
                  <c:v>121.7</c:v>
                </c:pt>
                <c:pt idx="47">
                  <c:v>119.36</c:v>
                </c:pt>
                <c:pt idx="48">
                  <c:v>120.44</c:v>
                </c:pt>
                <c:pt idx="49">
                  <c:v>114.75</c:v>
                </c:pt>
                <c:pt idx="50">
                  <c:v>111.47</c:v>
                </c:pt>
                <c:pt idx="51">
                  <c:v>116.93</c:v>
                </c:pt>
                <c:pt idx="52">
                  <c:v>118.55</c:v>
                </c:pt>
                <c:pt idx="53">
                  <c:v>121.84</c:v>
                </c:pt>
                <c:pt idx="54">
                  <c:v>127.45</c:v>
                </c:pt>
                <c:pt idx="55">
                  <c:v>128.81</c:v>
                </c:pt>
                <c:pt idx="56">
                  <c:v>121.53</c:v>
                </c:pt>
                <c:pt idx="57">
                  <c:v>127.45</c:v>
                </c:pt>
                <c:pt idx="58">
                  <c:v>114.61</c:v>
                </c:pt>
                <c:pt idx="59">
                  <c:v>118.47</c:v>
                </c:pt>
                <c:pt idx="60">
                  <c:v>119.76</c:v>
                </c:pt>
                <c:pt idx="61">
                  <c:v>123.5</c:v>
                </c:pt>
                <c:pt idx="62">
                  <c:v>121.16</c:v>
                </c:pt>
                <c:pt idx="63">
                  <c:v>119.98</c:v>
                </c:pt>
                <c:pt idx="64">
                  <c:v>117.9</c:v>
                </c:pt>
                <c:pt idx="65">
                  <c:v>117.63</c:v>
                </c:pt>
                <c:pt idx="66">
                  <c:v>112.02</c:v>
                </c:pt>
                <c:pt idx="67">
                  <c:v>105.92</c:v>
                </c:pt>
                <c:pt idx="68">
                  <c:v>101.03</c:v>
                </c:pt>
                <c:pt idx="69">
                  <c:v>101.69</c:v>
                </c:pt>
                <c:pt idx="70">
                  <c:v>99.54</c:v>
                </c:pt>
                <c:pt idx="71">
                  <c:v>100.01</c:v>
                </c:pt>
                <c:pt idx="72">
                  <c:v>105.1</c:v>
                </c:pt>
                <c:pt idx="73">
                  <c:v>102.56</c:v>
                </c:pt>
                <c:pt idx="74">
                  <c:v>109.97</c:v>
                </c:pt>
                <c:pt idx="75">
                  <c:v>105.13</c:v>
                </c:pt>
                <c:pt idx="76">
                  <c:v>107.45</c:v>
                </c:pt>
                <c:pt idx="77">
                  <c:v>105.89</c:v>
                </c:pt>
                <c:pt idx="78">
                  <c:v>116.63</c:v>
                </c:pt>
                <c:pt idx="79">
                  <c:v>119.35</c:v>
                </c:pt>
                <c:pt idx="80">
                  <c:v>116.84</c:v>
                </c:pt>
                <c:pt idx="81">
                  <c:v>115.34</c:v>
                </c:pt>
                <c:pt idx="82">
                  <c:v>112.16</c:v>
                </c:pt>
                <c:pt idx="83">
                  <c:v>115.76</c:v>
                </c:pt>
                <c:pt idx="84">
                  <c:v>112.15</c:v>
                </c:pt>
                <c:pt idx="85">
                  <c:v>114.07</c:v>
                </c:pt>
                <c:pt idx="86">
                  <c:v>116.9</c:v>
                </c:pt>
                <c:pt idx="87">
                  <c:v>118.65</c:v>
                </c:pt>
                <c:pt idx="88">
                  <c:v>112.91</c:v>
                </c:pt>
                <c:pt idx="89">
                  <c:v>119.06</c:v>
                </c:pt>
                <c:pt idx="90">
                  <c:v>118.06</c:v>
                </c:pt>
                <c:pt idx="91">
                  <c:v>118.88</c:v>
                </c:pt>
                <c:pt idx="92">
                  <c:v>119.47</c:v>
                </c:pt>
                <c:pt idx="93">
                  <c:v>120.49</c:v>
                </c:pt>
                <c:pt idx="94">
                  <c:v>119.67</c:v>
                </c:pt>
                <c:pt idx="95">
                  <c:v>122.34</c:v>
                </c:pt>
                <c:pt idx="96">
                  <c:v>130.78</c:v>
                </c:pt>
                <c:pt idx="97">
                  <c:v>130.35</c:v>
                </c:pt>
                <c:pt idx="98">
                  <c:v>136.53</c:v>
                </c:pt>
                <c:pt idx="99">
                  <c:v>135.78</c:v>
                </c:pt>
                <c:pt idx="100">
                  <c:v>141.32</c:v>
                </c:pt>
                <c:pt idx="101">
                  <c:v>143.6</c:v>
                </c:pt>
                <c:pt idx="102">
                  <c:v>154.07</c:v>
                </c:pt>
                <c:pt idx="103">
                  <c:v>153.47</c:v>
                </c:pt>
                <c:pt idx="104">
                  <c:v>154.85</c:v>
                </c:pt>
                <c:pt idx="105">
                  <c:v>153.02</c:v>
                </c:pt>
                <c:pt idx="106">
                  <c:v>152.54</c:v>
                </c:pt>
                <c:pt idx="107">
                  <c:v>143.36</c:v>
                </c:pt>
                <c:pt idx="108">
                  <c:v>148.89</c:v>
                </c:pt>
                <c:pt idx="109">
                  <c:v>154.95</c:v>
                </c:pt>
                <c:pt idx="110">
                  <c:v>157.01</c:v>
                </c:pt>
                <c:pt idx="111">
                  <c:v>158.45</c:v>
                </c:pt>
                <c:pt idx="112">
                  <c:v>157.14</c:v>
                </c:pt>
                <c:pt idx="113">
                  <c:v>166.8</c:v>
                </c:pt>
                <c:pt idx="114">
                  <c:v>176.84</c:v>
                </c:pt>
                <c:pt idx="115">
                  <c:v>183.24</c:v>
                </c:pt>
                <c:pt idx="116">
                  <c:v>199.3</c:v>
                </c:pt>
                <c:pt idx="117">
                  <c:v>187.66</c:v>
                </c:pt>
                <c:pt idx="118">
                  <c:v>177.58</c:v>
                </c:pt>
                <c:pt idx="119">
                  <c:v>167.01</c:v>
                </c:pt>
                <c:pt idx="120">
                  <c:v>170.9</c:v>
                </c:pt>
                <c:pt idx="121">
                  <c:v>165.4</c:v>
                </c:pt>
                <c:pt idx="122">
                  <c:v>168.57</c:v>
                </c:pt>
                <c:pt idx="123">
                  <c:v>165.89</c:v>
                </c:pt>
                <c:pt idx="124">
                  <c:v>160</c:v>
                </c:pt>
                <c:pt idx="125">
                  <c:v>163.66</c:v>
                </c:pt>
                <c:pt idx="126">
                  <c:v>160.48</c:v>
                </c:pt>
                <c:pt idx="127">
                  <c:v>168.31</c:v>
                </c:pt>
                <c:pt idx="128">
                  <c:v>176.19</c:v>
                </c:pt>
                <c:pt idx="129">
                  <c:v>169.51</c:v>
                </c:pt>
                <c:pt idx="130">
                  <c:v>156.1</c:v>
                </c:pt>
                <c:pt idx="131">
                  <c:v>162.29</c:v>
                </c:pt>
                <c:pt idx="132">
                  <c:v>166.81</c:v>
                </c:pt>
                <c:pt idx="133">
                  <c:v>169.53</c:v>
                </c:pt>
                <c:pt idx="134">
                  <c:v>163.31</c:v>
                </c:pt>
                <c:pt idx="135">
                  <c:v>161.58</c:v>
                </c:pt>
                <c:pt idx="136">
                  <c:v>164.84</c:v>
                </c:pt>
                <c:pt idx="137">
                  <c:v>157.28</c:v>
                </c:pt>
                <c:pt idx="138">
                  <c:v>161.4</c:v>
                </c:pt>
                <c:pt idx="139">
                  <c:v>162.89</c:v>
                </c:pt>
                <c:pt idx="140">
                  <c:v>161.46</c:v>
                </c:pt>
                <c:pt idx="141">
                  <c:v>166.31</c:v>
                </c:pt>
                <c:pt idx="142">
                  <c:v>177.09</c:v>
                </c:pt>
                <c:pt idx="143">
                  <c:v>179.2</c:v>
                </c:pt>
                <c:pt idx="144">
                  <c:v>183.75</c:v>
                </c:pt>
                <c:pt idx="145">
                  <c:v>188.26</c:v>
                </c:pt>
                <c:pt idx="146">
                  <c:v>197.49</c:v>
                </c:pt>
                <c:pt idx="147">
                  <c:v>191.58</c:v>
                </c:pt>
                <c:pt idx="148">
                  <c:v>186.6</c:v>
                </c:pt>
                <c:pt idx="149">
                  <c:v>208.21</c:v>
                </c:pt>
                <c:pt idx="150">
                  <c:v>197.98</c:v>
                </c:pt>
                <c:pt idx="151">
                  <c:v>198.8</c:v>
                </c:pt>
                <c:pt idx="152">
                  <c:v>205.96</c:v>
                </c:pt>
                <c:pt idx="153">
                  <c:v>227.47</c:v>
                </c:pt>
                <c:pt idx="154">
                  <c:v>226.03</c:v>
                </c:pt>
                <c:pt idx="155">
                  <c:v>225.46</c:v>
                </c:pt>
                <c:pt idx="156">
                  <c:v>220.23</c:v>
                </c:pt>
                <c:pt idx="157">
                  <c:v>214.29</c:v>
                </c:pt>
                <c:pt idx="158">
                  <c:v>209.82</c:v>
                </c:pt>
                <c:pt idx="159">
                  <c:v>213.07</c:v>
                </c:pt>
                <c:pt idx="160">
                  <c:v>221.03</c:v>
                </c:pt>
                <c:pt idx="161">
                  <c:v>205.27</c:v>
                </c:pt>
                <c:pt idx="162">
                  <c:v>208.75</c:v>
                </c:pt>
                <c:pt idx="163">
                  <c:v>203.88</c:v>
                </c:pt>
                <c:pt idx="164">
                  <c:v>212.53</c:v>
                </c:pt>
                <c:pt idx="165">
                  <c:v>214.7</c:v>
                </c:pt>
                <c:pt idx="166">
                  <c:v>218.69</c:v>
                </c:pt>
                <c:pt idx="167">
                  <c:v>216.28</c:v>
                </c:pt>
                <c:pt idx="168">
                  <c:v>208.59</c:v>
                </c:pt>
                <c:pt idx="169">
                  <c:v>199.91</c:v>
                </c:pt>
                <c:pt idx="170">
                  <c:v>220.85</c:v>
                </c:pt>
                <c:pt idx="171">
                  <c:v>209.55</c:v>
                </c:pt>
                <c:pt idx="172">
                  <c:v>217.47</c:v>
                </c:pt>
                <c:pt idx="173">
                  <c:v>222.16</c:v>
                </c:pt>
                <c:pt idx="174">
                  <c:v>206.99</c:v>
                </c:pt>
                <c:pt idx="175">
                  <c:v>203.94</c:v>
                </c:pt>
                <c:pt idx="176">
                  <c:v>212.03</c:v>
                </c:pt>
                <c:pt idx="177">
                  <c:v>168.07</c:v>
                </c:pt>
                <c:pt idx="178">
                  <c:v>158.7</c:v>
                </c:pt>
                <c:pt idx="179">
                  <c:v>168.46</c:v>
                </c:pt>
                <c:pt idx="180">
                  <c:v>160.85</c:v>
                </c:pt>
                <c:pt idx="181">
                  <c:v>148.9</c:v>
                </c:pt>
                <c:pt idx="182">
                  <c:v>141.37</c:v>
                </c:pt>
                <c:pt idx="183">
                  <c:v>147.68</c:v>
                </c:pt>
                <c:pt idx="184">
                  <c:v>148.49</c:v>
                </c:pt>
                <c:pt idx="185">
                  <c:v>143.34</c:v>
                </c:pt>
                <c:pt idx="186">
                  <c:v>146.33</c:v>
                </c:pt>
                <c:pt idx="187">
                  <c:v>143</c:v>
                </c:pt>
                <c:pt idx="188">
                  <c:v>147.19</c:v>
                </c:pt>
                <c:pt idx="189">
                  <c:v>153.34</c:v>
                </c:pt>
                <c:pt idx="190">
                  <c:v>147.12</c:v>
                </c:pt>
                <c:pt idx="191">
                  <c:v>151.49</c:v>
                </c:pt>
                <c:pt idx="192">
                  <c:v>153.28</c:v>
                </c:pt>
                <c:pt idx="193">
                  <c:v>155.73</c:v>
                </c:pt>
                <c:pt idx="194">
                  <c:v>158.37</c:v>
                </c:pt>
                <c:pt idx="195">
                  <c:v>162.16</c:v>
                </c:pt>
                <c:pt idx="196">
                  <c:v>157.28</c:v>
                </c:pt>
                <c:pt idx="197">
                  <c:v>146.86</c:v>
                </c:pt>
                <c:pt idx="198">
                  <c:v>139.84</c:v>
                </c:pt>
                <c:pt idx="199">
                  <c:v>141.84</c:v>
                </c:pt>
                <c:pt idx="200">
                  <c:v>147.76</c:v>
                </c:pt>
                <c:pt idx="201">
                  <c:v>142.54</c:v>
                </c:pt>
                <c:pt idx="202">
                  <c:v>145.77</c:v>
                </c:pt>
                <c:pt idx="203">
                  <c:v>145.77</c:v>
                </c:pt>
                <c:pt idx="204">
                  <c:v>140.62</c:v>
                </c:pt>
                <c:pt idx="205">
                  <c:v>141.25</c:v>
                </c:pt>
                <c:pt idx="206">
                  <c:v>135.03</c:v>
                </c:pt>
                <c:pt idx="207">
                  <c:v>137.81</c:v>
                </c:pt>
                <c:pt idx="208">
                  <c:v>137.54</c:v>
                </c:pt>
                <c:pt idx="209">
                  <c:v>138.34</c:v>
                </c:pt>
                <c:pt idx="210">
                  <c:v>147.9</c:v>
                </c:pt>
                <c:pt idx="211">
                  <c:v>138.26</c:v>
                </c:pt>
                <c:pt idx="212">
                  <c:v>139.6</c:v>
                </c:pt>
                <c:pt idx="213">
                  <c:v>150.68</c:v>
                </c:pt>
                <c:pt idx="214">
                  <c:v>155.27</c:v>
                </c:pt>
                <c:pt idx="215">
                  <c:v>162.01</c:v>
                </c:pt>
                <c:pt idx="216">
                  <c:v>169.77</c:v>
                </c:pt>
                <c:pt idx="217">
                  <c:v>170.73</c:v>
                </c:pt>
                <c:pt idx="218">
                  <c:v>168.21</c:v>
                </c:pt>
                <c:pt idx="219">
                  <c:v>170.23</c:v>
                </c:pt>
                <c:pt idx="220">
                  <c:v>185.31</c:v>
                </c:pt>
                <c:pt idx="221">
                  <c:v>175.8</c:v>
                </c:pt>
                <c:pt idx="222">
                  <c:v>177.43</c:v>
                </c:pt>
                <c:pt idx="223">
                  <c:v>173.21</c:v>
                </c:pt>
                <c:pt idx="224">
                  <c:v>177.62</c:v>
                </c:pt>
                <c:pt idx="225">
                  <c:v>183.61</c:v>
                </c:pt>
                <c:pt idx="226">
                  <c:v>182.67</c:v>
                </c:pt>
                <c:pt idx="227">
                  <c:v>193.22</c:v>
                </c:pt>
                <c:pt idx="228">
                  <c:v>190.93</c:v>
                </c:pt>
                <c:pt idx="229">
                  <c:v>200.06</c:v>
                </c:pt>
                <c:pt idx="230">
                  <c:v>201.17</c:v>
                </c:pt>
                <c:pt idx="231">
                  <c:v>209.87</c:v>
                </c:pt>
                <c:pt idx="232">
                  <c:v>195.47</c:v>
                </c:pt>
                <c:pt idx="233">
                  <c:v>192.98</c:v>
                </c:pt>
                <c:pt idx="234">
                  <c:v>193.58</c:v>
                </c:pt>
                <c:pt idx="235">
                  <c:v>189.91</c:v>
                </c:pt>
                <c:pt idx="236">
                  <c:v>190.37</c:v>
                </c:pt>
                <c:pt idx="237">
                  <c:v>191.91</c:v>
                </c:pt>
                <c:pt idx="238">
                  <c:v>196.79</c:v>
                </c:pt>
                <c:pt idx="239">
                  <c:v>195.3</c:v>
                </c:pt>
                <c:pt idx="240">
                  <c:v>191.83</c:v>
                </c:pt>
                <c:pt idx="241">
                  <c:v>198.46</c:v>
                </c:pt>
                <c:pt idx="242">
                  <c:v>215.64</c:v>
                </c:pt>
                <c:pt idx="243">
                  <c:v>209.35</c:v>
                </c:pt>
                <c:pt idx="244">
                  <c:v>218.17</c:v>
                </c:pt>
                <c:pt idx="245">
                  <c:v>197.06</c:v>
                </c:pt>
                <c:pt idx="246">
                  <c:v>201.75</c:v>
                </c:pt>
                <c:pt idx="247">
                  <c:v>201.72</c:v>
                </c:pt>
                <c:pt idx="248">
                  <c:v>206.53</c:v>
                </c:pt>
                <c:pt idx="249">
                  <c:v>212.37</c:v>
                </c:pt>
                <c:pt idx="250">
                  <c:v>201.39</c:v>
                </c:pt>
                <c:pt idx="251">
                  <c:v>194.43</c:v>
                </c:pt>
                <c:pt idx="252">
                  <c:v>190.81</c:v>
                </c:pt>
                <c:pt idx="253">
                  <c:v>189.17</c:v>
                </c:pt>
                <c:pt idx="254">
                  <c:v>189.28</c:v>
                </c:pt>
                <c:pt idx="255">
                  <c:v>183.27</c:v>
                </c:pt>
                <c:pt idx="256">
                  <c:v>176.86</c:v>
                </c:pt>
                <c:pt idx="257">
                  <c:v>182.2</c:v>
                </c:pt>
                <c:pt idx="258">
                  <c:v>183.6</c:v>
                </c:pt>
                <c:pt idx="259">
                  <c:v>181.02</c:v>
                </c:pt>
                <c:pt idx="260">
                  <c:v>182.18</c:v>
                </c:pt>
                <c:pt idx="261">
                  <c:v>178.72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40"/>
          <c:min val="8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Kansai Electric Power (Tokyo Stock Exchange: 9503)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chart" Target="/ppt/charts/chart3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Kansai Electric Power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Tokyo Stock Exchange: 9503  ·  Utilities / Electric utilities  ·  Japan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Japan's nuclear leader is modestly cheap, once record 2025 profits are normalised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NEUTRAL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Medium conviction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¥2,754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¥2,970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1AE"/>
                </a:solidFill>
              </a:rPr>
              <a:t>+8%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close, 29 Oct 2026, before H1 results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¥3.07tn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0.85x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P/B (third-party)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¥290bn (−44%)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FY26 ordinary profit guide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2.9%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Dividend yield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Japan's nuclear leader is modestly cheap, once record 2025 profits are normalised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NEUTRAL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¥2,970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+8% vs ¥2,754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Kansai runs 45% of Japan's operating nuclear capacity and trades at 0.85x book. But FY2025 was a peak year (84% nuclear capacity factor, fuel time-lag gains), and the company's own plan guides ordinary profit down 44% in FY2026 and ROE to about 8-9%. On normalised returns the upside is single-digit: we keep the model weight.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A unique asset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Seven pressurised-water reactors (6,578 MW), 45% of Japan's operating nuclear capacity. Each point of capacity factor is worth about ¥5.7bn of ordinary profit.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But the trailing earnings are a peak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FY2025 ordinary profit of ¥518.5bn benefited from an 84% capacity factor and fuel time-lag gains. The FY2026 guide is ¥290bn and the 2026-28 plan averages ¥270bn. Trailing P/E overstates value.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Capital returns are steady, not large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 25-35% payout, a progressive dividend (¥80 guided) and at least ¥270bn of returns over FY2026-28, funded partly by asset sales. Yield 2.9%.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Kansai Electric Power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Energy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Generation, retail and gas: ¥377bn of the ¥519bn FY2025 ordinary profit. Generation mix 49% nuclear, 37% thermal, 14% hydro.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Transmission &amp; distribution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Regulated network (Kansai T&amp;D): ¥63bn. Revenue cap raised by ¥149.6bn from November 2026.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ICT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Optage fibre and data centres: ¥47bn.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Real estate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Kanden Realty: ¥36bn; more than ¥550bn of property to be recycled under the 2026 plan.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Own generation mix, FY2025 (94.2 TWh)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62.7%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Nuclear availability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H1 FY2026 capacity factor (77.2% a year earlier): outages are the main swing factor.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$108/bbl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Crude oil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H1 FY2026 average versus an $80 plan assumption; fuel costs pass through with a 3-5 month lag.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¥160/$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Yen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Each ¥1 move against the dollar is worth about −¥1.2bn of profit.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1 Nov 2026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Regulation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New T&amp;D wheeling tariffs apply after the revenue-cap approval.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59 in Utilities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1.81, first of 59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March 2025.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Engie, Power Assets, American Electric Power, Iberdrola, Enel, EDP (pipeline peer set); Kyushu and Chubu Electric for Japan.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2 of 10 rebalances since June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23A2E"/>
                </a:solidFill>
              </a:rPr>
              <a:t>−6.4%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4.0% / 4.0%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FY2026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sales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¥4,057bn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¥2,235bn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¥4,500bn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Ordinary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¥532bn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¥519bn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¥112bn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¥290bn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¥420bn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¥380bn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¥183bn*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¥310bn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 interim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¥233bn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−¥300bn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debt / EBITDA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~5x (plan)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8581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*Includes a ¥105bn gain on Kinden shares. Fiscal year ends 31 March (FY2025 = Apr 2025-Mar 2026). Sources: Kansai Electric FY2025 and H1 FY2026 results.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differ from the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WHAT THE MARKET BELIEVES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OUR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“Data centres will drive a demand boom”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Kansai-area demand is flat: 133.7 TWh in FY2025 and 133.1 TWh forecast for FY2026.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H1 collapse is temporary”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Partly: the −¥87bn fuel time lag should reverse. But outages (62.7% capacity factor) and ¥2.5tn of capex are structural.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“At 0.85x book it must be cheap”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Only if ROE holds near 9%; the plan itself guides ROE down to about 8.7%, and normalised ROE is closer to 6-7%.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¥2,970 per share, +8%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Justified price to book (Gordon growth)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5.5%, CoE 7.0% → 0.75x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Outages persist; capex dilutes returns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¥2,430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6.5%, CoE 7.0% → 0.92x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Normalised ROE on plan profits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¥2,970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8.5%, CoE 6.5% → 1.36x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ROE delivered; nuclear above 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¥4,418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A regulated-plus-merchant utility is worth (ROE − g) / (cost of equity − g) times book. We take book per share implied by the 0.85x third-party P/B, long-term growth of 1%, a 6.5-7% cost of equity, and ROE between the normalised level (~5.5-6.5%) and the plan's ~8.5%.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34594" y="2542032"/>
            <a:ext cx="1181565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¥2,184 - ¥3,053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809848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03371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69564" y="3502152"/>
            <a:ext cx="2701742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¥2,430 - ¥4,418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09848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03371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4066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Consensus target (third-party)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87064" y="4462272"/>
            <a:ext cx="7315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¥2,958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09848" y="439826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03371" y="439826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986888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¥2,754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80411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¥2,970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1 Nov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Wheeling tariff uplift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Late Jan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Q3 FY2026: does the fuel time lag reverse as crude eases?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End Apr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FY2026 results, FY2027 guide and first full year under the 25-35% payout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FY2026-28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Further shareholding sales (¥230bn of a ¥380bn+ target done)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Ongoing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Reactor restart dates driving the capacity factor back toward 70%+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Upgrade if ROE guidance moves back above 9% with capacity factor above 75%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Risks, mitigants and what would make us sell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Extended outages or court injunctions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fleet in Japan: diversified across 3 sites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and yen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Pass-through with a lag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¥2.5tn capex and possible equity raise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recycling &gt; ¥550bn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Regulated tariffs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T&amp;D cap just raised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FBEDEB"/>
          </a:solidFill>
          <a:ln w="12700">
            <a:solidFill>
              <a:srgbClr val="F2C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</a:rPr>
              <a:t>WE CHANGE THE CALL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Upgrade if ROE guidance moves back above 9% with capacity factor above 75%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Downgrade on a new equity raise or a nuclear injunction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Downgrade if the progressive dividend policy is abandoned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[K1] Kansai Electric Power, *FY2025 Financial Report* (results presentation), 30 Apr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[K2] Kansai Electric Power, *Q1 FY2026 Financial Report*, 31 Jul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[K3] Kansai Electric Power, *Q2 FY2026 Financial Report*, 29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[K4] Kansai Electric Power Group, *Management Plan 2026: Kanden Transformation toward 2040*, April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[K5] Kansai Electric Power, *Notice Regarding Revision of Shareholder Return Policy*, 30 Apr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[K6] Kansai Electric Power, notice on the sale of Kinden shares in the tender offer, 2 Jun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[K7] World Nuclear News, "Kansai begins surveys of Mihama site for new reactor", Nov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[K8] BNN Bloomberg, "Kansai Electric to raise up to $3.3 billion from share sale", 13 Nov 2024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[K9] StockAnalysis.com, 9503 quote and statistics (third-party, delayed), 29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Kansai Electric Power stock pitch</dc:title>
  <dc:subject>PptxGenJS Presentation</dc:subject>
  <dc:creator>Noah Doose</dc:creator>
  <cp:lastModifiedBy>Noah Doose</cp:lastModifiedBy>
  <cp:revision>1</cp:revision>
  <dcterms:created xsi:type="dcterms:W3CDTF">2026-10-30T06:38:34Z</dcterms:created>
  <dcterms:modified xsi:type="dcterms:W3CDTF">2026-10-30T06:38:34Z</dcterms:modified>
</cp:coreProperties>
</file>