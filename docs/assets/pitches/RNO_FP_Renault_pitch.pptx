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64997983-f497-851a-5dd3-11bc36eb93de}">
          <p14:sldIdLst>
            <p14:sldId id="256"/>
          </p14:sldIdLst>
        </p14:section>
        <p14:section name="Thesis" id="{db62fed8-dcc4-96db-6f41-27a23e9b3291}">
          <p14:sldIdLst>
            <p14:sldId id="257"/>
          </p14:sldIdLst>
        </p14:section>
        <p14:section name="Company" id="{51e48b4f-1e57-13f1-56c2-a8c7c06fae5f}">
          <p14:sldIdLst>
            <p14:sldId id="258"/>
            <p14:sldId id="259"/>
          </p14:sldIdLst>
        </p14:section>
        <p14:section name="Screen" id="{d6ed3d5a-a00d-5bb5-9137-010d6932025e}">
          <p14:sldIdLst>
            <p14:sldId id="260"/>
            <p14:sldId id="261"/>
          </p14:sldIdLst>
        </p14:section>
        <p14:section name="Financials" id="{07796de4-aefd-c0eb-e41e-785fefa08056}">
          <p14:sldIdLst>
            <p14:sldId id="262"/>
            <p14:sldId id="263"/>
          </p14:sldIdLst>
        </p14:section>
        <p14:section name="Valuation" id="{f560d5f1-2695-f3c5-156a-51d55cdd4047}">
          <p14:sldIdLst>
            <p14:sldId id="264"/>
          </p14:sldIdLst>
        </p14:section>
        <p14:section name="Catalysts and risks" id="{4e4241b4-3d5b-70db-3c96-c85583c9f36e}">
          <p14:sldIdLst>
            <p14:sldId id="265"/>
            <p14:sldId id="266"/>
          </p14:sldIdLst>
        </p14:section>
        <p14:section name="Sources" id="{99b49f0a-75d1-c8fc-fd9a-57bb88dd18b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Revenue split, 9M 2026 (share of total)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split, 9M 2026</c:v>
                </c:pt>
              </c:strCache>
            </c:strRef>
          </c:tx>
          <c:spPr>
            <a:solidFill>
              <a:srgbClr val="0E6B4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Automotive</c:v>
                  </c:pt>
                  <c:pt idx="1">
                    <c:v>Mobilize Financial Services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0.8755735041101128</c:v>
                </c:pt>
                <c:pt idx="1">
                  <c:v>0.12442649588988722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Multiples at 31 Dec 2025 (last usable fiscal year)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Renault</c:v>
                </c:pt>
              </c:strCache>
            </c:strRef>
          </c:tx>
          <c:spPr>
            <a:solidFill>
              <a:srgbClr val="0E6B4F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EV/EBIT</c:v>
                  </c:pt>
                  <c:pt idx="1">
                    <c:v>P/E</c:v>
                  </c:pt>
                  <c:pt idx="2">
                    <c:v>P/B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1.78</c:v>
                </c:pt>
                <c:pt idx="1">
                  <c:v>13.93</c:v>
                </c:pt>
                <c:pt idx="2">
                  <c:v>0.35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median</c:v>
                </c:pt>
              </c:strCache>
            </c:strRef>
          </c:tx>
          <c:spPr>
            <a:solidFill>
              <a:srgbClr val="9AAAA2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EV/EBIT</c:v>
                  </c:pt>
                  <c:pt idx="1">
                    <c:v>P/E</c:v>
                  </c:pt>
                  <c:pt idx="2">
                    <c:v>P/B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4.81</c:v>
                </c:pt>
                <c:pt idx="1">
                  <c:v>6.76</c:v>
                </c:pt>
                <c:pt idx="2">
                  <c:v>0.6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Sector median</c:v>
                </c:pt>
              </c:strCache>
            </c:strRef>
          </c:tx>
          <c:spPr>
            <a:solidFill>
              <a:srgbClr val="D5DBD6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EV/EBIT</c:v>
                  </c:pt>
                  <c:pt idx="1">
                    <c:v>P/E</c:v>
                  </c:pt>
                  <c:pt idx="2">
                    <c:v>P/B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18.33</c:v>
                </c:pt>
                <c:pt idx="1">
                  <c:v>22.16</c:v>
                </c:pt>
                <c:pt idx="2">
                  <c:v>4.41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4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6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Value z-scores within the sector (Dec 2025)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z-score</c:v>
                </c:pt>
              </c:strCache>
            </c:strRef>
          </c:tx>
          <c:spPr>
            <a:solidFill>
              <a:srgbClr val="0E6B4F"/>
            </a:solidFill>
            <a:effectLst/>
          </c:spPr>
          <c:invertIfNegative val="0"/>
          <c:dLbls>
            <c:numFmt formatCode="+0.0;−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EBIT / EV</c:v>
                  </c:pt>
                  <c:pt idx="1">
                    <c:v>Book / price</c:v>
                  </c:pt>
                  <c:pt idx="2">
                    <c:v>FCF yield</c:v>
                  </c:pt>
                  <c:pt idx="3">
                    <c:v>Sales / EV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3.6976918400393766</c:v>
                </c:pt>
                <c:pt idx="1">
                  <c:v>3.28203257202924</c:v>
                </c:pt>
                <c:pt idx="2">
                  <c:v>3.681959526612042</c:v>
                </c:pt>
                <c:pt idx="3">
                  <c:v>3.2721072137524745</c:v>
                </c:pt>
              </c:numCache>
            </c:numRef>
          </c:val>
        </c:ser>
        <c:dLbls>
          <c:numFmt formatCode="+0.0;−0.0" sourceLinked="0"/>
          <c:txPr>
            <a:bodyPr/>
            <a:lstStyle/>
            <a:p>
              <a:pPr>
                <a:defRPr b="0" i="0" strike="noStrike" sz="1100" u="none">
                  <a:solidFill>
                    <a:srgbClr val="14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Total return in EUR, rebased to 100 (Jun 2021 - Jun 2026, weekly)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Renault</c:v>
                </c:pt>
              </c:strCache>
            </c:strRef>
          </c:tx>
          <c:spPr>
            <a:solidFill>
              <a:srgbClr val="0E6B4F"/>
            </a:solidFill>
            <a:ln w="25400" cap="flat">
              <a:solidFill>
                <a:srgbClr val="0E6B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6B4F"/>
              </a:solidFill>
              <a:ln w="9525" cap="flat">
                <a:solidFill>
                  <a:srgbClr val="0E6B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Sheet1!$A$2:$A$263</c:f>
              <c:multiLvlStrCache>
                <c:ptCount val="26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2022</c:v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2023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>2024</c:v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>2025</c:v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>2026</c:v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</c:lvl>
              </c:multiLvlStrCache>
            </c:multiLvlStrRef>
          </c:cat>
          <c:val>
            <c:numRef>
              <c:f>Sheet1!$B$2:$B$263</c:f>
              <c:numCache>
                <c:formatCode>General</c:formatCode>
                <c:ptCount val="262"/>
                <c:pt idx="0">
                  <c:v>100</c:v>
                </c:pt>
                <c:pt idx="1">
                  <c:v>100.71</c:v>
                </c:pt>
                <c:pt idx="2">
                  <c:v>95.01</c:v>
                </c:pt>
                <c:pt idx="3">
                  <c:v>87.82</c:v>
                </c:pt>
                <c:pt idx="4">
                  <c:v>88.53</c:v>
                </c:pt>
                <c:pt idx="5">
                  <c:v>90.83</c:v>
                </c:pt>
                <c:pt idx="6">
                  <c:v>97.26</c:v>
                </c:pt>
                <c:pt idx="7">
                  <c:v>95.48</c:v>
                </c:pt>
                <c:pt idx="8">
                  <c:v>88.34</c:v>
                </c:pt>
                <c:pt idx="9">
                  <c:v>88.41</c:v>
                </c:pt>
                <c:pt idx="10">
                  <c:v>85.39</c:v>
                </c:pt>
                <c:pt idx="11">
                  <c:v>82.97</c:v>
                </c:pt>
                <c:pt idx="12">
                  <c:v>81.55</c:v>
                </c:pt>
                <c:pt idx="13">
                  <c:v>87.15</c:v>
                </c:pt>
                <c:pt idx="14">
                  <c:v>87.76</c:v>
                </c:pt>
                <c:pt idx="15">
                  <c:v>89.18</c:v>
                </c:pt>
                <c:pt idx="16">
                  <c:v>94.2</c:v>
                </c:pt>
                <c:pt idx="17">
                  <c:v>88.34</c:v>
                </c:pt>
                <c:pt idx="18">
                  <c:v>88.09</c:v>
                </c:pt>
                <c:pt idx="19">
                  <c:v>92.29</c:v>
                </c:pt>
                <c:pt idx="20">
                  <c:v>97.48</c:v>
                </c:pt>
                <c:pt idx="21">
                  <c:v>93.39</c:v>
                </c:pt>
                <c:pt idx="22">
                  <c:v>83.98</c:v>
                </c:pt>
                <c:pt idx="23">
                  <c:v>81.44</c:v>
                </c:pt>
                <c:pt idx="24">
                  <c:v>84.49</c:v>
                </c:pt>
                <c:pt idx="25">
                  <c:v>82.59</c:v>
                </c:pt>
                <c:pt idx="26">
                  <c:v>84.43</c:v>
                </c:pt>
                <c:pt idx="27">
                  <c:v>86.63</c:v>
                </c:pt>
                <c:pt idx="28">
                  <c:v>97.09</c:v>
                </c:pt>
                <c:pt idx="29">
                  <c:v>95.14</c:v>
                </c:pt>
                <c:pt idx="30">
                  <c:v>94.48</c:v>
                </c:pt>
                <c:pt idx="31">
                  <c:v>98.04</c:v>
                </c:pt>
                <c:pt idx="32">
                  <c:v>97.26</c:v>
                </c:pt>
                <c:pt idx="33">
                  <c:v>101.93</c:v>
                </c:pt>
                <c:pt idx="34">
                  <c:v>103.02</c:v>
                </c:pt>
                <c:pt idx="35">
                  <c:v>86.63</c:v>
                </c:pt>
                <c:pt idx="36">
                  <c:v>65.58</c:v>
                </c:pt>
                <c:pt idx="37">
                  <c:v>63.26</c:v>
                </c:pt>
                <c:pt idx="38">
                  <c:v>66.09</c:v>
                </c:pt>
                <c:pt idx="39">
                  <c:v>65.22</c:v>
                </c:pt>
                <c:pt idx="40">
                  <c:v>68.28</c:v>
                </c:pt>
                <c:pt idx="41">
                  <c:v>61.98</c:v>
                </c:pt>
                <c:pt idx="42">
                  <c:v>63.05</c:v>
                </c:pt>
                <c:pt idx="43">
                  <c:v>65.83</c:v>
                </c:pt>
                <c:pt idx="44">
                  <c:v>66.86</c:v>
                </c:pt>
                <c:pt idx="45">
                  <c:v>65.71</c:v>
                </c:pt>
                <c:pt idx="46">
                  <c:v>66.93</c:v>
                </c:pt>
                <c:pt idx="47">
                  <c:v>68.56</c:v>
                </c:pt>
                <c:pt idx="48">
                  <c:v>71.43</c:v>
                </c:pt>
                <c:pt idx="49">
                  <c:v>73.09</c:v>
                </c:pt>
                <c:pt idx="50">
                  <c:v>74.69</c:v>
                </c:pt>
                <c:pt idx="51">
                  <c:v>68.16</c:v>
                </c:pt>
                <c:pt idx="52">
                  <c:v>70.08</c:v>
                </c:pt>
                <c:pt idx="53">
                  <c:v>69.07</c:v>
                </c:pt>
                <c:pt idx="54">
                  <c:v>69.82</c:v>
                </c:pt>
                <c:pt idx="55">
                  <c:v>68.8</c:v>
                </c:pt>
                <c:pt idx="56">
                  <c:v>73.26</c:v>
                </c:pt>
                <c:pt idx="57">
                  <c:v>81.52</c:v>
                </c:pt>
                <c:pt idx="58">
                  <c:v>84.42</c:v>
                </c:pt>
                <c:pt idx="59">
                  <c:v>87.08</c:v>
                </c:pt>
                <c:pt idx="60">
                  <c:v>83.13</c:v>
                </c:pt>
                <c:pt idx="61">
                  <c:v>77.72</c:v>
                </c:pt>
                <c:pt idx="62">
                  <c:v>83.3</c:v>
                </c:pt>
                <c:pt idx="63">
                  <c:v>83.31</c:v>
                </c:pt>
                <c:pt idx="64">
                  <c:v>90.71</c:v>
                </c:pt>
                <c:pt idx="65">
                  <c:v>78.66</c:v>
                </c:pt>
                <c:pt idx="66">
                  <c:v>79.33</c:v>
                </c:pt>
                <c:pt idx="67">
                  <c:v>87.01</c:v>
                </c:pt>
                <c:pt idx="68">
                  <c:v>87.2</c:v>
                </c:pt>
                <c:pt idx="69">
                  <c:v>92.91</c:v>
                </c:pt>
                <c:pt idx="70">
                  <c:v>88.77</c:v>
                </c:pt>
                <c:pt idx="71">
                  <c:v>86.54</c:v>
                </c:pt>
                <c:pt idx="72">
                  <c:v>92.26</c:v>
                </c:pt>
                <c:pt idx="73">
                  <c:v>93.72</c:v>
                </c:pt>
                <c:pt idx="74">
                  <c:v>95.77</c:v>
                </c:pt>
                <c:pt idx="75">
                  <c:v>98.13</c:v>
                </c:pt>
                <c:pt idx="76">
                  <c:v>97.58</c:v>
                </c:pt>
                <c:pt idx="77">
                  <c:v>92.73</c:v>
                </c:pt>
                <c:pt idx="78">
                  <c:v>89.04</c:v>
                </c:pt>
                <c:pt idx="79">
                  <c:v>88.7</c:v>
                </c:pt>
                <c:pt idx="80">
                  <c:v>102.51</c:v>
                </c:pt>
                <c:pt idx="81">
                  <c:v>105.32</c:v>
                </c:pt>
                <c:pt idx="82">
                  <c:v>103.46</c:v>
                </c:pt>
                <c:pt idx="83">
                  <c:v>108.35</c:v>
                </c:pt>
                <c:pt idx="84">
                  <c:v>110.64</c:v>
                </c:pt>
                <c:pt idx="85">
                  <c:v>115.98</c:v>
                </c:pt>
                <c:pt idx="86">
                  <c:v>119.71</c:v>
                </c:pt>
                <c:pt idx="87">
                  <c:v>115.07</c:v>
                </c:pt>
                <c:pt idx="88">
                  <c:v>122.31</c:v>
                </c:pt>
                <c:pt idx="89">
                  <c:v>114.9</c:v>
                </c:pt>
                <c:pt idx="90">
                  <c:v>100.3</c:v>
                </c:pt>
                <c:pt idx="91">
                  <c:v>100.54</c:v>
                </c:pt>
                <c:pt idx="92">
                  <c:v>106.64</c:v>
                </c:pt>
                <c:pt idx="93">
                  <c:v>104.01</c:v>
                </c:pt>
                <c:pt idx="94">
                  <c:v>107.88</c:v>
                </c:pt>
                <c:pt idx="95">
                  <c:v>94.48</c:v>
                </c:pt>
                <c:pt idx="96">
                  <c:v>95.38</c:v>
                </c:pt>
                <c:pt idx="97">
                  <c:v>93.02</c:v>
                </c:pt>
                <c:pt idx="98">
                  <c:v>95.16</c:v>
                </c:pt>
                <c:pt idx="99">
                  <c:v>95.93</c:v>
                </c:pt>
                <c:pt idx="100">
                  <c:v>94.97</c:v>
                </c:pt>
                <c:pt idx="101">
                  <c:v>94.58</c:v>
                </c:pt>
                <c:pt idx="102">
                  <c:v>94.56</c:v>
                </c:pt>
                <c:pt idx="103">
                  <c:v>105.04</c:v>
                </c:pt>
                <c:pt idx="104">
                  <c:v>101.94</c:v>
                </c:pt>
                <c:pt idx="105">
                  <c:v>110.26</c:v>
                </c:pt>
                <c:pt idx="106">
                  <c:v>107.96</c:v>
                </c:pt>
                <c:pt idx="107">
                  <c:v>109.66</c:v>
                </c:pt>
                <c:pt idx="108">
                  <c:v>112.36</c:v>
                </c:pt>
                <c:pt idx="109">
                  <c:v>115.85</c:v>
                </c:pt>
                <c:pt idx="110">
                  <c:v>109.83</c:v>
                </c:pt>
                <c:pt idx="111">
                  <c:v>108.09</c:v>
                </c:pt>
                <c:pt idx="112">
                  <c:v>104.76</c:v>
                </c:pt>
                <c:pt idx="113">
                  <c:v>104.04</c:v>
                </c:pt>
                <c:pt idx="114">
                  <c:v>100.03</c:v>
                </c:pt>
                <c:pt idx="115">
                  <c:v>102.84</c:v>
                </c:pt>
                <c:pt idx="116">
                  <c:v>109.02</c:v>
                </c:pt>
                <c:pt idx="117">
                  <c:v>109.6</c:v>
                </c:pt>
                <c:pt idx="118">
                  <c:v>111.1</c:v>
                </c:pt>
                <c:pt idx="119">
                  <c:v>102.1</c:v>
                </c:pt>
                <c:pt idx="120">
                  <c:v>103.6</c:v>
                </c:pt>
                <c:pt idx="121">
                  <c:v>95</c:v>
                </c:pt>
                <c:pt idx="122">
                  <c:v>92.73</c:v>
                </c:pt>
                <c:pt idx="123">
                  <c:v>99.27</c:v>
                </c:pt>
                <c:pt idx="124">
                  <c:v>97.19</c:v>
                </c:pt>
                <c:pt idx="125">
                  <c:v>101.63</c:v>
                </c:pt>
                <c:pt idx="126">
                  <c:v>100.24</c:v>
                </c:pt>
                <c:pt idx="127">
                  <c:v>103.59</c:v>
                </c:pt>
                <c:pt idx="128">
                  <c:v>108.55</c:v>
                </c:pt>
                <c:pt idx="129">
                  <c:v>112.25</c:v>
                </c:pt>
                <c:pt idx="130">
                  <c:v>107.7</c:v>
                </c:pt>
                <c:pt idx="131">
                  <c:v>105.47</c:v>
                </c:pt>
                <c:pt idx="132">
                  <c:v>103.94</c:v>
                </c:pt>
                <c:pt idx="133">
                  <c:v>98.61</c:v>
                </c:pt>
                <c:pt idx="134">
                  <c:v>97.86</c:v>
                </c:pt>
                <c:pt idx="135">
                  <c:v>98.19</c:v>
                </c:pt>
                <c:pt idx="136">
                  <c:v>101.46</c:v>
                </c:pt>
                <c:pt idx="137">
                  <c:v>107</c:v>
                </c:pt>
                <c:pt idx="138">
                  <c:v>109.42</c:v>
                </c:pt>
                <c:pt idx="139">
                  <c:v>107.47</c:v>
                </c:pt>
                <c:pt idx="140">
                  <c:v>110.58</c:v>
                </c:pt>
                <c:pt idx="141">
                  <c:v>113.06</c:v>
                </c:pt>
                <c:pt idx="142">
                  <c:v>122.32</c:v>
                </c:pt>
                <c:pt idx="143">
                  <c:v>129.85</c:v>
                </c:pt>
                <c:pt idx="144">
                  <c:v>133.74</c:v>
                </c:pt>
                <c:pt idx="145">
                  <c:v>141.93</c:v>
                </c:pt>
                <c:pt idx="146">
                  <c:v>143.41</c:v>
                </c:pt>
                <c:pt idx="147">
                  <c:v>136.41</c:v>
                </c:pt>
                <c:pt idx="148">
                  <c:v>138.75</c:v>
                </c:pt>
                <c:pt idx="149">
                  <c:v>137.18</c:v>
                </c:pt>
                <c:pt idx="150">
                  <c:v>138.04</c:v>
                </c:pt>
                <c:pt idx="151">
                  <c:v>143.47</c:v>
                </c:pt>
                <c:pt idx="152">
                  <c:v>149.36</c:v>
                </c:pt>
                <c:pt idx="153">
                  <c:v>159.1</c:v>
                </c:pt>
                <c:pt idx="154">
                  <c:v>152.1</c:v>
                </c:pt>
                <c:pt idx="155">
                  <c:v>142.95</c:v>
                </c:pt>
                <c:pt idx="156">
                  <c:v>144.49</c:v>
                </c:pt>
                <c:pt idx="157">
                  <c:v>142.06</c:v>
                </c:pt>
                <c:pt idx="158">
                  <c:v>148.77</c:v>
                </c:pt>
                <c:pt idx="159">
                  <c:v>149.01</c:v>
                </c:pt>
                <c:pt idx="160">
                  <c:v>143.51</c:v>
                </c:pt>
                <c:pt idx="161">
                  <c:v>130.09</c:v>
                </c:pt>
                <c:pt idx="162">
                  <c:v>124.36</c:v>
                </c:pt>
                <c:pt idx="163">
                  <c:v>120.38</c:v>
                </c:pt>
                <c:pt idx="164">
                  <c:v>122.91</c:v>
                </c:pt>
                <c:pt idx="165">
                  <c:v>128.19</c:v>
                </c:pt>
                <c:pt idx="166">
                  <c:v>127.54</c:v>
                </c:pt>
                <c:pt idx="167">
                  <c:v>119.79</c:v>
                </c:pt>
                <c:pt idx="168">
                  <c:v>116.23</c:v>
                </c:pt>
                <c:pt idx="169">
                  <c:v>114.24</c:v>
                </c:pt>
                <c:pt idx="170">
                  <c:v>122.61</c:v>
                </c:pt>
                <c:pt idx="171">
                  <c:v>109.78</c:v>
                </c:pt>
                <c:pt idx="172">
                  <c:v>116.82</c:v>
                </c:pt>
                <c:pt idx="173">
                  <c:v>120.2</c:v>
                </c:pt>
                <c:pt idx="174">
                  <c:v>127.98</c:v>
                </c:pt>
                <c:pt idx="175">
                  <c:v>121.99</c:v>
                </c:pt>
                <c:pt idx="176">
                  <c:v>120.83</c:v>
                </c:pt>
                <c:pt idx="177">
                  <c:v>122.28</c:v>
                </c:pt>
                <c:pt idx="178">
                  <c:v>119.7</c:v>
                </c:pt>
                <c:pt idx="179">
                  <c:v>120.35</c:v>
                </c:pt>
                <c:pt idx="180">
                  <c:v>129.74</c:v>
                </c:pt>
                <c:pt idx="181">
                  <c:v>132.94</c:v>
                </c:pt>
                <c:pt idx="182">
                  <c:v>139.03</c:v>
                </c:pt>
                <c:pt idx="183">
                  <c:v>139.12</c:v>
                </c:pt>
                <c:pt idx="184">
                  <c:v>136.83</c:v>
                </c:pt>
                <c:pt idx="185">
                  <c:v>135.97</c:v>
                </c:pt>
                <c:pt idx="186">
                  <c:v>144.82</c:v>
                </c:pt>
                <c:pt idx="187">
                  <c:v>145.89</c:v>
                </c:pt>
                <c:pt idx="188">
                  <c:v>147.43</c:v>
                </c:pt>
                <c:pt idx="189">
                  <c:v>145.98</c:v>
                </c:pt>
                <c:pt idx="190">
                  <c:v>155.9</c:v>
                </c:pt>
                <c:pt idx="191">
                  <c:v>144.79</c:v>
                </c:pt>
                <c:pt idx="192">
                  <c:v>148</c:v>
                </c:pt>
                <c:pt idx="193">
                  <c:v>141.38</c:v>
                </c:pt>
                <c:pt idx="194">
                  <c:v>143.51</c:v>
                </c:pt>
                <c:pt idx="195">
                  <c:v>140.01</c:v>
                </c:pt>
                <c:pt idx="196">
                  <c:v>141.05</c:v>
                </c:pt>
                <c:pt idx="197">
                  <c:v>131.4</c:v>
                </c:pt>
                <c:pt idx="198">
                  <c:v>126.92</c:v>
                </c:pt>
                <c:pt idx="199">
                  <c:v>130.33</c:v>
                </c:pt>
                <c:pt idx="200">
                  <c:v>138.94</c:v>
                </c:pt>
                <c:pt idx="201">
                  <c:v>140.69</c:v>
                </c:pt>
                <c:pt idx="202">
                  <c:v>148.39</c:v>
                </c:pt>
                <c:pt idx="203">
                  <c:v>152.75</c:v>
                </c:pt>
                <c:pt idx="204">
                  <c:v>148.08</c:v>
                </c:pt>
                <c:pt idx="205">
                  <c:v>141.29</c:v>
                </c:pt>
                <c:pt idx="206">
                  <c:v>133.88</c:v>
                </c:pt>
                <c:pt idx="207">
                  <c:v>134.01</c:v>
                </c:pt>
                <c:pt idx="208">
                  <c:v>120.22</c:v>
                </c:pt>
                <c:pt idx="209">
                  <c:v>124.82</c:v>
                </c:pt>
                <c:pt idx="210">
                  <c:v>126.23</c:v>
                </c:pt>
                <c:pt idx="211">
                  <c:v>128.28</c:v>
                </c:pt>
                <c:pt idx="212">
                  <c:v>104.68</c:v>
                </c:pt>
                <c:pt idx="213">
                  <c:v>107.17</c:v>
                </c:pt>
                <c:pt idx="214">
                  <c:v>100.23</c:v>
                </c:pt>
                <c:pt idx="215">
                  <c:v>100.97</c:v>
                </c:pt>
                <c:pt idx="216">
                  <c:v>103.09</c:v>
                </c:pt>
                <c:pt idx="217">
                  <c:v>104.49</c:v>
                </c:pt>
                <c:pt idx="218">
                  <c:v>104.62</c:v>
                </c:pt>
                <c:pt idx="219">
                  <c:v>102.78</c:v>
                </c:pt>
                <c:pt idx="220">
                  <c:v>107.01</c:v>
                </c:pt>
                <c:pt idx="221">
                  <c:v>110.13</c:v>
                </c:pt>
                <c:pt idx="222">
                  <c:v>108.2</c:v>
                </c:pt>
                <c:pt idx="223">
                  <c:v>111.4</c:v>
                </c:pt>
                <c:pt idx="224">
                  <c:v>106.89</c:v>
                </c:pt>
                <c:pt idx="225">
                  <c:v>107.08</c:v>
                </c:pt>
                <c:pt idx="226">
                  <c:v>107.01</c:v>
                </c:pt>
                <c:pt idx="227">
                  <c:v>104.93</c:v>
                </c:pt>
                <c:pt idx="228">
                  <c:v>105.99</c:v>
                </c:pt>
                <c:pt idx="229">
                  <c:v>112.87</c:v>
                </c:pt>
                <c:pt idx="230">
                  <c:v>106.86</c:v>
                </c:pt>
                <c:pt idx="231">
                  <c:v>107.33</c:v>
                </c:pt>
                <c:pt idx="232">
                  <c:v>115.83</c:v>
                </c:pt>
                <c:pt idx="233">
                  <c:v>115.61</c:v>
                </c:pt>
                <c:pt idx="234">
                  <c:v>112.9</c:v>
                </c:pt>
                <c:pt idx="235">
                  <c:v>111.25</c:v>
                </c:pt>
                <c:pt idx="236">
                  <c:v>113.21</c:v>
                </c:pt>
                <c:pt idx="237">
                  <c:v>105.24</c:v>
                </c:pt>
                <c:pt idx="238">
                  <c:v>99.11</c:v>
                </c:pt>
                <c:pt idx="239">
                  <c:v>100.63</c:v>
                </c:pt>
                <c:pt idx="240">
                  <c:v>99.26</c:v>
                </c:pt>
                <c:pt idx="241">
                  <c:v>96.12</c:v>
                </c:pt>
                <c:pt idx="242">
                  <c:v>102.13</c:v>
                </c:pt>
                <c:pt idx="243">
                  <c:v>100.72</c:v>
                </c:pt>
                <c:pt idx="244">
                  <c:v>99.98</c:v>
                </c:pt>
                <c:pt idx="245">
                  <c:v>88.77</c:v>
                </c:pt>
                <c:pt idx="246">
                  <c:v>88.64</c:v>
                </c:pt>
                <c:pt idx="247">
                  <c:v>86.06</c:v>
                </c:pt>
                <c:pt idx="248">
                  <c:v>88.08</c:v>
                </c:pt>
                <c:pt idx="249">
                  <c:v>93.72</c:v>
                </c:pt>
                <c:pt idx="250">
                  <c:v>96.46</c:v>
                </c:pt>
                <c:pt idx="251">
                  <c:v>101.25</c:v>
                </c:pt>
                <c:pt idx="252">
                  <c:v>92.66</c:v>
                </c:pt>
                <c:pt idx="253">
                  <c:v>92.69</c:v>
                </c:pt>
                <c:pt idx="254">
                  <c:v>95.82</c:v>
                </c:pt>
                <c:pt idx="255">
                  <c:v>95.11</c:v>
                </c:pt>
                <c:pt idx="256">
                  <c:v>93.34</c:v>
                </c:pt>
                <c:pt idx="257">
                  <c:v>99.13</c:v>
                </c:pt>
                <c:pt idx="258">
                  <c:v>89.82</c:v>
                </c:pt>
                <c:pt idx="259">
                  <c:v>93.04</c:v>
                </c:pt>
                <c:pt idx="260">
                  <c:v>94.08</c:v>
                </c:pt>
                <c:pt idx="261">
                  <c:v>87.34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MSCI World Net EUR</c:v>
                </c:pt>
              </c:strCache>
            </c:strRef>
          </c:tx>
          <c:spPr>
            <a:solidFill>
              <a:srgbClr val="9AAAA2"/>
            </a:solidFill>
            <a:ln w="25400" cap="flat">
              <a:solidFill>
                <a:srgbClr val="9AAAA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AA2"/>
              </a:solidFill>
              <a:ln w="9525" cap="flat">
                <a:solidFill>
                  <a:srgbClr val="9AAAA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Sheet1!$A$2:$A$263</c:f>
              <c:multiLvlStrCache>
                <c:ptCount val="26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2022</c:v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2023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>2024</c:v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>2025</c:v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>2026</c:v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</c:lvl>
              </c:multiLvlStrCache>
            </c:multiLvlStrRef>
          </c:cat>
          <c:val>
            <c:numRef>
              <c:f>Sheet1!$C$2:$C$263</c:f>
              <c:numCache>
                <c:formatCode>General</c:formatCode>
                <c:ptCount val="262"/>
                <c:pt idx="0">
                  <c:v>100</c:v>
                </c:pt>
                <c:pt idx="1">
                  <c:v>101.65</c:v>
                </c:pt>
                <c:pt idx="2">
                  <c:v>101.72</c:v>
                </c:pt>
                <c:pt idx="3">
                  <c:v>101.25</c:v>
                </c:pt>
                <c:pt idx="4">
                  <c:v>103.28</c:v>
                </c:pt>
                <c:pt idx="5">
                  <c:v>102.35</c:v>
                </c:pt>
                <c:pt idx="6">
                  <c:v>104.19</c:v>
                </c:pt>
                <c:pt idx="7">
                  <c:v>104.86</c:v>
                </c:pt>
                <c:pt idx="8">
                  <c:v>104.39</c:v>
                </c:pt>
                <c:pt idx="9">
                  <c:v>105.27</c:v>
                </c:pt>
                <c:pt idx="10">
                  <c:v>105.49</c:v>
                </c:pt>
                <c:pt idx="11">
                  <c:v>104.52</c:v>
                </c:pt>
                <c:pt idx="12">
                  <c:v>104.54</c:v>
                </c:pt>
                <c:pt idx="13">
                  <c:v>104.99</c:v>
                </c:pt>
                <c:pt idx="14">
                  <c:v>103.36</c:v>
                </c:pt>
                <c:pt idx="15">
                  <c:v>104.31</c:v>
                </c:pt>
                <c:pt idx="16">
                  <c:v>106.29</c:v>
                </c:pt>
                <c:pt idx="17">
                  <c:v>107.34</c:v>
                </c:pt>
                <c:pt idx="18">
                  <c:v>108.86</c:v>
                </c:pt>
                <c:pt idx="19">
                  <c:v>111.02</c:v>
                </c:pt>
                <c:pt idx="20">
                  <c:v>111.83</c:v>
                </c:pt>
                <c:pt idx="21">
                  <c:v>112.98</c:v>
                </c:pt>
                <c:pt idx="22">
                  <c:v>109.93</c:v>
                </c:pt>
                <c:pt idx="23">
                  <c:v>108.71</c:v>
                </c:pt>
                <c:pt idx="24">
                  <c:v>112.07</c:v>
                </c:pt>
                <c:pt idx="25">
                  <c:v>110.68</c:v>
                </c:pt>
                <c:pt idx="26">
                  <c:v>112.51</c:v>
                </c:pt>
                <c:pt idx="27">
                  <c:v>112.98</c:v>
                </c:pt>
                <c:pt idx="28">
                  <c:v>111.35</c:v>
                </c:pt>
                <c:pt idx="29">
                  <c:v>110.37</c:v>
                </c:pt>
                <c:pt idx="30">
                  <c:v>106.03</c:v>
                </c:pt>
                <c:pt idx="31">
                  <c:v>107.08</c:v>
                </c:pt>
                <c:pt idx="32">
                  <c:v>106.43</c:v>
                </c:pt>
                <c:pt idx="33">
                  <c:v>106.05</c:v>
                </c:pt>
                <c:pt idx="34">
                  <c:v>104.72</c:v>
                </c:pt>
                <c:pt idx="35">
                  <c:v>105.54</c:v>
                </c:pt>
                <c:pt idx="36">
                  <c:v>105.67</c:v>
                </c:pt>
                <c:pt idx="37">
                  <c:v>103.22</c:v>
                </c:pt>
                <c:pt idx="38">
                  <c:v>108.65</c:v>
                </c:pt>
                <c:pt idx="39">
                  <c:v>110.71</c:v>
                </c:pt>
                <c:pt idx="40">
                  <c:v>110.56</c:v>
                </c:pt>
                <c:pt idx="41">
                  <c:v>110.61</c:v>
                </c:pt>
                <c:pt idx="42">
                  <c:v>109.69</c:v>
                </c:pt>
                <c:pt idx="43">
                  <c:v>106.87</c:v>
                </c:pt>
                <c:pt idx="44">
                  <c:v>105.92</c:v>
                </c:pt>
                <c:pt idx="45">
                  <c:v>104.38</c:v>
                </c:pt>
                <c:pt idx="46">
                  <c:v>104</c:v>
                </c:pt>
                <c:pt idx="47">
                  <c:v>100.73</c:v>
                </c:pt>
                <c:pt idx="48">
                  <c:v>104.83</c:v>
                </c:pt>
                <c:pt idx="49">
                  <c:v>103.87</c:v>
                </c:pt>
                <c:pt idx="50">
                  <c:v>100.55</c:v>
                </c:pt>
                <c:pt idx="51">
                  <c:v>95.31</c:v>
                </c:pt>
                <c:pt idx="52">
                  <c:v>99.62</c:v>
                </c:pt>
                <c:pt idx="53">
                  <c:v>98.82</c:v>
                </c:pt>
                <c:pt idx="54">
                  <c:v>102.69</c:v>
                </c:pt>
                <c:pt idx="55">
                  <c:v>102.26</c:v>
                </c:pt>
                <c:pt idx="56">
                  <c:v>103.99</c:v>
                </c:pt>
                <c:pt idx="57">
                  <c:v>108.12</c:v>
                </c:pt>
                <c:pt idx="58">
                  <c:v>108.7</c:v>
                </c:pt>
                <c:pt idx="59">
                  <c:v>111.15</c:v>
                </c:pt>
                <c:pt idx="60">
                  <c:v>111.57</c:v>
                </c:pt>
                <c:pt idx="61">
                  <c:v>108.14</c:v>
                </c:pt>
                <c:pt idx="62">
                  <c:v>104.5</c:v>
                </c:pt>
                <c:pt idx="63">
                  <c:v>107.49</c:v>
                </c:pt>
                <c:pt idx="64">
                  <c:v>103.08</c:v>
                </c:pt>
                <c:pt idx="65">
                  <c:v>101.13</c:v>
                </c:pt>
                <c:pt idx="66">
                  <c:v>97.81</c:v>
                </c:pt>
                <c:pt idx="67">
                  <c:v>99.55</c:v>
                </c:pt>
                <c:pt idx="68">
                  <c:v>98.19</c:v>
                </c:pt>
                <c:pt idx="69">
                  <c:v>101.3</c:v>
                </c:pt>
                <c:pt idx="70">
                  <c:v>103.75</c:v>
                </c:pt>
                <c:pt idx="71">
                  <c:v>102.15</c:v>
                </c:pt>
                <c:pt idx="72">
                  <c:v>104.43</c:v>
                </c:pt>
                <c:pt idx="73">
                  <c:v>103.55</c:v>
                </c:pt>
                <c:pt idx="74">
                  <c:v>104.86</c:v>
                </c:pt>
                <c:pt idx="75">
                  <c:v>105.36</c:v>
                </c:pt>
                <c:pt idx="76">
                  <c:v>102.02</c:v>
                </c:pt>
                <c:pt idx="77">
                  <c:v>99.16</c:v>
                </c:pt>
                <c:pt idx="78">
                  <c:v>99.16</c:v>
                </c:pt>
                <c:pt idx="79">
                  <c:v>98.55</c:v>
                </c:pt>
                <c:pt idx="80">
                  <c:v>101.01</c:v>
                </c:pt>
                <c:pt idx="81">
                  <c:v>102.12</c:v>
                </c:pt>
                <c:pt idx="82">
                  <c:v>101.73</c:v>
                </c:pt>
                <c:pt idx="83">
                  <c:v>103.91</c:v>
                </c:pt>
                <c:pt idx="84">
                  <c:v>105.06</c:v>
                </c:pt>
                <c:pt idx="85">
                  <c:v>105.47</c:v>
                </c:pt>
                <c:pt idx="86">
                  <c:v>105.5</c:v>
                </c:pt>
                <c:pt idx="87">
                  <c:v>103.95</c:v>
                </c:pt>
                <c:pt idx="88">
                  <c:v>105.4</c:v>
                </c:pt>
                <c:pt idx="89">
                  <c:v>100.76</c:v>
                </c:pt>
                <c:pt idx="90">
                  <c:v>101.15</c:v>
                </c:pt>
                <c:pt idx="91">
                  <c:v>101.45</c:v>
                </c:pt>
                <c:pt idx="92">
                  <c:v>104.29</c:v>
                </c:pt>
                <c:pt idx="93">
                  <c:v>103.73</c:v>
                </c:pt>
                <c:pt idx="94">
                  <c:v>104.27</c:v>
                </c:pt>
                <c:pt idx="95">
                  <c:v>104.51</c:v>
                </c:pt>
                <c:pt idx="96">
                  <c:v>104.43</c:v>
                </c:pt>
                <c:pt idx="97">
                  <c:v>104.28</c:v>
                </c:pt>
                <c:pt idx="98">
                  <c:v>105.27</c:v>
                </c:pt>
                <c:pt idx="99">
                  <c:v>107.33</c:v>
                </c:pt>
                <c:pt idx="100">
                  <c:v>107.63</c:v>
                </c:pt>
                <c:pt idx="101">
                  <c:v>109.2</c:v>
                </c:pt>
                <c:pt idx="102">
                  <c:v>109.37</c:v>
                </c:pt>
                <c:pt idx="103">
                  <c:v>110.58</c:v>
                </c:pt>
                <c:pt idx="104">
                  <c:v>108.79</c:v>
                </c:pt>
                <c:pt idx="105">
                  <c:v>110.94</c:v>
                </c:pt>
                <c:pt idx="106">
                  <c:v>108.99</c:v>
                </c:pt>
                <c:pt idx="107">
                  <c:v>109.57</c:v>
                </c:pt>
                <c:pt idx="108">
                  <c:v>111.24</c:v>
                </c:pt>
                <c:pt idx="109">
                  <c:v>113.13</c:v>
                </c:pt>
                <c:pt idx="110">
                  <c:v>110.64</c:v>
                </c:pt>
                <c:pt idx="111">
                  <c:v>110.69</c:v>
                </c:pt>
                <c:pt idx="112">
                  <c:v>108.92</c:v>
                </c:pt>
                <c:pt idx="113">
                  <c:v>110.53</c:v>
                </c:pt>
                <c:pt idx="114">
                  <c:v>113.13</c:v>
                </c:pt>
                <c:pt idx="115">
                  <c:v>112.58</c:v>
                </c:pt>
                <c:pt idx="116">
                  <c:v>113.59</c:v>
                </c:pt>
                <c:pt idx="117">
                  <c:v>110.58</c:v>
                </c:pt>
                <c:pt idx="118">
                  <c:v>110.37</c:v>
                </c:pt>
                <c:pt idx="119">
                  <c:v>110.59</c:v>
                </c:pt>
                <c:pt idx="120">
                  <c:v>111.64</c:v>
                </c:pt>
                <c:pt idx="121">
                  <c:v>108.01</c:v>
                </c:pt>
                <c:pt idx="122">
                  <c:v>105.82</c:v>
                </c:pt>
                <c:pt idx="123">
                  <c:v>110.11</c:v>
                </c:pt>
                <c:pt idx="124">
                  <c:v>111.45</c:v>
                </c:pt>
                <c:pt idx="125">
                  <c:v>112.48</c:v>
                </c:pt>
                <c:pt idx="126">
                  <c:v>113.09</c:v>
                </c:pt>
                <c:pt idx="127">
                  <c:v>115.18</c:v>
                </c:pt>
                <c:pt idx="128">
                  <c:v>116.17</c:v>
                </c:pt>
                <c:pt idx="129">
                  <c:v>117.6</c:v>
                </c:pt>
                <c:pt idx="130">
                  <c:v>117.55</c:v>
                </c:pt>
                <c:pt idx="131">
                  <c:v>117.86</c:v>
                </c:pt>
                <c:pt idx="132">
                  <c:v>116.78</c:v>
                </c:pt>
                <c:pt idx="133">
                  <c:v>118.73</c:v>
                </c:pt>
                <c:pt idx="134">
                  <c:v>119.91</c:v>
                </c:pt>
                <c:pt idx="135">
                  <c:v>121.69</c:v>
                </c:pt>
                <c:pt idx="136">
                  <c:v>123.59</c:v>
                </c:pt>
                <c:pt idx="137">
                  <c:v>125.08</c:v>
                </c:pt>
                <c:pt idx="138">
                  <c:v>125.45</c:v>
                </c:pt>
                <c:pt idx="139">
                  <c:v>126.75</c:v>
                </c:pt>
                <c:pt idx="140">
                  <c:v>127.77</c:v>
                </c:pt>
                <c:pt idx="141">
                  <c:v>126.99</c:v>
                </c:pt>
                <c:pt idx="142">
                  <c:v>127.23</c:v>
                </c:pt>
                <c:pt idx="143">
                  <c:v>130.6</c:v>
                </c:pt>
                <c:pt idx="144">
                  <c:v>131.25</c:v>
                </c:pt>
                <c:pt idx="145">
                  <c:v>129.7</c:v>
                </c:pt>
                <c:pt idx="146">
                  <c:v>130.05</c:v>
                </c:pt>
                <c:pt idx="147">
                  <c:v>125.9</c:v>
                </c:pt>
                <c:pt idx="148">
                  <c:v>128.92</c:v>
                </c:pt>
                <c:pt idx="149">
                  <c:v>128.93</c:v>
                </c:pt>
                <c:pt idx="150">
                  <c:v>131.31</c:v>
                </c:pt>
                <c:pt idx="151">
                  <c:v>132.05</c:v>
                </c:pt>
                <c:pt idx="152">
                  <c:v>132.06</c:v>
                </c:pt>
                <c:pt idx="153">
                  <c:v>131.34</c:v>
                </c:pt>
                <c:pt idx="154">
                  <c:v>133.2</c:v>
                </c:pt>
                <c:pt idx="155">
                  <c:v>135.3</c:v>
                </c:pt>
                <c:pt idx="156">
                  <c:v>136</c:v>
                </c:pt>
                <c:pt idx="157">
                  <c:v>135.74</c:v>
                </c:pt>
                <c:pt idx="158">
                  <c:v>137.07</c:v>
                </c:pt>
                <c:pt idx="159">
                  <c:v>137.79</c:v>
                </c:pt>
                <c:pt idx="160">
                  <c:v>135.24</c:v>
                </c:pt>
                <c:pt idx="161">
                  <c:v>134.55</c:v>
                </c:pt>
                <c:pt idx="162">
                  <c:v>130.89</c:v>
                </c:pt>
                <c:pt idx="163">
                  <c:v>130.88</c:v>
                </c:pt>
                <c:pt idx="164">
                  <c:v>135.29</c:v>
                </c:pt>
                <c:pt idx="165">
                  <c:v>135.47</c:v>
                </c:pt>
                <c:pt idx="166">
                  <c:v>137.28</c:v>
                </c:pt>
                <c:pt idx="167">
                  <c:v>131.36</c:v>
                </c:pt>
                <c:pt idx="168">
                  <c:v>136.13</c:v>
                </c:pt>
                <c:pt idx="169">
                  <c:v>137.06</c:v>
                </c:pt>
                <c:pt idx="170">
                  <c:v>138.55</c:v>
                </c:pt>
                <c:pt idx="171">
                  <c:v>140.15</c:v>
                </c:pt>
                <c:pt idx="172">
                  <c:v>141.77</c:v>
                </c:pt>
                <c:pt idx="173">
                  <c:v>143.72</c:v>
                </c:pt>
                <c:pt idx="174">
                  <c:v>142.27</c:v>
                </c:pt>
                <c:pt idx="175">
                  <c:v>140.3</c:v>
                </c:pt>
                <c:pt idx="176">
                  <c:v>146.72</c:v>
                </c:pt>
                <c:pt idx="177">
                  <c:v>146.56</c:v>
                </c:pt>
                <c:pt idx="178">
                  <c:v>150.59</c:v>
                </c:pt>
                <c:pt idx="179">
                  <c:v>150.19</c:v>
                </c:pt>
                <c:pt idx="180">
                  <c:v>151.97</c:v>
                </c:pt>
                <c:pt idx="181">
                  <c:v>151.58</c:v>
                </c:pt>
                <c:pt idx="182">
                  <c:v>149.15</c:v>
                </c:pt>
                <c:pt idx="183">
                  <c:v>150.12</c:v>
                </c:pt>
                <c:pt idx="184">
                  <c:v>151.37</c:v>
                </c:pt>
                <c:pt idx="185">
                  <c:v>149.57</c:v>
                </c:pt>
                <c:pt idx="186">
                  <c:v>152.87</c:v>
                </c:pt>
                <c:pt idx="187">
                  <c:v>152.86</c:v>
                </c:pt>
                <c:pt idx="188">
                  <c:v>153.86</c:v>
                </c:pt>
                <c:pt idx="189">
                  <c:v>154.48</c:v>
                </c:pt>
                <c:pt idx="190">
                  <c:v>154.75</c:v>
                </c:pt>
                <c:pt idx="191">
                  <c:v>153.36</c:v>
                </c:pt>
                <c:pt idx="192">
                  <c:v>152.69</c:v>
                </c:pt>
                <c:pt idx="193">
                  <c:v>143.65</c:v>
                </c:pt>
                <c:pt idx="194">
                  <c:v>140.81</c:v>
                </c:pt>
                <c:pt idx="195">
                  <c:v>142.61</c:v>
                </c:pt>
                <c:pt idx="196">
                  <c:v>140.41</c:v>
                </c:pt>
                <c:pt idx="197">
                  <c:v>126.6</c:v>
                </c:pt>
                <c:pt idx="198">
                  <c:v>128.09</c:v>
                </c:pt>
                <c:pt idx="199">
                  <c:v>128.15</c:v>
                </c:pt>
                <c:pt idx="200">
                  <c:v>133.26</c:v>
                </c:pt>
                <c:pt idx="201">
                  <c:v>137.2</c:v>
                </c:pt>
                <c:pt idx="202">
                  <c:v>138.02</c:v>
                </c:pt>
                <c:pt idx="203">
                  <c:v>145.22</c:v>
                </c:pt>
                <c:pt idx="204">
                  <c:v>140.63</c:v>
                </c:pt>
                <c:pt idx="205">
                  <c:v>142.82</c:v>
                </c:pt>
                <c:pt idx="206">
                  <c:v>144.29</c:v>
                </c:pt>
                <c:pt idx="207">
                  <c:v>141.88</c:v>
                </c:pt>
                <c:pt idx="208">
                  <c:v>141.56</c:v>
                </c:pt>
                <c:pt idx="209">
                  <c:v>143.7</c:v>
                </c:pt>
                <c:pt idx="210">
                  <c:v>144.86</c:v>
                </c:pt>
                <c:pt idx="211">
                  <c:v>145.41</c:v>
                </c:pt>
                <c:pt idx="212">
                  <c:v>146.68</c:v>
                </c:pt>
                <c:pt idx="213">
                  <c:v>147.87</c:v>
                </c:pt>
                <c:pt idx="214">
                  <c:v>146.33</c:v>
                </c:pt>
                <c:pt idx="215">
                  <c:v>148.78</c:v>
                </c:pt>
                <c:pt idx="216">
                  <c:v>149.9</c:v>
                </c:pt>
                <c:pt idx="217">
                  <c:v>150.52</c:v>
                </c:pt>
                <c:pt idx="218">
                  <c:v>150.18</c:v>
                </c:pt>
                <c:pt idx="219">
                  <c:v>150.3</c:v>
                </c:pt>
                <c:pt idx="220">
                  <c:v>152.65</c:v>
                </c:pt>
                <c:pt idx="221">
                  <c:v>153.75</c:v>
                </c:pt>
                <c:pt idx="222">
                  <c:v>154</c:v>
                </c:pt>
                <c:pt idx="223">
                  <c:v>155.65</c:v>
                </c:pt>
                <c:pt idx="224">
                  <c:v>154.21</c:v>
                </c:pt>
                <c:pt idx="225">
                  <c:v>155.19</c:v>
                </c:pt>
                <c:pt idx="226">
                  <c:v>158.47</c:v>
                </c:pt>
                <c:pt idx="227">
                  <c:v>160.34</c:v>
                </c:pt>
                <c:pt idx="228">
                  <c:v>157.57</c:v>
                </c:pt>
                <c:pt idx="229">
                  <c:v>157.75</c:v>
                </c:pt>
                <c:pt idx="230">
                  <c:v>155.62</c:v>
                </c:pt>
                <c:pt idx="231">
                  <c:v>159.91</c:v>
                </c:pt>
                <c:pt idx="232">
                  <c:v>160.1</c:v>
                </c:pt>
                <c:pt idx="233">
                  <c:v>158.5</c:v>
                </c:pt>
                <c:pt idx="234">
                  <c:v>159.12</c:v>
                </c:pt>
                <c:pt idx="235">
                  <c:v>160.36</c:v>
                </c:pt>
                <c:pt idx="236">
                  <c:v>159.74</c:v>
                </c:pt>
                <c:pt idx="237">
                  <c:v>163.66</c:v>
                </c:pt>
                <c:pt idx="238">
                  <c:v>164.49</c:v>
                </c:pt>
                <c:pt idx="239">
                  <c:v>161.87</c:v>
                </c:pt>
                <c:pt idx="240">
                  <c:v>160.78</c:v>
                </c:pt>
                <c:pt idx="241">
                  <c:v>161.89</c:v>
                </c:pt>
                <c:pt idx="242">
                  <c:v>160.84</c:v>
                </c:pt>
                <c:pt idx="243">
                  <c:v>163.37</c:v>
                </c:pt>
                <c:pt idx="244">
                  <c:v>163.19</c:v>
                </c:pt>
                <c:pt idx="245">
                  <c:v>160.99</c:v>
                </c:pt>
                <c:pt idx="246">
                  <c:v>160.1</c:v>
                </c:pt>
                <c:pt idx="247">
                  <c:v>155.6</c:v>
                </c:pt>
                <c:pt idx="248">
                  <c:v>153.66</c:v>
                </c:pt>
                <c:pt idx="249">
                  <c:v>158.32</c:v>
                </c:pt>
                <c:pt idx="250">
                  <c:v>161.68</c:v>
                </c:pt>
                <c:pt idx="251">
                  <c:v>166.87</c:v>
                </c:pt>
                <c:pt idx="252">
                  <c:v>167.84</c:v>
                </c:pt>
                <c:pt idx="253">
                  <c:v>168.5</c:v>
                </c:pt>
                <c:pt idx="254">
                  <c:v>171.47</c:v>
                </c:pt>
                <c:pt idx="255">
                  <c:v>173.12</c:v>
                </c:pt>
                <c:pt idx="256">
                  <c:v>175.85</c:v>
                </c:pt>
                <c:pt idx="257">
                  <c:v>177.13</c:v>
                </c:pt>
                <c:pt idx="258">
                  <c:v>174.88</c:v>
                </c:pt>
                <c:pt idx="259">
                  <c:v>175.86</c:v>
                </c:pt>
                <c:pt idx="260">
                  <c:v>178.96</c:v>
                </c:pt>
                <c:pt idx="261">
                  <c:v>177.04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80"/>
          <c:min val="60"/>
        </c:scaling>
        <c:delete val="0"/>
        <c:axPos val="l"/>
        <c:majorGridlines>
          <c:spPr>
            <a:ln w="6350" cap="flat">
              <a:solidFill>
                <a:srgbClr val="D5DB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6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Renault (Euronext Paris: RNO)  ·  Noah Doose  ·  Student research, not investment advice  ·  Data as of 29 Oct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7EBE2"/>
                </a:solidFill>
              </a:rPr>
              <a:t>STOCK PITCH  ·  SYSTEMATIC VALUE PORTFOLIO  ·  29 OCTOBER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Renault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4BE"/>
                </a:solidFill>
              </a:rPr>
              <a:t>Euronext Paris: RNO  ·  Consumer Discretionary / Automobiles  ·  France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The cash pile and the finance arm cover the market value: the car business comes almost free</a:t>
            </a:r>
            <a:endParaRPr lang="en-US" sz="2000" dirty="0"/>
          </a:p>
        </p:txBody>
      </p:sp>
      <p:sp>
        <p:nvSpPr>
          <p:cNvPr id="6" name="rating card"/>
          <p:cNvSpPr/>
          <p:nvPr/>
        </p:nvSpPr>
        <p:spPr>
          <a:xfrm>
            <a:off x="8138160" y="960120"/>
            <a:ext cx="3504895" cy="3154680"/>
          </a:xfrm>
          <a:prstGeom prst="roundRect">
            <a:avLst>
              <a:gd name="adj" fmla="val 2319"/>
            </a:avLst>
          </a:prstGeom>
          <a:solidFill>
            <a:srgbClr val="2A322E"/>
          </a:solidFill>
          <a:ln w="9525">
            <a:solidFill>
              <a:srgbClr val="3A45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12344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1234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OVERWEIGHT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378440" y="1234440"/>
            <a:ext cx="1127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Medium-high conviction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1828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Price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0" y="182880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€28.17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Target (base case)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0" y="233172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€36.00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Upside / downside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283464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7FD1AE"/>
                </a:solidFill>
              </a:rPr>
              <a:t>+28%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Horizon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0" y="333756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12-18 months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785616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94"/>
                </a:solidFill>
              </a:rPr>
              <a:t>Price: close, 29 Oct 2026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€7.7bn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Market cap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322244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€6.6bn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3322244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Automotive net cash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095848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4.3x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6095848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P/E 2026e (consensus)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869451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7.8%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8869451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Dividend yield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94"/>
                </a:solidFill>
              </a:rPr>
              <a:t>Noah Doose  ·  MSc Financial Markets &amp; Investments, SKEMA Business School  ·  Student research for educational purposes, not investment advice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01  EXECUTIVE SUMMARY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The cash pile and the finance arm cover the market value: the car business comes almost free</a:t>
            </a:r>
            <a:endParaRPr lang="en-US" sz="2600" dirty="0"/>
          </a:p>
        </p:txBody>
      </p:sp>
      <p:sp>
        <p:nvSpPr>
          <p:cNvPr id="4" name="view panel"/>
          <p:cNvSpPr/>
          <p:nvPr/>
        </p:nvSpPr>
        <p:spPr>
          <a:xfrm>
            <a:off x="548640" y="1691640"/>
            <a:ext cx="3657600" cy="420624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OVERWEIGHT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17"/>
                </a:solidFill>
              </a:rPr>
              <a:t>€36.00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</a:rPr>
              <a:t>base-case value, +28% vs €28.17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Renault trades at about €7.7bn while its car business holds €6.6bn of net cash and its captive bank earns roughly €1.5bn of operating profit a year. The market prices the 2026 margin trough as permanent; we think the reset is done and a product cycle is starting.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91640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17"/>
                </a:solidFill>
              </a:rPr>
              <a:t>The balance sheet is the floor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075688"/>
            <a:ext cx="6476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Automotive net cash of €6.6bn at June 2026 equals about 86% of the market value. Mobilize Financial Services (the former RCI Banque) adds about €1.5bn of annual operating margin and pays dividends to the car business.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3172968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3127248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17"/>
                </a:solidFill>
              </a:rPr>
              <a:t>The reset is done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3511296"/>
            <a:ext cx="6476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Guidance fell from at least 7% margin (early 2025) to about 5.5% for 2026. That guide was confirmed in February, July and October 2026, and the futuREady plan sets a 5-7% through-cycle band. Expectations are now low and credible.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26280" y="4608576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4562856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17"/>
                </a:solidFill>
              </a:rPr>
              <a:t>A product cycle is starting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4946904"/>
            <a:ext cx="6476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futuREady plans 36 launches by 2030 on a two-year development cycle. Clio VI, Boreal, Twingo E-Tech and Duster are already on sale, and Q3 2026 revenue beat consensus (+1.4% at constant FX versus −0.3% expected).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02  COMPANY SNAPSHOT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Renault at a glance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Automotive (~88% of revenue)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9339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Renault, Dacia and Alpine brands; a volume player in European B and C segments, with Dacia as the low-cost brand. 52% of European sales were electrified in H1 2026.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Mobilize Financial Services (~12%)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4495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Captive car finance and leasing. Contributed €753m of operating margin in H1 2026 and pays dividends up to the car business (€250m in H1 2026, about €500m a year targeted).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Nissan stake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9651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About 35% after the 2023-2025 Alliance restructuring, according to press reports. Carried at fair value through equity since June 2025.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463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Geography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4807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No US sales, so US tariffs are a second-order risk. Growth markets are India, Turkey, Morocco and Brazil (Geely partnership in Brazil since September 2026).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766560" y="1645920"/>
          <a:ext cx="487649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company filings; Revenue split, 9M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03  INDUSTRY AND MACRO BACKDROP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moves the stock beyond the company</a:t>
            </a:r>
            <a:endParaRPr lang="en-US" sz="2600" dirty="0"/>
          </a:p>
        </p:txBody>
      </p:sp>
      <p:sp>
        <p:nvSpPr>
          <p:cNvPr id="4" name="macro card 1"/>
          <p:cNvSpPr/>
          <p:nvPr/>
        </p:nvSpPr>
        <p:spPr>
          <a:xfrm>
            <a:off x="548640" y="169164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−6.0%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92024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European car demand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Group volumes in Q3 2026. European demand is flat and Chinese brands are gaining share in the low-cost segment where Dacia plays.</a:t>
            </a:r>
            <a:endParaRPr lang="en-US" sz="1300" dirty="0"/>
          </a:p>
        </p:txBody>
      </p:sp>
      <p:sp>
        <p:nvSpPr>
          <p:cNvPr id="8" name="macro card 2"/>
          <p:cNvSpPr/>
          <p:nvPr/>
        </p:nvSpPr>
        <p:spPr>
          <a:xfrm>
            <a:off x="6278728" y="169164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1874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Middle East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9021928" y="192024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Input costs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69748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The 2026 Middle East conflict lifted raw-material, energy and logistics costs; management expects H2 margin only slightly above H1.</a:t>
            </a:r>
            <a:endParaRPr lang="en-US" sz="1300" dirty="0"/>
          </a:p>
        </p:txBody>
      </p:sp>
      <p:sp>
        <p:nvSpPr>
          <p:cNvPr id="12" name="macro card 3"/>
          <p:cNvSpPr/>
          <p:nvPr/>
        </p:nvSpPr>
        <p:spPr>
          <a:xfrm>
            <a:off x="548640" y="388620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25.8%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411480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EV transition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9204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Share of electric cars in Q3 2026 passenger-car sales. EU CO2 rules force the mix shift and compress pricing.</a:t>
            </a:r>
            <a:endParaRPr lang="en-US" sz="1300" dirty="0"/>
          </a:p>
        </p:txBody>
      </p:sp>
      <p:sp>
        <p:nvSpPr>
          <p:cNvPr id="16" name="macro card 4"/>
          <p:cNvSpPr/>
          <p:nvPr/>
        </p:nvSpPr>
        <p:spPr>
          <a:xfrm>
            <a:off x="6278728" y="388620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53048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BBB−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021928" y="411480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Rates and credit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53048" y="489204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Investment-grade rating (S&amp;P, Dec 2025) lowers funding cost for Mobilize, whose margin depends on rates and used-car prices.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company releases and research brief (see Sources slide)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04  WHY THE SYSTEMATIC SCREEN PICKED IT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Ranked 1 of 102 in Consumer Discretionary on our value score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92240" y="1645920"/>
          <a:ext cx="5150815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92240" y="4251960"/>
            <a:ext cx="51508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A322E"/>
                </a:solidFill>
              </a:rPr>
              <a:t>Composite score 3.48, first of 102 in its sector. </a:t>
            </a:r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The score averages the z-scores above (four ratios as yields). Accounts are used only from fiscal year end + 6 months, so in December 2025 the screen read the accounts for the fiscal year ended December 2024.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Portfolio Project pipeline (Bloomberg data); peers: Stellantis, Volkswagen, Mercedes-Benz, BMW, Toyota, Honda (pipeline peer set, December 2025).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05  TRACK RECORD IN THE PORTFOLIO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Held at 7 of 10 rebalances since June 2021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863840" y="169164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B23A2E"/>
                </a:solidFill>
              </a:rPr>
              <a:t>−24.3%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224028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H1 2026 return (EUR)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74320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A17"/>
                </a:solidFill>
              </a:rPr>
              <a:t>+10.8%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29184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MSCI World Net EUR, H1 2026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79476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A17"/>
                </a:solidFill>
              </a:rPr>
              <a:t>2.0%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34340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Weight, equal weight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84632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A17"/>
                </a:solidFill>
              </a:rPr>
              <a:t>0.5% / 0.5%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539496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Min-variance / mean-variance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pipeline weekly total returns (EUR, net of withholding tax) and portfolio weights at the 31 Dec 2025 rebalance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06  FINANCIAL SNAPSHOT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Reported numbers and guidance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776472"/>
                <a:gridCol w="1828800"/>
                <a:gridCol w="1828800"/>
                <a:gridCol w="1828800"/>
                <a:gridCol w="18288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 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guide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 revenue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€56.2bn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€57.9bn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€30.3bn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Group operating margin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6.3%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~5.5%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income, group share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€0.75bn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−€10.9bn*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€0.7bn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Automotive free cash flow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€1.5bn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€0.65bn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~€1.0bn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Automotive net cash (period end)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€7.3bn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€6.6bn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Dividend per share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€2.20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946904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*Includes a €9.3bn non-cash loss on the Nissan stake. FY2024 revenue derived from the +3.0% growth reported for 2025. Sources: Renault FY2025 and H1 2026 releases.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07  VARIANT PERCEPTION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Where we differ from the market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660"/>
                </a:solidFill>
              </a:rPr>
              <a:t>WHAT THE MARKET BELIEVES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78728" y="164592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6B4F"/>
                </a:solidFill>
              </a:rPr>
              <a:t>OUR 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64328" cy="86868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4907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41A17"/>
                </a:solidFill>
              </a:rPr>
              <a:t>“Chinese competition will crush margins”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2057400"/>
            <a:ext cx="5364328" cy="86868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07328" y="2057400"/>
            <a:ext cx="4907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Volumes are under pressure, but pricing and mix held. The plan cuts variable cost by about €400 per car a year and development time to two years.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5364328" cy="86868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063240"/>
            <a:ext cx="4907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41A17"/>
                </a:solidFill>
              </a:rPr>
              <a:t>“The cash is trapped and will be burnt”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78728" y="3063240"/>
            <a:ext cx="5364328" cy="86868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07328" y="3063240"/>
            <a:ext cx="4907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The car business generated €1.5bn of free cash flow in 2025, S&amp;P upgraded Renault to investment grade (BBB−) in December 2025, and the €2.20 dividend was paid from that cash.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64328" cy="86868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069080"/>
            <a:ext cx="4907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41A17"/>
                </a:solidFill>
              </a:rPr>
              <a:t>“Management keeps cutting guidance”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78728" y="4069080"/>
            <a:ext cx="5364328" cy="86868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07328" y="4069080"/>
            <a:ext cx="4907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The new CEO reset targets once, in July 2025. The 2026 guide has since been confirmed three times.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074920"/>
            <a:ext cx="5364328" cy="86868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5074920"/>
            <a:ext cx="4907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41A17"/>
                </a:solidFill>
              </a:rPr>
              <a:t>“Nissan is a black hole”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78728" y="5074920"/>
            <a:ext cx="5364328" cy="86868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07328" y="5074920"/>
            <a:ext cx="49071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The stake was written down by €9.3bn in 2025. Our valuation gives it no value, so any monetisation is upside.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08  VALUATION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Base-case value €36.00 per share, +28% vs today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4F"/>
                </a:solidFill>
              </a:rPr>
              <a:t>Method: P/E on 2027 earnings, cross-checked with a sum of the parts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583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91840"/>
                <a:gridCol w="1234440"/>
                <a:gridCol w="960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inputs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/ share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price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EPS €4.00 × 5x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 falls below the 5% floor; Chinese price war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€20.00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2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EPS €6.00 × 6x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Margin holds around 5.5-6%; dividend maintained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€36.00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EPS €7.00 × 7x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futuREady savings land; margin back above 6.5%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€49.00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75488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A322E"/>
                </a:solidFill>
              </a:rPr>
              <a:t>We value Renault on 2027 earnings per share at a single-digit P/E, the range European volume carmakers have traded in through the cycle. Consensus implies about €6.6 of 2026 EPS (price / 4.3x); we use €6.0 in the base case to stay below the street. The sum of the parts is a sanity check, not the target.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1645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17"/>
                </a:solidFill>
              </a:rPr>
              <a:t>Valuation range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2240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52-week range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403558" y="2542032"/>
            <a:ext cx="1499022" cy="310896"/>
          </a:xfrm>
          <a:prstGeom prst="rect">
            <a:avLst/>
          </a:prstGeom>
          <a:solidFill>
            <a:srgbClr val="9AAAA2"/>
          </a:solidFill>
          <a:ln w="12700">
            <a:solidFill>
              <a:srgbClr val="9AAAA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06640" y="28803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A17"/>
                </a:solidFill>
              </a:rPr>
              <a:t>€24.38 - €37.97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821608" y="2478024"/>
            <a:ext cx="0" cy="438912"/>
          </a:xfrm>
          <a:prstGeom prst="line">
            <a:avLst/>
          </a:prstGeom>
          <a:noFill/>
          <a:ln w="25400">
            <a:solidFill>
              <a:srgbClr val="141A1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685283" y="2478024"/>
            <a:ext cx="0" cy="438912"/>
          </a:xfrm>
          <a:prstGeom prst="line">
            <a:avLst/>
          </a:prstGeom>
          <a:noFill/>
          <a:ln w="25400">
            <a:solidFill>
              <a:srgbClr val="0E6B4F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7406640" y="32004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Scenario range (bear - bull)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920430" y="3502152"/>
            <a:ext cx="3198796" cy="310896"/>
          </a:xfrm>
          <a:prstGeom prst="rect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06640" y="38404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A17"/>
                </a:solidFill>
              </a:rPr>
              <a:t>€20.00 - €49.00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821608" y="3438144"/>
            <a:ext cx="0" cy="438912"/>
          </a:xfrm>
          <a:prstGeom prst="line">
            <a:avLst/>
          </a:prstGeom>
          <a:noFill/>
          <a:ln w="25400">
            <a:solidFill>
              <a:srgbClr val="141A1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85283" y="3438144"/>
            <a:ext cx="0" cy="438912"/>
          </a:xfrm>
          <a:prstGeom prst="line">
            <a:avLst/>
          </a:prstGeom>
          <a:noFill/>
          <a:ln w="25400">
            <a:solidFill>
              <a:srgbClr val="0E6B4F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7406640" y="41605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Consensus target (third-party)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897065" y="4462272"/>
            <a:ext cx="73152" cy="310896"/>
          </a:xfrm>
          <a:prstGeom prst="rect">
            <a:avLst/>
          </a:prstGeom>
          <a:solidFill>
            <a:srgbClr val="9AAAA2"/>
          </a:solidFill>
          <a:ln w="12700">
            <a:solidFill>
              <a:srgbClr val="9AAAA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0664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A17"/>
                </a:solidFill>
              </a:rPr>
              <a:t>€37.92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821608" y="4398264"/>
            <a:ext cx="0" cy="438912"/>
          </a:xfrm>
          <a:prstGeom prst="line">
            <a:avLst/>
          </a:prstGeom>
          <a:noFill/>
          <a:ln w="25400">
            <a:solidFill>
              <a:srgbClr val="141A1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685283" y="4398264"/>
            <a:ext cx="0" cy="438912"/>
          </a:xfrm>
          <a:prstGeom prst="line">
            <a:avLst/>
          </a:prstGeom>
          <a:noFill/>
          <a:ln w="25400">
            <a:solidFill>
              <a:srgbClr val="0E6B4F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7998648" y="5074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17"/>
                </a:solidFill>
              </a:rPr>
              <a:t>│ Price €28.17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862323" y="5349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6B4F"/>
                </a:solidFill>
              </a:rPr>
              <a:t>┆ Base case €36.00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own valuation; 52-week range and consensus from third-party data (29 Oct 2026)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09  CATALYSTS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could move the stock in the next 12-18 months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395728"/>
            <a:ext cx="10728655" cy="0"/>
          </a:xfrm>
          <a:prstGeom prst="line">
            <a:avLst/>
          </a:prstGeom>
          <a:noFill/>
          <a:ln w="25400">
            <a:solidFill>
              <a:srgbClr val="D5D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Nov-Dec 2026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New Megane E-Tech, Dacia Striker, Sandero hybrid and New Spring launches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58963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7523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Year-end 2026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67523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Inventory back to 525-550k vehicles; free cash flow delivered against the €1.0bn guide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77846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6406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Feb 2027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86406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FY2026 results, dividend proposal, first year of futuREady savings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96729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05289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2026-2027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205289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Mobilize dividends ramping toward €500m a year; any Nissan stake monetisation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15612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24172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Jul 2027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424172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H1 2027 results: first full read of the cost programme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11094415" cy="86868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8006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4F"/>
                </a:solidFill>
              </a:rPr>
              <a:t>The number to watch: </a:t>
            </a:r>
            <a:pPr indent="0" marL="0">
              <a:buNone/>
            </a:pPr>
            <a:r>
              <a:rPr lang="en-US" sz="1500" dirty="0">
                <a:solidFill>
                  <a:srgbClr val="141A17"/>
                </a:solidFill>
              </a:rPr>
              <a:t>2026 operating margin below 5%, or automotive FCF well below €1bn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10  RISKS AND SELL DISCIPLINE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Risks, mitigants and what would make us sell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7665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2004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A1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European price war with Chinese brands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Dacia's cost position; plan cuts €400 of variable cost per car a year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Raw-material and energy inflation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 power held in 2026; costs partly passed through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 of futuREady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Two-year development cycle already used on 2026 launches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Mobilize credit risk if used-car prices fall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Investment-grade funding; diversified retail book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91640"/>
            <a:ext cx="3962095" cy="4160520"/>
          </a:xfrm>
          <a:prstGeom prst="rect">
            <a:avLst/>
          </a:prstGeom>
          <a:solidFill>
            <a:srgbClr val="FBEDEB"/>
          </a:solidFill>
          <a:ln w="12700">
            <a:solidFill>
              <a:srgbClr val="F2C9C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8745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2E"/>
                </a:solidFill>
              </a:rPr>
              <a:t>WE SELL IF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286000"/>
            <a:ext cx="341345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A17"/>
                </a:solidFill>
              </a:rPr>
              <a:t>2026 operating margin below 5%, or automotive FCF well below €1bn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A17"/>
                </a:solidFill>
              </a:rPr>
              <a:t>Automotive net cash below €5bn without a clear use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A17"/>
                </a:solidFill>
              </a:rPr>
              <a:t>Another guidance cut at the February 2027 results, or a dividend cut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11  SOURCES AND DISCLOSURES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Sources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6432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[S1] Renault Group, "H1 2026 results" press release, 29/07/2026, via MFN/GlobeNewswire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[S2] Renault Group, "Renault Group delivers resilient Q3 revenue and confirms its 2026 financial guidance", 29/10/2026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[S3] Ideal Investisseur, summary of Renault FY2025 results, 19/02/2026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[S4] NewMobility News, "Renault's good results overshadowed by recalculation of participation in Nissan", 19/02/2026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[S5] Profit warning and CEO change: Invezz, 16/07/2025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[S6] Renault Group, "Renault Group launches futuREady, opening a new strategic era", 10/03/2026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187288" y="1691640"/>
            <a:ext cx="536432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[S7] Investing.com via Yahoo Finance, "Renault revenue beats estimates as automaker reaffirms 2026 outlook", 29/10/2026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[S8] MarketScreener, Renault finances/consensus page, data 29/10/2026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[S9] StockAnalysis, Renault statistics, data 29/10/2026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[S10] ad-hoc-news, "Renault reports Q3 growth. Renault stock is valued at EUR 8.1 billion", 29/10/2026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Portfolio Project pipeline: scores, multiples, weights and returns computed from Bloomberg data extracted on the SKEMA terminal (Oct 2026).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3949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</a:rPr>
              <a:t>Disclosure: student research prepared for educational purposes and job interviews. It is not investment advice or a solicitation. Third-party market data (prices, consensus, forward multiples) is labelled and was accessed on 29 October 2026; third-party figures should be checked against company filings or a Bloomberg terminal before use. Backtest results are hypothetical.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 Ledger">
  <a:themeElements>
    <a:clrScheme name="Research Ledger">
      <a:dk1>
        <a:srgbClr val="141A17"/>
      </a:dk1>
      <a:lt1>
        <a:srgbClr val="FFFFFF"/>
      </a:lt1>
      <a:dk2>
        <a:srgbClr val="5B6660"/>
      </a:dk2>
      <a:lt2>
        <a:srgbClr val="F2F4F1"/>
      </a:lt2>
      <a:accent1>
        <a:srgbClr val="0E6B4F"/>
      </a:accent1>
      <a:accent2>
        <a:srgbClr val="D7EBE2"/>
      </a:accent2>
      <a:accent3>
        <a:srgbClr val="B23A2E"/>
      </a:accent3>
      <a:accent4>
        <a:srgbClr val="B07A12"/>
      </a:accent4>
      <a:accent5>
        <a:srgbClr val="9AAAA2"/>
      </a:accent5>
      <a:accent6>
        <a:srgbClr val="D5DBD6"/>
      </a:accent6>
      <a:hlink>
        <a:srgbClr val="0E6B4F"/>
      </a:hlink>
      <a:folHlink>
        <a:srgbClr val="5B6660"/>
      </a:folHlink>
    </a:clrScheme>
    <a:fontScheme name="Research Ledg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Noah Doose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Renault stock pitch</dc:title>
  <dc:subject>PptxGenJS Presentation</dc:subject>
  <dc:creator>Noah Doose</dc:creator>
  <cp:lastModifiedBy>Noah Doose</cp:lastModifiedBy>
  <cp:revision>1</cp:revision>
  <dcterms:created xsi:type="dcterms:W3CDTF">2026-10-30T06:38:33Z</dcterms:created>
  <dcterms:modified xsi:type="dcterms:W3CDTF">2026-10-30T06:38:33Z</dcterms:modified>
</cp:coreProperties>
</file>