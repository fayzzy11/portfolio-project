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2d0735d-cc28-20a1-41b9-2ed3522e5b55}">
          <p14:sldIdLst>
            <p14:sldId id="256"/>
          </p14:sldIdLst>
        </p14:section>
        <p14:section name="Thesis" id="{c7b4abd4-5aa7-987b-2668-e39722ca58d7}">
          <p14:sldIdLst>
            <p14:sldId id="257"/>
          </p14:sldIdLst>
        </p14:section>
        <p14:section name="Company" id="{49c56fac-2579-a486-67ff-9dfcbaf9701c}">
          <p14:sldIdLst>
            <p14:sldId id="258"/>
            <p14:sldId id="259"/>
          </p14:sldIdLst>
        </p14:section>
        <p14:section name="Screen" id="{dbe0da7e-9380-7238-dbc7-3a3b452780d7}">
          <p14:sldIdLst>
            <p14:sldId id="260"/>
            <p14:sldId id="261"/>
          </p14:sldIdLst>
        </p14:section>
        <p14:section name="Financials" id="{2903e19a-f93c-4e9e-143e-c4d36987e84d}">
          <p14:sldIdLst>
            <p14:sldId id="262"/>
            <p14:sldId id="263"/>
          </p14:sldIdLst>
        </p14:section>
        <p14:section name="Valuation" id="{c52caf54-9e37-6692-3b82-b44cfa066113}">
          <p14:sldIdLst>
            <p14:sldId id="264"/>
          </p14:sldIdLst>
        </p14:section>
        <p14:section name="Catalysts and risks" id="{81c7cfd6-d1ba-7f26-515b-b5e763e6141f}">
          <p14:sldIdLst>
            <p14:sldId id="265"/>
            <p14:sldId id="266"/>
          </p14:sldIdLst>
        </p14:section>
        <p14:section name="Sources" id="{1dda308a-cecc-c971-102b-5eb41eb763c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Revenue by segment, FY2025 (share of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segment, FY2025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Personal Systems</c:v>
                  </c:pt>
                  <c:pt idx="1">
                    <c:v>Printing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0.697463768115942</c:v>
                </c:pt>
                <c:pt idx="1">
                  <c:v>0.3025362318840579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Multiples at 31 Dec 2025 (last usable fiscal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 Inc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P/FCF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6.97</c:v>
                </c:pt>
                <c:pt idx="1">
                  <c:v>6.83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P/FCF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18.52</c:v>
                </c:pt>
                <c:pt idx="1">
                  <c:v>20.44</c:v>
                </c:pt>
                <c:pt idx="2">
                  <c:v>17.14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Sector median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P/FCF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27.88</c:v>
                </c:pt>
                <c:pt idx="1">
                  <c:v>33.48</c:v>
                </c:pt>
                <c:pt idx="2">
                  <c:v>31.05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Value z-scores within the sector (Dec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EBIT / EV</c:v>
                  </c:pt>
                  <c:pt idx="1">
                    <c:v>Book / price</c:v>
                  </c:pt>
                  <c:pt idx="2">
                    <c:v>FCF yield</c:v>
                  </c:pt>
                  <c:pt idx="3">
                    <c:v>Sales / 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3.7847651846893497</c:v>
                </c:pt>
                <c:pt idx="1">
                  <c:v>-1.244319119958638</c:v>
                </c:pt>
                <c:pt idx="2">
                  <c:v>3.76609940636818</c:v>
                </c:pt>
                <c:pt idx="3">
                  <c:v>3.8575518029455016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Total return in EUR, rebased to 100 (Jun 2021 - Jun 2026, weekly)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 Inc</c:v>
                </c:pt>
              </c:strCache>
            </c:strRef>
          </c:tx>
          <c:spPr>
            <a:solidFill>
              <a:srgbClr val="0E6B4F"/>
            </a:solidFill>
            <a:ln w="25400" cap="flat">
              <a:solidFill>
                <a:srgbClr val="0E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B4F"/>
              </a:solidFill>
              <a:ln w="9525" cap="flat">
                <a:solidFill>
                  <a:srgbClr val="0E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100</c:v>
                </c:pt>
                <c:pt idx="1">
                  <c:v>104.14</c:v>
                </c:pt>
                <c:pt idx="2">
                  <c:v>101.7</c:v>
                </c:pt>
                <c:pt idx="3">
                  <c:v>93.62</c:v>
                </c:pt>
                <c:pt idx="4">
                  <c:v>96.28</c:v>
                </c:pt>
                <c:pt idx="5">
                  <c:v>97.81</c:v>
                </c:pt>
                <c:pt idx="6">
                  <c:v>100.21</c:v>
                </c:pt>
                <c:pt idx="7">
                  <c:v>98.78</c:v>
                </c:pt>
                <c:pt idx="8">
                  <c:v>96.88</c:v>
                </c:pt>
                <c:pt idx="9">
                  <c:v>98.46</c:v>
                </c:pt>
                <c:pt idx="10">
                  <c:v>100.9</c:v>
                </c:pt>
                <c:pt idx="11">
                  <c:v>95.81</c:v>
                </c:pt>
                <c:pt idx="12">
                  <c:v>95.46</c:v>
                </c:pt>
                <c:pt idx="13">
                  <c:v>96.27</c:v>
                </c:pt>
                <c:pt idx="14">
                  <c:v>97.89</c:v>
                </c:pt>
                <c:pt idx="15">
                  <c:v>97.54</c:v>
                </c:pt>
                <c:pt idx="16">
                  <c:v>98.63</c:v>
                </c:pt>
                <c:pt idx="17">
                  <c:v>105.93</c:v>
                </c:pt>
                <c:pt idx="18">
                  <c:v>106.3</c:v>
                </c:pt>
                <c:pt idx="19">
                  <c:v>111.8</c:v>
                </c:pt>
                <c:pt idx="20">
                  <c:v>112.4</c:v>
                </c:pt>
                <c:pt idx="21">
                  <c:v>112.57</c:v>
                </c:pt>
                <c:pt idx="22">
                  <c:v>123.71</c:v>
                </c:pt>
                <c:pt idx="23">
                  <c:v>134.25</c:v>
                </c:pt>
                <c:pt idx="24">
                  <c:v>131.05</c:v>
                </c:pt>
                <c:pt idx="25">
                  <c:v>132.14</c:v>
                </c:pt>
                <c:pt idx="26">
                  <c:v>135.22</c:v>
                </c:pt>
                <c:pt idx="27">
                  <c:v>134.71</c:v>
                </c:pt>
                <c:pt idx="28">
                  <c:v>138.57</c:v>
                </c:pt>
                <c:pt idx="29">
                  <c:v>137.2</c:v>
                </c:pt>
                <c:pt idx="30">
                  <c:v>125.1</c:v>
                </c:pt>
                <c:pt idx="31">
                  <c:v>132.54</c:v>
                </c:pt>
                <c:pt idx="32">
                  <c:v>133.66</c:v>
                </c:pt>
                <c:pt idx="33">
                  <c:v>133.36</c:v>
                </c:pt>
                <c:pt idx="34">
                  <c:v>130.18</c:v>
                </c:pt>
                <c:pt idx="35">
                  <c:v>124.78</c:v>
                </c:pt>
                <c:pt idx="36">
                  <c:v>135.46</c:v>
                </c:pt>
                <c:pt idx="37">
                  <c:v>136.32</c:v>
                </c:pt>
                <c:pt idx="38">
                  <c:v>137.52</c:v>
                </c:pt>
                <c:pt idx="39">
                  <c:v>148.63</c:v>
                </c:pt>
                <c:pt idx="40">
                  <c:v>132.22</c:v>
                </c:pt>
                <c:pt idx="41">
                  <c:v>145.69</c:v>
                </c:pt>
                <c:pt idx="42">
                  <c:v>142.05</c:v>
                </c:pt>
                <c:pt idx="43">
                  <c:v>139.95</c:v>
                </c:pt>
                <c:pt idx="44">
                  <c:v>142.38</c:v>
                </c:pt>
                <c:pt idx="45">
                  <c:v>143.9</c:v>
                </c:pt>
                <c:pt idx="46">
                  <c:v>144.89</c:v>
                </c:pt>
                <c:pt idx="47">
                  <c:v>134.68</c:v>
                </c:pt>
                <c:pt idx="48">
                  <c:v>148.36</c:v>
                </c:pt>
                <c:pt idx="49">
                  <c:v>152.15</c:v>
                </c:pt>
                <c:pt idx="50">
                  <c:v>138.43</c:v>
                </c:pt>
                <c:pt idx="51">
                  <c:v>132.25</c:v>
                </c:pt>
                <c:pt idx="52">
                  <c:v>137.84</c:v>
                </c:pt>
                <c:pt idx="53">
                  <c:v>126.43</c:v>
                </c:pt>
                <c:pt idx="54">
                  <c:v>130.33</c:v>
                </c:pt>
                <c:pt idx="55">
                  <c:v>129.6</c:v>
                </c:pt>
                <c:pt idx="56">
                  <c:v>130.95</c:v>
                </c:pt>
                <c:pt idx="57">
                  <c:v>135.12</c:v>
                </c:pt>
                <c:pt idx="58">
                  <c:v>136.08</c:v>
                </c:pt>
                <c:pt idx="59">
                  <c:v>139.4</c:v>
                </c:pt>
                <c:pt idx="60">
                  <c:v>140.74</c:v>
                </c:pt>
                <c:pt idx="61">
                  <c:v>129.79</c:v>
                </c:pt>
                <c:pt idx="62">
                  <c:v>114.4</c:v>
                </c:pt>
                <c:pt idx="63">
                  <c:v>115.99</c:v>
                </c:pt>
                <c:pt idx="64">
                  <c:v>113.28</c:v>
                </c:pt>
                <c:pt idx="65">
                  <c:v>108.72</c:v>
                </c:pt>
                <c:pt idx="66">
                  <c:v>105.97</c:v>
                </c:pt>
                <c:pt idx="67">
                  <c:v>106.79</c:v>
                </c:pt>
                <c:pt idx="68">
                  <c:v>108.98</c:v>
                </c:pt>
                <c:pt idx="69">
                  <c:v>113.35</c:v>
                </c:pt>
                <c:pt idx="70">
                  <c:v>117.49</c:v>
                </c:pt>
                <c:pt idx="71">
                  <c:v>118.69</c:v>
                </c:pt>
                <c:pt idx="72">
                  <c:v>122.97</c:v>
                </c:pt>
                <c:pt idx="73">
                  <c:v>118.77</c:v>
                </c:pt>
                <c:pt idx="74">
                  <c:v>120.62</c:v>
                </c:pt>
                <c:pt idx="75">
                  <c:v>117.23</c:v>
                </c:pt>
                <c:pt idx="76">
                  <c:v>111.36</c:v>
                </c:pt>
                <c:pt idx="77">
                  <c:v>105.85</c:v>
                </c:pt>
                <c:pt idx="78">
                  <c:v>105.85</c:v>
                </c:pt>
                <c:pt idx="79">
                  <c:v>105.39</c:v>
                </c:pt>
                <c:pt idx="80">
                  <c:v>112</c:v>
                </c:pt>
                <c:pt idx="81">
                  <c:v>108.28</c:v>
                </c:pt>
                <c:pt idx="82">
                  <c:v>108.12</c:v>
                </c:pt>
                <c:pt idx="83">
                  <c:v>113</c:v>
                </c:pt>
                <c:pt idx="84">
                  <c:v>118.4</c:v>
                </c:pt>
                <c:pt idx="85">
                  <c:v>118.02</c:v>
                </c:pt>
                <c:pt idx="86">
                  <c:v>118.65</c:v>
                </c:pt>
                <c:pt idx="87">
                  <c:v>116.39</c:v>
                </c:pt>
                <c:pt idx="88">
                  <c:v>113.12</c:v>
                </c:pt>
                <c:pt idx="89">
                  <c:v>109.09</c:v>
                </c:pt>
                <c:pt idx="90">
                  <c:v>111.39</c:v>
                </c:pt>
                <c:pt idx="91">
                  <c:v>109.21</c:v>
                </c:pt>
                <c:pt idx="92">
                  <c:v>114.49</c:v>
                </c:pt>
                <c:pt idx="93">
                  <c:v>113.58</c:v>
                </c:pt>
                <c:pt idx="94">
                  <c:v>115.17</c:v>
                </c:pt>
                <c:pt idx="95">
                  <c:v>113.85</c:v>
                </c:pt>
                <c:pt idx="96">
                  <c:v>114.2</c:v>
                </c:pt>
                <c:pt idx="97">
                  <c:v>115.8</c:v>
                </c:pt>
                <c:pt idx="98">
                  <c:v>112.91</c:v>
                </c:pt>
                <c:pt idx="99">
                  <c:v>119.66</c:v>
                </c:pt>
                <c:pt idx="100">
                  <c:v>123.8</c:v>
                </c:pt>
                <c:pt idx="101">
                  <c:v>120.94</c:v>
                </c:pt>
                <c:pt idx="102">
                  <c:v>117.56</c:v>
                </c:pt>
                <c:pt idx="103">
                  <c:v>121.26</c:v>
                </c:pt>
                <c:pt idx="104">
                  <c:v>116.33</c:v>
                </c:pt>
                <c:pt idx="105">
                  <c:v>120.3</c:v>
                </c:pt>
                <c:pt idx="106">
                  <c:v>121.34</c:v>
                </c:pt>
                <c:pt idx="107">
                  <c:v>124.78</c:v>
                </c:pt>
                <c:pt idx="108">
                  <c:v>123.95</c:v>
                </c:pt>
                <c:pt idx="109">
                  <c:v>126.57</c:v>
                </c:pt>
                <c:pt idx="110">
                  <c:v>125.7</c:v>
                </c:pt>
                <c:pt idx="111">
                  <c:v>128.03</c:v>
                </c:pt>
                <c:pt idx="112">
                  <c:v>122.17</c:v>
                </c:pt>
                <c:pt idx="113">
                  <c:v>122.17</c:v>
                </c:pt>
                <c:pt idx="114">
                  <c:v>120.44</c:v>
                </c:pt>
                <c:pt idx="115">
                  <c:v>117.66</c:v>
                </c:pt>
                <c:pt idx="116">
                  <c:v>110.55</c:v>
                </c:pt>
                <c:pt idx="117">
                  <c:v>108.41</c:v>
                </c:pt>
                <c:pt idx="118">
                  <c:v>104.84</c:v>
                </c:pt>
                <c:pt idx="119">
                  <c:v>105.65</c:v>
                </c:pt>
                <c:pt idx="120">
                  <c:v>108.81</c:v>
                </c:pt>
                <c:pt idx="121">
                  <c:v>105.98</c:v>
                </c:pt>
                <c:pt idx="122">
                  <c:v>105.36</c:v>
                </c:pt>
                <c:pt idx="123">
                  <c:v>110.2</c:v>
                </c:pt>
                <c:pt idx="124">
                  <c:v>111.61</c:v>
                </c:pt>
                <c:pt idx="125">
                  <c:v>112.18</c:v>
                </c:pt>
                <c:pt idx="126">
                  <c:v>112.96</c:v>
                </c:pt>
                <c:pt idx="127">
                  <c:v>116.98</c:v>
                </c:pt>
                <c:pt idx="128">
                  <c:v>118.19</c:v>
                </c:pt>
                <c:pt idx="129">
                  <c:v>122.86</c:v>
                </c:pt>
                <c:pt idx="130">
                  <c:v>119.3</c:v>
                </c:pt>
                <c:pt idx="131">
                  <c:v>118.43</c:v>
                </c:pt>
                <c:pt idx="132">
                  <c:v>119.15</c:v>
                </c:pt>
                <c:pt idx="133">
                  <c:v>118.55</c:v>
                </c:pt>
                <c:pt idx="134">
                  <c:v>116.44</c:v>
                </c:pt>
                <c:pt idx="135">
                  <c:v>120.25</c:v>
                </c:pt>
                <c:pt idx="136">
                  <c:v>115.81</c:v>
                </c:pt>
                <c:pt idx="137">
                  <c:v>114.74</c:v>
                </c:pt>
                <c:pt idx="138">
                  <c:v>115.47</c:v>
                </c:pt>
                <c:pt idx="139">
                  <c:v>117.75</c:v>
                </c:pt>
                <c:pt idx="140">
                  <c:v>118.17</c:v>
                </c:pt>
                <c:pt idx="141">
                  <c:v>122.37</c:v>
                </c:pt>
                <c:pt idx="142">
                  <c:v>122.81</c:v>
                </c:pt>
                <c:pt idx="143">
                  <c:v>122.19</c:v>
                </c:pt>
                <c:pt idx="144">
                  <c:v>122.99</c:v>
                </c:pt>
                <c:pt idx="145">
                  <c:v>118.04</c:v>
                </c:pt>
                <c:pt idx="146">
                  <c:v>117.8</c:v>
                </c:pt>
                <c:pt idx="147">
                  <c:v>114.69</c:v>
                </c:pt>
                <c:pt idx="148">
                  <c:v>115.03</c:v>
                </c:pt>
                <c:pt idx="149">
                  <c:v>115.03</c:v>
                </c:pt>
                <c:pt idx="150">
                  <c:v>121.18</c:v>
                </c:pt>
                <c:pt idx="151">
                  <c:v>126.09</c:v>
                </c:pt>
                <c:pt idx="152">
                  <c:v>132.66</c:v>
                </c:pt>
                <c:pt idx="153">
                  <c:v>147.85</c:v>
                </c:pt>
                <c:pt idx="154">
                  <c:v>148.23</c:v>
                </c:pt>
                <c:pt idx="155">
                  <c:v>146.92</c:v>
                </c:pt>
                <c:pt idx="156">
                  <c:v>150.61</c:v>
                </c:pt>
                <c:pt idx="157">
                  <c:v>144.69</c:v>
                </c:pt>
                <c:pt idx="158">
                  <c:v>141.63</c:v>
                </c:pt>
                <c:pt idx="159">
                  <c:v>149.13</c:v>
                </c:pt>
                <c:pt idx="160">
                  <c:v>151.11</c:v>
                </c:pt>
                <c:pt idx="161">
                  <c:v>148.09</c:v>
                </c:pt>
                <c:pt idx="162">
                  <c:v>136.82</c:v>
                </c:pt>
                <c:pt idx="163">
                  <c:v>136</c:v>
                </c:pt>
                <c:pt idx="164">
                  <c:v>144.49</c:v>
                </c:pt>
                <c:pt idx="165">
                  <c:v>141.3</c:v>
                </c:pt>
                <c:pt idx="166">
                  <c:v>144.97</c:v>
                </c:pt>
                <c:pt idx="167">
                  <c:v>135.18</c:v>
                </c:pt>
                <c:pt idx="168">
                  <c:v>134.2</c:v>
                </c:pt>
                <c:pt idx="169">
                  <c:v>138.87</c:v>
                </c:pt>
                <c:pt idx="170">
                  <c:v>141.75</c:v>
                </c:pt>
                <c:pt idx="171">
                  <c:v>146.6</c:v>
                </c:pt>
                <c:pt idx="172">
                  <c:v>150.96</c:v>
                </c:pt>
                <c:pt idx="173">
                  <c:v>153.15</c:v>
                </c:pt>
                <c:pt idx="174">
                  <c:v>152.38</c:v>
                </c:pt>
                <c:pt idx="175">
                  <c:v>149.47</c:v>
                </c:pt>
                <c:pt idx="176">
                  <c:v>153.49</c:v>
                </c:pt>
                <c:pt idx="177">
                  <c:v>155.4</c:v>
                </c:pt>
                <c:pt idx="178">
                  <c:v>163.38</c:v>
                </c:pt>
                <c:pt idx="179">
                  <c:v>149.67</c:v>
                </c:pt>
                <c:pt idx="180">
                  <c:v>153.17</c:v>
                </c:pt>
                <c:pt idx="181">
                  <c:v>148.18</c:v>
                </c:pt>
                <c:pt idx="182">
                  <c:v>142.18</c:v>
                </c:pt>
                <c:pt idx="183">
                  <c:v>143.76</c:v>
                </c:pt>
                <c:pt idx="184">
                  <c:v>144.86</c:v>
                </c:pt>
                <c:pt idx="185">
                  <c:v>145.88</c:v>
                </c:pt>
                <c:pt idx="186">
                  <c:v>142.35</c:v>
                </c:pt>
                <c:pt idx="187">
                  <c:v>140.17</c:v>
                </c:pt>
                <c:pt idx="188">
                  <c:v>140.4</c:v>
                </c:pt>
                <c:pt idx="189">
                  <c:v>140.73</c:v>
                </c:pt>
                <c:pt idx="190">
                  <c:v>144.13</c:v>
                </c:pt>
                <c:pt idx="191">
                  <c:v>148.99</c:v>
                </c:pt>
                <c:pt idx="192">
                  <c:v>133.66</c:v>
                </c:pt>
                <c:pt idx="193">
                  <c:v>126.79</c:v>
                </c:pt>
                <c:pt idx="194">
                  <c:v>118.72</c:v>
                </c:pt>
                <c:pt idx="195">
                  <c:v>120.51</c:v>
                </c:pt>
                <c:pt idx="196">
                  <c:v>117.26</c:v>
                </c:pt>
                <c:pt idx="197">
                  <c:v>93.72</c:v>
                </c:pt>
                <c:pt idx="198">
                  <c:v>94.28</c:v>
                </c:pt>
                <c:pt idx="199">
                  <c:v>95.47</c:v>
                </c:pt>
                <c:pt idx="200">
                  <c:v>101.12</c:v>
                </c:pt>
                <c:pt idx="201">
                  <c:v>104.25</c:v>
                </c:pt>
                <c:pt idx="202">
                  <c:v>106.87</c:v>
                </c:pt>
                <c:pt idx="203">
                  <c:v>119.64</c:v>
                </c:pt>
                <c:pt idx="204">
                  <c:v>112.03</c:v>
                </c:pt>
                <c:pt idx="205">
                  <c:v>99.77</c:v>
                </c:pt>
                <c:pt idx="206">
                  <c:v>100.56</c:v>
                </c:pt>
                <c:pt idx="207">
                  <c:v>94.9</c:v>
                </c:pt>
                <c:pt idx="208">
                  <c:v>96.13</c:v>
                </c:pt>
                <c:pt idx="209">
                  <c:v>97.2</c:v>
                </c:pt>
                <c:pt idx="210">
                  <c:v>101.76</c:v>
                </c:pt>
                <c:pt idx="211">
                  <c:v>100</c:v>
                </c:pt>
                <c:pt idx="212">
                  <c:v>99.12</c:v>
                </c:pt>
                <c:pt idx="213">
                  <c:v>100.71</c:v>
                </c:pt>
                <c:pt idx="214">
                  <c:v>97.46</c:v>
                </c:pt>
                <c:pt idx="215">
                  <c:v>103.03</c:v>
                </c:pt>
                <c:pt idx="216">
                  <c:v>105.09</c:v>
                </c:pt>
                <c:pt idx="217">
                  <c:v>108.85</c:v>
                </c:pt>
                <c:pt idx="218">
                  <c:v>112.18</c:v>
                </c:pt>
                <c:pt idx="219">
                  <c:v>114.96</c:v>
                </c:pt>
                <c:pt idx="220">
                  <c:v>110.81</c:v>
                </c:pt>
                <c:pt idx="221">
                  <c:v>111.32</c:v>
                </c:pt>
                <c:pt idx="222">
                  <c:v>106.13</c:v>
                </c:pt>
                <c:pt idx="223">
                  <c:v>105.42</c:v>
                </c:pt>
                <c:pt idx="224">
                  <c:v>102.28</c:v>
                </c:pt>
                <c:pt idx="225">
                  <c:v>108.95</c:v>
                </c:pt>
                <c:pt idx="226">
                  <c:v>110.53</c:v>
                </c:pt>
                <c:pt idx="227">
                  <c:v>111.55</c:v>
                </c:pt>
                <c:pt idx="228">
                  <c:v>105.44</c:v>
                </c:pt>
                <c:pt idx="229">
                  <c:v>98.13</c:v>
                </c:pt>
                <c:pt idx="230">
                  <c:v>96.74</c:v>
                </c:pt>
                <c:pt idx="231">
                  <c:v>97.78</c:v>
                </c:pt>
                <c:pt idx="232">
                  <c:v>103.38</c:v>
                </c:pt>
                <c:pt idx="233">
                  <c:v>99</c:v>
                </c:pt>
                <c:pt idx="234">
                  <c:v>93.31</c:v>
                </c:pt>
                <c:pt idx="235">
                  <c:v>92.91</c:v>
                </c:pt>
                <c:pt idx="236">
                  <c:v>88.65</c:v>
                </c:pt>
                <c:pt idx="237">
                  <c:v>86.77</c:v>
                </c:pt>
                <c:pt idx="238">
                  <c:v>82.58</c:v>
                </c:pt>
                <c:pt idx="239">
                  <c:v>77.45</c:v>
                </c:pt>
                <c:pt idx="240">
                  <c:v>76.98</c:v>
                </c:pt>
                <c:pt idx="241">
                  <c:v>78.17</c:v>
                </c:pt>
                <c:pt idx="242">
                  <c:v>76.25</c:v>
                </c:pt>
                <c:pt idx="243">
                  <c:v>74.19</c:v>
                </c:pt>
                <c:pt idx="244">
                  <c:v>75.55</c:v>
                </c:pt>
                <c:pt idx="245">
                  <c:v>78.89</c:v>
                </c:pt>
                <c:pt idx="246">
                  <c:v>79.04</c:v>
                </c:pt>
                <c:pt idx="247">
                  <c:v>75.52</c:v>
                </c:pt>
                <c:pt idx="248">
                  <c:v>80.67</c:v>
                </c:pt>
                <c:pt idx="249">
                  <c:v>80.78</c:v>
                </c:pt>
                <c:pt idx="250">
                  <c:v>74.43</c:v>
                </c:pt>
                <c:pt idx="251">
                  <c:v>80.5</c:v>
                </c:pt>
                <c:pt idx="252">
                  <c:v>80.68</c:v>
                </c:pt>
                <c:pt idx="253">
                  <c:v>84.78</c:v>
                </c:pt>
                <c:pt idx="254">
                  <c:v>92.05</c:v>
                </c:pt>
                <c:pt idx="255">
                  <c:v>85.49</c:v>
                </c:pt>
                <c:pt idx="256">
                  <c:v>103.85</c:v>
                </c:pt>
                <c:pt idx="257">
                  <c:v>110.68</c:v>
                </c:pt>
                <c:pt idx="258">
                  <c:v>105.97</c:v>
                </c:pt>
                <c:pt idx="259">
                  <c:v>105.45</c:v>
                </c:pt>
                <c:pt idx="260">
                  <c:v>99.12</c:v>
                </c:pt>
                <c:pt idx="261">
                  <c:v>97.14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World Net EUR</c:v>
                </c:pt>
              </c:strCache>
            </c:strRef>
          </c:tx>
          <c:spPr>
            <a:solidFill>
              <a:srgbClr val="9AAAA2"/>
            </a:solidFill>
            <a:ln w="25400" cap="flat">
              <a:solidFill>
                <a:srgbClr val="9AAA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AA2"/>
              </a:solidFill>
              <a:ln w="9525" cap="flat">
                <a:solidFill>
                  <a:srgbClr val="9A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100</c:v>
                </c:pt>
                <c:pt idx="1">
                  <c:v>101.65</c:v>
                </c:pt>
                <c:pt idx="2">
                  <c:v>101.72</c:v>
                </c:pt>
                <c:pt idx="3">
                  <c:v>101.25</c:v>
                </c:pt>
                <c:pt idx="4">
                  <c:v>103.28</c:v>
                </c:pt>
                <c:pt idx="5">
                  <c:v>102.35</c:v>
                </c:pt>
                <c:pt idx="6">
                  <c:v>104.19</c:v>
                </c:pt>
                <c:pt idx="7">
                  <c:v>104.86</c:v>
                </c:pt>
                <c:pt idx="8">
                  <c:v>104.39</c:v>
                </c:pt>
                <c:pt idx="9">
                  <c:v>105.27</c:v>
                </c:pt>
                <c:pt idx="10">
                  <c:v>105.49</c:v>
                </c:pt>
                <c:pt idx="11">
                  <c:v>104.52</c:v>
                </c:pt>
                <c:pt idx="12">
                  <c:v>104.54</c:v>
                </c:pt>
                <c:pt idx="13">
                  <c:v>104.99</c:v>
                </c:pt>
                <c:pt idx="14">
                  <c:v>103.36</c:v>
                </c:pt>
                <c:pt idx="15">
                  <c:v>104.31</c:v>
                </c:pt>
                <c:pt idx="16">
                  <c:v>106.29</c:v>
                </c:pt>
                <c:pt idx="17">
                  <c:v>107.34</c:v>
                </c:pt>
                <c:pt idx="18">
                  <c:v>108.86</c:v>
                </c:pt>
                <c:pt idx="19">
                  <c:v>111.02</c:v>
                </c:pt>
                <c:pt idx="20">
                  <c:v>111.83</c:v>
                </c:pt>
                <c:pt idx="21">
                  <c:v>112.98</c:v>
                </c:pt>
                <c:pt idx="22">
                  <c:v>109.93</c:v>
                </c:pt>
                <c:pt idx="23">
                  <c:v>108.71</c:v>
                </c:pt>
                <c:pt idx="24">
                  <c:v>112.07</c:v>
                </c:pt>
                <c:pt idx="25">
                  <c:v>110.68</c:v>
                </c:pt>
                <c:pt idx="26">
                  <c:v>112.51</c:v>
                </c:pt>
                <c:pt idx="27">
                  <c:v>112.98</c:v>
                </c:pt>
                <c:pt idx="28">
                  <c:v>111.35</c:v>
                </c:pt>
                <c:pt idx="29">
                  <c:v>110.37</c:v>
                </c:pt>
                <c:pt idx="30">
                  <c:v>106.03</c:v>
                </c:pt>
                <c:pt idx="31">
                  <c:v>107.08</c:v>
                </c:pt>
                <c:pt idx="32">
                  <c:v>106.43</c:v>
                </c:pt>
                <c:pt idx="33">
                  <c:v>106.05</c:v>
                </c:pt>
                <c:pt idx="34">
                  <c:v>104.72</c:v>
                </c:pt>
                <c:pt idx="35">
                  <c:v>105.54</c:v>
                </c:pt>
                <c:pt idx="36">
                  <c:v>105.67</c:v>
                </c:pt>
                <c:pt idx="37">
                  <c:v>103.22</c:v>
                </c:pt>
                <c:pt idx="38">
                  <c:v>108.65</c:v>
                </c:pt>
                <c:pt idx="39">
                  <c:v>110.71</c:v>
                </c:pt>
                <c:pt idx="40">
                  <c:v>110.56</c:v>
                </c:pt>
                <c:pt idx="41">
                  <c:v>110.61</c:v>
                </c:pt>
                <c:pt idx="42">
                  <c:v>109.69</c:v>
                </c:pt>
                <c:pt idx="43">
                  <c:v>106.87</c:v>
                </c:pt>
                <c:pt idx="44">
                  <c:v>105.92</c:v>
                </c:pt>
                <c:pt idx="45">
                  <c:v>104.38</c:v>
                </c:pt>
                <c:pt idx="46">
                  <c:v>104</c:v>
                </c:pt>
                <c:pt idx="47">
                  <c:v>100.73</c:v>
                </c:pt>
                <c:pt idx="48">
                  <c:v>104.83</c:v>
                </c:pt>
                <c:pt idx="49">
                  <c:v>103.87</c:v>
                </c:pt>
                <c:pt idx="50">
                  <c:v>100.55</c:v>
                </c:pt>
                <c:pt idx="51">
                  <c:v>95.31</c:v>
                </c:pt>
                <c:pt idx="52">
                  <c:v>99.62</c:v>
                </c:pt>
                <c:pt idx="53">
                  <c:v>98.82</c:v>
                </c:pt>
                <c:pt idx="54">
                  <c:v>102.69</c:v>
                </c:pt>
                <c:pt idx="55">
                  <c:v>102.26</c:v>
                </c:pt>
                <c:pt idx="56">
                  <c:v>103.99</c:v>
                </c:pt>
                <c:pt idx="57">
                  <c:v>108.12</c:v>
                </c:pt>
                <c:pt idx="58">
                  <c:v>108.7</c:v>
                </c:pt>
                <c:pt idx="59">
                  <c:v>111.15</c:v>
                </c:pt>
                <c:pt idx="60">
                  <c:v>111.57</c:v>
                </c:pt>
                <c:pt idx="61">
                  <c:v>108.14</c:v>
                </c:pt>
                <c:pt idx="62">
                  <c:v>104.5</c:v>
                </c:pt>
                <c:pt idx="63">
                  <c:v>107.49</c:v>
                </c:pt>
                <c:pt idx="64">
                  <c:v>103.08</c:v>
                </c:pt>
                <c:pt idx="65">
                  <c:v>101.13</c:v>
                </c:pt>
                <c:pt idx="66">
                  <c:v>97.81</c:v>
                </c:pt>
                <c:pt idx="67">
                  <c:v>99.55</c:v>
                </c:pt>
                <c:pt idx="68">
                  <c:v>98.19</c:v>
                </c:pt>
                <c:pt idx="69">
                  <c:v>101.3</c:v>
                </c:pt>
                <c:pt idx="70">
                  <c:v>103.75</c:v>
                </c:pt>
                <c:pt idx="71">
                  <c:v>102.15</c:v>
                </c:pt>
                <c:pt idx="72">
                  <c:v>104.43</c:v>
                </c:pt>
                <c:pt idx="73">
                  <c:v>103.55</c:v>
                </c:pt>
                <c:pt idx="74">
                  <c:v>104.86</c:v>
                </c:pt>
                <c:pt idx="75">
                  <c:v>105.36</c:v>
                </c:pt>
                <c:pt idx="76">
                  <c:v>102.02</c:v>
                </c:pt>
                <c:pt idx="77">
                  <c:v>99.16</c:v>
                </c:pt>
                <c:pt idx="78">
                  <c:v>99.16</c:v>
                </c:pt>
                <c:pt idx="79">
                  <c:v>98.55</c:v>
                </c:pt>
                <c:pt idx="80">
                  <c:v>101.01</c:v>
                </c:pt>
                <c:pt idx="81">
                  <c:v>102.12</c:v>
                </c:pt>
                <c:pt idx="82">
                  <c:v>101.73</c:v>
                </c:pt>
                <c:pt idx="83">
                  <c:v>103.91</c:v>
                </c:pt>
                <c:pt idx="84">
                  <c:v>105.06</c:v>
                </c:pt>
                <c:pt idx="85">
                  <c:v>105.47</c:v>
                </c:pt>
                <c:pt idx="86">
                  <c:v>105.5</c:v>
                </c:pt>
                <c:pt idx="87">
                  <c:v>103.95</c:v>
                </c:pt>
                <c:pt idx="88">
                  <c:v>105.4</c:v>
                </c:pt>
                <c:pt idx="89">
                  <c:v>100.76</c:v>
                </c:pt>
                <c:pt idx="90">
                  <c:v>101.15</c:v>
                </c:pt>
                <c:pt idx="91">
                  <c:v>101.45</c:v>
                </c:pt>
                <c:pt idx="92">
                  <c:v>104.29</c:v>
                </c:pt>
                <c:pt idx="93">
                  <c:v>103.73</c:v>
                </c:pt>
                <c:pt idx="94">
                  <c:v>104.27</c:v>
                </c:pt>
                <c:pt idx="95">
                  <c:v>104.51</c:v>
                </c:pt>
                <c:pt idx="96">
                  <c:v>104.43</c:v>
                </c:pt>
                <c:pt idx="97">
                  <c:v>104.28</c:v>
                </c:pt>
                <c:pt idx="98">
                  <c:v>105.27</c:v>
                </c:pt>
                <c:pt idx="99">
                  <c:v>107.33</c:v>
                </c:pt>
                <c:pt idx="100">
                  <c:v>107.63</c:v>
                </c:pt>
                <c:pt idx="101">
                  <c:v>109.2</c:v>
                </c:pt>
                <c:pt idx="102">
                  <c:v>109.37</c:v>
                </c:pt>
                <c:pt idx="103">
                  <c:v>110.58</c:v>
                </c:pt>
                <c:pt idx="104">
                  <c:v>108.79</c:v>
                </c:pt>
                <c:pt idx="105">
                  <c:v>110.94</c:v>
                </c:pt>
                <c:pt idx="106">
                  <c:v>108.99</c:v>
                </c:pt>
                <c:pt idx="107">
                  <c:v>109.57</c:v>
                </c:pt>
                <c:pt idx="108">
                  <c:v>111.24</c:v>
                </c:pt>
                <c:pt idx="109">
                  <c:v>113.13</c:v>
                </c:pt>
                <c:pt idx="110">
                  <c:v>110.64</c:v>
                </c:pt>
                <c:pt idx="111">
                  <c:v>110.69</c:v>
                </c:pt>
                <c:pt idx="112">
                  <c:v>108.92</c:v>
                </c:pt>
                <c:pt idx="113">
                  <c:v>110.53</c:v>
                </c:pt>
                <c:pt idx="114">
                  <c:v>113.13</c:v>
                </c:pt>
                <c:pt idx="115">
                  <c:v>112.58</c:v>
                </c:pt>
                <c:pt idx="116">
                  <c:v>113.59</c:v>
                </c:pt>
                <c:pt idx="117">
                  <c:v>110.58</c:v>
                </c:pt>
                <c:pt idx="118">
                  <c:v>110.37</c:v>
                </c:pt>
                <c:pt idx="119">
                  <c:v>110.59</c:v>
                </c:pt>
                <c:pt idx="120">
                  <c:v>111.64</c:v>
                </c:pt>
                <c:pt idx="121">
                  <c:v>108.01</c:v>
                </c:pt>
                <c:pt idx="122">
                  <c:v>105.82</c:v>
                </c:pt>
                <c:pt idx="123">
                  <c:v>110.11</c:v>
                </c:pt>
                <c:pt idx="124">
                  <c:v>111.45</c:v>
                </c:pt>
                <c:pt idx="125">
                  <c:v>112.48</c:v>
                </c:pt>
                <c:pt idx="126">
                  <c:v>113.09</c:v>
                </c:pt>
                <c:pt idx="127">
                  <c:v>115.18</c:v>
                </c:pt>
                <c:pt idx="128">
                  <c:v>116.17</c:v>
                </c:pt>
                <c:pt idx="129">
                  <c:v>117.6</c:v>
                </c:pt>
                <c:pt idx="130">
                  <c:v>117.55</c:v>
                </c:pt>
                <c:pt idx="131">
                  <c:v>117.86</c:v>
                </c:pt>
                <c:pt idx="132">
                  <c:v>116.78</c:v>
                </c:pt>
                <c:pt idx="133">
                  <c:v>118.73</c:v>
                </c:pt>
                <c:pt idx="134">
                  <c:v>119.91</c:v>
                </c:pt>
                <c:pt idx="135">
                  <c:v>121.69</c:v>
                </c:pt>
                <c:pt idx="136">
                  <c:v>123.59</c:v>
                </c:pt>
                <c:pt idx="137">
                  <c:v>125.08</c:v>
                </c:pt>
                <c:pt idx="138">
                  <c:v>125.45</c:v>
                </c:pt>
                <c:pt idx="139">
                  <c:v>126.75</c:v>
                </c:pt>
                <c:pt idx="140">
                  <c:v>127.77</c:v>
                </c:pt>
                <c:pt idx="141">
                  <c:v>126.99</c:v>
                </c:pt>
                <c:pt idx="142">
                  <c:v>127.23</c:v>
                </c:pt>
                <c:pt idx="143">
                  <c:v>130.6</c:v>
                </c:pt>
                <c:pt idx="144">
                  <c:v>131.25</c:v>
                </c:pt>
                <c:pt idx="145">
                  <c:v>129.7</c:v>
                </c:pt>
                <c:pt idx="146">
                  <c:v>130.05</c:v>
                </c:pt>
                <c:pt idx="147">
                  <c:v>125.9</c:v>
                </c:pt>
                <c:pt idx="148">
                  <c:v>128.92</c:v>
                </c:pt>
                <c:pt idx="149">
                  <c:v>128.93</c:v>
                </c:pt>
                <c:pt idx="150">
                  <c:v>131.31</c:v>
                </c:pt>
                <c:pt idx="151">
                  <c:v>132.05</c:v>
                </c:pt>
                <c:pt idx="152">
                  <c:v>132.06</c:v>
                </c:pt>
                <c:pt idx="153">
                  <c:v>131.34</c:v>
                </c:pt>
                <c:pt idx="154">
                  <c:v>133.2</c:v>
                </c:pt>
                <c:pt idx="155">
                  <c:v>135.3</c:v>
                </c:pt>
                <c:pt idx="156">
                  <c:v>136</c:v>
                </c:pt>
                <c:pt idx="157">
                  <c:v>135.74</c:v>
                </c:pt>
                <c:pt idx="158">
                  <c:v>137.07</c:v>
                </c:pt>
                <c:pt idx="159">
                  <c:v>137.79</c:v>
                </c:pt>
                <c:pt idx="160">
                  <c:v>135.24</c:v>
                </c:pt>
                <c:pt idx="161">
                  <c:v>134.55</c:v>
                </c:pt>
                <c:pt idx="162">
                  <c:v>130.89</c:v>
                </c:pt>
                <c:pt idx="163">
                  <c:v>130.88</c:v>
                </c:pt>
                <c:pt idx="164">
                  <c:v>135.29</c:v>
                </c:pt>
                <c:pt idx="165">
                  <c:v>135.47</c:v>
                </c:pt>
                <c:pt idx="166">
                  <c:v>137.28</c:v>
                </c:pt>
                <c:pt idx="167">
                  <c:v>131.36</c:v>
                </c:pt>
                <c:pt idx="168">
                  <c:v>136.13</c:v>
                </c:pt>
                <c:pt idx="169">
                  <c:v>137.06</c:v>
                </c:pt>
                <c:pt idx="170">
                  <c:v>138.55</c:v>
                </c:pt>
                <c:pt idx="171">
                  <c:v>140.15</c:v>
                </c:pt>
                <c:pt idx="172">
                  <c:v>141.77</c:v>
                </c:pt>
                <c:pt idx="173">
                  <c:v>143.72</c:v>
                </c:pt>
                <c:pt idx="174">
                  <c:v>142.27</c:v>
                </c:pt>
                <c:pt idx="175">
                  <c:v>140.3</c:v>
                </c:pt>
                <c:pt idx="176">
                  <c:v>146.72</c:v>
                </c:pt>
                <c:pt idx="177">
                  <c:v>146.56</c:v>
                </c:pt>
                <c:pt idx="178">
                  <c:v>150.59</c:v>
                </c:pt>
                <c:pt idx="179">
                  <c:v>150.19</c:v>
                </c:pt>
                <c:pt idx="180">
                  <c:v>151.97</c:v>
                </c:pt>
                <c:pt idx="181">
                  <c:v>151.58</c:v>
                </c:pt>
                <c:pt idx="182">
                  <c:v>149.15</c:v>
                </c:pt>
                <c:pt idx="183">
                  <c:v>150.12</c:v>
                </c:pt>
                <c:pt idx="184">
                  <c:v>151.37</c:v>
                </c:pt>
                <c:pt idx="185">
                  <c:v>149.57</c:v>
                </c:pt>
                <c:pt idx="186">
                  <c:v>152.87</c:v>
                </c:pt>
                <c:pt idx="187">
                  <c:v>152.86</c:v>
                </c:pt>
                <c:pt idx="188">
                  <c:v>153.86</c:v>
                </c:pt>
                <c:pt idx="189">
                  <c:v>154.48</c:v>
                </c:pt>
                <c:pt idx="190">
                  <c:v>154.75</c:v>
                </c:pt>
                <c:pt idx="191">
                  <c:v>153.36</c:v>
                </c:pt>
                <c:pt idx="192">
                  <c:v>152.69</c:v>
                </c:pt>
                <c:pt idx="193">
                  <c:v>143.65</c:v>
                </c:pt>
                <c:pt idx="194">
                  <c:v>140.81</c:v>
                </c:pt>
                <c:pt idx="195">
                  <c:v>142.61</c:v>
                </c:pt>
                <c:pt idx="196">
                  <c:v>140.41</c:v>
                </c:pt>
                <c:pt idx="197">
                  <c:v>126.6</c:v>
                </c:pt>
                <c:pt idx="198">
                  <c:v>128.09</c:v>
                </c:pt>
                <c:pt idx="199">
                  <c:v>128.15</c:v>
                </c:pt>
                <c:pt idx="200">
                  <c:v>133.26</c:v>
                </c:pt>
                <c:pt idx="201">
                  <c:v>137.2</c:v>
                </c:pt>
                <c:pt idx="202">
                  <c:v>138.02</c:v>
                </c:pt>
                <c:pt idx="203">
                  <c:v>145.22</c:v>
                </c:pt>
                <c:pt idx="204">
                  <c:v>140.63</c:v>
                </c:pt>
                <c:pt idx="205">
                  <c:v>142.82</c:v>
                </c:pt>
                <c:pt idx="206">
                  <c:v>144.29</c:v>
                </c:pt>
                <c:pt idx="207">
                  <c:v>141.88</c:v>
                </c:pt>
                <c:pt idx="208">
                  <c:v>141.56</c:v>
                </c:pt>
                <c:pt idx="209">
                  <c:v>143.7</c:v>
                </c:pt>
                <c:pt idx="210">
                  <c:v>144.86</c:v>
                </c:pt>
                <c:pt idx="211">
                  <c:v>145.41</c:v>
                </c:pt>
                <c:pt idx="212">
                  <c:v>146.68</c:v>
                </c:pt>
                <c:pt idx="213">
                  <c:v>147.87</c:v>
                </c:pt>
                <c:pt idx="214">
                  <c:v>146.33</c:v>
                </c:pt>
                <c:pt idx="215">
                  <c:v>148.78</c:v>
                </c:pt>
                <c:pt idx="216">
                  <c:v>149.9</c:v>
                </c:pt>
                <c:pt idx="217">
                  <c:v>150.52</c:v>
                </c:pt>
                <c:pt idx="218">
                  <c:v>150.18</c:v>
                </c:pt>
                <c:pt idx="219">
                  <c:v>150.3</c:v>
                </c:pt>
                <c:pt idx="220">
                  <c:v>152.65</c:v>
                </c:pt>
                <c:pt idx="221">
                  <c:v>153.75</c:v>
                </c:pt>
                <c:pt idx="222">
                  <c:v>154</c:v>
                </c:pt>
                <c:pt idx="223">
                  <c:v>155.65</c:v>
                </c:pt>
                <c:pt idx="224">
                  <c:v>154.21</c:v>
                </c:pt>
                <c:pt idx="225">
                  <c:v>155.19</c:v>
                </c:pt>
                <c:pt idx="226">
                  <c:v>158.47</c:v>
                </c:pt>
                <c:pt idx="227">
                  <c:v>160.34</c:v>
                </c:pt>
                <c:pt idx="228">
                  <c:v>157.57</c:v>
                </c:pt>
                <c:pt idx="229">
                  <c:v>157.75</c:v>
                </c:pt>
                <c:pt idx="230">
                  <c:v>155.62</c:v>
                </c:pt>
                <c:pt idx="231">
                  <c:v>159.91</c:v>
                </c:pt>
                <c:pt idx="232">
                  <c:v>160.1</c:v>
                </c:pt>
                <c:pt idx="233">
                  <c:v>158.5</c:v>
                </c:pt>
                <c:pt idx="234">
                  <c:v>159.12</c:v>
                </c:pt>
                <c:pt idx="235">
                  <c:v>160.36</c:v>
                </c:pt>
                <c:pt idx="236">
                  <c:v>159.74</c:v>
                </c:pt>
                <c:pt idx="237">
                  <c:v>163.66</c:v>
                </c:pt>
                <c:pt idx="238">
                  <c:v>164.49</c:v>
                </c:pt>
                <c:pt idx="239">
                  <c:v>161.87</c:v>
                </c:pt>
                <c:pt idx="240">
                  <c:v>160.78</c:v>
                </c:pt>
                <c:pt idx="241">
                  <c:v>161.89</c:v>
                </c:pt>
                <c:pt idx="242">
                  <c:v>160.84</c:v>
                </c:pt>
                <c:pt idx="243">
                  <c:v>163.37</c:v>
                </c:pt>
                <c:pt idx="244">
                  <c:v>163.19</c:v>
                </c:pt>
                <c:pt idx="245">
                  <c:v>160.99</c:v>
                </c:pt>
                <c:pt idx="246">
                  <c:v>160.1</c:v>
                </c:pt>
                <c:pt idx="247">
                  <c:v>155.6</c:v>
                </c:pt>
                <c:pt idx="248">
                  <c:v>153.66</c:v>
                </c:pt>
                <c:pt idx="249">
                  <c:v>158.32</c:v>
                </c:pt>
                <c:pt idx="250">
                  <c:v>161.68</c:v>
                </c:pt>
                <c:pt idx="251">
                  <c:v>166.87</c:v>
                </c:pt>
                <c:pt idx="252">
                  <c:v>167.84</c:v>
                </c:pt>
                <c:pt idx="253">
                  <c:v>168.5</c:v>
                </c:pt>
                <c:pt idx="254">
                  <c:v>171.47</c:v>
                </c:pt>
                <c:pt idx="255">
                  <c:v>173.12</c:v>
                </c:pt>
                <c:pt idx="256">
                  <c:v>175.85</c:v>
                </c:pt>
                <c:pt idx="257">
                  <c:v>177.13</c:v>
                </c:pt>
                <c:pt idx="258">
                  <c:v>174.88</c:v>
                </c:pt>
                <c:pt idx="259">
                  <c:v>175.86</c:v>
                </c:pt>
                <c:pt idx="260">
                  <c:v>178.96</c:v>
                </c:pt>
                <c:pt idx="261">
                  <c:v>177.04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80"/>
          <c:min val="60"/>
        </c:scaling>
        <c:delete val="0"/>
        <c:axPos val="l"/>
        <c:majorGridlines>
          <c:spPr>
            <a:ln w="6350" cap="flat">
              <a:solidFill>
                <a:srgbClr val="D5DB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HP Inc (NYSE: HPQ)  ·  Noah Doose  ·  Student research, not investment advice  ·  Data as of 29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BE2"/>
                </a:solidFill>
              </a:rPr>
              <a:t>STOCK PITCH  ·  SYSTEMATIC VALUE PORTFOLIO  ·  29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HP Inc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E"/>
                </a:solidFill>
              </a:rPr>
              <a:t>NYSE: HPQ  ·  Information Technology / Technology hardware  ·  United States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cash machine priced for decline: about 10x earnings and a 10% free-cash-flow yield</a:t>
            </a:r>
            <a:endParaRPr lang="en-US" sz="2000" dirty="0"/>
          </a:p>
        </p:txBody>
      </p:sp>
      <p:sp>
        <p:nvSpPr>
          <p:cNvPr id="6" name="rating card"/>
          <p:cNvSpPr/>
          <p:nvPr/>
        </p:nvSpPr>
        <p:spPr>
          <a:xfrm>
            <a:off x="8138160" y="960120"/>
            <a:ext cx="3504895" cy="3154680"/>
          </a:xfrm>
          <a:prstGeom prst="roundRect">
            <a:avLst>
              <a:gd name="adj" fmla="val 2319"/>
            </a:avLst>
          </a:prstGeom>
          <a:solidFill>
            <a:srgbClr val="2A322E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OVERWEIGHT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234440"/>
            <a:ext cx="112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Medium conviction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Price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82880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$32.36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Target (base case)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33172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$39.14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Upside / downside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3464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FD1AE"/>
                </a:solidFill>
              </a:rPr>
              <a:t>+21%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Horizon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33756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 months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856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Price: intraday, 29 Oct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$29.2bn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Market cap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$3.0-3.2bn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22244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FY26 FCF guide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~10x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P/E on FY26 guide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3.7%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869451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Dividend yield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Noah Doose  ·  MSc Financial Markets &amp; Investments, SKEMA Business School  ·  Student research for educational purposes,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 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cash machine priced for decline: about 10x earnings and a 10% free-cash-flow yield</a:t>
            </a:r>
            <a:endParaRPr lang="en-US" sz="2600" dirty="0"/>
          </a:p>
        </p:txBody>
      </p:sp>
      <p:sp>
        <p:nvSpPr>
          <p:cNvPr id="4" name="view panel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OVERWEIGHT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17"/>
                </a:solidFill>
              </a:rPr>
              <a:t>$39.14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base-case value, +21% vs $32.36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HP generates about $3bn of free cash flow a year and returns most of it. At $32 the stock trades at about 10x fiscal 2026 earnings and a 10.6% FCF yield, as if printing were about to collapse. We think memory-cost pressure peaks now and the cost programme supports margins into fiscal 2027.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Cash yield is the valuation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75688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FY2026 FCF guidance was raised to $3.0-3.2bn in August 2026: about 10.6% of the market cap at the midpoint. HP returned $1.9bn (66% of FCF) to shareholders in FY2025 and raised the dividend to $0.30 a quarter.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127248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The margin squeeze is temporary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511296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Management expects DRAM and NAND costs to peak in Q4 FY2026 (Aug-Oct) and Personal Systems margins (4.6% in Q3) to recover sequentially in FY2027. The $1bn gross savings programme runs to FY2028.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08576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562856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Printing still funds the story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46904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Printing is 30% of revenue but earns an 18-19% margin. It declines about 2% a year, slowly enough to keep funding buybacks and dividends.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 COMPANY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HP Inc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Personal 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PCs, workstations and peripherals: $38.5bn of FY2025 revenue at a 5.3% operating margin.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Printing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Supplies (ink and toner), hardware and industrial graphics: $16.7bn at an 18.7% margin.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Growth areas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AI PCs with dedicated neural processors, workstations and services.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Capital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Negative book equity after years of buybacks; net debt about $5bn (own calculation).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66560" y="1645920"/>
          <a:ext cx="48764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filings; Revenue by segment, FY2025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 INDUSTRY AND MACRO BACKDROP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moves the stock beyond the company</a:t>
            </a:r>
            <a:endParaRPr lang="en-US" sz="2600" dirty="0"/>
          </a:p>
        </p:txBody>
      </p:sp>
      <p:sp>
        <p:nvSpPr>
          <p:cNvPr id="4" name="macro card 1"/>
          <p:cNvSpPr/>
          <p:nvPr/>
        </p:nvSpPr>
        <p:spPr>
          <a:xfrm>
            <a:off x="548640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Q4 FY26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Memory prices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DRAM and NAND inflation squeezes PC margins; management expects the peak in Aug-Oct 2026.</a:t>
            </a:r>
            <a:endParaRPr lang="en-US" sz="1300" dirty="0"/>
          </a:p>
        </p:txBody>
      </p:sp>
      <p:sp>
        <p:nvSpPr>
          <p:cNvPr id="8" name="macro card 2"/>
          <p:cNvSpPr/>
          <p:nvPr/>
        </p:nvSpPr>
        <p:spPr>
          <a:xfrm>
            <a:off x="6278728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Oct 2025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021928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Windows 10 end of support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Drove a commercial refresh: Personal Systems revenue +18% in Q3 FY2026.</a:t>
            </a:r>
            <a:endParaRPr lang="en-US" sz="1300" dirty="0"/>
          </a:p>
        </p:txBody>
      </p:sp>
      <p:sp>
        <p:nvSpPr>
          <p:cNvPr id="12" name="macro card 3"/>
          <p:cNvSpPr/>
          <p:nvPr/>
        </p:nvSpPr>
        <p:spPr>
          <a:xfrm>
            <a:off x="548640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$0.19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US tariffs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IEEPA tariffs struck down in February 2026; FY26 EPS includes $0.19 of one-off refunds.</a:t>
            </a:r>
            <a:endParaRPr lang="en-US" sz="1300" dirty="0"/>
          </a:p>
        </p:txBody>
      </p:sp>
      <p:sp>
        <p:nvSpPr>
          <p:cNvPr id="16" name="macro card 4"/>
          <p:cNvSpPr/>
          <p:nvPr/>
        </p:nvSpPr>
        <p:spPr>
          <a:xfrm>
            <a:off x="6278728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Mix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AI PCs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Higher-spec machines lift average selling prices as the installed base renews.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releases and research brief (see Sources slide)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 WHY THE SYSTEMATIC SCREEN PICKED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Ranked 2 of 128 in Information Technology on our value 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645920"/>
          <a:ext cx="51508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251960"/>
            <a:ext cx="5150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322E"/>
                </a:solidFill>
              </a:rPr>
              <a:t>Composite score 2.54, rank 2 of 128 in its sector. </a:t>
            </a:r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score averages the z-scores above (four ratios as yields). Accounts are used only from fiscal year end + 6 months, so in December 2025 the screen read the accounts for the fiscal year ended October 2024.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Portfolio Project pipeline (Bloomberg data); peers: Dell Technologies, Hewlett Packard Enterprise, Logitech, Canon (pipeline peer set).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05  TRACK RECORD IN THE 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Held at 10 of 10 rebalances since June 2021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9164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23A2E"/>
                </a:solidFill>
              </a:rPr>
              <a:t>+8.7%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H1 2026 return (EUR)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7432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+10.8%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91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MSCI World Net EUR, H1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9476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Weight, equal weight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4632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2.8% / 0.5%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394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Min-variance / mean-variance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pipeline weekly total returns (EUR, net of withholding tax) and portfolio weights at the 31 Dec 2025 rebalance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 FINANCIAL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Reported numbers and guidance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FY2026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 guide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$53.6bn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$55.3bn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$15.7bn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Systems margin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trough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Printing margin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Non-GAAP diluted EPS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$3.19-3.29*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 flow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$3.0-3.2bn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Shareholder returns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$0.3bn buyback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4690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*Includes $0.19 of one-off tariff refunds. Fiscal year ends 31 October. FY2024 revenue derived from the +3.2% reported for FY2025. Sources: HP Q4 FY2025 and Q3 FY2026 releases.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 VARIANT PERCEPTION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we differ from the market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60"/>
                </a:solidFill>
              </a:rPr>
              <a:t>WHAT THE MARKET BELIEVES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OUR 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“Printing is in terminal decline”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740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Revenue falls about 2% a year and the margin holds above 18%. A slow decline is priced as a fast 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9852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“FY2026 PC demand was pulled forward by Windows 10”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39852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Partly true. We use a base FCF of $3.0bn, below the guided midpoint, and exclude tariff refunds.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3964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“An interim CEO means strategic risk”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73964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A permanent appointment, expected in the coming months, is more likely a catalyst than a threat.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 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Base-case value $39.14 per share, +21% vs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4F"/>
                </a:solidFill>
              </a:rPr>
              <a:t>Method: Free-cash-flow yield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2344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inputs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/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$2.3bn at 10.0% yield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Printing decline accelerates; PC cycle turns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$3.0bn at 8.5% yield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at the bottom of the FY26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$39.14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$3.3bn at 7.5% yield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relief and savings lift FY27 margins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$48.79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22E"/>
                </a:solidFill>
              </a:rPr>
              <a:t>HP's value to an owner is the cash it can distribute. We divide sustainable free cash flow by a required yield (7.5-10%) and by 901.8m shares. The base case uses $3.0bn, the bottom of the guide, and excludes tariff refunds.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</a:rPr>
              <a:t>Valuation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52-week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5849" y="2542032"/>
            <a:ext cx="1958639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$17.56 - $36.23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418492" y="247802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29771" y="247802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406640" y="3200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Scenario range (bear - bull)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98821" y="3502152"/>
            <a:ext cx="2443316" cy="310896"/>
          </a:xfrm>
          <a:prstGeom prst="rect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$25.50 - $48.79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418492" y="343814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29771" y="343814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8595532" y="4114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17"/>
                </a:solidFill>
              </a:rPr>
              <a:t>│ Price $32.36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306811" y="4389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4F"/>
                </a:solidFill>
              </a:rPr>
              <a:t>┆ Base case $39.14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own valuation; 52-week range and consensus from third-party data (29 Oct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 CATALYSTS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could move the stock in the next 12-18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95728"/>
            <a:ext cx="10728655" cy="0"/>
          </a:xfrm>
          <a:prstGeom prst="line">
            <a:avLst/>
          </a:prstGeom>
          <a:noFill/>
          <a:ln w="25400">
            <a:solidFill>
              <a:srgbClr val="D5D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~25 Nov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Q4 FY2026 results and first FY2027 outlook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Q4 FY26-H1 FY27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Memory-cost peak and sequential PC margin recovery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2026-2027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Appointment of a permanent CEO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96729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To FY2028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$1bn gross run-rate savings, reported each quarter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15612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FY2027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AI PC mix and the tail of the commercial refresh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</a:rPr>
              <a:t>The number to watch: </a:t>
            </a:r>
            <a:pPr indent="0" marL="0">
              <a:buNone/>
            </a:pPr>
            <a:r>
              <a:rPr lang="en-US" sz="1500" dirty="0">
                <a:solidFill>
                  <a:srgbClr val="141A17"/>
                </a:solidFill>
              </a:rPr>
              <a:t>FY2027 FCF guide below about $2.5bn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10  RISKS AND SELL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Risks, mitigants and what would make us sell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Printing decline speeds 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Supplies are recurring; margin held above 18%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 demand pulled forward into FY2026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case below the guide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costs do not peak as guided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passed through in Q3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equity and ~$5bn net debt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Payout flexible; buybacks can be cut first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62095" cy="4160520"/>
          </a:xfrm>
          <a:prstGeom prst="rect">
            <a:avLst/>
          </a:prstGeom>
          <a:solidFill>
            <a:srgbClr val="FBEDEB"/>
          </a:solidFill>
          <a:ln w="12700">
            <a:solidFill>
              <a:srgbClr val="F2C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2E"/>
                </a:solidFill>
              </a:rPr>
              <a:t>WE SELL IF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134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FY2027 FCF guide below about $2.5bn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Printing margin below 16%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A dividend or buyback cut, or FY2027 EPS guide down y/y ex tariff refunds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11  SOURCES AND DISCLOSURES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[S1] HP Inc., Form 8-K Exh. 99.1, "HP Inc. Reports Fiscal 2025 Full Year and Fourth Quarter Results", 25 Nov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[S2] HP Inc., Form 10-K for the fiscal year ended 31 Oct 2025, filed 10 Dec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[S3] HP Inc., Form 8-K Exh. 99.1, "HP Inc. Reports Fiscal 2026 First Quarter Results", 24 Feb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[S4] HP Inc., Form 10-Q for the quarter ended 31 Jul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[S5] HP Inc., Form 8-K Exh. 99.1, "HP Inc. Reports Fiscal 2026 Third Quarter Results", 26 Aug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[S6] Coverage of HP 8-K on CEO transition, 3 Feb 2026: Action-Intell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7288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[S7] investingLive, "HP Q4 revenue beats; 2026 EPS guidance trails, 4k-6k jobs to go", 25 Nov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[S8] Plante Moran, "Supreme Court strikes down IEEPA tariffs", Feb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[S9] Futurum Group, "HP Q2 FY 2026 Earnings Emphasize AI PC Mix Shift Amid Cost Pressure", May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[S10] Massive, HPQ quote page (delayed quote, 52-week range, market cap, ratios), snapshot 29 Oct 2026 11:51 EDT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[S11] Earnings Whispers, HPQ earnings page (Q3 consensus; next report date)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Portfolio Project pipeline: scores, multiples, weights and returns computed from Bloomberg data extracted on the SKEMA terminal (Oct 2026).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Disclosure: student research prepared for educational purposes and job interviews. It is not investment advice or a solicitation. Third-party market data (prices, consensus, forward multiples) is labelled and was accessed on 29 October 2026; third-party figures should be checked against company filings or a Bloomberg terminal before use. Backtest results are hypothetical.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Ledger">
  <a:themeElements>
    <a:clrScheme name="Research Ledger">
      <a:dk1>
        <a:srgbClr val="141A17"/>
      </a:dk1>
      <a:lt1>
        <a:srgbClr val="FFFFFF"/>
      </a:lt1>
      <a:dk2>
        <a:srgbClr val="5B6660"/>
      </a:dk2>
      <a:lt2>
        <a:srgbClr val="F2F4F1"/>
      </a:lt2>
      <a:accent1>
        <a:srgbClr val="0E6B4F"/>
      </a:accent1>
      <a:accent2>
        <a:srgbClr val="D7EBE2"/>
      </a:accent2>
      <a:accent3>
        <a:srgbClr val="B23A2E"/>
      </a:accent3>
      <a:accent4>
        <a:srgbClr val="B07A12"/>
      </a:accent4>
      <a:accent5>
        <a:srgbClr val="9AAAA2"/>
      </a:accent5>
      <a:accent6>
        <a:srgbClr val="D5DBD6"/>
      </a:accent6>
      <a:hlink>
        <a:srgbClr val="0E6B4F"/>
      </a:hlink>
      <a:folHlink>
        <a:srgbClr val="5B6660"/>
      </a:folHlink>
    </a:clrScheme>
    <a:fontScheme name="Research Led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Noah Doose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 Inc stock pitch</dc:title>
  <dc:subject>PptxGenJS Presentation</dc:subject>
  <dc:creator>Noah Doose</dc:creator>
  <cp:lastModifiedBy>Noah Doose</cp:lastModifiedBy>
  <cp:revision>1</cp:revision>
  <dcterms:created xsi:type="dcterms:W3CDTF">2026-10-30T06:38:33Z</dcterms:created>
  <dcterms:modified xsi:type="dcterms:W3CDTF">2026-10-30T06:38:33Z</dcterms:modified>
</cp:coreProperties>
</file>