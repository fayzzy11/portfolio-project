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2d0735d-cc28-20a1-41b9-2ed3522e5b55}">
          <p14:sldIdLst>
            <p14:sldId id="256"/>
          </p14:sldIdLst>
        </p14:section>
        <p14:section name="Thesis" id="{c7b4abd4-5aa7-987b-2668-e39722ca58d7}">
          <p14:sldIdLst>
            <p14:sldId id="257"/>
          </p14:sldIdLst>
        </p14:section>
        <p14:section name="Company" id="{49c56fac-2579-a486-67ff-9dfcbaf9701c}">
          <p14:sldIdLst>
            <p14:sldId id="258"/>
            <p14:sldId id="259"/>
          </p14:sldIdLst>
        </p14:section>
        <p14:section name="Screen" id="{dbe0da7e-9380-7238-dbc7-3a3b452780d7}">
          <p14:sldIdLst>
            <p14:sldId id="260"/>
            <p14:sldId id="261"/>
          </p14:sldIdLst>
        </p14:section>
        <p14:section name="Financials" id="{2903e19a-f93c-4e9e-143e-c4d36987e84d}">
          <p14:sldIdLst>
            <p14:sldId id="262"/>
            <p14:sldId id="263"/>
          </p14:sldIdLst>
        </p14:section>
        <p14:section name="Valuation" id="{c52caf54-9e37-6692-3b82-b44cfa066113}">
          <p14:sldIdLst>
            <p14:sldId id="264"/>
          </p14:sldIdLst>
        </p14:section>
        <p14:section name="Catalysts and risks" id="{81c7cfd6-d1ba-7f26-515b-b5e763e6141f}">
          <p14:sldIdLst>
            <p14:sldId id="265"/>
            <p14:sldId id="266"/>
          </p14:sldIdLst>
        </p14:section>
        <p14:section name="Sources" id="{1dda308a-cecc-c971-102b-5eb41eb763c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Chiffre d'affaires par activité, ex. 2025 (part du total)</a:t>
            </a:r>
          </a:p>
        </c:rich>
      </c:tx>
      <c:layout/>
      <c:overlay val="0"/>
    </c:title>
    <c:autoTitleDeleted val="0"/>
    <c:plotArea>
      <c:layout/>
      <c:barChart>
        <c:barDir val="bar"/>
        <c:grouping val="clustered"/>
        <c:varyColors val="0"/>
        <c:ser>
          <c:idx val="0"/>
          <c:order val="0"/>
          <c:tx>
            <c:strRef>
              <c:f>Sheet1!$B$1</c:f>
              <c:strCache>
                <c:ptCount val="1"/>
                <c:pt idx="0">
                  <c:v>Chiffre d'affaires par activité, ex. 2025</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Sheet1!$A$2:$A$3</c:f>
              <c:multiLvlStrCache>
                <c:ptCount val="2"/>
                <c:lvl>
                  <c:pt idx="0">
                    <c:v>Personal Systems</c:v>
                  </c:pt>
                  <c:pt idx="1">
                    <c:v>Impression</c:v>
                  </c:pt>
                </c:lvl>
              </c:multiLvlStrCache>
            </c:multiLvlStrRef>
          </c:cat>
          <c:val>
            <c:numRef>
              <c:f>Sheet1!$B$2:$B$3</c:f>
              <c:numCache>
                <c:formatCode>General</c:formatCode>
                <c:ptCount val="2"/>
                <c:pt idx="0">
                  <c:v>0.697463768115942</c:v>
                </c:pt>
                <c:pt idx="1">
                  <c:v>0.3025362318840579</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HP Inc</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P/FCF</c:v>
                  </c:pt>
                </c:lvl>
              </c:multiLvlStrCache>
            </c:multiLvlStrRef>
          </c:cat>
          <c:val>
            <c:numRef>
              <c:f>Sheet1!$B$2:$B$4</c:f>
              <c:numCache>
                <c:formatCode>General</c:formatCode>
                <c:ptCount val="3"/>
                <c:pt idx="0">
                  <c:v>6.97</c:v>
                </c:pt>
                <c:pt idx="1">
                  <c:v>6.83</c:v>
                </c:pt>
                <c:pt idx="2">
                  <c:v>6</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P/FCF</c:v>
                  </c:pt>
                </c:lvl>
              </c:multiLvlStrCache>
            </c:multiLvlStrRef>
          </c:cat>
          <c:val>
            <c:numRef>
              <c:f>Sheet1!$C$2:$C$4</c:f>
              <c:numCache>
                <c:formatCode>General</c:formatCode>
                <c:ptCount val="3"/>
                <c:pt idx="0">
                  <c:v>18.52</c:v>
                </c:pt>
                <c:pt idx="1">
                  <c:v>20.44</c:v>
                </c:pt>
                <c:pt idx="2">
                  <c:v>17.14</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P/FCF</c:v>
                  </c:pt>
                </c:lvl>
              </c:multiLvlStrCache>
            </c:multiLvlStrRef>
          </c:cat>
          <c:val>
            <c:numRef>
              <c:f>Sheet1!$D$2:$D$4</c:f>
              <c:numCache>
                <c:formatCode>General</c:formatCode>
                <c:ptCount val="3"/>
                <c:pt idx="0">
                  <c:v>27.88</c:v>
                </c:pt>
                <c:pt idx="1">
                  <c:v>33.48</c:v>
                </c:pt>
                <c:pt idx="2">
                  <c:v>31.05</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B23A2E"/>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3.7847651846893497</c:v>
                </c:pt>
                <c:pt idx="1">
                  <c:v>-1.244319119958638</c:v>
                </c:pt>
                <c:pt idx="2">
                  <c:v>3.76609940636818</c:v>
                </c:pt>
                <c:pt idx="3">
                  <c:v>3.8575518029455016</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HP Inc</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104.14</c:v>
                </c:pt>
                <c:pt idx="2">
                  <c:v>101.7</c:v>
                </c:pt>
                <c:pt idx="3">
                  <c:v>93.62</c:v>
                </c:pt>
                <c:pt idx="4">
                  <c:v>96.28</c:v>
                </c:pt>
                <c:pt idx="5">
                  <c:v>97.81</c:v>
                </c:pt>
                <c:pt idx="6">
                  <c:v>100.21</c:v>
                </c:pt>
                <c:pt idx="7">
                  <c:v>98.78</c:v>
                </c:pt>
                <c:pt idx="8">
                  <c:v>96.88</c:v>
                </c:pt>
                <c:pt idx="9">
                  <c:v>98.46</c:v>
                </c:pt>
                <c:pt idx="10">
                  <c:v>100.9</c:v>
                </c:pt>
                <c:pt idx="11">
                  <c:v>95.81</c:v>
                </c:pt>
                <c:pt idx="12">
                  <c:v>95.46</c:v>
                </c:pt>
                <c:pt idx="13">
                  <c:v>96.27</c:v>
                </c:pt>
                <c:pt idx="14">
                  <c:v>97.89</c:v>
                </c:pt>
                <c:pt idx="15">
                  <c:v>97.54</c:v>
                </c:pt>
                <c:pt idx="16">
                  <c:v>98.63</c:v>
                </c:pt>
                <c:pt idx="17">
                  <c:v>105.93</c:v>
                </c:pt>
                <c:pt idx="18">
                  <c:v>106.3</c:v>
                </c:pt>
                <c:pt idx="19">
                  <c:v>111.8</c:v>
                </c:pt>
                <c:pt idx="20">
                  <c:v>112.4</c:v>
                </c:pt>
                <c:pt idx="21">
                  <c:v>112.57</c:v>
                </c:pt>
                <c:pt idx="22">
                  <c:v>123.71</c:v>
                </c:pt>
                <c:pt idx="23">
                  <c:v>134.25</c:v>
                </c:pt>
                <c:pt idx="24">
                  <c:v>131.05</c:v>
                </c:pt>
                <c:pt idx="25">
                  <c:v>132.14</c:v>
                </c:pt>
                <c:pt idx="26">
                  <c:v>135.22</c:v>
                </c:pt>
                <c:pt idx="27">
                  <c:v>134.71</c:v>
                </c:pt>
                <c:pt idx="28">
                  <c:v>138.57</c:v>
                </c:pt>
                <c:pt idx="29">
                  <c:v>137.2</c:v>
                </c:pt>
                <c:pt idx="30">
                  <c:v>125.1</c:v>
                </c:pt>
                <c:pt idx="31">
                  <c:v>132.54</c:v>
                </c:pt>
                <c:pt idx="32">
                  <c:v>133.66</c:v>
                </c:pt>
                <c:pt idx="33">
                  <c:v>133.36</c:v>
                </c:pt>
                <c:pt idx="34">
                  <c:v>130.18</c:v>
                </c:pt>
                <c:pt idx="35">
                  <c:v>124.78</c:v>
                </c:pt>
                <c:pt idx="36">
                  <c:v>135.46</c:v>
                </c:pt>
                <c:pt idx="37">
                  <c:v>136.32</c:v>
                </c:pt>
                <c:pt idx="38">
                  <c:v>137.52</c:v>
                </c:pt>
                <c:pt idx="39">
                  <c:v>148.63</c:v>
                </c:pt>
                <c:pt idx="40">
                  <c:v>132.22</c:v>
                </c:pt>
                <c:pt idx="41">
                  <c:v>145.69</c:v>
                </c:pt>
                <c:pt idx="42">
                  <c:v>142.05</c:v>
                </c:pt>
                <c:pt idx="43">
                  <c:v>139.95</c:v>
                </c:pt>
                <c:pt idx="44">
                  <c:v>142.38</c:v>
                </c:pt>
                <c:pt idx="45">
                  <c:v>143.9</c:v>
                </c:pt>
                <c:pt idx="46">
                  <c:v>144.89</c:v>
                </c:pt>
                <c:pt idx="47">
                  <c:v>134.68</c:v>
                </c:pt>
                <c:pt idx="48">
                  <c:v>148.36</c:v>
                </c:pt>
                <c:pt idx="49">
                  <c:v>152.15</c:v>
                </c:pt>
                <c:pt idx="50">
                  <c:v>138.43</c:v>
                </c:pt>
                <c:pt idx="51">
                  <c:v>132.25</c:v>
                </c:pt>
                <c:pt idx="52">
                  <c:v>137.84</c:v>
                </c:pt>
                <c:pt idx="53">
                  <c:v>126.43</c:v>
                </c:pt>
                <c:pt idx="54">
                  <c:v>130.33</c:v>
                </c:pt>
                <c:pt idx="55">
                  <c:v>129.6</c:v>
                </c:pt>
                <c:pt idx="56">
                  <c:v>130.95</c:v>
                </c:pt>
                <c:pt idx="57">
                  <c:v>135.12</c:v>
                </c:pt>
                <c:pt idx="58">
                  <c:v>136.08</c:v>
                </c:pt>
                <c:pt idx="59">
                  <c:v>139.4</c:v>
                </c:pt>
                <c:pt idx="60">
                  <c:v>140.74</c:v>
                </c:pt>
                <c:pt idx="61">
                  <c:v>129.79</c:v>
                </c:pt>
                <c:pt idx="62">
                  <c:v>114.4</c:v>
                </c:pt>
                <c:pt idx="63">
                  <c:v>115.99</c:v>
                </c:pt>
                <c:pt idx="64">
                  <c:v>113.28</c:v>
                </c:pt>
                <c:pt idx="65">
                  <c:v>108.72</c:v>
                </c:pt>
                <c:pt idx="66">
                  <c:v>105.97</c:v>
                </c:pt>
                <c:pt idx="67">
                  <c:v>106.79</c:v>
                </c:pt>
                <c:pt idx="68">
                  <c:v>108.98</c:v>
                </c:pt>
                <c:pt idx="69">
                  <c:v>113.35</c:v>
                </c:pt>
                <c:pt idx="70">
                  <c:v>117.49</c:v>
                </c:pt>
                <c:pt idx="71">
                  <c:v>118.69</c:v>
                </c:pt>
                <c:pt idx="72">
                  <c:v>122.97</c:v>
                </c:pt>
                <c:pt idx="73">
                  <c:v>118.77</c:v>
                </c:pt>
                <c:pt idx="74">
                  <c:v>120.62</c:v>
                </c:pt>
                <c:pt idx="75">
                  <c:v>117.23</c:v>
                </c:pt>
                <c:pt idx="76">
                  <c:v>111.36</c:v>
                </c:pt>
                <c:pt idx="77">
                  <c:v>105.85</c:v>
                </c:pt>
                <c:pt idx="78">
                  <c:v>105.85</c:v>
                </c:pt>
                <c:pt idx="79">
                  <c:v>105.39</c:v>
                </c:pt>
                <c:pt idx="80">
                  <c:v>112</c:v>
                </c:pt>
                <c:pt idx="81">
                  <c:v>108.28</c:v>
                </c:pt>
                <c:pt idx="82">
                  <c:v>108.12</c:v>
                </c:pt>
                <c:pt idx="83">
                  <c:v>113</c:v>
                </c:pt>
                <c:pt idx="84">
                  <c:v>118.4</c:v>
                </c:pt>
                <c:pt idx="85">
                  <c:v>118.02</c:v>
                </c:pt>
                <c:pt idx="86">
                  <c:v>118.65</c:v>
                </c:pt>
                <c:pt idx="87">
                  <c:v>116.39</c:v>
                </c:pt>
                <c:pt idx="88">
                  <c:v>113.12</c:v>
                </c:pt>
                <c:pt idx="89">
                  <c:v>109.09</c:v>
                </c:pt>
                <c:pt idx="90">
                  <c:v>111.39</c:v>
                </c:pt>
                <c:pt idx="91">
                  <c:v>109.21</c:v>
                </c:pt>
                <c:pt idx="92">
                  <c:v>114.49</c:v>
                </c:pt>
                <c:pt idx="93">
                  <c:v>113.58</c:v>
                </c:pt>
                <c:pt idx="94">
                  <c:v>115.17</c:v>
                </c:pt>
                <c:pt idx="95">
                  <c:v>113.85</c:v>
                </c:pt>
                <c:pt idx="96">
                  <c:v>114.2</c:v>
                </c:pt>
                <c:pt idx="97">
                  <c:v>115.8</c:v>
                </c:pt>
                <c:pt idx="98">
                  <c:v>112.91</c:v>
                </c:pt>
                <c:pt idx="99">
                  <c:v>119.66</c:v>
                </c:pt>
                <c:pt idx="100">
                  <c:v>123.8</c:v>
                </c:pt>
                <c:pt idx="101">
                  <c:v>120.94</c:v>
                </c:pt>
                <c:pt idx="102">
                  <c:v>117.56</c:v>
                </c:pt>
                <c:pt idx="103">
                  <c:v>121.26</c:v>
                </c:pt>
                <c:pt idx="104">
                  <c:v>116.33</c:v>
                </c:pt>
                <c:pt idx="105">
                  <c:v>120.3</c:v>
                </c:pt>
                <c:pt idx="106">
                  <c:v>121.34</c:v>
                </c:pt>
                <c:pt idx="107">
                  <c:v>124.78</c:v>
                </c:pt>
                <c:pt idx="108">
                  <c:v>123.95</c:v>
                </c:pt>
                <c:pt idx="109">
                  <c:v>126.57</c:v>
                </c:pt>
                <c:pt idx="110">
                  <c:v>125.7</c:v>
                </c:pt>
                <c:pt idx="111">
                  <c:v>128.03</c:v>
                </c:pt>
                <c:pt idx="112">
                  <c:v>122.17</c:v>
                </c:pt>
                <c:pt idx="113">
                  <c:v>122.17</c:v>
                </c:pt>
                <c:pt idx="114">
                  <c:v>120.44</c:v>
                </c:pt>
                <c:pt idx="115">
                  <c:v>117.66</c:v>
                </c:pt>
                <c:pt idx="116">
                  <c:v>110.55</c:v>
                </c:pt>
                <c:pt idx="117">
                  <c:v>108.41</c:v>
                </c:pt>
                <c:pt idx="118">
                  <c:v>104.84</c:v>
                </c:pt>
                <c:pt idx="119">
                  <c:v>105.65</c:v>
                </c:pt>
                <c:pt idx="120">
                  <c:v>108.81</c:v>
                </c:pt>
                <c:pt idx="121">
                  <c:v>105.98</c:v>
                </c:pt>
                <c:pt idx="122">
                  <c:v>105.36</c:v>
                </c:pt>
                <c:pt idx="123">
                  <c:v>110.2</c:v>
                </c:pt>
                <c:pt idx="124">
                  <c:v>111.61</c:v>
                </c:pt>
                <c:pt idx="125">
                  <c:v>112.18</c:v>
                </c:pt>
                <c:pt idx="126">
                  <c:v>112.96</c:v>
                </c:pt>
                <c:pt idx="127">
                  <c:v>116.98</c:v>
                </c:pt>
                <c:pt idx="128">
                  <c:v>118.19</c:v>
                </c:pt>
                <c:pt idx="129">
                  <c:v>122.86</c:v>
                </c:pt>
                <c:pt idx="130">
                  <c:v>119.3</c:v>
                </c:pt>
                <c:pt idx="131">
                  <c:v>118.43</c:v>
                </c:pt>
                <c:pt idx="132">
                  <c:v>119.15</c:v>
                </c:pt>
                <c:pt idx="133">
                  <c:v>118.55</c:v>
                </c:pt>
                <c:pt idx="134">
                  <c:v>116.44</c:v>
                </c:pt>
                <c:pt idx="135">
                  <c:v>120.25</c:v>
                </c:pt>
                <c:pt idx="136">
                  <c:v>115.81</c:v>
                </c:pt>
                <c:pt idx="137">
                  <c:v>114.74</c:v>
                </c:pt>
                <c:pt idx="138">
                  <c:v>115.47</c:v>
                </c:pt>
                <c:pt idx="139">
                  <c:v>117.75</c:v>
                </c:pt>
                <c:pt idx="140">
                  <c:v>118.17</c:v>
                </c:pt>
                <c:pt idx="141">
                  <c:v>122.37</c:v>
                </c:pt>
                <c:pt idx="142">
                  <c:v>122.81</c:v>
                </c:pt>
                <c:pt idx="143">
                  <c:v>122.19</c:v>
                </c:pt>
                <c:pt idx="144">
                  <c:v>122.99</c:v>
                </c:pt>
                <c:pt idx="145">
                  <c:v>118.04</c:v>
                </c:pt>
                <c:pt idx="146">
                  <c:v>117.8</c:v>
                </c:pt>
                <c:pt idx="147">
                  <c:v>114.69</c:v>
                </c:pt>
                <c:pt idx="148">
                  <c:v>115.03</c:v>
                </c:pt>
                <c:pt idx="149">
                  <c:v>115.03</c:v>
                </c:pt>
                <c:pt idx="150">
                  <c:v>121.18</c:v>
                </c:pt>
                <c:pt idx="151">
                  <c:v>126.09</c:v>
                </c:pt>
                <c:pt idx="152">
                  <c:v>132.66</c:v>
                </c:pt>
                <c:pt idx="153">
                  <c:v>147.85</c:v>
                </c:pt>
                <c:pt idx="154">
                  <c:v>148.23</c:v>
                </c:pt>
                <c:pt idx="155">
                  <c:v>146.92</c:v>
                </c:pt>
                <c:pt idx="156">
                  <c:v>150.61</c:v>
                </c:pt>
                <c:pt idx="157">
                  <c:v>144.69</c:v>
                </c:pt>
                <c:pt idx="158">
                  <c:v>141.63</c:v>
                </c:pt>
                <c:pt idx="159">
                  <c:v>149.13</c:v>
                </c:pt>
                <c:pt idx="160">
                  <c:v>151.11</c:v>
                </c:pt>
                <c:pt idx="161">
                  <c:v>148.09</c:v>
                </c:pt>
                <c:pt idx="162">
                  <c:v>136.82</c:v>
                </c:pt>
                <c:pt idx="163">
                  <c:v>136</c:v>
                </c:pt>
                <c:pt idx="164">
                  <c:v>144.49</c:v>
                </c:pt>
                <c:pt idx="165">
                  <c:v>141.3</c:v>
                </c:pt>
                <c:pt idx="166">
                  <c:v>144.97</c:v>
                </c:pt>
                <c:pt idx="167">
                  <c:v>135.18</c:v>
                </c:pt>
                <c:pt idx="168">
                  <c:v>134.2</c:v>
                </c:pt>
                <c:pt idx="169">
                  <c:v>138.87</c:v>
                </c:pt>
                <c:pt idx="170">
                  <c:v>141.75</c:v>
                </c:pt>
                <c:pt idx="171">
                  <c:v>146.6</c:v>
                </c:pt>
                <c:pt idx="172">
                  <c:v>150.96</c:v>
                </c:pt>
                <c:pt idx="173">
                  <c:v>153.15</c:v>
                </c:pt>
                <c:pt idx="174">
                  <c:v>152.38</c:v>
                </c:pt>
                <c:pt idx="175">
                  <c:v>149.47</c:v>
                </c:pt>
                <c:pt idx="176">
                  <c:v>153.49</c:v>
                </c:pt>
                <c:pt idx="177">
                  <c:v>155.4</c:v>
                </c:pt>
                <c:pt idx="178">
                  <c:v>163.38</c:v>
                </c:pt>
                <c:pt idx="179">
                  <c:v>149.67</c:v>
                </c:pt>
                <c:pt idx="180">
                  <c:v>153.17</c:v>
                </c:pt>
                <c:pt idx="181">
                  <c:v>148.18</c:v>
                </c:pt>
                <c:pt idx="182">
                  <c:v>142.18</c:v>
                </c:pt>
                <c:pt idx="183">
                  <c:v>143.76</c:v>
                </c:pt>
                <c:pt idx="184">
                  <c:v>144.86</c:v>
                </c:pt>
                <c:pt idx="185">
                  <c:v>145.88</c:v>
                </c:pt>
                <c:pt idx="186">
                  <c:v>142.35</c:v>
                </c:pt>
                <c:pt idx="187">
                  <c:v>140.17</c:v>
                </c:pt>
                <c:pt idx="188">
                  <c:v>140.4</c:v>
                </c:pt>
                <c:pt idx="189">
                  <c:v>140.73</c:v>
                </c:pt>
                <c:pt idx="190">
                  <c:v>144.13</c:v>
                </c:pt>
                <c:pt idx="191">
                  <c:v>148.99</c:v>
                </c:pt>
                <c:pt idx="192">
                  <c:v>133.66</c:v>
                </c:pt>
                <c:pt idx="193">
                  <c:v>126.79</c:v>
                </c:pt>
                <c:pt idx="194">
                  <c:v>118.72</c:v>
                </c:pt>
                <c:pt idx="195">
                  <c:v>120.51</c:v>
                </c:pt>
                <c:pt idx="196">
                  <c:v>117.26</c:v>
                </c:pt>
                <c:pt idx="197">
                  <c:v>93.72</c:v>
                </c:pt>
                <c:pt idx="198">
                  <c:v>94.28</c:v>
                </c:pt>
                <c:pt idx="199">
                  <c:v>95.47</c:v>
                </c:pt>
                <c:pt idx="200">
                  <c:v>101.12</c:v>
                </c:pt>
                <c:pt idx="201">
                  <c:v>104.25</c:v>
                </c:pt>
                <c:pt idx="202">
                  <c:v>106.87</c:v>
                </c:pt>
                <c:pt idx="203">
                  <c:v>119.64</c:v>
                </c:pt>
                <c:pt idx="204">
                  <c:v>112.03</c:v>
                </c:pt>
                <c:pt idx="205">
                  <c:v>99.77</c:v>
                </c:pt>
                <c:pt idx="206">
                  <c:v>100.56</c:v>
                </c:pt>
                <c:pt idx="207">
                  <c:v>94.9</c:v>
                </c:pt>
                <c:pt idx="208">
                  <c:v>96.13</c:v>
                </c:pt>
                <c:pt idx="209">
                  <c:v>97.2</c:v>
                </c:pt>
                <c:pt idx="210">
                  <c:v>101.76</c:v>
                </c:pt>
                <c:pt idx="211">
                  <c:v>100</c:v>
                </c:pt>
                <c:pt idx="212">
                  <c:v>99.12</c:v>
                </c:pt>
                <c:pt idx="213">
                  <c:v>100.71</c:v>
                </c:pt>
                <c:pt idx="214">
                  <c:v>97.46</c:v>
                </c:pt>
                <c:pt idx="215">
                  <c:v>103.03</c:v>
                </c:pt>
                <c:pt idx="216">
                  <c:v>105.09</c:v>
                </c:pt>
                <c:pt idx="217">
                  <c:v>108.85</c:v>
                </c:pt>
                <c:pt idx="218">
                  <c:v>112.18</c:v>
                </c:pt>
                <c:pt idx="219">
                  <c:v>114.96</c:v>
                </c:pt>
                <c:pt idx="220">
                  <c:v>110.81</c:v>
                </c:pt>
                <c:pt idx="221">
                  <c:v>111.32</c:v>
                </c:pt>
                <c:pt idx="222">
                  <c:v>106.13</c:v>
                </c:pt>
                <c:pt idx="223">
                  <c:v>105.42</c:v>
                </c:pt>
                <c:pt idx="224">
                  <c:v>102.28</c:v>
                </c:pt>
                <c:pt idx="225">
                  <c:v>108.95</c:v>
                </c:pt>
                <c:pt idx="226">
                  <c:v>110.53</c:v>
                </c:pt>
                <c:pt idx="227">
                  <c:v>111.55</c:v>
                </c:pt>
                <c:pt idx="228">
                  <c:v>105.44</c:v>
                </c:pt>
                <c:pt idx="229">
                  <c:v>98.13</c:v>
                </c:pt>
                <c:pt idx="230">
                  <c:v>96.74</c:v>
                </c:pt>
                <c:pt idx="231">
                  <c:v>97.78</c:v>
                </c:pt>
                <c:pt idx="232">
                  <c:v>103.38</c:v>
                </c:pt>
                <c:pt idx="233">
                  <c:v>99</c:v>
                </c:pt>
                <c:pt idx="234">
                  <c:v>93.31</c:v>
                </c:pt>
                <c:pt idx="235">
                  <c:v>92.91</c:v>
                </c:pt>
                <c:pt idx="236">
                  <c:v>88.65</c:v>
                </c:pt>
                <c:pt idx="237">
                  <c:v>86.77</c:v>
                </c:pt>
                <c:pt idx="238">
                  <c:v>82.58</c:v>
                </c:pt>
                <c:pt idx="239">
                  <c:v>77.45</c:v>
                </c:pt>
                <c:pt idx="240">
                  <c:v>76.98</c:v>
                </c:pt>
                <c:pt idx="241">
                  <c:v>78.17</c:v>
                </c:pt>
                <c:pt idx="242">
                  <c:v>76.25</c:v>
                </c:pt>
                <c:pt idx="243">
                  <c:v>74.19</c:v>
                </c:pt>
                <c:pt idx="244">
                  <c:v>75.55</c:v>
                </c:pt>
                <c:pt idx="245">
                  <c:v>78.89</c:v>
                </c:pt>
                <c:pt idx="246">
                  <c:v>79.04</c:v>
                </c:pt>
                <c:pt idx="247">
                  <c:v>75.52</c:v>
                </c:pt>
                <c:pt idx="248">
                  <c:v>80.67</c:v>
                </c:pt>
                <c:pt idx="249">
                  <c:v>80.78</c:v>
                </c:pt>
                <c:pt idx="250">
                  <c:v>74.43</c:v>
                </c:pt>
                <c:pt idx="251">
                  <c:v>80.5</c:v>
                </c:pt>
                <c:pt idx="252">
                  <c:v>80.68</c:v>
                </c:pt>
                <c:pt idx="253">
                  <c:v>84.78</c:v>
                </c:pt>
                <c:pt idx="254">
                  <c:v>92.05</c:v>
                </c:pt>
                <c:pt idx="255">
                  <c:v>85.49</c:v>
                </c:pt>
                <c:pt idx="256">
                  <c:v>103.85</c:v>
                </c:pt>
                <c:pt idx="257">
                  <c:v>110.68</c:v>
                </c:pt>
                <c:pt idx="258">
                  <c:v>105.97</c:v>
                </c:pt>
                <c:pt idx="259">
                  <c:v>105.45</c:v>
                </c:pt>
                <c:pt idx="260">
                  <c:v>99.12</c:v>
                </c:pt>
                <c:pt idx="261">
                  <c:v>97.14</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180"/>
          <c:min val="6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48" dirty="0">
                <a:solidFill>
                  <a:schemeClr val="tx2"/>
                </a:solidFill>
              </a:rPr>
              <a:t>HP Inc (NYSE : HPQ)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HP Inc</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339" dirty="0">
                <a:solidFill>
                  <a:srgbClr val="B9C4BE"/>
                </a:solidFill>
              </a:rPr>
              <a:t>NYSE : HPQ  ·  Technologies de l'information / Matériel informatique  ·  États-Unis</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739" dirty="0">
                <a:solidFill>
                  <a:srgbClr val="FFFFFF"/>
                </a:solidFill>
              </a:rPr>
              <a:t>Une machine à cash valorisée comme en déclin : environ 10x les bénéfices et 10 % de rendement de free cash flow</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SURPONDÉRER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32,36 $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39,14 $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+21 %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950" dirty="0">
                <a:solidFill>
                  <a:srgbClr val="8E9A94"/>
                </a:solidFill>
              </a:rPr>
              <a:t>Cours : en séance,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29,2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3,0-3,2 Md$</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Guidance FCF ex. 2026</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~10x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sur la guidance 2026</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3,7 %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du dividende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261" b="1" dirty="0">
                <a:solidFill>
                  <a:schemeClr val="tx1"/>
                </a:solidFill>
              </a:rPr>
              <a:t>Une machine à cash valorisée comme en déclin : environ 10x les bénéfices et 10 % de rendement de free cash flow</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SURPONDÉRER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39,14 $</a:t>
            </a:r>
            <a:endParaRPr lang="en-US" sz="3000" dirty="0"/>
          </a:p>
          <a:p>
            <a:pPr indent="0" marL="0">
              <a:buNone/>
            </a:pPr>
            <a:r>
              <a:rPr lang="en-US" sz="1300" dirty="0">
                <a:solidFill>
                  <a:srgbClr val="5B6660"/>
                </a:solidFill>
              </a:rPr>
              <a:t>valeur centrale, +21 % vs 32,36 $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70" dirty="0">
                <a:solidFill>
                  <a:srgbClr val="141A17"/>
                </a:solidFill>
              </a:rPr>
              <a:t>HP génère environ 3 Md$ de free cash flow par an et en redistribue l'essentiel. À 32 $, le titre se traite environ 10x les bénéfices de l'exercice 2026 avec un rendement de FCF de 10,6 %, comme si l'impression allait s'effondrer. Nous pensons que la pression sur le coût des mémoires culmine maintenant et que le plan d'économies soutient les marges en 2027.</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376" b="1" dirty="0">
                <a:solidFill>
                  <a:srgbClr val="141A17"/>
                </a:solidFill>
              </a:rPr>
              <a:t>Le rendement de cash est la valorisation</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83" dirty="0">
                <a:solidFill>
                  <a:srgbClr val="2A322E"/>
                </a:solidFill>
              </a:rPr>
              <a:t>La guidance de FCF de l'exercice 2026 a été relevée à 3,0-3,2 Md$ en août 2026 : environ 10,6 % de la capitalisation au point médian. HP a rendu 1,9 Md$ (66 % du FCF) à ses actionnaires sur l'exercice 2025 et relevé le dividende à 0,30 $ par trimestre.</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408" b="1" dirty="0">
                <a:solidFill>
                  <a:srgbClr val="141A17"/>
                </a:solidFill>
              </a:rPr>
              <a:t>La compression des marges est temporaire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238" dirty="0">
                <a:solidFill>
                  <a:srgbClr val="2A322E"/>
                </a:solidFill>
              </a:rPr>
              <a:t>La direction attend un pic du coût des DRAM et NAND au T4 de l'exercice 2026 (août-octobre) et un redressement séquentiel des marges PC (4,6 % au T3) en 2027. Le plan d'économies brutes de 1 Md$ court jusqu'en 2028.</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385" b="1" dirty="0">
                <a:solidFill>
                  <a:srgbClr val="141A17"/>
                </a:solidFill>
              </a:rPr>
              <a:t>L'impression finance toujours l'histoire</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56" dirty="0">
                <a:solidFill>
                  <a:srgbClr val="2A322E"/>
                </a:solidFill>
              </a:rPr>
              <a:t>L'impression fait 30 % du chiffre d'affaires mais dégage 18-19 % de marge. Elle recule d'environ 2 % par an, assez lentement pour continuer à financer rachats et dividendes.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HP Inc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Personal Systems</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190" dirty="0">
                <a:solidFill>
                  <a:srgbClr val="2A322E"/>
                </a:solidFill>
              </a:rPr>
              <a:t>PC, stations de travail et périphériques : 38,5 Md$ de CA sur l'ex. 2025 à 5,3 % de marge opérationnelle.</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Impression</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237" dirty="0">
                <a:solidFill>
                  <a:srgbClr val="2A322E"/>
                </a:solidFill>
              </a:rPr>
              <a:t>Consommables (encre et toner), matériel et impression industrielle : 16,7 Md$ à 18,7 % de marge.</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Relais de croissance</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245" dirty="0">
                <a:solidFill>
                  <a:srgbClr val="2A322E"/>
                </a:solidFill>
              </a:rPr>
              <a:t>PC IA avec processeurs neuronaux dédiés, stations de travail et services.</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Capital</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146" dirty="0">
                <a:solidFill>
                  <a:srgbClr val="2A322E"/>
                </a:solidFill>
              </a:rPr>
              <a:t>Fonds propres comptables négatifs après des années de rachats ; dette nette d'environ 5 Md$ (calcul propre).</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774" i="1" dirty="0">
                <a:solidFill>
                  <a:schemeClr val="tx2"/>
                </a:solidFill>
              </a:rPr>
              <a:t>Source : publications de la société ; Chiffre d'affaires par activité, ex.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T4 FY26</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Prix des mémoires</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214" dirty="0">
                <a:solidFill>
                  <a:srgbClr val="2A322E"/>
                </a:solidFill>
              </a:rPr>
              <a:t>L'inflation des DRAM et NAND comprime les marges PC ; la direction attend le pic en août-octobre 2026.</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Oct 2025</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Fin du support de Windows 10</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123" dirty="0">
                <a:solidFill>
                  <a:srgbClr val="2A322E"/>
                </a:solidFill>
              </a:rPr>
              <a:t>A déclenché un renouvellement du parc professionnel : CA Personal Systems +18 % au T3 ex. 2026.</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0,19 $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Droits de douane US</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Droits IEEPA annulés en février 2026 ; le BPA 2026 inclut 0,19 $ de remboursements ponctuels.</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Mix</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PC IA</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223" dirty="0">
                <a:solidFill>
                  <a:srgbClr val="2A322E"/>
                </a:solidFill>
              </a:rPr>
              <a:t>Des machines mieux équipées relèvent les prix moyens à mesure que le parc se renouvelle.</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90" b="1" dirty="0">
                <a:solidFill>
                  <a:schemeClr val="tx1"/>
                </a:solidFill>
              </a:rPr>
              <a:t>Classé 2 sur 128 en Technologies de l'information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2,54, 2e sur 128 dans son secteur. </a:t>
            </a:r>
            <a:pPr indent="0" marL="0">
              <a:buNone/>
            </a:pPr>
            <a:r>
              <a:rPr lang="en-US" sz="1217" dirty="0">
                <a:solidFill>
                  <a:srgbClr val="2A322E"/>
                </a:solidFill>
              </a:rPr>
              <a:t>Le score fait la moyenne des z-scores ci-dessus (quatre ratios exprimés en rendements). Les comptes ne sont utilisés qu'à partir de la clôture + 6 mois : en décembre 2025, le screen lisait les comptes de l'exercice clos en octobre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Dell Technologies, Hewlett Packard Enterprise, Logitech, Canon (pairs du pipeline).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11" b="1" dirty="0">
                <a:solidFill>
                  <a:schemeClr val="tx1"/>
                </a:solidFill>
              </a:rPr>
              <a:t>Détenu à 10 rebalancements sur 10 depuis juin 2021</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B23A2E"/>
                </a:solidFill>
              </a:rPr>
              <a:t>+8,7 %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2,8 % / 0,5 %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T3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 net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53,6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55,3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Marge Personal Systems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creux</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Marge Impression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18,7 %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18,1 %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 dilué non-GAAP</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3,43 $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3,12 $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0,83 $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3,19 $-3,29*</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Free cash flow</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3,0-3,2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Retour aux actionnaires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0,3 Md$ buyback</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946904"/>
            <a:ext cx="11094415" cy="548640"/>
          </a:xfrm>
          <a:prstGeom prst="rect">
            <a:avLst/>
          </a:prstGeom>
          <a:noFill/>
          <a:ln/>
        </p:spPr>
        <p:txBody>
          <a:bodyPr wrap="square" lIns="0" tIns="0" rIns="0" bIns="0" rtlCol="0" anchor="t"/>
          <a:lstStyle/>
          <a:p>
            <a:pPr indent="0" marL="0">
              <a:buNone/>
            </a:pPr>
            <a:r>
              <a:rPr lang="en-US" sz="1100" dirty="0">
                <a:solidFill>
                  <a:srgbClr val="5B6660"/>
                </a:solidFill>
              </a:rPr>
              <a:t>*Inclut 0,19 $ de remboursements douaniers ponctuels. Exercice clos le 31 octobre. CA 2024 déduit du +3,2 % publié pour 2025. Sources : communiqués HP T4 ex. 2025 et T3 ex.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87" i="1" dirty="0">
                <a:solidFill>
                  <a:srgbClr val="141A17"/>
                </a:solidFill>
              </a:rPr>
              <a:t>« L'impression est en déclin terminal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182" dirty="0">
                <a:solidFill>
                  <a:srgbClr val="141A17"/>
                </a:solidFill>
              </a:rPr>
              <a:t>Le CA baisse d'environ 2 % par an et la marge tient au-dessus de 18 %. Un déclin lent est valorisé comme un déclin rapide.</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La demande de PC 2026 a été avancée par Windows 10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214" dirty="0">
                <a:solidFill>
                  <a:srgbClr val="141A17"/>
                </a:solidFill>
              </a:rPr>
              <a:t>En partie vrai. Nous retenons un FCF de 3,0 Md$, sous le milieu de la guidance, hors remboursements douaniers.</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Un PDG intérimaire, c'est un risque stratégique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208" dirty="0">
                <a:solidFill>
                  <a:srgbClr val="141A17"/>
                </a:solidFill>
              </a:rPr>
              <a:t>Une nomination définitive, attendue dans les prochains mois, est plus probablement un catalyseur qu'une menace.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81" b="1" dirty="0">
                <a:solidFill>
                  <a:schemeClr val="tx1"/>
                </a:solidFill>
              </a:rPr>
              <a:t>Valeur centrale 39,14 $ par action, +21 %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130" b="1" dirty="0">
                <a:solidFill>
                  <a:srgbClr val="0E6B4F"/>
                </a:solidFill>
              </a:rPr>
              <a:t>Méthode : Rendement de free cash flow</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2,3 Md$ à 10,0 % de rendement</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Le déclin de l'impression s'accélère ; le cycle PC se retourne</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25,50 $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−21 %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3,0 Md$ à 8,5 % de rendement</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FCF au bas de la guidance 2026</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39,14 $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+21 %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3,3 Md$ à 7,5 % de rendement</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Le reflux des mémoires et les économies relèvent les marges 2027</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48,79 $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+51 %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69" dirty="0">
                <a:solidFill>
                  <a:srgbClr val="2A322E"/>
                </a:solidFill>
              </a:rPr>
              <a:t>Pour un actionnaire, HP vaut le cash qu'il peut distribuer. Nous divisons un free cash flow soutenable par un rendement exigé (7,5-10 %) puis par 901,8 millions d'actions. Le scénario central retient 3,0 Md$, le bas de la guidance, et exclut les remboursements de droits de douane.</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7865849" y="2542032"/>
            <a:ext cx="1958639"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17,56 $ - 36,23 $</a:t>
            </a:r>
            <a:endParaRPr lang="en-US" sz="1000" dirty="0"/>
          </a:p>
        </p:txBody>
      </p:sp>
      <p:sp>
        <p:nvSpPr>
          <p:cNvPr id="11" name="Shape 8"/>
          <p:cNvSpPr/>
          <p:nvPr/>
        </p:nvSpPr>
        <p:spPr>
          <a:xfrm>
            <a:off x="9418492" y="2478024"/>
            <a:ext cx="0" cy="438912"/>
          </a:xfrm>
          <a:prstGeom prst="line">
            <a:avLst/>
          </a:prstGeom>
          <a:noFill/>
          <a:ln w="25400">
            <a:solidFill>
              <a:srgbClr val="141A17"/>
            </a:solidFill>
            <a:prstDash val="solid"/>
          </a:ln>
        </p:spPr>
        <p:txBody>
          <a:bodyPr/>
          <a:p/>
        </p:txBody>
      </p:sp>
      <p:sp>
        <p:nvSpPr>
          <p:cNvPr id="12" name="Shape 9"/>
          <p:cNvSpPr/>
          <p:nvPr/>
        </p:nvSpPr>
        <p:spPr>
          <a:xfrm>
            <a:off x="10129771"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698821" y="3502152"/>
            <a:ext cx="2443316"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25,50 $ - 48,79 $</a:t>
            </a:r>
            <a:endParaRPr lang="en-US" sz="1000" dirty="0"/>
          </a:p>
        </p:txBody>
      </p:sp>
      <p:sp>
        <p:nvSpPr>
          <p:cNvPr id="16" name="Shape 13"/>
          <p:cNvSpPr/>
          <p:nvPr/>
        </p:nvSpPr>
        <p:spPr>
          <a:xfrm>
            <a:off x="9418492" y="3438144"/>
            <a:ext cx="0" cy="438912"/>
          </a:xfrm>
          <a:prstGeom prst="line">
            <a:avLst/>
          </a:prstGeom>
          <a:noFill/>
          <a:ln w="25400">
            <a:solidFill>
              <a:srgbClr val="141A17"/>
            </a:solidFill>
            <a:prstDash val="solid"/>
          </a:ln>
        </p:spPr>
        <p:txBody>
          <a:bodyPr/>
          <a:p/>
        </p:txBody>
      </p:sp>
      <p:sp>
        <p:nvSpPr>
          <p:cNvPr id="17" name="Shape 14"/>
          <p:cNvSpPr/>
          <p:nvPr/>
        </p:nvSpPr>
        <p:spPr>
          <a:xfrm>
            <a:off x="10129771" y="3438144"/>
            <a:ext cx="0" cy="438912"/>
          </a:xfrm>
          <a:prstGeom prst="line">
            <a:avLst/>
          </a:prstGeom>
          <a:noFill/>
          <a:ln w="25400">
            <a:solidFill>
              <a:srgbClr val="0E6B4F"/>
            </a:solidFill>
            <a:prstDash val="dash"/>
          </a:ln>
        </p:spPr>
        <p:txBody>
          <a:bodyPr/>
          <a:p/>
        </p:txBody>
      </p:sp>
      <p:sp>
        <p:nvSpPr>
          <p:cNvPr id="18" name="Text 15"/>
          <p:cNvSpPr txBox="1"/>
          <p:nvPr/>
        </p:nvSpPr>
        <p:spPr>
          <a:xfrm>
            <a:off x="8595532" y="411480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32,36 $</a:t>
            </a:r>
            <a:endParaRPr lang="en-US" sz="1000" dirty="0"/>
          </a:p>
        </p:txBody>
      </p:sp>
      <p:sp>
        <p:nvSpPr>
          <p:cNvPr id="19" name="Text 16"/>
          <p:cNvSpPr txBox="1"/>
          <p:nvPr/>
        </p:nvSpPr>
        <p:spPr>
          <a:xfrm>
            <a:off x="9306811" y="438912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39,14 $</a:t>
            </a:r>
            <a:endParaRPr lang="en-US" sz="1000" dirty="0"/>
          </a:p>
        </p:txBody>
      </p:sp>
      <p:sp>
        <p:nvSpPr>
          <p:cNvPr id="20" name="Text 17"/>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~25 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96" dirty="0">
                <a:solidFill>
                  <a:srgbClr val="141A17"/>
                </a:solidFill>
              </a:rPr>
              <a:t>Résultats du T4 2026 et première perspective 2027</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T4 2026-S1 2027</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227" dirty="0">
                <a:solidFill>
                  <a:srgbClr val="141A17"/>
                </a:solidFill>
              </a:rPr>
              <a:t>Pic du coût des mémoires et redressement séquentiel des marges PC</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2026-2027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Nomination d'un directeur général permanent</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Jusqu'en 2028</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09" dirty="0">
                <a:solidFill>
                  <a:srgbClr val="141A17"/>
                </a:solidFill>
              </a:rPr>
              <a:t>1 Md$ d'économies brutes en rythme annuel, suivies chaque trimestre</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Exercice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52" dirty="0">
                <a:solidFill>
                  <a:srgbClr val="141A17"/>
                </a:solidFill>
              </a:rPr>
              <a:t>Mix des PC IA et fin du renouvellement du parc professionnel</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385" dirty="0">
                <a:solidFill>
                  <a:srgbClr val="141A17"/>
                </a:solidFill>
              </a:rPr>
              <a:t>Guidance de FCF 2027 sous environ 2,5 Md$</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Le déclin de l'impression s'accélère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75" dirty="0">
                          <a:solidFill>
                            <a:srgbClr val="2A322E"/>
                          </a:solidFill>
                          <a:latin typeface="Arial" pitchFamily="34" charset="0"/>
                          <a:ea typeface="Arial" pitchFamily="34" charset="-122"/>
                          <a:cs typeface="Arial" pitchFamily="34" charset="-120"/>
                        </a:rPr>
                        <a:t>Consommables récurrents ; marge tenue au-dessus de 18 %</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Demande PC avancée sur l'ex. 2026</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Scénario central sous la guidance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Le coût des mémoires ne culmine pas comme prévu</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97" dirty="0">
                          <a:solidFill>
                            <a:srgbClr val="2A322E"/>
                          </a:solidFill>
                          <a:latin typeface="Arial" pitchFamily="34" charset="0"/>
                          <a:ea typeface="Arial" pitchFamily="34" charset="-122"/>
                          <a:cs typeface="Arial" pitchFamily="34" charset="-120"/>
                        </a:rPr>
                        <a:t>Hausses de prix répercutées au T3</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Fonds propres négatifs et ~5 Md$ de dette nette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Distribution flexible ; les rachats peuvent être réduits en premier</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VENDONS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293" dirty="0">
                <a:solidFill>
                  <a:srgbClr val="141A17"/>
                </a:solidFill>
              </a:rPr>
              <a:t>Guidance de FCF 2027 sous environ 2,5 Md$</a:t>
            </a:r>
            <a:endParaRPr lang="en-US" sz="1400" dirty="0"/>
          </a:p>
          <a:p>
            <a:pPr marL="342900" indent="-342900">
              <a:spcAft>
                <a:spcPts val="1000"/>
              </a:spcAft>
              <a:buSzPct val="100000"/>
              <a:buChar char="•"/>
            </a:pPr>
            <a:r>
              <a:rPr lang="en-US" sz="1400" dirty="0">
                <a:solidFill>
                  <a:srgbClr val="141A17"/>
                </a:solidFill>
              </a:rPr>
              <a:t>Marge de l'impression sous 16 %</a:t>
            </a:r>
            <a:endParaRPr lang="en-US" sz="1400" dirty="0"/>
          </a:p>
          <a:p>
            <a:pPr marL="342900" indent="-342900">
              <a:spcAft>
                <a:spcPts val="1000"/>
              </a:spcAft>
              <a:buSzPct val="100000"/>
              <a:buChar char="•"/>
            </a:pPr>
            <a:r>
              <a:rPr lang="en-US" sz="1240" dirty="0">
                <a:solidFill>
                  <a:srgbClr val="141A17"/>
                </a:solidFill>
              </a:rPr>
              <a:t>Baisse du dividende ou des rachats, ou BPA 2027 guidé en baisse hors remboursements douaniers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[S1] HP Inc., Form 8-K Exh. 99,1, "HP Inc. Reports Fiscal 2025 Full Year and Fourth Quarter Results", 25 Nov 2025</a:t>
            </a:r>
            <a:endParaRPr lang="en-US" sz="1000" dirty="0"/>
          </a:p>
          <a:p>
            <a:pPr indent="0" marL="0">
              <a:spcAft>
                <a:spcPts val="500"/>
              </a:spcAft>
              <a:buNone/>
            </a:pPr>
            <a:r>
              <a:rPr lang="en-US" sz="1000" dirty="0">
                <a:solidFill>
                  <a:srgbClr val="2A322E"/>
                </a:solidFill>
              </a:rPr>
              <a:t>[S2] HP Inc., Form 10-K for the fiscal year ended 31 Oct 2025, filed 10 Dec 2025</a:t>
            </a:r>
            <a:endParaRPr lang="en-US" sz="1000" dirty="0"/>
          </a:p>
          <a:p>
            <a:pPr indent="0" marL="0">
              <a:spcAft>
                <a:spcPts val="500"/>
              </a:spcAft>
              <a:buNone/>
            </a:pPr>
            <a:r>
              <a:rPr lang="en-US" sz="1000" dirty="0">
                <a:solidFill>
                  <a:srgbClr val="2A322E"/>
                </a:solidFill>
              </a:rPr>
              <a:t>[S3] HP Inc., Form 8-K Exh. 99,1, "HP Inc. Reports Fiscal 2026 First Quarter Results", 24 Feb 2026</a:t>
            </a:r>
            <a:endParaRPr lang="en-US" sz="1000" dirty="0"/>
          </a:p>
          <a:p>
            <a:pPr indent="0" marL="0">
              <a:spcAft>
                <a:spcPts val="500"/>
              </a:spcAft>
              <a:buNone/>
            </a:pPr>
            <a:r>
              <a:rPr lang="en-US" sz="1000" dirty="0">
                <a:solidFill>
                  <a:srgbClr val="2A322E"/>
                </a:solidFill>
              </a:rPr>
              <a:t>[S4] HP Inc., Form 10-Q for the quarter ended 31 Jul 2026</a:t>
            </a:r>
            <a:endParaRPr lang="en-US" sz="1000" dirty="0"/>
          </a:p>
          <a:p>
            <a:pPr indent="0" marL="0">
              <a:spcAft>
                <a:spcPts val="500"/>
              </a:spcAft>
              <a:buNone/>
            </a:pPr>
            <a:r>
              <a:rPr lang="en-US" sz="1000" dirty="0">
                <a:solidFill>
                  <a:srgbClr val="2A322E"/>
                </a:solidFill>
              </a:rPr>
              <a:t>[S5] HP Inc., Form 8-K Exh. 99,1, "HP Inc. Reports Fiscal 2026 Third Quarter Results", 26 Aug 2026</a:t>
            </a:r>
            <a:endParaRPr lang="en-US" sz="1000" dirty="0"/>
          </a:p>
          <a:p>
            <a:pPr indent="0" marL="0">
              <a:spcAft>
                <a:spcPts val="500"/>
              </a:spcAft>
              <a:buNone/>
            </a:pPr>
            <a:r>
              <a:rPr lang="en-US" sz="1000" dirty="0">
                <a:solidFill>
                  <a:srgbClr val="2A322E"/>
                </a:solidFill>
              </a:rPr>
              <a:t>[S6] Coverage of HP 8-K on CEO transition, 3 Feb 2026: Action-Intell</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[S7] investingLive, "HP T4 revenue beats; 2026 EPS guidance trails, 4k-6k jobs to go", 25 Nov 2025</a:t>
            </a:r>
            <a:endParaRPr lang="en-US" sz="1000" dirty="0"/>
          </a:p>
          <a:p>
            <a:pPr indent="0" marL="0">
              <a:spcAft>
                <a:spcPts val="500"/>
              </a:spcAft>
              <a:buNone/>
            </a:pPr>
            <a:r>
              <a:rPr lang="en-US" sz="1000" dirty="0">
                <a:solidFill>
                  <a:srgbClr val="2A322E"/>
                </a:solidFill>
              </a:rPr>
              <a:t>[S8] Plante Moran, "Supreme Court strikes down IEEPA tariffs", Feb 2026</a:t>
            </a:r>
            <a:endParaRPr lang="en-US" sz="1000" dirty="0"/>
          </a:p>
          <a:p>
            <a:pPr indent="0" marL="0">
              <a:spcAft>
                <a:spcPts val="500"/>
              </a:spcAft>
              <a:buNone/>
            </a:pPr>
            <a:r>
              <a:rPr lang="en-US" sz="1000" dirty="0">
                <a:solidFill>
                  <a:srgbClr val="2A322E"/>
                </a:solidFill>
              </a:rPr>
              <a:t>[S9] Futurum Group, "HP T2 FY 2026 Earnings Emphasize AI PC Mix Shift Amid Cost Pressure", May 2026</a:t>
            </a:r>
            <a:endParaRPr lang="en-US" sz="1000" dirty="0"/>
          </a:p>
          <a:p>
            <a:pPr indent="0" marL="0">
              <a:spcAft>
                <a:spcPts val="500"/>
              </a:spcAft>
              <a:buNone/>
            </a:pPr>
            <a:r>
              <a:rPr lang="en-US" sz="1000" dirty="0">
                <a:solidFill>
                  <a:srgbClr val="2A322E"/>
                </a:solidFill>
              </a:rPr>
              <a:t>[S10] Massive, HPQ quote page (delayed quote, 52-week range, market cap, ratios), snapshot 29 Oct 2026 11:51 EDT</a:t>
            </a:r>
            <a:endParaRPr lang="en-US" sz="1000" dirty="0"/>
          </a:p>
          <a:p>
            <a:pPr indent="0" marL="0">
              <a:spcAft>
                <a:spcPts val="500"/>
              </a:spcAft>
              <a:buNone/>
            </a:pPr>
            <a:r>
              <a:rPr lang="en-US" sz="1000" dirty="0">
                <a:solidFill>
                  <a:srgbClr val="2A322E"/>
                </a:solidFill>
              </a:rPr>
              <a:t>[S11] Earnings Whispers, HPQ earnings page (T3 consensus; next report date)</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HP Inc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