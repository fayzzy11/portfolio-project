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e2e15663-c440-3298-623c-b26cf750cecc}">
          <p14:sldIdLst>
            <p14:sldId id="256"/>
          </p14:sldIdLst>
        </p14:section>
        <p14:section name="Thesis" id="{9e3d2a70-3b95-5613-4a62-fd1928742974}">
          <p14:sldIdLst>
            <p14:sldId id="257"/>
          </p14:sldIdLst>
        </p14:section>
        <p14:section name="Company" id="{d99786a2-5fa0-4cc9-2203-934a507682d4}">
          <p14:sldIdLst>
            <p14:sldId id="258"/>
            <p14:sldId id="259"/>
          </p14:sldIdLst>
        </p14:section>
        <p14:section name="Screen" id="{3060ab9f-bd2c-59b6-1b22-a3ba8ededb88}">
          <p14:sldIdLst>
            <p14:sldId id="260"/>
            <p14:sldId id="261"/>
          </p14:sldIdLst>
        </p14:section>
        <p14:section name="Financials" id="{e3f80158-a038-333f-5ff0-15201165c93d}">
          <p14:sldIdLst>
            <p14:sldId id="262"/>
            <p14:sldId id="263"/>
          </p14:sldIdLst>
        </p14:section>
        <p14:section name="Valuation" id="{81d29011-f784-1dae-fdbc-d8fc8e51b0ec}">
          <p14:sldIdLst>
            <p14:sldId id="264"/>
          </p14:sldIdLst>
        </p14:section>
        <p14:section name="Catalysts and risks" id="{53b3bcc8-10c9-27c4-4c63-6488f0c24140}">
          <p14:sldIdLst>
            <p14:sldId id="265"/>
            <p14:sldId id="266"/>
          </p14:sldIdLst>
        </p14:section>
        <p14:section name="Sources" id="{cfa99553-23ad-1109-4e45-e7ba03ecd897}">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Profit sous-jacent (Md¥) : ex. 2025 réel vs ex. 2026 prévu</a:t>
            </a:r>
          </a:p>
        </c:rich>
      </c:tx>
      <c:layout/>
      <c:overlay val="0"/>
    </c:title>
    <c:autoTitleDeleted val="0"/>
    <c:plotArea>
      <c:layout/>
      <c:barChart>
        <c:barDir val="col"/>
        <c:grouping val="clustered"/>
        <c:varyColors val="0"/>
        <c:ser>
          <c:idx val="0"/>
          <c:order val="0"/>
          <c:tx>
            <c:strRef>
              <c:f>Sheet1!$B$1</c:f>
              <c:strCache>
                <c:ptCount val="1"/>
                <c:pt idx="0">
                  <c:v>FY2025</c:v>
                </c:pt>
              </c:strCache>
            </c:strRef>
          </c:tx>
          <c:spPr>
            <a:solidFill>
              <a:srgbClr val="9AAAA2"/>
            </a:solidFill>
            <a:effectLst/>
          </c:spPr>
          <c:invertIfNegative val="0"/>
          <c:dLbls>
            <c:numFmt formatCode="#,##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cat>
            <c:multiLvlStrRef>
              <c:f>Sheet1!$A$2:$A$3</c:f>
              <c:multiLvlStrCache>
                <c:ptCount val="2"/>
                <c:lvl>
                  <c:pt idx="0">
                    <c:v>Japon</c:v>
                  </c:pt>
                  <c:pt idx="1">
                    <c:v>Étranger, matières premières incluses</c:v>
                  </c:pt>
                </c:lvl>
              </c:multiLvlStrCache>
            </c:multiLvlStrRef>
          </c:cat>
          <c:val>
            <c:numRef>
              <c:f>Sheet1!$B$2:$B$3</c:f>
              <c:numCache>
                <c:formatCode>General</c:formatCode>
                <c:ptCount val="2"/>
                <c:pt idx="0">
                  <c:v>527.6</c:v>
                </c:pt>
                <c:pt idx="1">
                  <c:v>122.8</c:v>
                </c:pt>
              </c:numCache>
            </c:numRef>
          </c:val>
        </c:ser>
        <c:ser>
          <c:idx val="1"/>
          <c:order val="1"/>
          <c:tx>
            <c:strRef>
              <c:f>Sheet1!$C$1</c:f>
              <c:strCache>
                <c:ptCount val="1"/>
                <c:pt idx="0">
                  <c:v>Ex. 2026 prév.</c:v>
                </c:pt>
              </c:strCache>
            </c:strRef>
          </c:tx>
          <c:spPr>
            <a:solidFill>
              <a:srgbClr val="0E6B4F"/>
            </a:solidFill>
            <a:effectLst/>
          </c:spPr>
          <c:invertIfNegative val="0"/>
          <c:dLbls>
            <c:numFmt formatCode="#,##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cat>
            <c:multiLvlStrRef>
              <c:f>Sheet1!$A$2:$A$3</c:f>
              <c:multiLvlStrCache>
                <c:ptCount val="2"/>
                <c:lvl>
                  <c:pt idx="0">
                    <c:v>Japon</c:v>
                  </c:pt>
                  <c:pt idx="1">
                    <c:v>Étranger, matières premières incluses</c:v>
                  </c:pt>
                </c:lvl>
              </c:multiLvlStrCache>
            </c:multiLvlStrRef>
          </c:cat>
          <c:val>
            <c:numRef>
              <c:f>Sheet1!$C$2:$C$3</c:f>
              <c:numCache>
                <c:formatCode>General</c:formatCode>
                <c:ptCount val="2"/>
                <c:pt idx="0">
                  <c:v>380</c:v>
                </c:pt>
                <c:pt idx="1">
                  <c:v>320</c:v>
                </c:pt>
              </c:numCache>
            </c:numRef>
          </c:val>
        </c:ser>
        <c:dLbls>
          <c:numFmt formatCode="#,##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Multiples au 31 déc. 2025 (dernier exercice utilisable)</a:t>
            </a:r>
          </a:p>
        </c:rich>
      </c:tx>
      <c:layout/>
      <c:overlay val="0"/>
    </c:title>
    <c:autoTitleDeleted val="0"/>
    <c:plotArea>
      <c:layout/>
      <c:barChart>
        <c:barDir val="col"/>
        <c:grouping val="clustered"/>
        <c:varyColors val="0"/>
        <c:ser>
          <c:idx val="0"/>
          <c:order val="0"/>
          <c:tx>
            <c:strRef>
              <c:f>Sheet1!$B$1</c:f>
              <c:strCache>
                <c:ptCount val="1"/>
                <c:pt idx="0">
                  <c:v>Nippon Steel</c:v>
                </c:pt>
              </c:strCache>
            </c:strRef>
          </c:tx>
          <c:spPr>
            <a:solidFill>
              <a:srgbClr val="0E6B4F"/>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Sheet1!$B$2:$B$4</c:f>
              <c:numCache>
                <c:formatCode>General</c:formatCode>
                <c:ptCount val="3"/>
                <c:pt idx="0">
                  <c:v>13.58</c:v>
                </c:pt>
                <c:pt idx="1">
                  <c:v>8.76</c:v>
                </c:pt>
                <c:pt idx="2">
                  <c:v>0.56</c:v>
                </c:pt>
              </c:numCache>
            </c:numRef>
          </c:val>
        </c:ser>
        <c:ser>
          <c:idx val="1"/>
          <c:order val="1"/>
          <c:tx>
            <c:strRef>
              <c:f>Sheet1!$C$1</c:f>
              <c:strCache>
                <c:ptCount val="1"/>
                <c:pt idx="0">
                  <c:v>Médiane des pairs</c:v>
                </c:pt>
              </c:strCache>
            </c:strRef>
          </c:tx>
          <c:spPr>
            <a:solidFill>
              <a:srgbClr val="9AAAA2"/>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Sheet1!$C$2:$C$4</c:f>
              <c:numCache>
                <c:formatCode>General</c:formatCode>
                <c:ptCount val="3"/>
                <c:pt idx="0">
                  <c:v>13.14</c:v>
                </c:pt>
                <c:pt idx="1">
                  <c:v>16.97</c:v>
                </c:pt>
                <c:pt idx="2">
                  <c:v>1.62</c:v>
                </c:pt>
              </c:numCache>
            </c:numRef>
          </c:val>
        </c:ser>
        <c:ser>
          <c:idx val="2"/>
          <c:order val="2"/>
          <c:tx>
            <c:strRef>
              <c:f>Sheet1!$D$1</c:f>
              <c:strCache>
                <c:ptCount val="1"/>
                <c:pt idx="0">
                  <c:v>Médiane du secteur</c:v>
                </c:pt>
              </c:strCache>
            </c:strRef>
          </c:tx>
          <c:spPr>
            <a:solidFill>
              <a:srgbClr val="D5DBD6"/>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Sheet1!$D$2:$D$4</c:f>
              <c:numCache>
                <c:formatCode>General</c:formatCode>
                <c:ptCount val="3"/>
                <c:pt idx="0">
                  <c:v>17.73</c:v>
                </c:pt>
                <c:pt idx="1">
                  <c:v>24.47</c:v>
                </c:pt>
                <c:pt idx="2">
                  <c:v>2.28</c:v>
                </c:pt>
              </c:numCache>
            </c:numRef>
          </c:val>
        </c:ser>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Z-scores value dans le secteur (déc. 2025)</a:t>
            </a:r>
          </a:p>
        </c:rich>
      </c:tx>
      <c:layout/>
      <c:overlay val="0"/>
    </c:title>
    <c:autoTitleDeleted val="0"/>
    <c:plotArea>
      <c:layout/>
      <c:barChart>
        <c:barDir val="bar"/>
        <c:grouping val="clustered"/>
        <c:varyColors val="0"/>
        <c:ser>
          <c:idx val="0"/>
          <c:order val="0"/>
          <c:tx>
            <c:strRef>
              <c:f>Sheet1!$B$1</c:f>
              <c:strCache>
                <c:ptCount val="1"/>
                <c:pt idx="0">
                  <c:v>z-score</c:v>
                </c:pt>
              </c:strCache>
            </c:strRef>
          </c:tx>
          <c:spPr>
            <a:solidFill>
              <a:srgbClr val="0E6B4F"/>
            </a:solidFill>
            <a:effectLst/>
          </c:spPr>
          <c:invertIfNegative val="0"/>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dPt>
            <c:idx val="0"/>
            <c:invertIfNegative val="0"/>
            <c:bubble3D val="0"/>
            <c:spPr>
              <a:solidFill>
                <a:srgbClr val="0E6B4F"/>
              </a:solidFill>
              <a:effectLst/>
            </c:spPr>
          </c:dPt>
          <c:dPt>
            <c:idx val="1"/>
            <c:invertIfNegative val="0"/>
            <c:bubble3D val="0"/>
            <c:spPr>
              <a:solidFill>
                <a:srgbClr val="0E6B4F"/>
              </a:solidFill>
              <a:effectLst/>
            </c:spPr>
          </c:dPt>
          <c:dPt>
            <c:idx val="2"/>
            <c:invertIfNegative val="0"/>
            <c:bubble3D val="0"/>
            <c:spPr>
              <a:solidFill>
                <a:srgbClr val="0E6B4F"/>
              </a:solidFill>
              <a:effectLst/>
            </c:spPr>
          </c:dPt>
          <c:dPt>
            <c:idx val="3"/>
            <c:invertIfNegative val="0"/>
            <c:bubble3D val="0"/>
            <c:spPr>
              <a:solidFill>
                <a:srgbClr val="0E6B4F"/>
              </a:solidFill>
              <a:effectLst/>
            </c:spPr>
          </c:dPt>
          <c:cat>
            <c:multiLvlStrRef>
              <c:f>Sheet1!$A$2:$A$5</c:f>
              <c:multiLvlStrCache>
                <c:ptCount val="4"/>
                <c:lvl>
                  <c:pt idx="0">
                    <c:v>EBIT / VE</c:v>
                  </c:pt>
                  <c:pt idx="1">
                    <c:v>Valeur comptable / cours</c:v>
                  </c:pt>
                  <c:pt idx="2">
                    <c:v>Rendement FCF</c:v>
                  </c:pt>
                  <c:pt idx="3">
                    <c:v>CA / VE</c:v>
                  </c:pt>
                </c:lvl>
              </c:multiLvlStrCache>
            </c:multiLvlStrRef>
          </c:cat>
          <c:val>
            <c:numRef>
              <c:f>Sheet1!$B$2:$B$5</c:f>
              <c:numCache>
                <c:formatCode>General</c:formatCode>
                <c:ptCount val="4"/>
                <c:pt idx="0">
                  <c:v>0.5432131038547534</c:v>
                </c:pt>
                <c:pt idx="1">
                  <c:v>3.3174243360173397</c:v>
                </c:pt>
                <c:pt idx="2">
                  <c:v>2.3337569191656296</c:v>
                </c:pt>
                <c:pt idx="3">
                  <c:v>2.2661527273656694</c:v>
                </c:pt>
              </c:numCache>
            </c:numRef>
          </c:val>
        </c:ser>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Rendement total en EUR, base 100 (juin 2021 - juin 2026, hebdo)</a:t>
            </a:r>
          </a:p>
        </c:rich>
      </c:tx>
      <c:layout/>
      <c:overlay val="0"/>
    </c:title>
    <c:autoTitleDeleted val="0"/>
    <c:plotArea>
      <c:layout/>
      <c:lineChart>
        <c:varyColors val="0"/>
        <c:ser>
          <c:idx val="0"/>
          <c:order val="0"/>
          <c:tx>
            <c:strRef>
              <c:f>Sheet1!$B$1</c:f>
              <c:strCache>
                <c:ptCount val="1"/>
                <c:pt idx="0">
                  <c:v>Nippon Steel</c:v>
                </c:pt>
              </c:strCache>
            </c:strRef>
          </c:tx>
          <c:spPr>
            <a:solidFill>
              <a:srgbClr val="0E6B4F"/>
            </a:solidFill>
            <a:ln w="25400" cap="flat">
              <a:solidFill>
                <a:srgbClr val="0E6B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6B4F"/>
              </a:solidFill>
              <a:ln w="9525" cap="flat">
                <a:solidFill>
                  <a:srgbClr val="0E6B4F"/>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Sheet1!$B$2:$B$263</c:f>
              <c:numCache>
                <c:formatCode>General</c:formatCode>
                <c:ptCount val="262"/>
                <c:pt idx="0">
                  <c:v>100</c:v>
                </c:pt>
                <c:pt idx="1">
                  <c:v>99.72</c:v>
                </c:pt>
                <c:pt idx="2">
                  <c:v>94.48</c:v>
                </c:pt>
                <c:pt idx="3">
                  <c:v>98.19</c:v>
                </c:pt>
                <c:pt idx="4">
                  <c:v>93.07</c:v>
                </c:pt>
                <c:pt idx="5">
                  <c:v>100.68</c:v>
                </c:pt>
                <c:pt idx="6">
                  <c:v>113.01</c:v>
                </c:pt>
                <c:pt idx="7">
                  <c:v>120.17</c:v>
                </c:pt>
                <c:pt idx="8">
                  <c:v>102.57</c:v>
                </c:pt>
                <c:pt idx="9">
                  <c:v>110.15</c:v>
                </c:pt>
                <c:pt idx="10">
                  <c:v>120.51</c:v>
                </c:pt>
                <c:pt idx="11">
                  <c:v>122.7</c:v>
                </c:pt>
                <c:pt idx="12">
                  <c:v>115.67</c:v>
                </c:pt>
                <c:pt idx="13">
                  <c:v>112.51</c:v>
                </c:pt>
                <c:pt idx="14">
                  <c:v>110.37</c:v>
                </c:pt>
                <c:pt idx="15">
                  <c:v>105.81</c:v>
                </c:pt>
                <c:pt idx="16">
                  <c:v>106.06</c:v>
                </c:pt>
                <c:pt idx="17">
                  <c:v>105.35</c:v>
                </c:pt>
                <c:pt idx="18">
                  <c:v>108.79</c:v>
                </c:pt>
                <c:pt idx="19">
                  <c:v>105.42</c:v>
                </c:pt>
                <c:pt idx="20">
                  <c:v>106.44</c:v>
                </c:pt>
                <c:pt idx="21">
                  <c:v>102.52</c:v>
                </c:pt>
                <c:pt idx="22">
                  <c:v>101.27</c:v>
                </c:pt>
                <c:pt idx="23">
                  <c:v>100.72</c:v>
                </c:pt>
                <c:pt idx="24">
                  <c:v>102.74</c:v>
                </c:pt>
                <c:pt idx="25">
                  <c:v>106.03</c:v>
                </c:pt>
                <c:pt idx="26">
                  <c:v>103.79</c:v>
                </c:pt>
                <c:pt idx="27">
                  <c:v>103.27</c:v>
                </c:pt>
                <c:pt idx="28">
                  <c:v>110.33</c:v>
                </c:pt>
                <c:pt idx="29">
                  <c:v>120.61</c:v>
                </c:pt>
                <c:pt idx="30">
                  <c:v>105.83</c:v>
                </c:pt>
                <c:pt idx="31">
                  <c:v>100.61</c:v>
                </c:pt>
                <c:pt idx="32">
                  <c:v>105.19</c:v>
                </c:pt>
                <c:pt idx="33">
                  <c:v>111.69</c:v>
                </c:pt>
                <c:pt idx="34">
                  <c:v>112.25</c:v>
                </c:pt>
                <c:pt idx="35">
                  <c:v>112.28</c:v>
                </c:pt>
                <c:pt idx="36">
                  <c:v>122.62</c:v>
                </c:pt>
                <c:pt idx="37">
                  <c:v>117.83</c:v>
                </c:pt>
                <c:pt idx="38">
                  <c:v>117.33</c:v>
                </c:pt>
                <c:pt idx="39">
                  <c:v>121.92</c:v>
                </c:pt>
                <c:pt idx="40">
                  <c:v>117.62</c:v>
                </c:pt>
                <c:pt idx="41">
                  <c:v>113.05</c:v>
                </c:pt>
                <c:pt idx="42">
                  <c:v>115.79</c:v>
                </c:pt>
                <c:pt idx="43">
                  <c:v>111.77</c:v>
                </c:pt>
                <c:pt idx="44">
                  <c:v>112.12</c:v>
                </c:pt>
                <c:pt idx="45">
                  <c:v>112.37</c:v>
                </c:pt>
                <c:pt idx="46">
                  <c:v>115</c:v>
                </c:pt>
                <c:pt idx="47">
                  <c:v>119.36</c:v>
                </c:pt>
                <c:pt idx="48">
                  <c:v>120.66</c:v>
                </c:pt>
                <c:pt idx="49">
                  <c:v>117.34</c:v>
                </c:pt>
                <c:pt idx="50">
                  <c:v>113.55</c:v>
                </c:pt>
                <c:pt idx="51">
                  <c:v>103.96</c:v>
                </c:pt>
                <c:pt idx="52">
                  <c:v>98.48</c:v>
                </c:pt>
                <c:pt idx="53">
                  <c:v>100.7</c:v>
                </c:pt>
                <c:pt idx="54">
                  <c:v>104</c:v>
                </c:pt>
                <c:pt idx="55">
                  <c:v>105.19</c:v>
                </c:pt>
                <c:pt idx="56">
                  <c:v>105.83</c:v>
                </c:pt>
                <c:pt idx="57">
                  <c:v>108.11</c:v>
                </c:pt>
                <c:pt idx="58">
                  <c:v>113.03</c:v>
                </c:pt>
                <c:pt idx="59">
                  <c:v>116.26</c:v>
                </c:pt>
                <c:pt idx="60">
                  <c:v>116.54</c:v>
                </c:pt>
                <c:pt idx="61">
                  <c:v>118.3</c:v>
                </c:pt>
                <c:pt idx="62">
                  <c:v>116.85</c:v>
                </c:pt>
                <c:pt idx="63">
                  <c:v>118.57</c:v>
                </c:pt>
                <c:pt idx="64">
                  <c:v>116.02</c:v>
                </c:pt>
                <c:pt idx="65">
                  <c:v>119.39</c:v>
                </c:pt>
                <c:pt idx="66">
                  <c:v>110.33</c:v>
                </c:pt>
                <c:pt idx="67">
                  <c:v>114.58</c:v>
                </c:pt>
                <c:pt idx="68">
                  <c:v>115.2</c:v>
                </c:pt>
                <c:pt idx="69">
                  <c:v>112.37</c:v>
                </c:pt>
                <c:pt idx="70">
                  <c:v>107.61</c:v>
                </c:pt>
                <c:pt idx="71">
                  <c:v>112.94</c:v>
                </c:pt>
                <c:pt idx="72">
                  <c:v>118.79</c:v>
                </c:pt>
                <c:pt idx="73">
                  <c:v>118.09</c:v>
                </c:pt>
                <c:pt idx="74">
                  <c:v>121.51</c:v>
                </c:pt>
                <c:pt idx="75">
                  <c:v>119.82</c:v>
                </c:pt>
                <c:pt idx="76">
                  <c:v>123.2</c:v>
                </c:pt>
                <c:pt idx="77">
                  <c:v>121.74</c:v>
                </c:pt>
                <c:pt idx="78">
                  <c:v>122.88</c:v>
                </c:pt>
                <c:pt idx="79">
                  <c:v>127.25</c:v>
                </c:pt>
                <c:pt idx="80">
                  <c:v>126.78</c:v>
                </c:pt>
                <c:pt idx="81">
                  <c:v>143.12</c:v>
                </c:pt>
                <c:pt idx="82">
                  <c:v>145.52</c:v>
                </c:pt>
                <c:pt idx="83">
                  <c:v>152.14</c:v>
                </c:pt>
                <c:pt idx="84">
                  <c:v>147.29</c:v>
                </c:pt>
                <c:pt idx="85">
                  <c:v>154.58</c:v>
                </c:pt>
                <c:pt idx="86">
                  <c:v>165.71</c:v>
                </c:pt>
                <c:pt idx="87">
                  <c:v>166.19</c:v>
                </c:pt>
                <c:pt idx="88">
                  <c:v>169.58</c:v>
                </c:pt>
                <c:pt idx="89">
                  <c:v>174.61</c:v>
                </c:pt>
                <c:pt idx="90">
                  <c:v>165.85</c:v>
                </c:pt>
                <c:pt idx="91">
                  <c:v>166.13</c:v>
                </c:pt>
                <c:pt idx="92">
                  <c:v>173.59</c:v>
                </c:pt>
                <c:pt idx="93">
                  <c:v>163.64</c:v>
                </c:pt>
                <c:pt idx="94">
                  <c:v>163.79</c:v>
                </c:pt>
                <c:pt idx="95">
                  <c:v>163.95</c:v>
                </c:pt>
                <c:pt idx="96">
                  <c:v>154.74</c:v>
                </c:pt>
                <c:pt idx="97">
                  <c:v>155.02</c:v>
                </c:pt>
                <c:pt idx="98">
                  <c:v>155.92</c:v>
                </c:pt>
                <c:pt idx="99">
                  <c:v>153.12</c:v>
                </c:pt>
                <c:pt idx="100">
                  <c:v>148.62</c:v>
                </c:pt>
                <c:pt idx="101">
                  <c:v>149.89</c:v>
                </c:pt>
                <c:pt idx="102">
                  <c:v>155.18</c:v>
                </c:pt>
                <c:pt idx="103">
                  <c:v>154.49</c:v>
                </c:pt>
                <c:pt idx="104">
                  <c:v>149.57</c:v>
                </c:pt>
                <c:pt idx="105">
                  <c:v>153.06</c:v>
                </c:pt>
                <c:pt idx="106">
                  <c:v>154.15</c:v>
                </c:pt>
                <c:pt idx="107">
                  <c:v>154.42</c:v>
                </c:pt>
                <c:pt idx="108">
                  <c:v>156.15</c:v>
                </c:pt>
                <c:pt idx="109">
                  <c:v>164.13</c:v>
                </c:pt>
                <c:pt idx="110">
                  <c:v>167.7</c:v>
                </c:pt>
                <c:pt idx="111">
                  <c:v>170.24</c:v>
                </c:pt>
                <c:pt idx="112">
                  <c:v>165.28</c:v>
                </c:pt>
                <c:pt idx="113">
                  <c:v>170.27</c:v>
                </c:pt>
                <c:pt idx="114">
                  <c:v>178.61</c:v>
                </c:pt>
                <c:pt idx="115">
                  <c:v>179.73</c:v>
                </c:pt>
                <c:pt idx="116">
                  <c:v>185.5</c:v>
                </c:pt>
                <c:pt idx="117">
                  <c:v>188.91</c:v>
                </c:pt>
                <c:pt idx="118">
                  <c:v>181.77</c:v>
                </c:pt>
                <c:pt idx="119">
                  <c:v>172.61</c:v>
                </c:pt>
                <c:pt idx="120">
                  <c:v>167.75</c:v>
                </c:pt>
                <c:pt idx="121">
                  <c:v>166.26</c:v>
                </c:pt>
                <c:pt idx="122">
                  <c:v>168.37</c:v>
                </c:pt>
                <c:pt idx="123">
                  <c:v>164.17</c:v>
                </c:pt>
                <c:pt idx="124">
                  <c:v>164.73</c:v>
                </c:pt>
                <c:pt idx="125">
                  <c:v>172.95</c:v>
                </c:pt>
                <c:pt idx="126">
                  <c:v>173.79</c:v>
                </c:pt>
                <c:pt idx="127">
                  <c:v>178.44</c:v>
                </c:pt>
                <c:pt idx="128">
                  <c:v>173.7</c:v>
                </c:pt>
                <c:pt idx="129">
                  <c:v>173.16</c:v>
                </c:pt>
                <c:pt idx="130">
                  <c:v>166.91</c:v>
                </c:pt>
                <c:pt idx="131">
                  <c:v>169.89</c:v>
                </c:pt>
                <c:pt idx="132">
                  <c:v>175.05</c:v>
                </c:pt>
                <c:pt idx="133">
                  <c:v>171.9</c:v>
                </c:pt>
                <c:pt idx="134">
                  <c:v>175</c:v>
                </c:pt>
                <c:pt idx="135">
                  <c:v>176.79</c:v>
                </c:pt>
                <c:pt idx="136">
                  <c:v>181.66</c:v>
                </c:pt>
                <c:pt idx="137">
                  <c:v>180.98</c:v>
                </c:pt>
                <c:pt idx="138">
                  <c:v>177.27</c:v>
                </c:pt>
                <c:pt idx="139">
                  <c:v>180.46</c:v>
                </c:pt>
                <c:pt idx="140">
                  <c:v>190.59</c:v>
                </c:pt>
                <c:pt idx="141">
                  <c:v>192.17</c:v>
                </c:pt>
                <c:pt idx="142">
                  <c:v>180.78</c:v>
                </c:pt>
                <c:pt idx="143">
                  <c:v>188.64</c:v>
                </c:pt>
                <c:pt idx="144">
                  <c:v>188.4</c:v>
                </c:pt>
                <c:pt idx="145">
                  <c:v>183.54</c:v>
                </c:pt>
                <c:pt idx="146">
                  <c:v>185.17</c:v>
                </c:pt>
                <c:pt idx="147">
                  <c:v>173.73</c:v>
                </c:pt>
                <c:pt idx="148">
                  <c:v>171.29</c:v>
                </c:pt>
                <c:pt idx="149">
                  <c:v>176.72</c:v>
                </c:pt>
                <c:pt idx="150">
                  <c:v>165.29</c:v>
                </c:pt>
                <c:pt idx="151">
                  <c:v>162.7</c:v>
                </c:pt>
                <c:pt idx="152">
                  <c:v>164.35</c:v>
                </c:pt>
                <c:pt idx="153">
                  <c:v>168.8</c:v>
                </c:pt>
                <c:pt idx="154">
                  <c:v>166.74</c:v>
                </c:pt>
                <c:pt idx="155">
                  <c:v>166.57</c:v>
                </c:pt>
                <c:pt idx="156">
                  <c:v>163.86</c:v>
                </c:pt>
                <c:pt idx="157">
                  <c:v>165.46</c:v>
                </c:pt>
                <c:pt idx="158">
                  <c:v>166.72</c:v>
                </c:pt>
                <c:pt idx="159">
                  <c:v>168.13</c:v>
                </c:pt>
                <c:pt idx="160">
                  <c:v>164.14</c:v>
                </c:pt>
                <c:pt idx="161">
                  <c:v>159.04</c:v>
                </c:pt>
                <c:pt idx="162">
                  <c:v>167.56</c:v>
                </c:pt>
                <c:pt idx="163">
                  <c:v>166</c:v>
                </c:pt>
                <c:pt idx="164">
                  <c:v>168.53</c:v>
                </c:pt>
                <c:pt idx="165">
                  <c:v>167.08</c:v>
                </c:pt>
                <c:pt idx="166">
                  <c:v>171.78</c:v>
                </c:pt>
                <c:pt idx="167">
                  <c:v>163.79</c:v>
                </c:pt>
                <c:pt idx="168">
                  <c:v>161.24</c:v>
                </c:pt>
                <c:pt idx="169">
                  <c:v>166.33</c:v>
                </c:pt>
                <c:pt idx="170">
                  <c:v>175.57</c:v>
                </c:pt>
                <c:pt idx="171">
                  <c:v>170.41</c:v>
                </c:pt>
                <c:pt idx="172">
                  <c:v>165.04</c:v>
                </c:pt>
                <c:pt idx="173">
                  <c:v>161.15</c:v>
                </c:pt>
                <c:pt idx="174">
                  <c:v>156.11</c:v>
                </c:pt>
                <c:pt idx="175">
                  <c:v>158.39</c:v>
                </c:pt>
                <c:pt idx="176">
                  <c:v>168.68</c:v>
                </c:pt>
                <c:pt idx="177">
                  <c:v>163.52</c:v>
                </c:pt>
                <c:pt idx="178">
                  <c:v>166.59</c:v>
                </c:pt>
                <c:pt idx="179">
                  <c:v>166.32</c:v>
                </c:pt>
                <c:pt idx="180">
                  <c:v>164.78</c:v>
                </c:pt>
                <c:pt idx="181">
                  <c:v>163.59</c:v>
                </c:pt>
                <c:pt idx="182">
                  <c:v>157.49</c:v>
                </c:pt>
                <c:pt idx="183">
                  <c:v>164.37</c:v>
                </c:pt>
                <c:pt idx="184">
                  <c:v>167.46</c:v>
                </c:pt>
                <c:pt idx="185">
                  <c:v>161.93</c:v>
                </c:pt>
                <c:pt idx="186">
                  <c:v>163.73</c:v>
                </c:pt>
                <c:pt idx="187">
                  <c:v>163.93</c:v>
                </c:pt>
                <c:pt idx="188">
                  <c:v>172.12</c:v>
                </c:pt>
                <c:pt idx="189">
                  <c:v>184.38</c:v>
                </c:pt>
                <c:pt idx="190">
                  <c:v>181.51</c:v>
                </c:pt>
                <c:pt idx="191">
                  <c:v>185.21</c:v>
                </c:pt>
                <c:pt idx="192">
                  <c:v>183.04</c:v>
                </c:pt>
                <c:pt idx="193">
                  <c:v>184.74</c:v>
                </c:pt>
                <c:pt idx="194">
                  <c:v>181.94</c:v>
                </c:pt>
                <c:pt idx="195">
                  <c:v>184.84</c:v>
                </c:pt>
                <c:pt idx="196">
                  <c:v>178.37</c:v>
                </c:pt>
                <c:pt idx="197">
                  <c:v>161.32</c:v>
                </c:pt>
                <c:pt idx="198">
                  <c:v>159.55</c:v>
                </c:pt>
                <c:pt idx="199">
                  <c:v>161.98</c:v>
                </c:pt>
                <c:pt idx="200">
                  <c:v>160.88</c:v>
                </c:pt>
                <c:pt idx="201">
                  <c:v>160.94</c:v>
                </c:pt>
                <c:pt idx="202">
                  <c:v>161.3</c:v>
                </c:pt>
                <c:pt idx="203">
                  <c:v>156.48</c:v>
                </c:pt>
                <c:pt idx="204">
                  <c:v>155.85</c:v>
                </c:pt>
                <c:pt idx="205">
                  <c:v>156.69</c:v>
                </c:pt>
                <c:pt idx="206">
                  <c:v>154.61</c:v>
                </c:pt>
                <c:pt idx="207">
                  <c:v>149.59</c:v>
                </c:pt>
                <c:pt idx="208">
                  <c:v>142.94</c:v>
                </c:pt>
                <c:pt idx="209">
                  <c:v>141.38</c:v>
                </c:pt>
                <c:pt idx="210">
                  <c:v>143.82</c:v>
                </c:pt>
                <c:pt idx="211">
                  <c:v>145.8</c:v>
                </c:pt>
                <c:pt idx="212">
                  <c:v>140.78</c:v>
                </c:pt>
                <c:pt idx="213">
                  <c:v>148.84</c:v>
                </c:pt>
                <c:pt idx="214">
                  <c:v>151.32</c:v>
                </c:pt>
                <c:pt idx="215">
                  <c:v>152.55</c:v>
                </c:pt>
                <c:pt idx="216">
                  <c:v>153.96</c:v>
                </c:pt>
                <c:pt idx="217">
                  <c:v>158.03</c:v>
                </c:pt>
                <c:pt idx="218">
                  <c:v>159.46</c:v>
                </c:pt>
                <c:pt idx="219">
                  <c:v>172.57</c:v>
                </c:pt>
                <c:pt idx="220">
                  <c:v>167.68</c:v>
                </c:pt>
                <c:pt idx="221">
                  <c:v>163.28</c:v>
                </c:pt>
                <c:pt idx="222">
                  <c:v>158.83</c:v>
                </c:pt>
                <c:pt idx="223">
                  <c:v>156.9</c:v>
                </c:pt>
                <c:pt idx="224">
                  <c:v>152.55</c:v>
                </c:pt>
                <c:pt idx="225">
                  <c:v>153.75</c:v>
                </c:pt>
                <c:pt idx="226">
                  <c:v>157.75</c:v>
                </c:pt>
                <c:pt idx="227">
                  <c:v>160.72</c:v>
                </c:pt>
                <c:pt idx="228">
                  <c:v>154.26</c:v>
                </c:pt>
                <c:pt idx="229">
                  <c:v>155.65</c:v>
                </c:pt>
                <c:pt idx="230">
                  <c:v>155.14</c:v>
                </c:pt>
                <c:pt idx="231">
                  <c:v>156.38</c:v>
                </c:pt>
                <c:pt idx="232">
                  <c:v>154.2</c:v>
                </c:pt>
                <c:pt idx="233">
                  <c:v>154.9</c:v>
                </c:pt>
                <c:pt idx="234">
                  <c:v>147.89</c:v>
                </c:pt>
                <c:pt idx="235">
                  <c:v>154.54</c:v>
                </c:pt>
                <c:pt idx="236">
                  <c:v>156.64</c:v>
                </c:pt>
                <c:pt idx="237">
                  <c:v>157.52</c:v>
                </c:pt>
                <c:pt idx="238">
                  <c:v>162.93</c:v>
                </c:pt>
                <c:pt idx="239">
                  <c:v>163.43</c:v>
                </c:pt>
                <c:pt idx="240">
                  <c:v>158.01</c:v>
                </c:pt>
                <c:pt idx="241">
                  <c:v>163.54</c:v>
                </c:pt>
                <c:pt idx="242">
                  <c:v>160.18</c:v>
                </c:pt>
                <c:pt idx="243">
                  <c:v>165.55</c:v>
                </c:pt>
                <c:pt idx="244">
                  <c:v>154.7</c:v>
                </c:pt>
                <c:pt idx="245">
                  <c:v>148.01</c:v>
                </c:pt>
                <c:pt idx="246">
                  <c:v>145.74</c:v>
                </c:pt>
                <c:pt idx="247">
                  <c:v>145.74</c:v>
                </c:pt>
                <c:pt idx="248">
                  <c:v>145.09</c:v>
                </c:pt>
                <c:pt idx="249">
                  <c:v>145.63</c:v>
                </c:pt>
                <c:pt idx="250">
                  <c:v>147.18</c:v>
                </c:pt>
                <c:pt idx="251">
                  <c:v>146.06</c:v>
                </c:pt>
                <c:pt idx="252">
                  <c:v>140.48</c:v>
                </c:pt>
                <c:pt idx="253">
                  <c:v>142.11</c:v>
                </c:pt>
                <c:pt idx="254">
                  <c:v>141.68</c:v>
                </c:pt>
                <c:pt idx="255">
                  <c:v>138.86</c:v>
                </c:pt>
                <c:pt idx="256">
                  <c:v>137.09</c:v>
                </c:pt>
                <c:pt idx="257">
                  <c:v>139.58</c:v>
                </c:pt>
                <c:pt idx="258">
                  <c:v>135.47</c:v>
                </c:pt>
                <c:pt idx="259">
                  <c:v>136.14</c:v>
                </c:pt>
                <c:pt idx="260">
                  <c:v>138.49</c:v>
                </c:pt>
                <c:pt idx="261">
                  <c:v>134.98</c:v>
                </c:pt>
              </c:numCache>
            </c:numRef>
          </c:val>
          <c:smooth val="0"/>
        </c:ser>
        <c:ser>
          <c:idx val="1"/>
          <c:order val="1"/>
          <c:tx>
            <c:strRef>
              <c:f>Sheet1!$C$1</c:f>
              <c:strCache>
                <c:ptCount val="1"/>
                <c:pt idx="0">
                  <c:v>MSCI World Net EUR</c:v>
                </c:pt>
              </c:strCache>
            </c:strRef>
          </c:tx>
          <c:spPr>
            <a:solidFill>
              <a:srgbClr val="9AAAA2"/>
            </a:solidFill>
            <a:ln w="25400" cap="flat">
              <a:solidFill>
                <a:srgbClr val="9AAAA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AA2"/>
              </a:solidFill>
              <a:ln w="9525" cap="flat">
                <a:solidFill>
                  <a:srgbClr val="9AAAA2"/>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Sheet1!$C$2:$C$263</c:f>
              <c:numCache>
                <c:formatCode>General</c:formatCode>
                <c:ptCount val="262"/>
                <c:pt idx="0">
                  <c:v>100</c:v>
                </c:pt>
                <c:pt idx="1">
                  <c:v>101.65</c:v>
                </c:pt>
                <c:pt idx="2">
                  <c:v>101.72</c:v>
                </c:pt>
                <c:pt idx="3">
                  <c:v>101.25</c:v>
                </c:pt>
                <c:pt idx="4">
                  <c:v>103.28</c:v>
                </c:pt>
                <c:pt idx="5">
                  <c:v>102.35</c:v>
                </c:pt>
                <c:pt idx="6">
                  <c:v>104.19</c:v>
                </c:pt>
                <c:pt idx="7">
                  <c:v>104.86</c:v>
                </c:pt>
                <c:pt idx="8">
                  <c:v>104.39</c:v>
                </c:pt>
                <c:pt idx="9">
                  <c:v>105.27</c:v>
                </c:pt>
                <c:pt idx="10">
                  <c:v>105.49</c:v>
                </c:pt>
                <c:pt idx="11">
                  <c:v>104.52</c:v>
                </c:pt>
                <c:pt idx="12">
                  <c:v>104.54</c:v>
                </c:pt>
                <c:pt idx="13">
                  <c:v>104.99</c:v>
                </c:pt>
                <c:pt idx="14">
                  <c:v>103.36</c:v>
                </c:pt>
                <c:pt idx="15">
                  <c:v>104.31</c:v>
                </c:pt>
                <c:pt idx="16">
                  <c:v>106.29</c:v>
                </c:pt>
                <c:pt idx="17">
                  <c:v>107.34</c:v>
                </c:pt>
                <c:pt idx="18">
                  <c:v>108.86</c:v>
                </c:pt>
                <c:pt idx="19">
                  <c:v>111.02</c:v>
                </c:pt>
                <c:pt idx="20">
                  <c:v>111.83</c:v>
                </c:pt>
                <c:pt idx="21">
                  <c:v>112.98</c:v>
                </c:pt>
                <c:pt idx="22">
                  <c:v>109.93</c:v>
                </c:pt>
                <c:pt idx="23">
                  <c:v>108.71</c:v>
                </c:pt>
                <c:pt idx="24">
                  <c:v>112.07</c:v>
                </c:pt>
                <c:pt idx="25">
                  <c:v>110.68</c:v>
                </c:pt>
                <c:pt idx="26">
                  <c:v>112.51</c:v>
                </c:pt>
                <c:pt idx="27">
                  <c:v>112.98</c:v>
                </c:pt>
                <c:pt idx="28">
                  <c:v>111.35</c:v>
                </c:pt>
                <c:pt idx="29">
                  <c:v>110.37</c:v>
                </c:pt>
                <c:pt idx="30">
                  <c:v>106.03</c:v>
                </c:pt>
                <c:pt idx="31">
                  <c:v>107.08</c:v>
                </c:pt>
                <c:pt idx="32">
                  <c:v>106.43</c:v>
                </c:pt>
                <c:pt idx="33">
                  <c:v>106.05</c:v>
                </c:pt>
                <c:pt idx="34">
                  <c:v>104.72</c:v>
                </c:pt>
                <c:pt idx="35">
                  <c:v>105.54</c:v>
                </c:pt>
                <c:pt idx="36">
                  <c:v>105.67</c:v>
                </c:pt>
                <c:pt idx="37">
                  <c:v>103.22</c:v>
                </c:pt>
                <c:pt idx="38">
                  <c:v>108.65</c:v>
                </c:pt>
                <c:pt idx="39">
                  <c:v>110.71</c:v>
                </c:pt>
                <c:pt idx="40">
                  <c:v>110.56</c:v>
                </c:pt>
                <c:pt idx="41">
                  <c:v>110.61</c:v>
                </c:pt>
                <c:pt idx="42">
                  <c:v>109.69</c:v>
                </c:pt>
                <c:pt idx="43">
                  <c:v>106.87</c:v>
                </c:pt>
                <c:pt idx="44">
                  <c:v>105.92</c:v>
                </c:pt>
                <c:pt idx="45">
                  <c:v>104.38</c:v>
                </c:pt>
                <c:pt idx="46">
                  <c:v>104</c:v>
                </c:pt>
                <c:pt idx="47">
                  <c:v>100.73</c:v>
                </c:pt>
                <c:pt idx="48">
                  <c:v>104.83</c:v>
                </c:pt>
                <c:pt idx="49">
                  <c:v>103.87</c:v>
                </c:pt>
                <c:pt idx="50">
                  <c:v>100.55</c:v>
                </c:pt>
                <c:pt idx="51">
                  <c:v>95.31</c:v>
                </c:pt>
                <c:pt idx="52">
                  <c:v>99.62</c:v>
                </c:pt>
                <c:pt idx="53">
                  <c:v>98.82</c:v>
                </c:pt>
                <c:pt idx="54">
                  <c:v>102.69</c:v>
                </c:pt>
                <c:pt idx="55">
                  <c:v>102.26</c:v>
                </c:pt>
                <c:pt idx="56">
                  <c:v>103.99</c:v>
                </c:pt>
                <c:pt idx="57">
                  <c:v>108.12</c:v>
                </c:pt>
                <c:pt idx="58">
                  <c:v>108.7</c:v>
                </c:pt>
                <c:pt idx="59">
                  <c:v>111.15</c:v>
                </c:pt>
                <c:pt idx="60">
                  <c:v>111.57</c:v>
                </c:pt>
                <c:pt idx="61">
                  <c:v>108.14</c:v>
                </c:pt>
                <c:pt idx="62">
                  <c:v>104.5</c:v>
                </c:pt>
                <c:pt idx="63">
                  <c:v>107.49</c:v>
                </c:pt>
                <c:pt idx="64">
                  <c:v>103.08</c:v>
                </c:pt>
                <c:pt idx="65">
                  <c:v>101.13</c:v>
                </c:pt>
                <c:pt idx="66">
                  <c:v>97.81</c:v>
                </c:pt>
                <c:pt idx="67">
                  <c:v>99.55</c:v>
                </c:pt>
                <c:pt idx="68">
                  <c:v>98.19</c:v>
                </c:pt>
                <c:pt idx="69">
                  <c:v>101.3</c:v>
                </c:pt>
                <c:pt idx="70">
                  <c:v>103.75</c:v>
                </c:pt>
                <c:pt idx="71">
                  <c:v>102.15</c:v>
                </c:pt>
                <c:pt idx="72">
                  <c:v>104.43</c:v>
                </c:pt>
                <c:pt idx="73">
                  <c:v>103.55</c:v>
                </c:pt>
                <c:pt idx="74">
                  <c:v>104.86</c:v>
                </c:pt>
                <c:pt idx="75">
                  <c:v>105.36</c:v>
                </c:pt>
                <c:pt idx="76">
                  <c:v>102.02</c:v>
                </c:pt>
                <c:pt idx="77">
                  <c:v>99.16</c:v>
                </c:pt>
                <c:pt idx="78">
                  <c:v>99.16</c:v>
                </c:pt>
                <c:pt idx="79">
                  <c:v>98.55</c:v>
                </c:pt>
                <c:pt idx="80">
                  <c:v>101.01</c:v>
                </c:pt>
                <c:pt idx="81">
                  <c:v>102.12</c:v>
                </c:pt>
                <c:pt idx="82">
                  <c:v>101.73</c:v>
                </c:pt>
                <c:pt idx="83">
                  <c:v>103.91</c:v>
                </c:pt>
                <c:pt idx="84">
                  <c:v>105.06</c:v>
                </c:pt>
                <c:pt idx="85">
                  <c:v>105.47</c:v>
                </c:pt>
                <c:pt idx="86">
                  <c:v>105.5</c:v>
                </c:pt>
                <c:pt idx="87">
                  <c:v>103.95</c:v>
                </c:pt>
                <c:pt idx="88">
                  <c:v>105.4</c:v>
                </c:pt>
                <c:pt idx="89">
                  <c:v>100.76</c:v>
                </c:pt>
                <c:pt idx="90">
                  <c:v>101.15</c:v>
                </c:pt>
                <c:pt idx="91">
                  <c:v>101.45</c:v>
                </c:pt>
                <c:pt idx="92">
                  <c:v>104.29</c:v>
                </c:pt>
                <c:pt idx="93">
                  <c:v>103.73</c:v>
                </c:pt>
                <c:pt idx="94">
                  <c:v>104.27</c:v>
                </c:pt>
                <c:pt idx="95">
                  <c:v>104.51</c:v>
                </c:pt>
                <c:pt idx="96">
                  <c:v>104.43</c:v>
                </c:pt>
                <c:pt idx="97">
                  <c:v>104.28</c:v>
                </c:pt>
                <c:pt idx="98">
                  <c:v>105.27</c:v>
                </c:pt>
                <c:pt idx="99">
                  <c:v>107.33</c:v>
                </c:pt>
                <c:pt idx="100">
                  <c:v>107.63</c:v>
                </c:pt>
                <c:pt idx="101">
                  <c:v>109.2</c:v>
                </c:pt>
                <c:pt idx="102">
                  <c:v>109.37</c:v>
                </c:pt>
                <c:pt idx="103">
                  <c:v>110.58</c:v>
                </c:pt>
                <c:pt idx="104">
                  <c:v>108.79</c:v>
                </c:pt>
                <c:pt idx="105">
                  <c:v>110.94</c:v>
                </c:pt>
                <c:pt idx="106">
                  <c:v>108.99</c:v>
                </c:pt>
                <c:pt idx="107">
                  <c:v>109.57</c:v>
                </c:pt>
                <c:pt idx="108">
                  <c:v>111.24</c:v>
                </c:pt>
                <c:pt idx="109">
                  <c:v>113.13</c:v>
                </c:pt>
                <c:pt idx="110">
                  <c:v>110.64</c:v>
                </c:pt>
                <c:pt idx="111">
                  <c:v>110.69</c:v>
                </c:pt>
                <c:pt idx="112">
                  <c:v>108.92</c:v>
                </c:pt>
                <c:pt idx="113">
                  <c:v>110.53</c:v>
                </c:pt>
                <c:pt idx="114">
                  <c:v>113.13</c:v>
                </c:pt>
                <c:pt idx="115">
                  <c:v>112.58</c:v>
                </c:pt>
                <c:pt idx="116">
                  <c:v>113.59</c:v>
                </c:pt>
                <c:pt idx="117">
                  <c:v>110.58</c:v>
                </c:pt>
                <c:pt idx="118">
                  <c:v>110.37</c:v>
                </c:pt>
                <c:pt idx="119">
                  <c:v>110.59</c:v>
                </c:pt>
                <c:pt idx="120">
                  <c:v>111.64</c:v>
                </c:pt>
                <c:pt idx="121">
                  <c:v>108.01</c:v>
                </c:pt>
                <c:pt idx="122">
                  <c:v>105.82</c:v>
                </c:pt>
                <c:pt idx="123">
                  <c:v>110.11</c:v>
                </c:pt>
                <c:pt idx="124">
                  <c:v>111.45</c:v>
                </c:pt>
                <c:pt idx="125">
                  <c:v>112.48</c:v>
                </c:pt>
                <c:pt idx="126">
                  <c:v>113.09</c:v>
                </c:pt>
                <c:pt idx="127">
                  <c:v>115.18</c:v>
                </c:pt>
                <c:pt idx="128">
                  <c:v>116.17</c:v>
                </c:pt>
                <c:pt idx="129">
                  <c:v>117.6</c:v>
                </c:pt>
                <c:pt idx="130">
                  <c:v>117.55</c:v>
                </c:pt>
                <c:pt idx="131">
                  <c:v>117.86</c:v>
                </c:pt>
                <c:pt idx="132">
                  <c:v>116.78</c:v>
                </c:pt>
                <c:pt idx="133">
                  <c:v>118.73</c:v>
                </c:pt>
                <c:pt idx="134">
                  <c:v>119.91</c:v>
                </c:pt>
                <c:pt idx="135">
                  <c:v>121.69</c:v>
                </c:pt>
                <c:pt idx="136">
                  <c:v>123.59</c:v>
                </c:pt>
                <c:pt idx="137">
                  <c:v>125.08</c:v>
                </c:pt>
                <c:pt idx="138">
                  <c:v>125.45</c:v>
                </c:pt>
                <c:pt idx="139">
                  <c:v>126.75</c:v>
                </c:pt>
                <c:pt idx="140">
                  <c:v>127.77</c:v>
                </c:pt>
                <c:pt idx="141">
                  <c:v>126.99</c:v>
                </c:pt>
                <c:pt idx="142">
                  <c:v>127.23</c:v>
                </c:pt>
                <c:pt idx="143">
                  <c:v>130.6</c:v>
                </c:pt>
                <c:pt idx="144">
                  <c:v>131.25</c:v>
                </c:pt>
                <c:pt idx="145">
                  <c:v>129.7</c:v>
                </c:pt>
                <c:pt idx="146">
                  <c:v>130.05</c:v>
                </c:pt>
                <c:pt idx="147">
                  <c:v>125.9</c:v>
                </c:pt>
                <c:pt idx="148">
                  <c:v>128.92</c:v>
                </c:pt>
                <c:pt idx="149">
                  <c:v>128.93</c:v>
                </c:pt>
                <c:pt idx="150">
                  <c:v>131.31</c:v>
                </c:pt>
                <c:pt idx="151">
                  <c:v>132.05</c:v>
                </c:pt>
                <c:pt idx="152">
                  <c:v>132.06</c:v>
                </c:pt>
                <c:pt idx="153">
                  <c:v>131.34</c:v>
                </c:pt>
                <c:pt idx="154">
                  <c:v>133.2</c:v>
                </c:pt>
                <c:pt idx="155">
                  <c:v>135.3</c:v>
                </c:pt>
                <c:pt idx="156">
                  <c:v>136</c:v>
                </c:pt>
                <c:pt idx="157">
                  <c:v>135.74</c:v>
                </c:pt>
                <c:pt idx="158">
                  <c:v>137.07</c:v>
                </c:pt>
                <c:pt idx="159">
                  <c:v>137.79</c:v>
                </c:pt>
                <c:pt idx="160">
                  <c:v>135.24</c:v>
                </c:pt>
                <c:pt idx="161">
                  <c:v>134.55</c:v>
                </c:pt>
                <c:pt idx="162">
                  <c:v>130.89</c:v>
                </c:pt>
                <c:pt idx="163">
                  <c:v>130.88</c:v>
                </c:pt>
                <c:pt idx="164">
                  <c:v>135.29</c:v>
                </c:pt>
                <c:pt idx="165">
                  <c:v>135.47</c:v>
                </c:pt>
                <c:pt idx="166">
                  <c:v>137.28</c:v>
                </c:pt>
                <c:pt idx="167">
                  <c:v>131.36</c:v>
                </c:pt>
                <c:pt idx="168">
                  <c:v>136.13</c:v>
                </c:pt>
                <c:pt idx="169">
                  <c:v>137.06</c:v>
                </c:pt>
                <c:pt idx="170">
                  <c:v>138.55</c:v>
                </c:pt>
                <c:pt idx="171">
                  <c:v>140.15</c:v>
                </c:pt>
                <c:pt idx="172">
                  <c:v>141.77</c:v>
                </c:pt>
                <c:pt idx="173">
                  <c:v>143.72</c:v>
                </c:pt>
                <c:pt idx="174">
                  <c:v>142.27</c:v>
                </c:pt>
                <c:pt idx="175">
                  <c:v>140.3</c:v>
                </c:pt>
                <c:pt idx="176">
                  <c:v>146.72</c:v>
                </c:pt>
                <c:pt idx="177">
                  <c:v>146.56</c:v>
                </c:pt>
                <c:pt idx="178">
                  <c:v>150.59</c:v>
                </c:pt>
                <c:pt idx="179">
                  <c:v>150.19</c:v>
                </c:pt>
                <c:pt idx="180">
                  <c:v>151.97</c:v>
                </c:pt>
                <c:pt idx="181">
                  <c:v>151.58</c:v>
                </c:pt>
                <c:pt idx="182">
                  <c:v>149.15</c:v>
                </c:pt>
                <c:pt idx="183">
                  <c:v>150.12</c:v>
                </c:pt>
                <c:pt idx="184">
                  <c:v>151.37</c:v>
                </c:pt>
                <c:pt idx="185">
                  <c:v>149.57</c:v>
                </c:pt>
                <c:pt idx="186">
                  <c:v>152.87</c:v>
                </c:pt>
                <c:pt idx="187">
                  <c:v>152.86</c:v>
                </c:pt>
                <c:pt idx="188">
                  <c:v>153.86</c:v>
                </c:pt>
                <c:pt idx="189">
                  <c:v>154.48</c:v>
                </c:pt>
                <c:pt idx="190">
                  <c:v>154.75</c:v>
                </c:pt>
                <c:pt idx="191">
                  <c:v>153.36</c:v>
                </c:pt>
                <c:pt idx="192">
                  <c:v>152.69</c:v>
                </c:pt>
                <c:pt idx="193">
                  <c:v>143.65</c:v>
                </c:pt>
                <c:pt idx="194">
                  <c:v>140.81</c:v>
                </c:pt>
                <c:pt idx="195">
                  <c:v>142.61</c:v>
                </c:pt>
                <c:pt idx="196">
                  <c:v>140.41</c:v>
                </c:pt>
                <c:pt idx="197">
                  <c:v>126.6</c:v>
                </c:pt>
                <c:pt idx="198">
                  <c:v>128.09</c:v>
                </c:pt>
                <c:pt idx="199">
                  <c:v>128.15</c:v>
                </c:pt>
                <c:pt idx="200">
                  <c:v>133.26</c:v>
                </c:pt>
                <c:pt idx="201">
                  <c:v>137.2</c:v>
                </c:pt>
                <c:pt idx="202">
                  <c:v>138.02</c:v>
                </c:pt>
                <c:pt idx="203">
                  <c:v>145.22</c:v>
                </c:pt>
                <c:pt idx="204">
                  <c:v>140.63</c:v>
                </c:pt>
                <c:pt idx="205">
                  <c:v>142.82</c:v>
                </c:pt>
                <c:pt idx="206">
                  <c:v>144.29</c:v>
                </c:pt>
                <c:pt idx="207">
                  <c:v>141.88</c:v>
                </c:pt>
                <c:pt idx="208">
                  <c:v>141.56</c:v>
                </c:pt>
                <c:pt idx="209">
                  <c:v>143.7</c:v>
                </c:pt>
                <c:pt idx="210">
                  <c:v>144.86</c:v>
                </c:pt>
                <c:pt idx="211">
                  <c:v>145.41</c:v>
                </c:pt>
                <c:pt idx="212">
                  <c:v>146.68</c:v>
                </c:pt>
                <c:pt idx="213">
                  <c:v>147.87</c:v>
                </c:pt>
                <c:pt idx="214">
                  <c:v>146.33</c:v>
                </c:pt>
                <c:pt idx="215">
                  <c:v>148.78</c:v>
                </c:pt>
                <c:pt idx="216">
                  <c:v>149.9</c:v>
                </c:pt>
                <c:pt idx="217">
                  <c:v>150.52</c:v>
                </c:pt>
                <c:pt idx="218">
                  <c:v>150.18</c:v>
                </c:pt>
                <c:pt idx="219">
                  <c:v>150.3</c:v>
                </c:pt>
                <c:pt idx="220">
                  <c:v>152.65</c:v>
                </c:pt>
                <c:pt idx="221">
                  <c:v>153.75</c:v>
                </c:pt>
                <c:pt idx="222">
                  <c:v>154</c:v>
                </c:pt>
                <c:pt idx="223">
                  <c:v>155.65</c:v>
                </c:pt>
                <c:pt idx="224">
                  <c:v>154.21</c:v>
                </c:pt>
                <c:pt idx="225">
                  <c:v>155.19</c:v>
                </c:pt>
                <c:pt idx="226">
                  <c:v>158.47</c:v>
                </c:pt>
                <c:pt idx="227">
                  <c:v>160.34</c:v>
                </c:pt>
                <c:pt idx="228">
                  <c:v>157.57</c:v>
                </c:pt>
                <c:pt idx="229">
                  <c:v>157.75</c:v>
                </c:pt>
                <c:pt idx="230">
                  <c:v>155.62</c:v>
                </c:pt>
                <c:pt idx="231">
                  <c:v>159.91</c:v>
                </c:pt>
                <c:pt idx="232">
                  <c:v>160.1</c:v>
                </c:pt>
                <c:pt idx="233">
                  <c:v>158.5</c:v>
                </c:pt>
                <c:pt idx="234">
                  <c:v>159.12</c:v>
                </c:pt>
                <c:pt idx="235">
                  <c:v>160.36</c:v>
                </c:pt>
                <c:pt idx="236">
                  <c:v>159.74</c:v>
                </c:pt>
                <c:pt idx="237">
                  <c:v>163.66</c:v>
                </c:pt>
                <c:pt idx="238">
                  <c:v>164.49</c:v>
                </c:pt>
                <c:pt idx="239">
                  <c:v>161.87</c:v>
                </c:pt>
                <c:pt idx="240">
                  <c:v>160.78</c:v>
                </c:pt>
                <c:pt idx="241">
                  <c:v>161.89</c:v>
                </c:pt>
                <c:pt idx="242">
                  <c:v>160.84</c:v>
                </c:pt>
                <c:pt idx="243">
                  <c:v>163.37</c:v>
                </c:pt>
                <c:pt idx="244">
                  <c:v>163.19</c:v>
                </c:pt>
                <c:pt idx="245">
                  <c:v>160.99</c:v>
                </c:pt>
                <c:pt idx="246">
                  <c:v>160.1</c:v>
                </c:pt>
                <c:pt idx="247">
                  <c:v>155.6</c:v>
                </c:pt>
                <c:pt idx="248">
                  <c:v>153.66</c:v>
                </c:pt>
                <c:pt idx="249">
                  <c:v>158.32</c:v>
                </c:pt>
                <c:pt idx="250">
                  <c:v>161.68</c:v>
                </c:pt>
                <c:pt idx="251">
                  <c:v>166.87</c:v>
                </c:pt>
                <c:pt idx="252">
                  <c:v>167.84</c:v>
                </c:pt>
                <c:pt idx="253">
                  <c:v>168.5</c:v>
                </c:pt>
                <c:pt idx="254">
                  <c:v>171.47</c:v>
                </c:pt>
                <c:pt idx="255">
                  <c:v>173.12</c:v>
                </c:pt>
                <c:pt idx="256">
                  <c:v>175.85</c:v>
                </c:pt>
                <c:pt idx="257">
                  <c:v>177.13</c:v>
                </c:pt>
                <c:pt idx="258">
                  <c:v>174.88</c:v>
                </c:pt>
                <c:pt idx="259">
                  <c:v>175.86</c:v>
                </c:pt>
                <c:pt idx="260">
                  <c:v>178.96</c:v>
                </c:pt>
                <c:pt idx="261">
                  <c:v>177.04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660"/>
                </a:solidFill>
                <a:latin typeface="+mn-lt"/>
              </a:defRPr>
            </a:pPr>
            <a:endParaRPr lang="en-US"/>
          </a:p>
        </c:txPr>
        <c:crossAx val="2094734552"/>
        <c:crosses val="autoZero"/>
        <c:auto val="1"/>
        <c:lblAlgn val="ctr"/>
        <c:noMultiLvlLbl val="1"/>
        <c:tickLblSkip val="1"/>
      </c:catAx>
      <c:valAx>
        <c:axId val="2094734552"/>
        <c:scaling>
          <c:orientation val="minMax"/>
          <c:max val="200"/>
          <c:min val="80"/>
        </c:scaling>
        <c:delete val="0"/>
        <c:axPos val="l"/>
        <c:majorGridlines>
          <c:spPr>
            <a:ln w="6350" cap="flat">
              <a:solidFill>
                <a:srgbClr val="D5DB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6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1A1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100" b="1" spc="15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4" name="Text 0"/>
          <p:cNvSpPr/>
          <p:nvPr/>
        </p:nvSpPr>
        <p:spPr>
          <a:xfrm>
            <a:off x="548640" y="6419088"/>
            <a:ext cx="9601200" cy="256032"/>
          </a:xfrm>
          <a:prstGeom prst="rect">
            <a:avLst/>
          </a:prstGeom>
          <a:noFill/>
          <a:ln/>
        </p:spPr>
        <p:txBody>
          <a:bodyPr wrap="square" lIns="0" tIns="0" rIns="0" bIns="0" rtlCol="0" anchor="ctr"/>
          <a:lstStyle/>
          <a:p>
            <a:pPr indent="0" marL="0">
              <a:buNone/>
            </a:pPr>
            <a:r>
              <a:rPr lang="en-US" sz="900" dirty="0">
                <a:solidFill>
                  <a:schemeClr val="tx2"/>
                </a:solidFill>
              </a:rPr>
              <a:t>Nippon Steel (Bourse de Tokyo : 5401)  ·  Noah Doose  ·  Travail étudiant, pas un conseil en investissement  ·  Données au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17.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8.xml"/><Relationship Id="rId2" Type="http://schemas.openxmlformats.org/officeDocument/2006/relationships/chart" Target="../charts/chart19.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20.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ctr"/>
          <a:lstStyle/>
          <a:p>
            <a:pPr indent="0" marL="0">
              <a:buNone/>
            </a:pPr>
            <a:r>
              <a:rPr lang="en-US" sz="1058" b="1" spc="150" kern="0" dirty="0">
                <a:solidFill>
                  <a:srgbClr val="D7EBE2"/>
                </a:solidFill>
              </a:rPr>
              <a:t>STOCK PITCH  ·  PORTEFEUILLE VALUE SYSTÉMATIQUE  ·  29 OCTOBRE 2026</a:t>
            </a:r>
            <a:endParaRPr lang="en-US" sz="1100" dirty="0"/>
          </a:p>
        </p:txBody>
      </p:sp>
      <p:sp>
        <p:nvSpPr>
          <p:cNvPr id="3" name="Text 1"/>
          <p:cNvSpPr txBox="1"/>
          <p:nvPr/>
        </p:nvSpPr>
        <p:spPr>
          <a:xfrm>
            <a:off x="548640" y="960120"/>
            <a:ext cx="7406640" cy="1005840"/>
          </a:xfrm>
          <a:prstGeom prst="rect">
            <a:avLst/>
          </a:prstGeom>
          <a:noFill/>
          <a:ln/>
        </p:spPr>
        <p:txBody>
          <a:bodyPr wrap="square" lIns="0" tIns="0" rIns="0" bIns="0" rtlCol="0" anchor="t">
            <a:normAutofit/>
          </a:bodyPr>
          <a:lstStyle/>
          <a:p>
            <a:pPr indent="0" marL="0">
              <a:buNone/>
            </a:pPr>
            <a:r>
              <a:rPr lang="en-US" sz="4400" b="1" dirty="0">
                <a:solidFill>
                  <a:srgbClr val="FFFFFF"/>
                </a:solidFill>
              </a:rPr>
              <a:t>Nippon Steel</a:t>
            </a:r>
            <a:endParaRPr lang="en-US" sz="4400" dirty="0"/>
          </a:p>
        </p:txBody>
      </p:sp>
      <p:sp>
        <p:nvSpPr>
          <p:cNvPr id="4" name="Text 2"/>
          <p:cNvSpPr txBox="1"/>
          <p:nvPr/>
        </p:nvSpPr>
        <p:spPr>
          <a:xfrm>
            <a:off x="548640" y="2011680"/>
            <a:ext cx="7406640" cy="320040"/>
          </a:xfrm>
          <a:prstGeom prst="rect">
            <a:avLst/>
          </a:prstGeom>
          <a:noFill/>
          <a:ln/>
        </p:spPr>
        <p:txBody>
          <a:bodyPr wrap="square" lIns="0" tIns="0" rIns="0" bIns="0" rtlCol="0" anchor="ctr"/>
          <a:lstStyle/>
          <a:p>
            <a:pPr indent="0" marL="0">
              <a:buNone/>
            </a:pPr>
            <a:r>
              <a:rPr lang="en-US" sz="1400" dirty="0">
                <a:solidFill>
                  <a:srgbClr val="B9C4BE"/>
                </a:solidFill>
              </a:rPr>
              <a:t>Bourse de Tokyo : 5401  ·  Matériaux / Sidérurgie  ·  Japon</a:t>
            </a:r>
            <a:endParaRPr lang="en-US" sz="1400" dirty="0"/>
          </a:p>
        </p:txBody>
      </p:sp>
      <p:sp>
        <p:nvSpPr>
          <p:cNvPr id="5" name="Text 3"/>
          <p:cNvSpPr txBox="1"/>
          <p:nvPr/>
        </p:nvSpPr>
        <p:spPr>
          <a:xfrm>
            <a:off x="548640" y="2606040"/>
            <a:ext cx="7132320" cy="1371600"/>
          </a:xfrm>
          <a:prstGeom prst="rect">
            <a:avLst/>
          </a:prstGeom>
          <a:noFill/>
          <a:ln/>
        </p:spPr>
        <p:txBody>
          <a:bodyPr wrap="square" lIns="0" tIns="0" rIns="0" bIns="0" rtlCol="0" anchor="t"/>
          <a:lstStyle/>
          <a:p>
            <a:pPr indent="0" marL="0">
              <a:buNone/>
            </a:pPr>
            <a:r>
              <a:rPr lang="en-US" sz="1798" dirty="0">
                <a:solidFill>
                  <a:srgbClr val="FFFFFF"/>
                </a:solidFill>
              </a:rPr>
              <a:t>Valorisé comme un sidérurgiste japonais en déclin ; en train de devenir un producteur mondial dont le profit à l'étranger va plus que doubler</a:t>
            </a:r>
            <a:endParaRPr lang="en-US" sz="2000" dirty="0"/>
          </a:p>
        </p:txBody>
      </p:sp>
      <p:sp>
        <p:nvSpPr>
          <p:cNvPr id="6" name="rating card"/>
          <p:cNvSpPr/>
          <p:nvPr/>
        </p:nvSpPr>
        <p:spPr>
          <a:xfrm>
            <a:off x="8138160" y="960120"/>
            <a:ext cx="3504895" cy="3154680"/>
          </a:xfrm>
          <a:prstGeom prst="roundRect">
            <a:avLst>
              <a:gd name="adj" fmla="val 2319"/>
            </a:avLst>
          </a:prstGeom>
          <a:solidFill>
            <a:srgbClr val="2A322E"/>
          </a:solidFill>
          <a:ln w="9525">
            <a:solidFill>
              <a:srgbClr val="3A4540"/>
            </a:solidFill>
            <a:prstDash val="solid"/>
          </a:ln>
        </p:spPr>
        <p:txBody>
          <a:bodyPr/>
          <a:p/>
        </p:txBody>
      </p:sp>
      <p:sp>
        <p:nvSpPr>
          <p:cNvPr id="7" name="Shape 5"/>
          <p:cNvSpPr/>
          <p:nvPr/>
        </p:nvSpPr>
        <p:spPr>
          <a:xfrm>
            <a:off x="8412480" y="1234440"/>
            <a:ext cx="1828800" cy="384048"/>
          </a:xfrm>
          <a:prstGeom prst="roundRect">
            <a:avLst>
              <a:gd name="adj" fmla="val 50000"/>
            </a:avLst>
          </a:prstGeom>
          <a:solidFill>
            <a:srgbClr val="0E6B4F"/>
          </a:solidFill>
          <a:ln w="12700">
            <a:solidFill>
              <a:srgbClr val="0E6B4F"/>
            </a:solidFill>
            <a:prstDash val="solid"/>
          </a:ln>
        </p:spPr>
        <p:txBody>
          <a:bodyPr/>
          <a:p/>
        </p:txBody>
      </p:sp>
      <p:sp>
        <p:nvSpPr>
          <p:cNvPr id="8" name="Text 6"/>
          <p:cNvSpPr txBox="1"/>
          <p:nvPr/>
        </p:nvSpPr>
        <p:spPr>
          <a:xfrm>
            <a:off x="8412480" y="1234440"/>
            <a:ext cx="1828800" cy="384048"/>
          </a:xfrm>
          <a:prstGeom prst="rect">
            <a:avLst/>
          </a:prstGeom>
          <a:noFill/>
          <a:ln/>
        </p:spPr>
        <p:txBody>
          <a:bodyPr wrap="square" lIns="0" tIns="0" rIns="0" bIns="0" rtlCol="0" anchor="ctr"/>
          <a:lstStyle/>
          <a:p>
            <a:pPr algn="ctr" indent="0" marL="0">
              <a:buNone/>
            </a:pPr>
            <a:r>
              <a:rPr lang="en-US" sz="1300" b="1" dirty="0">
                <a:solidFill>
                  <a:srgbClr val="FFFFFF"/>
                </a:solidFill>
              </a:rPr>
              <a:t>SURPONDÉRER</a:t>
            </a:r>
            <a:endParaRPr lang="en-US" sz="1300" dirty="0"/>
          </a:p>
        </p:txBody>
      </p:sp>
      <p:sp>
        <p:nvSpPr>
          <p:cNvPr id="9" name="Text 7"/>
          <p:cNvSpPr txBox="1"/>
          <p:nvPr/>
        </p:nvSpPr>
        <p:spPr>
          <a:xfrm>
            <a:off x="10378440" y="1234440"/>
            <a:ext cx="1127455" cy="384048"/>
          </a:xfrm>
          <a:prstGeom prst="rect">
            <a:avLst/>
          </a:prstGeom>
          <a:noFill/>
          <a:ln/>
        </p:spPr>
        <p:txBody>
          <a:bodyPr wrap="square" lIns="0" tIns="0" rIns="0" bIns="0" rtlCol="0" anchor="ctr"/>
          <a:lstStyle/>
          <a:p>
            <a:pPr indent="0" marL="0">
              <a:buNone/>
            </a:pPr>
            <a:r>
              <a:rPr lang="en-US" sz="1200" dirty="0">
                <a:solidFill>
                  <a:srgbClr val="B9C4BE"/>
                </a:solidFill>
              </a:rPr>
              <a:t>Conviction moyenne</a:t>
            </a:r>
            <a:endParaRPr lang="en-US" sz="1200" dirty="0"/>
          </a:p>
        </p:txBody>
      </p:sp>
      <p:sp>
        <p:nvSpPr>
          <p:cNvPr id="10" name="Text 8"/>
          <p:cNvSpPr txBox="1"/>
          <p:nvPr/>
        </p:nvSpPr>
        <p:spPr>
          <a:xfrm>
            <a:off x="8412480" y="1828800"/>
            <a:ext cx="1828800" cy="411480"/>
          </a:xfrm>
          <a:prstGeom prst="rect">
            <a:avLst/>
          </a:prstGeom>
          <a:noFill/>
          <a:ln/>
        </p:spPr>
        <p:txBody>
          <a:bodyPr wrap="square" lIns="0" tIns="0" rIns="0" bIns="0" rtlCol="0" anchor="ctr"/>
          <a:lstStyle/>
          <a:p>
            <a:pPr indent="0" marL="0">
              <a:buNone/>
            </a:pPr>
            <a:r>
              <a:rPr lang="en-US" sz="1300" dirty="0">
                <a:solidFill>
                  <a:srgbClr val="B9C4BE"/>
                </a:solidFill>
              </a:rPr>
              <a:t>Cours</a:t>
            </a:r>
            <a:endParaRPr lang="en-US" sz="1300" dirty="0"/>
          </a:p>
        </p:txBody>
      </p:sp>
      <p:sp>
        <p:nvSpPr>
          <p:cNvPr id="11" name="Text 9"/>
          <p:cNvSpPr txBox="1"/>
          <p:nvPr/>
        </p:nvSpPr>
        <p:spPr>
          <a:xfrm>
            <a:off x="10058400" y="182880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659 ¥</a:t>
            </a:r>
            <a:endParaRPr lang="en-US" sz="1700" dirty="0"/>
          </a:p>
        </p:txBody>
      </p:sp>
      <p:sp>
        <p:nvSpPr>
          <p:cNvPr id="12" name="Text 10"/>
          <p:cNvSpPr txBox="1"/>
          <p:nvPr/>
        </p:nvSpPr>
        <p:spPr>
          <a:xfrm>
            <a:off x="8412480" y="2331720"/>
            <a:ext cx="1828800" cy="411480"/>
          </a:xfrm>
          <a:prstGeom prst="rect">
            <a:avLst/>
          </a:prstGeom>
          <a:noFill/>
          <a:ln/>
        </p:spPr>
        <p:txBody>
          <a:bodyPr wrap="square" lIns="0" tIns="0" rIns="0" bIns="0" rtlCol="0" anchor="ctr"/>
          <a:lstStyle/>
          <a:p>
            <a:pPr indent="0" marL="0">
              <a:buNone/>
            </a:pPr>
            <a:r>
              <a:rPr lang="en-US" sz="1300" dirty="0">
                <a:solidFill>
                  <a:srgbClr val="B9C4BE"/>
                </a:solidFill>
              </a:rPr>
              <a:t>Objectif (scénario central)</a:t>
            </a:r>
            <a:endParaRPr lang="en-US" sz="1300" dirty="0"/>
          </a:p>
        </p:txBody>
      </p:sp>
      <p:sp>
        <p:nvSpPr>
          <p:cNvPr id="13" name="Text 11"/>
          <p:cNvSpPr txBox="1"/>
          <p:nvPr/>
        </p:nvSpPr>
        <p:spPr>
          <a:xfrm>
            <a:off x="10058400" y="233172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916 ¥</a:t>
            </a:r>
            <a:endParaRPr lang="en-US" sz="1700" dirty="0"/>
          </a:p>
        </p:txBody>
      </p:sp>
      <p:sp>
        <p:nvSpPr>
          <p:cNvPr id="14" name="Text 12"/>
          <p:cNvSpPr txBox="1"/>
          <p:nvPr/>
        </p:nvSpPr>
        <p:spPr>
          <a:xfrm>
            <a:off x="8412480" y="2834640"/>
            <a:ext cx="1828800" cy="411480"/>
          </a:xfrm>
          <a:prstGeom prst="rect">
            <a:avLst/>
          </a:prstGeom>
          <a:noFill/>
          <a:ln/>
        </p:spPr>
        <p:txBody>
          <a:bodyPr wrap="square" lIns="0" tIns="0" rIns="0" bIns="0" rtlCol="0" anchor="ctr"/>
          <a:lstStyle/>
          <a:p>
            <a:pPr indent="0" marL="0">
              <a:buNone/>
            </a:pPr>
            <a:r>
              <a:rPr lang="en-US" sz="1300" dirty="0">
                <a:solidFill>
                  <a:srgbClr val="B9C4BE"/>
                </a:solidFill>
              </a:rPr>
              <a:t>Potentiel</a:t>
            </a:r>
            <a:endParaRPr lang="en-US" sz="1300" dirty="0"/>
          </a:p>
        </p:txBody>
      </p:sp>
      <p:sp>
        <p:nvSpPr>
          <p:cNvPr id="15" name="Text 13"/>
          <p:cNvSpPr txBox="1"/>
          <p:nvPr/>
        </p:nvSpPr>
        <p:spPr>
          <a:xfrm>
            <a:off x="10058400" y="2834640"/>
            <a:ext cx="1310335" cy="411480"/>
          </a:xfrm>
          <a:prstGeom prst="rect">
            <a:avLst/>
          </a:prstGeom>
          <a:noFill/>
          <a:ln/>
        </p:spPr>
        <p:txBody>
          <a:bodyPr wrap="square" lIns="0" tIns="0" rIns="0" bIns="0" rtlCol="0" anchor="ctr"/>
          <a:lstStyle/>
          <a:p>
            <a:pPr algn="r" indent="0" marL="0">
              <a:buNone/>
            </a:pPr>
            <a:r>
              <a:rPr lang="en-US" sz="2200" b="1" dirty="0">
                <a:solidFill>
                  <a:srgbClr val="7FD1AE"/>
                </a:solidFill>
              </a:rPr>
              <a:t>+39 %</a:t>
            </a:r>
            <a:endParaRPr lang="en-US" sz="2200" dirty="0"/>
          </a:p>
        </p:txBody>
      </p:sp>
      <p:sp>
        <p:nvSpPr>
          <p:cNvPr id="16" name="Text 14"/>
          <p:cNvSpPr txBox="1"/>
          <p:nvPr/>
        </p:nvSpPr>
        <p:spPr>
          <a:xfrm>
            <a:off x="8412480" y="3337560"/>
            <a:ext cx="1828800" cy="411480"/>
          </a:xfrm>
          <a:prstGeom prst="rect">
            <a:avLst/>
          </a:prstGeom>
          <a:noFill/>
          <a:ln/>
        </p:spPr>
        <p:txBody>
          <a:bodyPr wrap="square" lIns="0" tIns="0" rIns="0" bIns="0" rtlCol="0" anchor="ctr"/>
          <a:lstStyle/>
          <a:p>
            <a:pPr indent="0" marL="0">
              <a:buNone/>
            </a:pPr>
            <a:r>
              <a:rPr lang="en-US" sz="1300" dirty="0">
                <a:solidFill>
                  <a:srgbClr val="B9C4BE"/>
                </a:solidFill>
              </a:rPr>
              <a:t>Horizon</a:t>
            </a:r>
            <a:endParaRPr lang="en-US" sz="1300" dirty="0"/>
          </a:p>
        </p:txBody>
      </p:sp>
      <p:sp>
        <p:nvSpPr>
          <p:cNvPr id="17" name="Text 15"/>
          <p:cNvSpPr txBox="1"/>
          <p:nvPr/>
        </p:nvSpPr>
        <p:spPr>
          <a:xfrm>
            <a:off x="10058400" y="3337560"/>
            <a:ext cx="1310335" cy="411480"/>
          </a:xfrm>
          <a:prstGeom prst="rect">
            <a:avLst/>
          </a:prstGeom>
          <a:noFill/>
          <a:ln/>
        </p:spPr>
        <p:txBody>
          <a:bodyPr wrap="square" lIns="0" tIns="0" rIns="0" bIns="0" rtlCol="0" anchor="ctr"/>
          <a:lstStyle/>
          <a:p>
            <a:pPr algn="r" indent="0" marL="0">
              <a:buNone/>
            </a:pPr>
            <a:r>
              <a:rPr lang="en-US" sz="1500" b="1" dirty="0">
                <a:solidFill>
                  <a:srgbClr val="FFFFFF"/>
                </a:solidFill>
              </a:rPr>
              <a:t>2-3 ans</a:t>
            </a:r>
            <a:endParaRPr lang="en-US" sz="1500" dirty="0"/>
          </a:p>
        </p:txBody>
      </p:sp>
      <p:sp>
        <p:nvSpPr>
          <p:cNvPr id="18" name="Text 16"/>
          <p:cNvSpPr txBox="1"/>
          <p:nvPr/>
        </p:nvSpPr>
        <p:spPr>
          <a:xfrm>
            <a:off x="8412480" y="3785616"/>
            <a:ext cx="2956255" cy="274320"/>
          </a:xfrm>
          <a:prstGeom prst="rect">
            <a:avLst/>
          </a:prstGeom>
          <a:noFill/>
          <a:ln/>
        </p:spPr>
        <p:txBody>
          <a:bodyPr wrap="square" lIns="0" tIns="0" rIns="0" bIns="0" rtlCol="0" anchor="ctr"/>
          <a:lstStyle/>
          <a:p>
            <a:pPr indent="0" marL="0">
              <a:buNone/>
            </a:pPr>
            <a:r>
              <a:rPr lang="en-US" sz="1000" dirty="0">
                <a:solidFill>
                  <a:srgbClr val="8E9A94"/>
                </a:solidFill>
              </a:rPr>
              <a:t>Cours : clôture, 29 oct. 2026</a:t>
            </a:r>
            <a:endParaRPr lang="en-US" sz="1000" dirty="0"/>
          </a:p>
        </p:txBody>
      </p:sp>
      <p:sp>
        <p:nvSpPr>
          <p:cNvPr id="19" name="Text 17"/>
          <p:cNvSpPr txBox="1"/>
          <p:nvPr/>
        </p:nvSpPr>
        <p:spPr>
          <a:xfrm>
            <a:off x="548640"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3 430 Md¥</a:t>
            </a:r>
            <a:endParaRPr lang="en-US" sz="2800" dirty="0"/>
          </a:p>
        </p:txBody>
      </p:sp>
      <p:sp>
        <p:nvSpPr>
          <p:cNvPr id="20" name="Text 18"/>
          <p:cNvSpPr txBox="1"/>
          <p:nvPr/>
        </p:nvSpPr>
        <p:spPr>
          <a:xfrm>
            <a:off x="548640"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Capitalisation</a:t>
            </a:r>
            <a:endParaRPr lang="en-US" sz="1200" dirty="0"/>
          </a:p>
        </p:txBody>
      </p:sp>
      <p:sp>
        <p:nvSpPr>
          <p:cNvPr id="21" name="Text 19"/>
          <p:cNvSpPr txBox="1"/>
          <p:nvPr/>
        </p:nvSpPr>
        <p:spPr>
          <a:xfrm>
            <a:off x="3322244"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0,54x</a:t>
            </a:r>
            <a:endParaRPr lang="en-US" sz="2800" dirty="0"/>
          </a:p>
        </p:txBody>
      </p:sp>
      <p:sp>
        <p:nvSpPr>
          <p:cNvPr id="22" name="Text 20"/>
          <p:cNvSpPr txBox="1"/>
          <p:nvPr/>
        </p:nvSpPr>
        <p:spPr>
          <a:xfrm>
            <a:off x="3322244"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P/B (tiers)</a:t>
            </a:r>
            <a:endParaRPr lang="en-US" sz="1200" dirty="0"/>
          </a:p>
        </p:txBody>
      </p:sp>
      <p:sp>
        <p:nvSpPr>
          <p:cNvPr id="23" name="Text 21"/>
          <p:cNvSpPr txBox="1"/>
          <p:nvPr/>
        </p:nvSpPr>
        <p:spPr>
          <a:xfrm>
            <a:off x="6095848"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 700 Md¥</a:t>
            </a:r>
            <a:endParaRPr lang="en-US" sz="2800" dirty="0"/>
          </a:p>
        </p:txBody>
      </p:sp>
      <p:sp>
        <p:nvSpPr>
          <p:cNvPr id="24" name="Text 22"/>
          <p:cNvSpPr txBox="1"/>
          <p:nvPr/>
        </p:nvSpPr>
        <p:spPr>
          <a:xfrm>
            <a:off x="6095848"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Profit sous-jacent guidé 2026</a:t>
            </a:r>
            <a:endParaRPr lang="en-US" sz="1200" dirty="0"/>
          </a:p>
        </p:txBody>
      </p:sp>
      <p:sp>
        <p:nvSpPr>
          <p:cNvPr id="25" name="Text 23"/>
          <p:cNvSpPr txBox="1"/>
          <p:nvPr/>
        </p:nvSpPr>
        <p:spPr>
          <a:xfrm>
            <a:off x="8869451"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3,6 %</a:t>
            </a:r>
            <a:endParaRPr lang="en-US" sz="2800" dirty="0"/>
          </a:p>
        </p:txBody>
      </p:sp>
      <p:sp>
        <p:nvSpPr>
          <p:cNvPr id="26" name="Text 24"/>
          <p:cNvSpPr txBox="1"/>
          <p:nvPr/>
        </p:nvSpPr>
        <p:spPr>
          <a:xfrm>
            <a:off x="8869451"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Rendement sur le plancher de 24 ¥</a:t>
            </a:r>
            <a:endParaRPr lang="en-US" sz="1200" dirty="0"/>
          </a:p>
        </p:txBody>
      </p:sp>
      <p:sp>
        <p:nvSpPr>
          <p:cNvPr id="27" name="Text 25"/>
          <p:cNvSpPr txBox="1"/>
          <p:nvPr/>
        </p:nvSpPr>
        <p:spPr>
          <a:xfrm>
            <a:off x="548640" y="6263640"/>
            <a:ext cx="11094415" cy="274320"/>
          </a:xfrm>
          <a:prstGeom prst="rect">
            <a:avLst/>
          </a:prstGeom>
          <a:noFill/>
          <a:ln/>
        </p:spPr>
        <p:txBody>
          <a:bodyPr wrap="square" lIns="0" tIns="0" rIns="0" bIns="0" rtlCol="0" anchor="ctr"/>
          <a:lstStyle/>
          <a:p>
            <a:pPr indent="0" marL="0">
              <a:buNone/>
            </a:pPr>
            <a:r>
              <a:rPr lang="en-US" sz="1000" dirty="0">
                <a:solidFill>
                  <a:srgbClr val="8E9A94"/>
                </a:solidFill>
              </a:rPr>
              <a:t>Noah Doose  ·  MSc Financial Markets &amp; Investments, SKEMA Business School  ·  Travail étudiant à visée pédagogique, pas un conseil en investissement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01  SYNTHÈSE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37" b="1" dirty="0">
                <a:solidFill>
                  <a:schemeClr val="tx1"/>
                </a:solidFill>
              </a:rPr>
              <a:t>Valorisé comme un sidérurgiste japonais en déclin ; en train de devenir un producteur mondial dont le profit à l'étranger va plus que doubler</a:t>
            </a:r>
            <a:endParaRPr lang="en-US" sz="2600" dirty="0"/>
          </a:p>
        </p:txBody>
      </p:sp>
      <p:sp>
        <p:nvSpPr>
          <p:cNvPr id="4" name="view panel"/>
          <p:cNvSpPr/>
          <p:nvPr/>
        </p:nvSpPr>
        <p:spPr>
          <a:xfrm>
            <a:off x="548640" y="1691640"/>
            <a:ext cx="3657600" cy="4206240"/>
          </a:xfrm>
          <a:prstGeom prst="rect">
            <a:avLst/>
          </a:prstGeom>
          <a:solidFill>
            <a:srgbClr val="F2F4F1"/>
          </a:solidFill>
          <a:ln w="12700">
            <a:solidFill>
              <a:srgbClr val="F2F4F1"/>
            </a:solidFill>
            <a:prstDash val="solid"/>
          </a:ln>
        </p:spPr>
        <p:txBody>
          <a:bodyPr/>
          <a:p/>
        </p:txBody>
      </p:sp>
      <p:sp>
        <p:nvSpPr>
          <p:cNvPr id="5" name="Shape 3"/>
          <p:cNvSpPr/>
          <p:nvPr/>
        </p:nvSpPr>
        <p:spPr>
          <a:xfrm>
            <a:off x="822960" y="1920240"/>
            <a:ext cx="1737360" cy="365760"/>
          </a:xfrm>
          <a:prstGeom prst="roundRect">
            <a:avLst>
              <a:gd name="adj" fmla="val 50000"/>
            </a:avLst>
          </a:prstGeom>
          <a:solidFill>
            <a:srgbClr val="0E6B4F"/>
          </a:solidFill>
          <a:ln w="12700">
            <a:solidFill>
              <a:srgbClr val="0E6B4F"/>
            </a:solidFill>
            <a:prstDash val="solid"/>
          </a:ln>
        </p:spPr>
        <p:txBody>
          <a:bodyPr/>
          <a:p/>
        </p:txBody>
      </p:sp>
      <p:sp>
        <p:nvSpPr>
          <p:cNvPr id="6" name="Text 4"/>
          <p:cNvSpPr txBox="1"/>
          <p:nvPr/>
        </p:nvSpPr>
        <p:spPr>
          <a:xfrm>
            <a:off x="822960" y="1920240"/>
            <a:ext cx="1737360" cy="365760"/>
          </a:xfrm>
          <a:prstGeom prst="rect">
            <a:avLst/>
          </a:prstGeom>
          <a:noFill/>
          <a:ln/>
        </p:spPr>
        <p:txBody>
          <a:bodyPr wrap="square" lIns="0" tIns="0" rIns="0" bIns="0" rtlCol="0" anchor="ctr"/>
          <a:lstStyle/>
          <a:p>
            <a:pPr algn="ctr" indent="0" marL="0">
              <a:buNone/>
            </a:pPr>
            <a:r>
              <a:rPr lang="en-US" sz="1200" b="1" dirty="0">
                <a:solidFill>
                  <a:srgbClr val="FFFFFF"/>
                </a:solidFill>
              </a:rPr>
              <a:t>SURPONDÉRER</a:t>
            </a:r>
            <a:endParaRPr lang="en-US" sz="1200" dirty="0"/>
          </a:p>
        </p:txBody>
      </p:sp>
      <p:sp>
        <p:nvSpPr>
          <p:cNvPr id="7" name="Text 5"/>
          <p:cNvSpPr txBox="1"/>
          <p:nvPr/>
        </p:nvSpPr>
        <p:spPr>
          <a:xfrm>
            <a:off x="822960" y="2423160"/>
            <a:ext cx="3108960" cy="960120"/>
          </a:xfrm>
          <a:prstGeom prst="rect">
            <a:avLst/>
          </a:prstGeom>
          <a:noFill/>
          <a:ln/>
        </p:spPr>
        <p:txBody>
          <a:bodyPr wrap="square" lIns="0" tIns="0" rIns="0" bIns="0" rtlCol="0" anchor="t"/>
          <a:lstStyle/>
          <a:p>
            <a:pPr indent="0" marL="0">
              <a:buNone/>
            </a:pPr>
            <a:r>
              <a:rPr lang="en-US" sz="3000" b="1" dirty="0">
                <a:solidFill>
                  <a:srgbClr val="141A17"/>
                </a:solidFill>
              </a:rPr>
              <a:t>916 ¥</a:t>
            </a:r>
            <a:endParaRPr lang="en-US" sz="3000" dirty="0"/>
          </a:p>
          <a:p>
            <a:pPr indent="0" marL="0">
              <a:buNone/>
            </a:pPr>
            <a:r>
              <a:rPr lang="en-US" sz="1300" dirty="0">
                <a:solidFill>
                  <a:srgbClr val="5B6660"/>
                </a:solidFill>
              </a:rPr>
              <a:t>valeur centrale, +39 % vs 659 ¥</a:t>
            </a:r>
            <a:endParaRPr lang="en-US" sz="3000" dirty="0"/>
          </a:p>
        </p:txBody>
      </p:sp>
      <p:sp>
        <p:nvSpPr>
          <p:cNvPr id="8" name="Text 6"/>
          <p:cNvSpPr txBox="1"/>
          <p:nvPr/>
        </p:nvSpPr>
        <p:spPr>
          <a:xfrm>
            <a:off x="822960" y="3474720"/>
            <a:ext cx="3154680" cy="2286000"/>
          </a:xfrm>
          <a:prstGeom prst="rect">
            <a:avLst/>
          </a:prstGeom>
          <a:noFill/>
          <a:ln/>
        </p:spPr>
        <p:txBody>
          <a:bodyPr wrap="square" lIns="0" tIns="0" rIns="0" bIns="0" rtlCol="0" anchor="t">
            <a:normAutofit/>
          </a:bodyPr>
          <a:lstStyle/>
          <a:p>
            <a:pPr indent="0" marL="0">
              <a:buNone/>
            </a:pPr>
            <a:r>
              <a:rPr lang="en-US" sz="1172" dirty="0">
                <a:solidFill>
                  <a:srgbClr val="141A17"/>
                </a:solidFill>
              </a:rPr>
              <a:t>Nippon Steel se traite environ 0,54x ses fonds propres. Le marché voit un sidérurgiste domestique frappé par les exportations chinoises. Nous voyons un groupe dont le profit à l'étranger est guidé de 123 à 320 Md¥ en un an, tiré par U.S. Steel derrière les droits de douane américains, avec un financement définitif et un dividende minimum de 24 ¥.</a:t>
            </a:r>
            <a:endParaRPr lang="en-US" sz="1300" dirty="0"/>
          </a:p>
        </p:txBody>
      </p:sp>
      <p:sp>
        <p:nvSpPr>
          <p:cNvPr id="9" name="Shape 7"/>
          <p:cNvSpPr/>
          <p:nvPr/>
        </p:nvSpPr>
        <p:spPr>
          <a:xfrm>
            <a:off x="4526280" y="1737360"/>
            <a:ext cx="457200" cy="457200"/>
          </a:xfrm>
          <a:prstGeom prst="ellipse">
            <a:avLst/>
          </a:prstGeom>
          <a:solidFill>
            <a:srgbClr val="0E6B4F"/>
          </a:solidFill>
          <a:ln w="12700">
            <a:solidFill>
              <a:srgbClr val="0E6B4F"/>
            </a:solidFill>
            <a:prstDash val="solid"/>
          </a:ln>
        </p:spPr>
        <p:txBody>
          <a:bodyPr/>
          <a:p/>
        </p:txBody>
      </p:sp>
      <p:sp>
        <p:nvSpPr>
          <p:cNvPr id="10" name="Text 8"/>
          <p:cNvSpPr txBox="1"/>
          <p:nvPr/>
        </p:nvSpPr>
        <p:spPr>
          <a:xfrm>
            <a:off x="45262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1" name="Text 9"/>
          <p:cNvSpPr txBox="1"/>
          <p:nvPr/>
        </p:nvSpPr>
        <p:spPr>
          <a:xfrm>
            <a:off x="5166360" y="1691640"/>
            <a:ext cx="6476695" cy="365760"/>
          </a:xfrm>
          <a:prstGeom prst="rect">
            <a:avLst/>
          </a:prstGeom>
          <a:noFill/>
          <a:ln/>
        </p:spPr>
        <p:txBody>
          <a:bodyPr wrap="square" lIns="0" tIns="0" rIns="0" bIns="0" rtlCol="0" anchor="t"/>
          <a:lstStyle/>
          <a:p>
            <a:pPr indent="0" marL="0">
              <a:buNone/>
            </a:pPr>
            <a:r>
              <a:rPr lang="en-US" sz="1600" b="1" dirty="0">
                <a:solidFill>
                  <a:srgbClr val="141A17"/>
                </a:solidFill>
              </a:rPr>
              <a:t>Le profit à l'étranger va plus que doubler</a:t>
            </a:r>
            <a:endParaRPr lang="en-US" sz="1600" dirty="0"/>
          </a:p>
        </p:txBody>
      </p:sp>
      <p:sp>
        <p:nvSpPr>
          <p:cNvPr id="12" name="Text 10"/>
          <p:cNvSpPr txBox="1"/>
          <p:nvPr/>
        </p:nvSpPr>
        <p:spPr>
          <a:xfrm>
            <a:off x="5166360" y="2075688"/>
            <a:ext cx="6476695" cy="960120"/>
          </a:xfrm>
          <a:prstGeom prst="rect">
            <a:avLst/>
          </a:prstGeom>
          <a:noFill/>
          <a:ln/>
        </p:spPr>
        <p:txBody>
          <a:bodyPr wrap="square" lIns="0" tIns="0" rIns="0" bIns="0" rtlCol="0" anchor="t">
            <a:normAutofit/>
          </a:bodyPr>
          <a:lstStyle/>
          <a:p>
            <a:pPr indent="0" marL="0">
              <a:buNone/>
            </a:pPr>
            <a:r>
              <a:rPr lang="en-US" sz="1182" dirty="0">
                <a:solidFill>
                  <a:srgbClr val="2A322E"/>
                </a:solidFill>
              </a:rPr>
              <a:t>L'acier et les matières premières à l'étranger ont dégagé 123 Md¥ de profit sous-jacent sur l'exercice 2025 ; la prévision 2026 est de 320 Md¥. U.S. Steel passe à elle seule d'une perte de 6 Md¥ à au moins 180 Md¥.</a:t>
            </a:r>
            <a:endParaRPr lang="en-US" sz="1300" dirty="0"/>
          </a:p>
        </p:txBody>
      </p:sp>
      <p:sp>
        <p:nvSpPr>
          <p:cNvPr id="13" name="Shape 11"/>
          <p:cNvSpPr/>
          <p:nvPr/>
        </p:nvSpPr>
        <p:spPr>
          <a:xfrm>
            <a:off x="4526280" y="3172968"/>
            <a:ext cx="457200" cy="457200"/>
          </a:xfrm>
          <a:prstGeom prst="ellipse">
            <a:avLst/>
          </a:prstGeom>
          <a:solidFill>
            <a:srgbClr val="0E6B4F"/>
          </a:solidFill>
          <a:ln w="12700">
            <a:solidFill>
              <a:srgbClr val="0E6B4F"/>
            </a:solidFill>
            <a:prstDash val="solid"/>
          </a:ln>
        </p:spPr>
        <p:txBody>
          <a:bodyPr/>
          <a:p/>
        </p:txBody>
      </p:sp>
      <p:sp>
        <p:nvSpPr>
          <p:cNvPr id="14" name="Text 12"/>
          <p:cNvSpPr txBox="1"/>
          <p:nvPr/>
        </p:nvSpPr>
        <p:spPr>
          <a:xfrm>
            <a:off x="4526280" y="3172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5" name="Text 13"/>
          <p:cNvSpPr txBox="1"/>
          <p:nvPr/>
        </p:nvSpPr>
        <p:spPr>
          <a:xfrm>
            <a:off x="5166360" y="3127248"/>
            <a:ext cx="6476695" cy="365760"/>
          </a:xfrm>
          <a:prstGeom prst="rect">
            <a:avLst/>
          </a:prstGeom>
          <a:noFill/>
          <a:ln/>
        </p:spPr>
        <p:txBody>
          <a:bodyPr wrap="square" lIns="0" tIns="0" rIns="0" bIns="0" rtlCol="0" anchor="t"/>
          <a:lstStyle/>
          <a:p>
            <a:pPr indent="0" marL="0">
              <a:buNone/>
            </a:pPr>
            <a:r>
              <a:rPr lang="en-US" sz="1600" b="1" dirty="0">
                <a:solidFill>
                  <a:srgbClr val="141A17"/>
                </a:solidFill>
              </a:rPr>
              <a:t>La base domestique est restructurée</a:t>
            </a:r>
            <a:endParaRPr lang="en-US" sz="1600" dirty="0"/>
          </a:p>
        </p:txBody>
      </p:sp>
      <p:sp>
        <p:nvSpPr>
          <p:cNvPr id="16" name="Text 14"/>
          <p:cNvSpPr txBox="1"/>
          <p:nvPr/>
        </p:nvSpPr>
        <p:spPr>
          <a:xfrm>
            <a:off x="5166360" y="3511296"/>
            <a:ext cx="6476695" cy="960120"/>
          </a:xfrm>
          <a:prstGeom prst="rect">
            <a:avLst/>
          </a:prstGeom>
          <a:noFill/>
          <a:ln/>
        </p:spPr>
        <p:txBody>
          <a:bodyPr wrap="square" lIns="0" tIns="0" rIns="0" bIns="0" rtlCol="0" anchor="t">
            <a:normAutofit/>
          </a:bodyPr>
          <a:lstStyle/>
          <a:p>
            <a:pPr indent="0" marL="0">
              <a:buNone/>
            </a:pPr>
            <a:r>
              <a:rPr lang="en-US" sz="1197" dirty="0">
                <a:solidFill>
                  <a:srgbClr val="2A322E"/>
                </a:solidFill>
              </a:rPr>
              <a:t>La fermeture de l'amont de Kashima et la réforme des prix contractuels réduisent de 40 % le point mort domestique. L'objectif de rythme du S2 2026 a été relevé à au moins 900 Md¥ de profit sous-jacent annualisé.</a:t>
            </a:r>
            <a:endParaRPr lang="en-US" sz="1300" dirty="0"/>
          </a:p>
        </p:txBody>
      </p:sp>
      <p:sp>
        <p:nvSpPr>
          <p:cNvPr id="17" name="Shape 15"/>
          <p:cNvSpPr/>
          <p:nvPr/>
        </p:nvSpPr>
        <p:spPr>
          <a:xfrm>
            <a:off x="4526280" y="4608576"/>
            <a:ext cx="457200" cy="457200"/>
          </a:xfrm>
          <a:prstGeom prst="ellipse">
            <a:avLst/>
          </a:prstGeom>
          <a:solidFill>
            <a:srgbClr val="0E6B4F"/>
          </a:solidFill>
          <a:ln w="12700">
            <a:solidFill>
              <a:srgbClr val="0E6B4F"/>
            </a:solidFill>
            <a:prstDash val="solid"/>
          </a:ln>
        </p:spPr>
        <p:txBody>
          <a:bodyPr/>
          <a:p/>
        </p:txBody>
      </p:sp>
      <p:sp>
        <p:nvSpPr>
          <p:cNvPr id="18" name="Text 16"/>
          <p:cNvSpPr txBox="1"/>
          <p:nvPr/>
        </p:nvSpPr>
        <p:spPr>
          <a:xfrm>
            <a:off x="4526280" y="46085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7"/>
          <p:cNvSpPr txBox="1"/>
          <p:nvPr/>
        </p:nvSpPr>
        <p:spPr>
          <a:xfrm>
            <a:off x="5166360" y="4562856"/>
            <a:ext cx="6476695" cy="365760"/>
          </a:xfrm>
          <a:prstGeom prst="rect">
            <a:avLst/>
          </a:prstGeom>
          <a:noFill/>
          <a:ln/>
        </p:spPr>
        <p:txBody>
          <a:bodyPr wrap="square" lIns="0" tIns="0" rIns="0" bIns="0" rtlCol="0" anchor="t"/>
          <a:lstStyle/>
          <a:p>
            <a:pPr indent="0" marL="0">
              <a:buNone/>
            </a:pPr>
            <a:r>
              <a:rPr lang="en-US" sz="1600" b="1" dirty="0">
                <a:solidFill>
                  <a:srgbClr val="141A17"/>
                </a:solidFill>
              </a:rPr>
              <a:t>Le risque de financement a disparu</a:t>
            </a:r>
            <a:endParaRPr lang="en-US" sz="1600" dirty="0"/>
          </a:p>
        </p:txBody>
      </p:sp>
      <p:sp>
        <p:nvSpPr>
          <p:cNvPr id="20" name="Text 18"/>
          <p:cNvSpPr txBox="1"/>
          <p:nvPr/>
        </p:nvSpPr>
        <p:spPr>
          <a:xfrm>
            <a:off x="5166360" y="4946904"/>
            <a:ext cx="6476695" cy="960120"/>
          </a:xfrm>
          <a:prstGeom prst="rect">
            <a:avLst/>
          </a:prstGeom>
          <a:noFill/>
          <a:ln/>
        </p:spPr>
        <p:txBody>
          <a:bodyPr wrap="square" lIns="0" tIns="0" rIns="0" bIns="0" rtlCol="0" anchor="t">
            <a:normAutofit/>
          </a:bodyPr>
          <a:lstStyle/>
          <a:p>
            <a:pPr indent="0" marL="0">
              <a:buNone/>
            </a:pPr>
            <a:r>
              <a:rPr lang="en-US" sz="1167" dirty="0">
                <a:solidFill>
                  <a:srgbClr val="2A322E"/>
                </a:solidFill>
              </a:rPr>
              <a:t>600 Md¥ d'obligations convertibles, 500 Md¥ de prêt hybride et 900 Md¥ de prêts menés par la JBIC ont refinancé le prêt relais d'U.S. Steel en mars 2026. Le plan 2030 fixe un dividende minimum de 24 ¥ et un ratio dette/fonds propres cible d'environ 0,7.</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02  LA SOCIÉTÉ</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Nippon Steel en bref</a:t>
            </a:r>
            <a:endParaRPr lang="en-US" sz="2600" dirty="0"/>
          </a:p>
        </p:txBody>
      </p:sp>
      <p:sp>
        <p:nvSpPr>
          <p:cNvPr id="4" name="Text 2"/>
          <p:cNvSpPr txBox="1"/>
          <p:nvPr/>
        </p:nvSpPr>
        <p:spPr>
          <a:xfrm>
            <a:off x="548640" y="169164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Acier au Japon</a:t>
            </a:r>
            <a:endParaRPr lang="en-US" sz="1400" dirty="0"/>
          </a:p>
        </p:txBody>
      </p:sp>
      <p:sp>
        <p:nvSpPr>
          <p:cNvPr id="5" name="Text 3"/>
          <p:cNvSpPr txBox="1"/>
          <p:nvPr/>
        </p:nvSpPr>
        <p:spPr>
          <a:xfrm>
            <a:off x="548640" y="1993392"/>
            <a:ext cx="5852160" cy="713232"/>
          </a:xfrm>
          <a:prstGeom prst="rect">
            <a:avLst/>
          </a:prstGeom>
          <a:noFill/>
          <a:ln/>
        </p:spPr>
        <p:txBody>
          <a:bodyPr wrap="square" lIns="0" tIns="0" rIns="0" bIns="0" rtlCol="0" anchor="t">
            <a:normAutofit/>
          </a:bodyPr>
          <a:lstStyle/>
          <a:p>
            <a:pPr indent="0" marL="0">
              <a:buNone/>
            </a:pPr>
            <a:r>
              <a:rPr lang="en-US" sz="1300" dirty="0">
                <a:solidFill>
                  <a:srgbClr val="2A322E"/>
                </a:solidFill>
              </a:rPr>
              <a:t>Premier sidérurgiste intégré du Japon : 528 Md¥ de profit sous-jacent sur l'ex. 2025, restructuré.</a:t>
            </a:r>
            <a:endParaRPr lang="en-US" sz="1300" dirty="0"/>
          </a:p>
        </p:txBody>
      </p:sp>
      <p:sp>
        <p:nvSpPr>
          <p:cNvPr id="6" name="Text 4"/>
          <p:cNvSpPr txBox="1"/>
          <p:nvPr/>
        </p:nvSpPr>
        <p:spPr>
          <a:xfrm>
            <a:off x="548640" y="274320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U.S. Steel</a:t>
            </a:r>
            <a:endParaRPr lang="en-US" sz="1400" dirty="0"/>
          </a:p>
        </p:txBody>
      </p:sp>
      <p:sp>
        <p:nvSpPr>
          <p:cNvPr id="7" name="Text 5"/>
          <p:cNvSpPr txBox="1"/>
          <p:nvPr/>
        </p:nvSpPr>
        <p:spPr>
          <a:xfrm>
            <a:off x="548640" y="3044952"/>
            <a:ext cx="5852160" cy="713232"/>
          </a:xfrm>
          <a:prstGeom prst="rect">
            <a:avLst/>
          </a:prstGeom>
          <a:noFill/>
          <a:ln/>
        </p:spPr>
        <p:txBody>
          <a:bodyPr wrap="square" lIns="0" tIns="0" rIns="0" bIns="0" rtlCol="0" anchor="t">
            <a:normAutofit/>
          </a:bodyPr>
          <a:lstStyle/>
          <a:p>
            <a:pPr indent="0" marL="0">
              <a:buNone/>
            </a:pPr>
            <a:r>
              <a:rPr lang="en-US" sz="1194" dirty="0">
                <a:solidFill>
                  <a:srgbClr val="2A322E"/>
                </a:solidFill>
              </a:rPr>
              <a:t>Détenue à 100 % depuis juin 2025 (~14,9 Md$), sous un accord de sécurité nationale avec une golden share américaine.</a:t>
            </a:r>
            <a:endParaRPr lang="en-US" sz="1300" dirty="0"/>
          </a:p>
        </p:txBody>
      </p:sp>
      <p:sp>
        <p:nvSpPr>
          <p:cNvPr id="8" name="Text 6"/>
          <p:cNvSpPr txBox="1"/>
          <p:nvPr/>
        </p:nvSpPr>
        <p:spPr>
          <a:xfrm>
            <a:off x="548640" y="379476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Inde et autres pays</a:t>
            </a:r>
            <a:endParaRPr lang="en-US" sz="1400" dirty="0"/>
          </a:p>
        </p:txBody>
      </p:sp>
      <p:sp>
        <p:nvSpPr>
          <p:cNvPr id="9" name="Text 7"/>
          <p:cNvSpPr txBox="1"/>
          <p:nvPr/>
        </p:nvSpPr>
        <p:spPr>
          <a:xfrm>
            <a:off x="548640" y="4096512"/>
            <a:ext cx="5852160" cy="713232"/>
          </a:xfrm>
          <a:prstGeom prst="rect">
            <a:avLst/>
          </a:prstGeom>
          <a:noFill/>
          <a:ln/>
        </p:spPr>
        <p:txBody>
          <a:bodyPr wrap="square" lIns="0" tIns="0" rIns="0" bIns="0" rtlCol="0" anchor="t">
            <a:normAutofit/>
          </a:bodyPr>
          <a:lstStyle/>
          <a:p>
            <a:pPr indent="0" marL="0">
              <a:buNone/>
            </a:pPr>
            <a:r>
              <a:rPr lang="en-US" sz="1196" dirty="0">
                <a:solidFill>
                  <a:srgbClr val="2A322E"/>
                </a:solidFill>
              </a:rPr>
              <a:t>Coentreprise AM/NS India avec ArcelorMittal (capacité de 9 à 15 Mt/an), activités en Thaïlande et en ASEAN, Ovako, Nippon Steel Slovakia.</a:t>
            </a:r>
            <a:endParaRPr lang="en-US" sz="1300" dirty="0"/>
          </a:p>
        </p:txBody>
      </p:sp>
      <p:sp>
        <p:nvSpPr>
          <p:cNvPr id="10" name="Text 8"/>
          <p:cNvSpPr txBox="1"/>
          <p:nvPr/>
        </p:nvSpPr>
        <p:spPr>
          <a:xfrm>
            <a:off x="548640" y="484632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Matières premières</a:t>
            </a:r>
            <a:endParaRPr lang="en-US" sz="1400" dirty="0"/>
          </a:p>
        </p:txBody>
      </p:sp>
      <p:sp>
        <p:nvSpPr>
          <p:cNvPr id="11" name="Text 9"/>
          <p:cNvSpPr txBox="1"/>
          <p:nvPr/>
        </p:nvSpPr>
        <p:spPr>
          <a:xfrm>
            <a:off x="548640" y="5148072"/>
            <a:ext cx="5852160" cy="713232"/>
          </a:xfrm>
          <a:prstGeom prst="rect">
            <a:avLst/>
          </a:prstGeom>
          <a:noFill/>
          <a:ln/>
        </p:spPr>
        <p:txBody>
          <a:bodyPr wrap="square" lIns="0" tIns="0" rIns="0" bIns="0" rtlCol="0" anchor="t">
            <a:normAutofit/>
          </a:bodyPr>
          <a:lstStyle/>
          <a:p>
            <a:pPr indent="0" marL="0">
              <a:buNone/>
            </a:pPr>
            <a:r>
              <a:rPr lang="en-US" sz="1118" dirty="0">
                <a:solidFill>
                  <a:srgbClr val="2A322E"/>
                </a:solidFill>
              </a:rPr>
              <a:t>Participations dans le charbon à coke : une couverture partielle du coût des intrants.</a:t>
            </a:r>
            <a:endParaRPr lang="en-US" sz="1300" dirty="0"/>
          </a:p>
        </p:txBody>
      </p:sp>
      <p:graphicFrame>
        <p:nvGraphicFramePr>
          <p:cNvPr id="12" name="Chart 0" descr=""/>
          <p:cNvGraphicFramePr/>
          <p:nvPr/>
        </p:nvGraphicFramePr>
        <p:xfrm>
          <a:off x="6766560" y="1645920"/>
          <a:ext cx="4876495" cy="42062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900" i="1" dirty="0">
                <a:solidFill>
                  <a:schemeClr val="tx2"/>
                </a:solidFill>
              </a:rPr>
              <a:t>Source : publications de la société ; profit sous-jacent (Md¥) : ex. 2025 réel vs ex. 2026 prévu (Japon 2026 calculé comme guidance totale moins guidance étranger)</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03  SECTEUR ET MACRO</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9" b="1" dirty="0">
                <a:solidFill>
                  <a:schemeClr val="tx1"/>
                </a:solidFill>
              </a:rPr>
              <a:t>Ce qui fait bouger le titre au-delà de la société</a:t>
            </a:r>
            <a:endParaRPr lang="en-US" sz="2600" dirty="0"/>
          </a:p>
        </p:txBody>
      </p:sp>
      <p:sp>
        <p:nvSpPr>
          <p:cNvPr id="4" name="macro card 1"/>
          <p:cNvSpPr/>
          <p:nvPr/>
        </p:nvSpPr>
        <p:spPr>
          <a:xfrm>
            <a:off x="548640" y="1691640"/>
            <a:ext cx="5364328" cy="1965960"/>
          </a:xfrm>
          <a:prstGeom prst="rect">
            <a:avLst/>
          </a:prstGeom>
          <a:solidFill>
            <a:srgbClr val="F2F4F1"/>
          </a:solidFill>
          <a:ln w="12700">
            <a:solidFill>
              <a:srgbClr val="F2F4F1"/>
            </a:solidFill>
            <a:prstDash val="solid"/>
          </a:ln>
        </p:spPr>
        <p:txBody>
          <a:bodyPr/>
          <a:p/>
        </p:txBody>
      </p:sp>
      <p:sp>
        <p:nvSpPr>
          <p:cNvPr id="5" name="Text 3"/>
          <p:cNvSpPr txBox="1"/>
          <p:nvPr/>
        </p:nvSpPr>
        <p:spPr>
          <a:xfrm>
            <a:off x="822960"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~119 Mt</a:t>
            </a:r>
            <a:endParaRPr lang="en-US" sz="2800" dirty="0"/>
          </a:p>
        </p:txBody>
      </p:sp>
      <p:sp>
        <p:nvSpPr>
          <p:cNvPr id="6" name="Text 4"/>
          <p:cNvSpPr txBox="1"/>
          <p:nvPr/>
        </p:nvSpPr>
        <p:spPr>
          <a:xfrm>
            <a:off x="3291840"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Exportations chinoises d'acier</a:t>
            </a:r>
            <a:endParaRPr lang="en-US" sz="1500" dirty="0"/>
          </a:p>
        </p:txBody>
      </p:sp>
      <p:sp>
        <p:nvSpPr>
          <p:cNvPr id="7" name="Text 5"/>
          <p:cNvSpPr txBox="1"/>
          <p:nvPr/>
        </p:nvSpPr>
        <p:spPr>
          <a:xfrm>
            <a:off x="822960" y="2697480"/>
            <a:ext cx="4815688" cy="868680"/>
          </a:xfrm>
          <a:prstGeom prst="rect">
            <a:avLst/>
          </a:prstGeom>
          <a:noFill/>
          <a:ln/>
        </p:spPr>
        <p:txBody>
          <a:bodyPr wrap="square" lIns="0" tIns="0" rIns="0" bIns="0" rtlCol="0" anchor="t">
            <a:normAutofit/>
          </a:bodyPr>
          <a:lstStyle/>
          <a:p>
            <a:pPr indent="0" marL="0">
              <a:buNone/>
            </a:pPr>
            <a:r>
              <a:rPr lang="en-US" sz="1167" dirty="0">
                <a:solidFill>
                  <a:srgbClr val="2A322E"/>
                </a:solidFill>
              </a:rPr>
              <a:t>Record en 2025 selon la société : la principale pression sur les marges asiatiques.</a:t>
            </a:r>
            <a:endParaRPr lang="en-US" sz="1300" dirty="0"/>
          </a:p>
        </p:txBody>
      </p:sp>
      <p:sp>
        <p:nvSpPr>
          <p:cNvPr id="8" name="macro card 2"/>
          <p:cNvSpPr/>
          <p:nvPr/>
        </p:nvSpPr>
        <p:spPr>
          <a:xfrm>
            <a:off x="6278728" y="1691640"/>
            <a:ext cx="5364328" cy="1965960"/>
          </a:xfrm>
          <a:prstGeom prst="rect">
            <a:avLst/>
          </a:prstGeom>
          <a:solidFill>
            <a:srgbClr val="F2F4F1"/>
          </a:solidFill>
          <a:ln w="12700">
            <a:solidFill>
              <a:srgbClr val="F2F4F1"/>
            </a:solidFill>
            <a:prstDash val="solid"/>
          </a:ln>
        </p:spPr>
        <p:txBody>
          <a:bodyPr/>
          <a:p/>
        </p:txBody>
      </p:sp>
      <p:sp>
        <p:nvSpPr>
          <p:cNvPr id="9" name="Text 7"/>
          <p:cNvSpPr txBox="1"/>
          <p:nvPr/>
        </p:nvSpPr>
        <p:spPr>
          <a:xfrm>
            <a:off x="6553048"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Section 232</a:t>
            </a:r>
            <a:endParaRPr lang="en-US" sz="2800" dirty="0"/>
          </a:p>
        </p:txBody>
      </p:sp>
      <p:sp>
        <p:nvSpPr>
          <p:cNvPr id="10" name="Text 8"/>
          <p:cNvSpPr txBox="1"/>
          <p:nvPr/>
        </p:nvSpPr>
        <p:spPr>
          <a:xfrm>
            <a:off x="9021928"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Droits de douane US sur l'acier</a:t>
            </a:r>
            <a:endParaRPr lang="en-US" sz="1500" dirty="0"/>
          </a:p>
        </p:txBody>
      </p:sp>
      <p:sp>
        <p:nvSpPr>
          <p:cNvPr id="11" name="Text 9"/>
          <p:cNvSpPr txBox="1"/>
          <p:nvPr/>
        </p:nvSpPr>
        <p:spPr>
          <a:xfrm>
            <a:off x="6553048" y="2697480"/>
            <a:ext cx="4815688" cy="868680"/>
          </a:xfrm>
          <a:prstGeom prst="rect">
            <a:avLst/>
          </a:prstGeom>
          <a:noFill/>
          <a:ln/>
        </p:spPr>
        <p:txBody>
          <a:bodyPr wrap="square" lIns="0" tIns="0" rIns="0" bIns="0" rtlCol="0" anchor="t">
            <a:normAutofit/>
          </a:bodyPr>
          <a:lstStyle/>
          <a:p>
            <a:pPr indent="0" marL="0">
              <a:buNone/>
            </a:pPr>
            <a:r>
              <a:rPr lang="en-US" sz="1300" dirty="0">
                <a:solidFill>
                  <a:srgbClr val="2A322E"/>
                </a:solidFill>
              </a:rPr>
              <a:t>Ils protègent les prix d'U.S. Steel ; la thèse s'appuie dessus.</a:t>
            </a:r>
            <a:endParaRPr lang="en-US" sz="1300" dirty="0"/>
          </a:p>
        </p:txBody>
      </p:sp>
      <p:sp>
        <p:nvSpPr>
          <p:cNvPr id="12" name="macro card 3"/>
          <p:cNvSpPr/>
          <p:nvPr/>
        </p:nvSpPr>
        <p:spPr>
          <a:xfrm>
            <a:off x="548640" y="3886200"/>
            <a:ext cx="5364328" cy="1965960"/>
          </a:xfrm>
          <a:prstGeom prst="rect">
            <a:avLst/>
          </a:prstGeom>
          <a:solidFill>
            <a:srgbClr val="F2F4F1"/>
          </a:solidFill>
          <a:ln w="12700">
            <a:solidFill>
              <a:srgbClr val="F2F4F1"/>
            </a:solidFill>
            <a:prstDash val="solid"/>
          </a:ln>
        </p:spPr>
        <p:txBody>
          <a:bodyPr/>
          <a:p/>
        </p:txBody>
      </p:sp>
      <p:sp>
        <p:nvSpPr>
          <p:cNvPr id="13" name="Text 11"/>
          <p:cNvSpPr txBox="1"/>
          <p:nvPr/>
        </p:nvSpPr>
        <p:spPr>
          <a:xfrm>
            <a:off x="822960"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160 ¥/$</a:t>
            </a:r>
            <a:endParaRPr lang="en-US" sz="2800" dirty="0"/>
          </a:p>
        </p:txBody>
      </p:sp>
      <p:sp>
        <p:nvSpPr>
          <p:cNvPr id="14" name="Text 12"/>
          <p:cNvSpPr txBox="1"/>
          <p:nvPr/>
        </p:nvSpPr>
        <p:spPr>
          <a:xfrm>
            <a:off x="3291840"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Yen</a:t>
            </a:r>
            <a:endParaRPr lang="en-US" sz="1500" dirty="0"/>
          </a:p>
        </p:txBody>
      </p:sp>
      <p:sp>
        <p:nvSpPr>
          <p:cNvPr id="15" name="Text 13"/>
          <p:cNvSpPr txBox="1"/>
          <p:nvPr/>
        </p:nvSpPr>
        <p:spPr>
          <a:xfrm>
            <a:off x="822960" y="4892040"/>
            <a:ext cx="4815688" cy="868680"/>
          </a:xfrm>
          <a:prstGeom prst="rect">
            <a:avLst/>
          </a:prstGeom>
          <a:noFill/>
          <a:ln/>
        </p:spPr>
        <p:txBody>
          <a:bodyPr wrap="square" lIns="0" tIns="0" rIns="0" bIns="0" rtlCol="0" anchor="t">
            <a:normAutofit/>
          </a:bodyPr>
          <a:lstStyle/>
          <a:p>
            <a:pPr indent="0" marL="0">
              <a:buNone/>
            </a:pPr>
            <a:r>
              <a:rPr lang="en-US" sz="1169" dirty="0">
                <a:solidFill>
                  <a:srgbClr val="2A322E"/>
                </a:solidFill>
              </a:rPr>
              <a:t>Hypothèse ex. 2026 : un yen faible gonfle les profits étrangers en yens et les gains de valorisation des stocks (80 Md¥).</a:t>
            </a:r>
            <a:endParaRPr lang="en-US" sz="1300" dirty="0"/>
          </a:p>
        </p:txBody>
      </p:sp>
      <p:sp>
        <p:nvSpPr>
          <p:cNvPr id="16" name="macro card 4"/>
          <p:cNvSpPr/>
          <p:nvPr/>
        </p:nvSpPr>
        <p:spPr>
          <a:xfrm>
            <a:off x="6278728" y="3886200"/>
            <a:ext cx="5364328" cy="1965960"/>
          </a:xfrm>
          <a:prstGeom prst="rect">
            <a:avLst/>
          </a:prstGeom>
          <a:solidFill>
            <a:srgbClr val="F2F4F1"/>
          </a:solidFill>
          <a:ln w="12700">
            <a:solidFill>
              <a:srgbClr val="F2F4F1"/>
            </a:solidFill>
            <a:prstDash val="solid"/>
          </a:ln>
        </p:spPr>
        <p:txBody>
          <a:bodyPr/>
          <a:p/>
        </p:txBody>
      </p:sp>
      <p:sp>
        <p:nvSpPr>
          <p:cNvPr id="17" name="Text 15"/>
          <p:cNvSpPr txBox="1"/>
          <p:nvPr/>
        </p:nvSpPr>
        <p:spPr>
          <a:xfrm>
            <a:off x="6553048"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−60 Md¥</a:t>
            </a:r>
            <a:endParaRPr lang="en-US" sz="2800" dirty="0"/>
          </a:p>
        </p:txBody>
      </p:sp>
      <p:sp>
        <p:nvSpPr>
          <p:cNvPr id="18" name="Text 16"/>
          <p:cNvSpPr txBox="1"/>
          <p:nvPr/>
        </p:nvSpPr>
        <p:spPr>
          <a:xfrm>
            <a:off x="9021928"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Coûts liés au Moyen-Orient</a:t>
            </a:r>
            <a:endParaRPr lang="en-US" sz="1500" dirty="0"/>
          </a:p>
        </p:txBody>
      </p:sp>
      <p:sp>
        <p:nvSpPr>
          <p:cNvPr id="19" name="Text 17"/>
          <p:cNvSpPr txBox="1"/>
          <p:nvPr/>
        </p:nvSpPr>
        <p:spPr>
          <a:xfrm>
            <a:off x="6553048" y="4892040"/>
            <a:ext cx="4815688" cy="868680"/>
          </a:xfrm>
          <a:prstGeom prst="rect">
            <a:avLst/>
          </a:prstGeom>
          <a:noFill/>
          <a:ln/>
        </p:spPr>
        <p:txBody>
          <a:bodyPr wrap="square" lIns="0" tIns="0" rIns="0" bIns="0" rtlCol="0" anchor="t">
            <a:normAutofit/>
          </a:bodyPr>
          <a:lstStyle/>
          <a:p>
            <a:pPr indent="0" marL="0">
              <a:buNone/>
            </a:pPr>
            <a:r>
              <a:rPr lang="en-US" sz="1118" dirty="0">
                <a:solidFill>
                  <a:srgbClr val="2A322E"/>
                </a:solidFill>
              </a:rPr>
              <a:t>Impact ex. 2026 des matières premières, du carburant, de la logistique et des exportations perdues, intégré à la guidance.</a:t>
            </a:r>
            <a:endParaRPr lang="en-US" sz="1300" dirty="0"/>
          </a:p>
        </p:txBody>
      </p:sp>
      <p:sp>
        <p:nvSpPr>
          <p:cNvPr id="20" name="Text 18"/>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03" i="1" dirty="0">
                <a:solidFill>
                  <a:schemeClr val="tx2"/>
                </a:solidFill>
              </a:rPr>
              <a:t>Source : communiqués de la société et note de recherche (voir la slide Sources)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04  POURQUOI LE SCREEN L'A CHOISI</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93" b="1" dirty="0">
                <a:solidFill>
                  <a:schemeClr val="tx1"/>
                </a:solidFill>
              </a:rPr>
              <a:t>Classé 1 sur 62 en Matériaux sur notre score value</a:t>
            </a:r>
            <a:endParaRPr lang="en-US" sz="2600" dirty="0"/>
          </a:p>
        </p:txBody>
      </p:sp>
      <p:graphicFrame>
        <p:nvGraphicFramePr>
          <p:cNvPr id="4" name="Chart 0" descr=""/>
          <p:cNvGraphicFramePr/>
          <p:nvPr/>
        </p:nvGraphicFramePr>
        <p:xfrm>
          <a:off x="548640" y="1645920"/>
          <a:ext cx="566928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492240" y="1645920"/>
          <a:ext cx="5150815" cy="246888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6492240" y="4251960"/>
            <a:ext cx="5150815" cy="1645920"/>
          </a:xfrm>
          <a:prstGeom prst="rect">
            <a:avLst/>
          </a:prstGeom>
          <a:noFill/>
          <a:ln/>
        </p:spPr>
        <p:txBody>
          <a:bodyPr wrap="square" lIns="0" tIns="0" rIns="0" bIns="0" rtlCol="0" anchor="t">
            <a:normAutofit/>
          </a:bodyPr>
          <a:lstStyle/>
          <a:p>
            <a:pPr indent="0" marL="0">
              <a:buNone/>
            </a:pPr>
            <a:r>
              <a:rPr lang="en-US" sz="1300" b="1" dirty="0">
                <a:solidFill>
                  <a:srgbClr val="2A322E"/>
                </a:solidFill>
              </a:rPr>
              <a:t>Score composite 2,12, 1er sur 62 dans son secteur. </a:t>
            </a:r>
            <a:pPr indent="0" marL="0">
              <a:buNone/>
            </a:pPr>
            <a:r>
              <a:rPr lang="en-US" sz="1219" dirty="0">
                <a:solidFill>
                  <a:srgbClr val="2A322E"/>
                </a:solidFill>
              </a:rPr>
              <a:t>Le score fait la moyenne des z-scores ci-dessus (quatre ratios exprimés en rendements). Les comptes ne sont utilisés qu'à partir de la clôture + 6 mois : en décembre 2025, le screen lisait les comptes de l'exercice clos en mars 2025.</a:t>
            </a:r>
            <a:endParaRPr lang="en-US" sz="1300" dirty="0"/>
          </a:p>
        </p:txBody>
      </p:sp>
      <p:sp>
        <p:nvSpPr>
          <p:cNvPr id="7" name="Text 3"/>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63" i="1" dirty="0">
                <a:solidFill>
                  <a:schemeClr val="tx2"/>
                </a:solidFill>
              </a:rPr>
              <a:t>Source : pipeline du Portfolio Project (données Bloomberg) ; pairs : ArcelorMittal, Nucor, Steel Dynamics (pairs du pipeline); JFE, POSCO, Kobe Steel pour le contexte régional.</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05  HISTORIQUE DANS LE PORTEFEUILLE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07" b="1" dirty="0">
                <a:solidFill>
                  <a:schemeClr val="tx1"/>
                </a:solidFill>
              </a:rPr>
              <a:t>Détenu à 2 rebalancements sur 10 depuis juin 2025</a:t>
            </a:r>
            <a:endParaRPr lang="en-US" sz="2600" dirty="0"/>
          </a:p>
        </p:txBody>
      </p:sp>
      <p:graphicFrame>
        <p:nvGraphicFramePr>
          <p:cNvPr id="4" name="Chart 0" descr=""/>
          <p:cNvGraphicFramePr/>
          <p:nvPr/>
        </p:nvGraphicFramePr>
        <p:xfrm>
          <a:off x="548640" y="164592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63840" y="1691640"/>
            <a:ext cx="3779215" cy="548640"/>
          </a:xfrm>
          <a:prstGeom prst="rect">
            <a:avLst/>
          </a:prstGeom>
          <a:noFill/>
          <a:ln/>
        </p:spPr>
        <p:txBody>
          <a:bodyPr wrap="square" lIns="0" tIns="0" rIns="0" bIns="0" rtlCol="0" anchor="b"/>
          <a:lstStyle/>
          <a:p>
            <a:pPr indent="0" marL="0">
              <a:buNone/>
            </a:pPr>
            <a:r>
              <a:rPr lang="en-US" sz="2600" b="1" dirty="0">
                <a:solidFill>
                  <a:srgbClr val="B23A2E"/>
                </a:solidFill>
              </a:rPr>
              <a:t>−14,1 %</a:t>
            </a:r>
            <a:endParaRPr lang="en-US" sz="2600" dirty="0"/>
          </a:p>
        </p:txBody>
      </p:sp>
      <p:sp>
        <p:nvSpPr>
          <p:cNvPr id="6" name="Text 3"/>
          <p:cNvSpPr txBox="1"/>
          <p:nvPr/>
        </p:nvSpPr>
        <p:spPr>
          <a:xfrm>
            <a:off x="7863840" y="2240280"/>
            <a:ext cx="3779215" cy="320040"/>
          </a:xfrm>
          <a:prstGeom prst="rect">
            <a:avLst/>
          </a:prstGeom>
          <a:noFill/>
          <a:ln/>
        </p:spPr>
        <p:txBody>
          <a:bodyPr wrap="square" lIns="0" tIns="0" rIns="0" bIns="0" rtlCol="0" anchor="ctr"/>
          <a:lstStyle/>
          <a:p>
            <a:pPr indent="0" marL="0">
              <a:buNone/>
            </a:pPr>
            <a:r>
              <a:rPr lang="en-US" sz="1200" dirty="0">
                <a:solidFill>
                  <a:srgbClr val="5B6660"/>
                </a:solidFill>
              </a:rPr>
              <a:t>Performance S1 2026 (EUR)</a:t>
            </a:r>
            <a:endParaRPr lang="en-US" sz="1200" dirty="0"/>
          </a:p>
        </p:txBody>
      </p:sp>
      <p:sp>
        <p:nvSpPr>
          <p:cNvPr id="7" name="Text 4"/>
          <p:cNvSpPr txBox="1"/>
          <p:nvPr/>
        </p:nvSpPr>
        <p:spPr>
          <a:xfrm>
            <a:off x="7863840" y="274320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+10,8 %</a:t>
            </a:r>
            <a:endParaRPr lang="en-US" sz="2600" dirty="0"/>
          </a:p>
        </p:txBody>
      </p:sp>
      <p:sp>
        <p:nvSpPr>
          <p:cNvPr id="8" name="Text 5"/>
          <p:cNvSpPr txBox="1"/>
          <p:nvPr/>
        </p:nvSpPr>
        <p:spPr>
          <a:xfrm>
            <a:off x="7863840" y="3291840"/>
            <a:ext cx="3779215" cy="320040"/>
          </a:xfrm>
          <a:prstGeom prst="rect">
            <a:avLst/>
          </a:prstGeom>
          <a:noFill/>
          <a:ln/>
        </p:spPr>
        <p:txBody>
          <a:bodyPr wrap="square" lIns="0" tIns="0" rIns="0" bIns="0" rtlCol="0" anchor="ctr"/>
          <a:lstStyle/>
          <a:p>
            <a:pPr indent="0" marL="0">
              <a:buNone/>
            </a:pPr>
            <a:r>
              <a:rPr lang="en-US" sz="1200" dirty="0">
                <a:solidFill>
                  <a:srgbClr val="5B6660"/>
                </a:solidFill>
              </a:rPr>
              <a:t>MSCI World Net EUR, S1 2026</a:t>
            </a:r>
            <a:endParaRPr lang="en-US" sz="1200" dirty="0"/>
          </a:p>
        </p:txBody>
      </p:sp>
      <p:sp>
        <p:nvSpPr>
          <p:cNvPr id="9" name="Text 6"/>
          <p:cNvSpPr txBox="1"/>
          <p:nvPr/>
        </p:nvSpPr>
        <p:spPr>
          <a:xfrm>
            <a:off x="7863840" y="379476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2,0 %</a:t>
            </a:r>
            <a:endParaRPr lang="en-US" sz="2600" dirty="0"/>
          </a:p>
        </p:txBody>
      </p:sp>
      <p:sp>
        <p:nvSpPr>
          <p:cNvPr id="10" name="Text 7"/>
          <p:cNvSpPr txBox="1"/>
          <p:nvPr/>
        </p:nvSpPr>
        <p:spPr>
          <a:xfrm>
            <a:off x="7863840" y="4343400"/>
            <a:ext cx="3779215" cy="320040"/>
          </a:xfrm>
          <a:prstGeom prst="rect">
            <a:avLst/>
          </a:prstGeom>
          <a:noFill/>
          <a:ln/>
        </p:spPr>
        <p:txBody>
          <a:bodyPr wrap="square" lIns="0" tIns="0" rIns="0" bIns="0" rtlCol="0" anchor="ctr"/>
          <a:lstStyle/>
          <a:p>
            <a:pPr indent="0" marL="0">
              <a:buNone/>
            </a:pPr>
            <a:r>
              <a:rPr lang="en-US" sz="1200" dirty="0">
                <a:solidFill>
                  <a:srgbClr val="5B6660"/>
                </a:solidFill>
              </a:rPr>
              <a:t>Poids, équipondéré</a:t>
            </a:r>
            <a:endParaRPr lang="en-US" sz="1200" dirty="0"/>
          </a:p>
        </p:txBody>
      </p:sp>
      <p:sp>
        <p:nvSpPr>
          <p:cNvPr id="11" name="Text 8"/>
          <p:cNvSpPr txBox="1"/>
          <p:nvPr/>
        </p:nvSpPr>
        <p:spPr>
          <a:xfrm>
            <a:off x="7863840" y="484632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2,0 % / 4,0 %</a:t>
            </a:r>
            <a:endParaRPr lang="en-US" sz="2600" dirty="0"/>
          </a:p>
        </p:txBody>
      </p:sp>
      <p:sp>
        <p:nvSpPr>
          <p:cNvPr id="12" name="Text 9"/>
          <p:cNvSpPr txBox="1"/>
          <p:nvPr/>
        </p:nvSpPr>
        <p:spPr>
          <a:xfrm>
            <a:off x="7863840" y="5394960"/>
            <a:ext cx="3779215" cy="320040"/>
          </a:xfrm>
          <a:prstGeom prst="rect">
            <a:avLst/>
          </a:prstGeom>
          <a:noFill/>
          <a:ln/>
        </p:spPr>
        <p:txBody>
          <a:bodyPr wrap="square" lIns="0" tIns="0" rIns="0" bIns="0" rtlCol="0" anchor="ctr"/>
          <a:lstStyle/>
          <a:p>
            <a:pPr indent="0" marL="0">
              <a:buNone/>
            </a:pPr>
            <a:r>
              <a:rPr lang="en-US" sz="1058" dirty="0">
                <a:solidFill>
                  <a:srgbClr val="5B6660"/>
                </a:solidFill>
              </a:rPr>
              <a:t>Variance minimale / moyenne-variance</a:t>
            </a:r>
            <a:endParaRPr lang="en-US" sz="1200" dirty="0"/>
          </a:p>
        </p:txBody>
      </p:sp>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11" i="1" dirty="0">
                <a:solidFill>
                  <a:schemeClr val="tx2"/>
                </a:solidFill>
              </a:rPr>
              <a:t>Source : rendements totaux hebdomadaires du pipeline (EUR, nets de retenue à la source) et poids du portefeuille au rebalancement du 31 déc. 2025</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06  CHIFFRES CLÉS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Chiffres publiés et guidance</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776472"/>
                <a:gridCol w="1828800"/>
                <a:gridCol w="1828800"/>
                <a:gridCol w="1828800"/>
                <a:gridCol w="1828800"/>
              </a:tblGrid>
              <a:tr h="438912">
                <a:tc>
                  <a:txBody>
                    <a:bodyPr/>
                    <a:lstStyle/>
                    <a:p>
                      <a:pPr algn="l" indent="0" marL="0">
                        <a:buNone/>
                      </a:pP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FY2024</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FY2025</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T1 ex. 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Guidance ex. 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Chiffre d'affaires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8696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10063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2821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11200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190" b="1" dirty="0">
                          <a:solidFill>
                            <a:srgbClr val="141A17"/>
                          </a:solidFill>
                          <a:latin typeface="Arial" pitchFamily="34" charset="0"/>
                          <a:ea typeface="Arial" pitchFamily="34" charset="-122"/>
                          <a:cs typeface="Arial" pitchFamily="34" charset="-120"/>
                        </a:rPr>
                        <a:t>Profit opérationnel sous-jacent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794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650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108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 700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dont U.S. Steel</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−6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32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 180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Résultat part du groupe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17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75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290 Md¥</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BPA (après division)</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14 ¥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55 ¥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Dividende (après division)</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32 ¥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24 ¥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24 ¥ (minimum)</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4946904"/>
            <a:ext cx="11094415" cy="548640"/>
          </a:xfrm>
          <a:prstGeom prst="rect">
            <a:avLst/>
          </a:prstGeom>
          <a:noFill/>
          <a:ln/>
        </p:spPr>
        <p:txBody>
          <a:bodyPr wrap="square" lIns="0" tIns="0" rIns="0" bIns="0" rtlCol="0" anchor="t"/>
          <a:lstStyle/>
          <a:p>
            <a:pPr indent="0" marL="0">
              <a:buNone/>
            </a:pPr>
            <a:r>
              <a:rPr lang="en-US" sz="1100" dirty="0">
                <a:solidFill>
                  <a:srgbClr val="5B6660"/>
                </a:solidFill>
              </a:rPr>
              <a:t>*Après 271 Md¥ de dépréciations et de pertes de cession (AM/NS Calvert, Usiminas). Exercice clos le 31 mars (ex. 2025 = avr. 2025-mars 2026). Données par action après la division par cinq. Sources : documents Nippon Steel ex. 2025 et T1 ex. 2026.</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07  VARIANT PERCEPTION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Là où nous divergeons du marché</a:t>
            </a:r>
            <a:endParaRPr lang="en-US" sz="2600" dirty="0"/>
          </a:p>
        </p:txBody>
      </p:sp>
      <p:sp>
        <p:nvSpPr>
          <p:cNvPr id="4" name="Text 2"/>
          <p:cNvSpPr txBox="1"/>
          <p:nvPr/>
        </p:nvSpPr>
        <p:spPr>
          <a:xfrm>
            <a:off x="548640" y="1645920"/>
            <a:ext cx="5364328" cy="320040"/>
          </a:xfrm>
          <a:prstGeom prst="rect">
            <a:avLst/>
          </a:prstGeom>
          <a:noFill/>
          <a:ln/>
        </p:spPr>
        <p:txBody>
          <a:bodyPr wrap="square" lIns="0" tIns="0" rIns="0" bIns="0" rtlCol="0" anchor="ctr"/>
          <a:lstStyle/>
          <a:p>
            <a:pPr indent="0" marL="0">
              <a:buNone/>
            </a:pPr>
            <a:r>
              <a:rPr lang="en-US" sz="1200" b="1" spc="100" kern="0" dirty="0">
                <a:solidFill>
                  <a:srgbClr val="5B6660"/>
                </a:solidFill>
              </a:rPr>
              <a:t>CE QUE CROIT LE MARCHÉ</a:t>
            </a:r>
            <a:endParaRPr lang="en-US" sz="1200" dirty="0"/>
          </a:p>
        </p:txBody>
      </p:sp>
      <p:sp>
        <p:nvSpPr>
          <p:cNvPr id="5" name="Text 3"/>
          <p:cNvSpPr txBox="1"/>
          <p:nvPr/>
        </p:nvSpPr>
        <p:spPr>
          <a:xfrm>
            <a:off x="6278728" y="1645920"/>
            <a:ext cx="5364328" cy="320040"/>
          </a:xfrm>
          <a:prstGeom prst="rect">
            <a:avLst/>
          </a:prstGeom>
          <a:noFill/>
          <a:ln/>
        </p:spPr>
        <p:txBody>
          <a:bodyPr wrap="square" lIns="0" tIns="0" rIns="0" bIns="0" rtlCol="0" anchor="ctr"/>
          <a:lstStyle/>
          <a:p>
            <a:pPr indent="0" marL="0">
              <a:buNone/>
            </a:pPr>
            <a:r>
              <a:rPr lang="en-US" sz="1200" b="1" spc="100" kern="0" dirty="0">
                <a:solidFill>
                  <a:srgbClr val="0E6B4F"/>
                </a:solidFill>
              </a:rPr>
              <a:t>NOTRE LECTURE</a:t>
            </a:r>
            <a:endParaRPr lang="en-US" sz="1200" dirty="0"/>
          </a:p>
        </p:txBody>
      </p:sp>
      <p:sp>
        <p:nvSpPr>
          <p:cNvPr id="6" name="Shape 4"/>
          <p:cNvSpPr/>
          <p:nvPr/>
        </p:nvSpPr>
        <p:spPr>
          <a:xfrm>
            <a:off x="548640" y="2057400"/>
            <a:ext cx="5364328" cy="1203960"/>
          </a:xfrm>
          <a:prstGeom prst="rect">
            <a:avLst/>
          </a:prstGeom>
          <a:solidFill>
            <a:srgbClr val="F2F4F1"/>
          </a:solidFill>
          <a:ln w="12700">
            <a:solidFill>
              <a:srgbClr val="F2F4F1"/>
            </a:solidFill>
            <a:prstDash val="solid"/>
          </a:ln>
        </p:spPr>
        <p:txBody>
          <a:bodyPr/>
          <a:p/>
        </p:txBody>
      </p:sp>
      <p:sp>
        <p:nvSpPr>
          <p:cNvPr id="7" name="Text 5"/>
          <p:cNvSpPr txBox="1"/>
          <p:nvPr/>
        </p:nvSpPr>
        <p:spPr>
          <a:xfrm>
            <a:off x="777240" y="2057400"/>
            <a:ext cx="4907128" cy="1203960"/>
          </a:xfrm>
          <a:prstGeom prst="rect">
            <a:avLst/>
          </a:prstGeom>
          <a:noFill/>
          <a:ln/>
        </p:spPr>
        <p:txBody>
          <a:bodyPr wrap="square" lIns="0" tIns="0" rIns="0" bIns="0" rtlCol="0" anchor="ctr">
            <a:normAutofit/>
          </a:bodyPr>
          <a:lstStyle/>
          <a:p>
            <a:pPr indent="0" marL="0">
              <a:buNone/>
            </a:pPr>
            <a:r>
              <a:rPr lang="en-US" sz="1218" i="1" dirty="0">
                <a:solidFill>
                  <a:srgbClr val="141A17"/>
                </a:solidFill>
              </a:rPr>
              <a:t>« Les exportations chinoises vont continuer d'écraser les marges »</a:t>
            </a:r>
            <a:endParaRPr lang="en-US" sz="1400" dirty="0"/>
          </a:p>
        </p:txBody>
      </p:sp>
      <p:sp>
        <p:nvSpPr>
          <p:cNvPr id="8" name="Shape 6"/>
          <p:cNvSpPr/>
          <p:nvPr/>
        </p:nvSpPr>
        <p:spPr>
          <a:xfrm>
            <a:off x="6278728" y="2057400"/>
            <a:ext cx="5364328" cy="1203960"/>
          </a:xfrm>
          <a:prstGeom prst="rect">
            <a:avLst/>
          </a:prstGeom>
          <a:solidFill>
            <a:srgbClr val="EEF2EF"/>
          </a:solidFill>
          <a:ln w="12700">
            <a:solidFill>
              <a:srgbClr val="D7EBE2"/>
            </a:solidFill>
            <a:prstDash val="solid"/>
          </a:ln>
        </p:spPr>
        <p:txBody>
          <a:bodyPr/>
          <a:p/>
        </p:txBody>
      </p:sp>
      <p:sp>
        <p:nvSpPr>
          <p:cNvPr id="9" name="Text 7"/>
          <p:cNvSpPr txBox="1"/>
          <p:nvPr/>
        </p:nvSpPr>
        <p:spPr>
          <a:xfrm>
            <a:off x="6507328" y="2057400"/>
            <a:ext cx="4907128" cy="1203960"/>
          </a:xfrm>
          <a:prstGeom prst="rect">
            <a:avLst/>
          </a:prstGeom>
          <a:noFill/>
          <a:ln/>
        </p:spPr>
        <p:txBody>
          <a:bodyPr wrap="square" lIns="0" tIns="0" rIns="0" bIns="0" rtlCol="0" anchor="ctr">
            <a:normAutofit/>
          </a:bodyPr>
          <a:lstStyle/>
          <a:p>
            <a:pPr indent="0" marL="0">
              <a:buNone/>
            </a:pPr>
            <a:r>
              <a:rPr lang="en-US" sz="1249" dirty="0">
                <a:solidFill>
                  <a:srgbClr val="141A17"/>
                </a:solidFill>
              </a:rPr>
              <a:t>Elles frappent l'activité au Japon, d'où notre focus sur l'étranger : U.S. Steel vend derrière les droits Section 232 et l'Inde croît avec la demande locale.</a:t>
            </a:r>
            <a:endParaRPr lang="en-US" sz="1300" dirty="0"/>
          </a:p>
        </p:txBody>
      </p:sp>
      <p:sp>
        <p:nvSpPr>
          <p:cNvPr id="10" name="Shape 8"/>
          <p:cNvSpPr/>
          <p:nvPr/>
        </p:nvSpPr>
        <p:spPr>
          <a:xfrm>
            <a:off x="548640" y="3398520"/>
            <a:ext cx="5364328" cy="1203960"/>
          </a:xfrm>
          <a:prstGeom prst="rect">
            <a:avLst/>
          </a:prstGeom>
          <a:solidFill>
            <a:srgbClr val="F2F4F1"/>
          </a:solidFill>
          <a:ln w="12700">
            <a:solidFill>
              <a:srgbClr val="F2F4F1"/>
            </a:solidFill>
            <a:prstDash val="solid"/>
          </a:ln>
        </p:spPr>
        <p:txBody>
          <a:bodyPr/>
          <a:p/>
        </p:txBody>
      </p:sp>
      <p:sp>
        <p:nvSpPr>
          <p:cNvPr id="11" name="Text 9"/>
          <p:cNvSpPr txBox="1"/>
          <p:nvPr/>
        </p:nvSpPr>
        <p:spPr>
          <a:xfrm>
            <a:off x="777240" y="3398520"/>
            <a:ext cx="4907128" cy="1203960"/>
          </a:xfrm>
          <a:prstGeom prst="rect">
            <a:avLst/>
          </a:prstGeom>
          <a:noFill/>
          <a:ln/>
        </p:spPr>
        <p:txBody>
          <a:bodyPr wrap="square" lIns="0" tIns="0" rIns="0" bIns="0" rtlCol="0" anchor="ctr">
            <a:normAutofit/>
          </a:bodyPr>
          <a:lstStyle/>
          <a:p>
            <a:pPr indent="0" marL="0">
              <a:buNone/>
            </a:pPr>
            <a:r>
              <a:rPr lang="en-US" sz="1265" i="1" dirty="0">
                <a:solidFill>
                  <a:srgbClr val="141A17"/>
                </a:solidFill>
              </a:rPr>
              <a:t>« U.S. Steel a été payée trop cher et reste sous contrainte politique »</a:t>
            </a:r>
            <a:endParaRPr lang="en-US" sz="1400" dirty="0"/>
          </a:p>
        </p:txBody>
      </p:sp>
      <p:sp>
        <p:nvSpPr>
          <p:cNvPr id="12" name="Shape 10"/>
          <p:cNvSpPr/>
          <p:nvPr/>
        </p:nvSpPr>
        <p:spPr>
          <a:xfrm>
            <a:off x="6278728" y="3398520"/>
            <a:ext cx="5364328" cy="1203960"/>
          </a:xfrm>
          <a:prstGeom prst="rect">
            <a:avLst/>
          </a:prstGeom>
          <a:solidFill>
            <a:srgbClr val="EEF2EF"/>
          </a:solidFill>
          <a:ln w="12700">
            <a:solidFill>
              <a:srgbClr val="D7EBE2"/>
            </a:solidFill>
            <a:prstDash val="solid"/>
          </a:ln>
        </p:spPr>
        <p:txBody>
          <a:bodyPr/>
          <a:p/>
        </p:txBody>
      </p:sp>
      <p:sp>
        <p:nvSpPr>
          <p:cNvPr id="13" name="Text 11"/>
          <p:cNvSpPr txBox="1"/>
          <p:nvPr/>
        </p:nvSpPr>
        <p:spPr>
          <a:xfrm>
            <a:off x="6507328" y="3398520"/>
            <a:ext cx="4907128" cy="1203960"/>
          </a:xfrm>
          <a:prstGeom prst="rect">
            <a:avLst/>
          </a:prstGeom>
          <a:noFill/>
          <a:ln/>
        </p:spPr>
        <p:txBody>
          <a:bodyPr wrap="square" lIns="0" tIns="0" rIns="0" bIns="0" rtlCol="0" anchor="ctr">
            <a:normAutofit/>
          </a:bodyPr>
          <a:lstStyle/>
          <a:p>
            <a:pPr indent="0" marL="0">
              <a:buNone/>
            </a:pPr>
            <a:r>
              <a:rPr lang="en-US" sz="1242" dirty="0">
                <a:solidFill>
                  <a:srgbClr val="141A17"/>
                </a:solidFill>
              </a:rPr>
              <a:t>La golden share limite les fermetures, mais la guidance ex. 2026 suppose déjà U.S. Steel à ≥ 180 Md¥ après la réfection de Gary.</a:t>
            </a:r>
            <a:endParaRPr lang="en-US" sz="1300" dirty="0"/>
          </a:p>
        </p:txBody>
      </p:sp>
      <p:sp>
        <p:nvSpPr>
          <p:cNvPr id="14" name="Shape 12"/>
          <p:cNvSpPr/>
          <p:nvPr/>
        </p:nvSpPr>
        <p:spPr>
          <a:xfrm>
            <a:off x="548640" y="4739640"/>
            <a:ext cx="5364328" cy="1203960"/>
          </a:xfrm>
          <a:prstGeom prst="rect">
            <a:avLst/>
          </a:prstGeom>
          <a:solidFill>
            <a:srgbClr val="F2F4F1"/>
          </a:solidFill>
          <a:ln w="12700">
            <a:solidFill>
              <a:srgbClr val="F2F4F1"/>
            </a:solidFill>
            <a:prstDash val="solid"/>
          </a:ln>
        </p:spPr>
        <p:txBody>
          <a:bodyPr/>
          <a:p/>
        </p:txBody>
      </p:sp>
      <p:sp>
        <p:nvSpPr>
          <p:cNvPr id="15" name="Text 13"/>
          <p:cNvSpPr txBox="1"/>
          <p:nvPr/>
        </p:nvSpPr>
        <p:spPr>
          <a:xfrm>
            <a:off x="777240" y="4739640"/>
            <a:ext cx="4907128" cy="1203960"/>
          </a:xfrm>
          <a:prstGeom prst="rect">
            <a:avLst/>
          </a:prstGeom>
          <a:noFill/>
          <a:ln/>
        </p:spPr>
        <p:txBody>
          <a:bodyPr wrap="square" lIns="0" tIns="0" rIns="0" bIns="0" rtlCol="0" anchor="ctr">
            <a:normAutofit/>
          </a:bodyPr>
          <a:lstStyle/>
          <a:p>
            <a:pPr indent="0" marL="0">
              <a:buNone/>
            </a:pPr>
            <a:r>
              <a:rPr lang="en-US" sz="1400" i="1" dirty="0">
                <a:solidFill>
                  <a:srgbClr val="141A17"/>
                </a:solidFill>
              </a:rPr>
              <a:t>« Le bilan est tendu »</a:t>
            </a:r>
            <a:endParaRPr lang="en-US" sz="1400" dirty="0"/>
          </a:p>
        </p:txBody>
      </p:sp>
      <p:sp>
        <p:nvSpPr>
          <p:cNvPr id="16" name="Shape 14"/>
          <p:cNvSpPr/>
          <p:nvPr/>
        </p:nvSpPr>
        <p:spPr>
          <a:xfrm>
            <a:off x="6278728" y="4739640"/>
            <a:ext cx="5364328" cy="1203960"/>
          </a:xfrm>
          <a:prstGeom prst="rect">
            <a:avLst/>
          </a:prstGeom>
          <a:solidFill>
            <a:srgbClr val="EEF2EF"/>
          </a:solidFill>
          <a:ln w="12700">
            <a:solidFill>
              <a:srgbClr val="D7EBE2"/>
            </a:solidFill>
            <a:prstDash val="solid"/>
          </a:ln>
        </p:spPr>
        <p:txBody>
          <a:bodyPr/>
          <a:p/>
        </p:txBody>
      </p:sp>
      <p:sp>
        <p:nvSpPr>
          <p:cNvPr id="17" name="Text 15"/>
          <p:cNvSpPr txBox="1"/>
          <p:nvPr/>
        </p:nvSpPr>
        <p:spPr>
          <a:xfrm>
            <a:off x="6507328" y="4739640"/>
            <a:ext cx="4907128" cy="1203960"/>
          </a:xfrm>
          <a:prstGeom prst="rect">
            <a:avLst/>
          </a:prstGeom>
          <a:noFill/>
          <a:ln/>
        </p:spPr>
        <p:txBody>
          <a:bodyPr wrap="square" lIns="0" tIns="0" rIns="0" bIns="0" rtlCol="0" anchor="ctr">
            <a:normAutofit/>
          </a:bodyPr>
          <a:lstStyle/>
          <a:p>
            <a:pPr indent="0" marL="0">
              <a:buNone/>
            </a:pPr>
            <a:r>
              <a:rPr lang="en-US" sz="1212" dirty="0">
                <a:solidFill>
                  <a:srgbClr val="141A17"/>
                </a:solidFill>
              </a:rPr>
              <a:t>Le D/E ajusté est de 0,71 et la dette est désormais longue ; le PDG juge ~1,0 acceptable en période d'investissement lourd.</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08  VALORISATION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73" b="1" dirty="0">
                <a:solidFill>
                  <a:schemeClr val="tx1"/>
                </a:solidFill>
              </a:rPr>
              <a:t>Valeur centrale 916 ¥ par action, +39 % vs aujourd'hui</a:t>
            </a:r>
            <a:endParaRPr lang="en-US" sz="2600" dirty="0"/>
          </a:p>
        </p:txBody>
      </p:sp>
      <p:sp>
        <p:nvSpPr>
          <p:cNvPr id="4" name="Text 2"/>
          <p:cNvSpPr txBox="1"/>
          <p:nvPr/>
        </p:nvSpPr>
        <p:spPr>
          <a:xfrm>
            <a:off x="548640" y="1325880"/>
            <a:ext cx="11094415" cy="274320"/>
          </a:xfrm>
          <a:prstGeom prst="rect">
            <a:avLst/>
          </a:prstGeom>
          <a:noFill/>
          <a:ln/>
        </p:spPr>
        <p:txBody>
          <a:bodyPr wrap="square" lIns="0" tIns="0" rIns="0" bIns="0" rtlCol="0" anchor="ctr"/>
          <a:lstStyle/>
          <a:p>
            <a:pPr indent="0" marL="0">
              <a:buNone/>
            </a:pPr>
            <a:r>
              <a:rPr lang="en-US" sz="1118" b="1" dirty="0">
                <a:solidFill>
                  <a:srgbClr val="0E6B4F"/>
                </a:solidFill>
              </a:rPr>
              <a:t>Méthode : Multiple des fonds propres selon la trajectoire de rentabilité</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583680" cy="914400"/>
        </p:xfrm>
        <a:graphic>
          <a:graphicData uri="http://schemas.openxmlformats.org/drawingml/2006/table">
            <a:tbl>
              <a:tblPr/>
              <a:tblGrid>
                <a:gridCol w="1097280"/>
                <a:gridCol w="3291840"/>
                <a:gridCol w="1234440"/>
                <a:gridCol w="960120"/>
              </a:tblGrid>
              <a:tr h="384048">
                <a:tc>
                  <a:txBody>
                    <a:bodyPr/>
                    <a:lstStyle/>
                    <a:p>
                      <a:pPr indent="0" marL="0">
                        <a:buNone/>
                      </a:pPr>
                      <a:r>
                        <a:rPr lang="en-US" sz="1300" b="1" dirty="0">
                          <a:solidFill>
                            <a:srgbClr val="FFFFFF"/>
                          </a:solidFill>
                          <a:latin typeface="Arial" pitchFamily="34" charset="0"/>
                          <a:ea typeface="Arial" pitchFamily="34" charset="-122"/>
                          <a:cs typeface="Arial" pitchFamily="34" charset="-120"/>
                        </a:rPr>
                        <a:t>Scénario</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Hypothèses</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Valeur / action</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vs cours</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Pessimiste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0,45x les fonds propres (1221 ¥ par action)</a:t>
                      </a:r>
                      <a:endParaRPr lang="en-US" sz="1100" dirty="0">
                        <a:latin typeface="Arial" charset="0"/>
                        <a:ea typeface="Arial" charset="0"/>
                        <a:cs typeface="Arial" charset="0"/>
                      </a:endParaRPr>
                    </a:p>
                    <a:p>
                      <a:pPr indent="0" marL="0">
                        <a:buNone/>
                      </a:pPr>
                      <a:r>
                        <a:rPr lang="en-US" sz="945" dirty="0">
                          <a:solidFill>
                            <a:srgbClr val="2A322E"/>
                          </a:solidFill>
                          <a:latin typeface="Arial" pitchFamily="34" charset="0"/>
                          <a:ea typeface="Arial" pitchFamily="34" charset="-122"/>
                          <a:cs typeface="Arial" pitchFamily="34" charset="-120"/>
                        </a:rPr>
                        <a:t>Le redressement d'U.S. Steel cale ; augmentation de capital</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549 ¥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B23A2E"/>
                          </a:solidFill>
                          <a:latin typeface="Arial" pitchFamily="34" charset="0"/>
                          <a:ea typeface="Arial" pitchFamily="34" charset="-122"/>
                          <a:cs typeface="Arial" pitchFamily="34" charset="-120"/>
                        </a:rPr>
                        <a:t>−17 %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Central</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0,75x les fonds propres (1221 ¥ par action)</a:t>
                      </a:r>
                      <a:endParaRPr lang="en-US" sz="1100" dirty="0">
                        <a:latin typeface="Arial" charset="0"/>
                        <a:ea typeface="Arial" charset="0"/>
                        <a:cs typeface="Arial" charset="0"/>
                      </a:endParaRPr>
                    </a:p>
                    <a:p>
                      <a:pPr indent="0" marL="0">
                        <a:buNone/>
                      </a:pPr>
                      <a:r>
                        <a:rPr lang="en-US" sz="1100" dirty="0">
                          <a:solidFill>
                            <a:srgbClr val="2A322E"/>
                          </a:solidFill>
                          <a:latin typeface="Arial" pitchFamily="34" charset="0"/>
                          <a:ea typeface="Arial" pitchFamily="34" charset="-122"/>
                          <a:cs typeface="Arial" pitchFamily="34" charset="-120"/>
                        </a:rPr>
                        <a:t>Guidance 2026 tenue ; rythme S2 ≥ 900 Md¥</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916 ¥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0E6B4F"/>
                          </a:solidFill>
                          <a:latin typeface="Arial" pitchFamily="34" charset="0"/>
                          <a:ea typeface="Arial" pitchFamily="34" charset="-122"/>
                          <a:cs typeface="Arial" pitchFamily="34" charset="-120"/>
                        </a:rPr>
                        <a:t>+39 %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Optimiste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0,95x les fonds propres (1221 ¥ par action)</a:t>
                      </a:r>
                      <a:endParaRPr lang="en-US" sz="1100" dirty="0">
                        <a:latin typeface="Arial" charset="0"/>
                        <a:ea typeface="Arial" charset="0"/>
                        <a:cs typeface="Arial" charset="0"/>
                      </a:endParaRPr>
                    </a:p>
                    <a:p>
                      <a:pPr indent="0" marL="0">
                        <a:buNone/>
                      </a:pPr>
                      <a:r>
                        <a:rPr lang="en-US" sz="988" dirty="0">
                          <a:solidFill>
                            <a:srgbClr val="2A322E"/>
                          </a:solidFill>
                          <a:latin typeface="Arial" pitchFamily="34" charset="0"/>
                          <a:ea typeface="Arial" pitchFamily="34" charset="-122"/>
                          <a:cs typeface="Arial" pitchFamily="34" charset="-120"/>
                        </a:rPr>
                        <a:t>Sur la voie de ≥ 1 000 Md¥ et d'un ROE ~10 % en 2030</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1160 ¥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0E6B4F"/>
                          </a:solidFill>
                          <a:latin typeface="Arial" pitchFamily="34" charset="0"/>
                          <a:ea typeface="Arial" pitchFamily="34" charset="-122"/>
                          <a:cs typeface="Arial" pitchFamily="34" charset="-120"/>
                        </a:rPr>
                        <a:t>+76 %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bl>
          </a:graphicData>
        </a:graphic>
      </p:graphicFrame>
      <p:sp>
        <p:nvSpPr>
          <p:cNvPr id="6" name="Text 3"/>
          <p:cNvSpPr txBox="1"/>
          <p:nvPr/>
        </p:nvSpPr>
        <p:spPr>
          <a:xfrm>
            <a:off x="548640" y="4754880"/>
            <a:ext cx="6583680" cy="1234440"/>
          </a:xfrm>
          <a:prstGeom prst="rect">
            <a:avLst/>
          </a:prstGeom>
          <a:noFill/>
          <a:ln/>
        </p:spPr>
        <p:txBody>
          <a:bodyPr wrap="square" lIns="0" tIns="0" rIns="0" bIns="0" rtlCol="0" anchor="t">
            <a:normAutofit/>
          </a:bodyPr>
          <a:lstStyle/>
          <a:p>
            <a:pPr indent="0" marL="0">
              <a:buNone/>
            </a:pPr>
            <a:r>
              <a:rPr lang="en-US" sz="1058" dirty="0">
                <a:solidFill>
                  <a:srgbClr val="2A322E"/>
                </a:solidFill>
              </a:rPr>
              <a:t>Les sidérurgistes se valorisent sur leurs fonds propres, ajustés de leur rentabilité. Le plan 2030 vise un ROE d'environ 10 %, ce qui justifierait environ 1x les fonds propres ; le ROE de l'exercice 2025 était de 0,3 %. Nous appliquons 0,45x (pas de redressement), 0,75x (guidance 2026 tenue) et 0,95x (trajectoire du plan 2030) aux fonds propres par action implicites dans le P/B tiers de 0,54x.</a:t>
            </a:r>
            <a:endParaRPr lang="en-US" sz="1200" dirty="0"/>
          </a:p>
        </p:txBody>
      </p:sp>
      <p:sp>
        <p:nvSpPr>
          <p:cNvPr id="7" name="Text 4"/>
          <p:cNvSpPr txBox="1"/>
          <p:nvPr/>
        </p:nvSpPr>
        <p:spPr>
          <a:xfrm>
            <a:off x="7406640" y="1645920"/>
            <a:ext cx="4206240" cy="320040"/>
          </a:xfrm>
          <a:prstGeom prst="rect">
            <a:avLst/>
          </a:prstGeom>
          <a:noFill/>
          <a:ln/>
        </p:spPr>
        <p:txBody>
          <a:bodyPr wrap="square" lIns="0" tIns="0" rIns="0" bIns="0" rtlCol="0" anchor="ctr"/>
          <a:lstStyle/>
          <a:p>
            <a:pPr indent="0" marL="0">
              <a:buNone/>
            </a:pPr>
            <a:r>
              <a:rPr lang="en-US" sz="1300" b="1" dirty="0">
                <a:solidFill>
                  <a:srgbClr val="141A17"/>
                </a:solidFill>
              </a:rPr>
              <a:t>Fourchette de valorisation</a:t>
            </a:r>
            <a:endParaRPr lang="en-US" sz="1300" dirty="0"/>
          </a:p>
        </p:txBody>
      </p:sp>
      <p:sp>
        <p:nvSpPr>
          <p:cNvPr id="8" name="Text 5"/>
          <p:cNvSpPr txBox="1"/>
          <p:nvPr/>
        </p:nvSpPr>
        <p:spPr>
          <a:xfrm>
            <a:off x="7406640" y="2240280"/>
            <a:ext cx="4206240" cy="256032"/>
          </a:xfrm>
          <a:prstGeom prst="rect">
            <a:avLst/>
          </a:prstGeom>
          <a:noFill/>
          <a:ln/>
        </p:spPr>
        <p:txBody>
          <a:bodyPr wrap="square" lIns="0" tIns="0" rIns="0" bIns="0" rtlCol="0" anchor="ctr"/>
          <a:lstStyle/>
          <a:p>
            <a:pPr indent="0" marL="0">
              <a:buNone/>
            </a:pPr>
            <a:r>
              <a:rPr lang="en-US" sz="1100" dirty="0">
                <a:solidFill>
                  <a:srgbClr val="5B6660"/>
                </a:solidFill>
              </a:rPr>
              <a:t>Plage 52 semaines</a:t>
            </a:r>
            <a:endParaRPr lang="en-US" sz="1100" dirty="0"/>
          </a:p>
        </p:txBody>
      </p:sp>
      <p:sp>
        <p:nvSpPr>
          <p:cNvPr id="9" name="Shape 6"/>
          <p:cNvSpPr/>
          <p:nvPr/>
        </p:nvSpPr>
        <p:spPr>
          <a:xfrm>
            <a:off x="7982862" y="2542032"/>
            <a:ext cx="929291" cy="310896"/>
          </a:xfrm>
          <a:prstGeom prst="rect">
            <a:avLst/>
          </a:prstGeom>
          <a:solidFill>
            <a:srgbClr val="9AAAA2"/>
          </a:solidFill>
          <a:ln w="12700">
            <a:solidFill>
              <a:srgbClr val="9AAAA2"/>
            </a:solidFill>
            <a:prstDash val="solid"/>
          </a:ln>
        </p:spPr>
        <p:txBody>
          <a:bodyPr/>
          <a:p/>
        </p:txBody>
      </p:sp>
      <p:sp>
        <p:nvSpPr>
          <p:cNvPr id="10" name="Text 7"/>
          <p:cNvSpPr txBox="1"/>
          <p:nvPr/>
        </p:nvSpPr>
        <p:spPr>
          <a:xfrm>
            <a:off x="7406640" y="2880360"/>
            <a:ext cx="4206240" cy="228600"/>
          </a:xfrm>
          <a:prstGeom prst="rect">
            <a:avLst/>
          </a:prstGeom>
          <a:noFill/>
          <a:ln/>
        </p:spPr>
        <p:txBody>
          <a:bodyPr wrap="square" lIns="0" tIns="0" rIns="0" bIns="0" rtlCol="0" anchor="ctr"/>
          <a:lstStyle/>
          <a:p>
            <a:pPr indent="0" marL="0">
              <a:buNone/>
            </a:pPr>
            <a:r>
              <a:rPr lang="en-US" sz="1000" dirty="0">
                <a:solidFill>
                  <a:srgbClr val="141A17"/>
                </a:solidFill>
              </a:rPr>
              <a:t>531 ¥ - 719 ¥</a:t>
            </a:r>
            <a:endParaRPr lang="en-US" sz="1000" dirty="0"/>
          </a:p>
        </p:txBody>
      </p:sp>
      <p:sp>
        <p:nvSpPr>
          <p:cNvPr id="11" name="Shape 8"/>
          <p:cNvSpPr/>
          <p:nvPr/>
        </p:nvSpPr>
        <p:spPr>
          <a:xfrm>
            <a:off x="8619031" y="2478024"/>
            <a:ext cx="0" cy="438912"/>
          </a:xfrm>
          <a:prstGeom prst="line">
            <a:avLst/>
          </a:prstGeom>
          <a:noFill/>
          <a:ln w="25400">
            <a:solidFill>
              <a:srgbClr val="141A17"/>
            </a:solidFill>
            <a:prstDash val="solid"/>
          </a:ln>
        </p:spPr>
        <p:txBody>
          <a:bodyPr/>
          <a:p/>
        </p:txBody>
      </p:sp>
      <p:sp>
        <p:nvSpPr>
          <p:cNvPr id="12" name="Shape 9"/>
          <p:cNvSpPr/>
          <p:nvPr/>
        </p:nvSpPr>
        <p:spPr>
          <a:xfrm>
            <a:off x="9886227" y="2478024"/>
            <a:ext cx="0" cy="438912"/>
          </a:xfrm>
          <a:prstGeom prst="line">
            <a:avLst/>
          </a:prstGeom>
          <a:noFill/>
          <a:ln w="25400">
            <a:solidFill>
              <a:srgbClr val="0E6B4F"/>
            </a:solidFill>
            <a:prstDash val="dash"/>
          </a:ln>
        </p:spPr>
        <p:txBody>
          <a:bodyPr/>
          <a:p/>
        </p:txBody>
      </p:sp>
      <p:sp>
        <p:nvSpPr>
          <p:cNvPr id="13" name="Text 10"/>
          <p:cNvSpPr txBox="1"/>
          <p:nvPr/>
        </p:nvSpPr>
        <p:spPr>
          <a:xfrm>
            <a:off x="7406640" y="3200400"/>
            <a:ext cx="4206240" cy="256032"/>
          </a:xfrm>
          <a:prstGeom prst="rect">
            <a:avLst/>
          </a:prstGeom>
          <a:noFill/>
          <a:ln/>
        </p:spPr>
        <p:txBody>
          <a:bodyPr wrap="square" lIns="0" tIns="0" rIns="0" bIns="0" rtlCol="0" anchor="ctr"/>
          <a:lstStyle/>
          <a:p>
            <a:pPr indent="0" marL="0">
              <a:buNone/>
            </a:pPr>
            <a:r>
              <a:rPr lang="en-US" sz="998" dirty="0">
                <a:solidFill>
                  <a:srgbClr val="5B6660"/>
                </a:solidFill>
              </a:rPr>
              <a:t>Scénarios (pessimiste - optimiste)</a:t>
            </a:r>
            <a:endParaRPr lang="en-US" sz="1100" dirty="0"/>
          </a:p>
        </p:txBody>
      </p:sp>
      <p:sp>
        <p:nvSpPr>
          <p:cNvPr id="14" name="Shape 11"/>
          <p:cNvSpPr/>
          <p:nvPr/>
        </p:nvSpPr>
        <p:spPr>
          <a:xfrm>
            <a:off x="8075939" y="3502152"/>
            <a:ext cx="3017081" cy="310896"/>
          </a:xfrm>
          <a:prstGeom prst="rect">
            <a:avLst/>
          </a:prstGeom>
          <a:solidFill>
            <a:srgbClr val="0E6B4F"/>
          </a:solidFill>
          <a:ln w="12700">
            <a:solidFill>
              <a:srgbClr val="0E6B4F"/>
            </a:solidFill>
            <a:prstDash val="solid"/>
          </a:ln>
        </p:spPr>
        <p:txBody>
          <a:bodyPr/>
          <a:p/>
        </p:txBody>
      </p:sp>
      <p:sp>
        <p:nvSpPr>
          <p:cNvPr id="15" name="Text 12"/>
          <p:cNvSpPr txBox="1"/>
          <p:nvPr/>
        </p:nvSpPr>
        <p:spPr>
          <a:xfrm>
            <a:off x="7406640" y="3840480"/>
            <a:ext cx="4206240" cy="228600"/>
          </a:xfrm>
          <a:prstGeom prst="rect">
            <a:avLst/>
          </a:prstGeom>
          <a:noFill/>
          <a:ln/>
        </p:spPr>
        <p:txBody>
          <a:bodyPr wrap="square" lIns="0" tIns="0" rIns="0" bIns="0" rtlCol="0" anchor="ctr"/>
          <a:lstStyle/>
          <a:p>
            <a:pPr indent="0" marL="0">
              <a:buNone/>
            </a:pPr>
            <a:r>
              <a:rPr lang="en-US" sz="1000" dirty="0">
                <a:solidFill>
                  <a:srgbClr val="141A17"/>
                </a:solidFill>
              </a:rPr>
              <a:t>549 ¥ - 1160 ¥</a:t>
            </a:r>
            <a:endParaRPr lang="en-US" sz="1000" dirty="0"/>
          </a:p>
        </p:txBody>
      </p:sp>
      <p:sp>
        <p:nvSpPr>
          <p:cNvPr id="16" name="Shape 13"/>
          <p:cNvSpPr/>
          <p:nvPr/>
        </p:nvSpPr>
        <p:spPr>
          <a:xfrm>
            <a:off x="8619031" y="3438144"/>
            <a:ext cx="0" cy="438912"/>
          </a:xfrm>
          <a:prstGeom prst="line">
            <a:avLst/>
          </a:prstGeom>
          <a:noFill/>
          <a:ln w="25400">
            <a:solidFill>
              <a:srgbClr val="141A17"/>
            </a:solidFill>
            <a:prstDash val="solid"/>
          </a:ln>
        </p:spPr>
        <p:txBody>
          <a:bodyPr/>
          <a:p/>
        </p:txBody>
      </p:sp>
      <p:sp>
        <p:nvSpPr>
          <p:cNvPr id="17" name="Shape 14"/>
          <p:cNvSpPr/>
          <p:nvPr/>
        </p:nvSpPr>
        <p:spPr>
          <a:xfrm>
            <a:off x="9886227" y="3438144"/>
            <a:ext cx="0" cy="438912"/>
          </a:xfrm>
          <a:prstGeom prst="line">
            <a:avLst/>
          </a:prstGeom>
          <a:noFill/>
          <a:ln w="25400">
            <a:solidFill>
              <a:srgbClr val="0E6B4F"/>
            </a:solidFill>
            <a:prstDash val="dash"/>
          </a:ln>
        </p:spPr>
        <p:txBody>
          <a:bodyPr/>
          <a:p/>
        </p:txBody>
      </p:sp>
      <p:sp>
        <p:nvSpPr>
          <p:cNvPr id="18" name="Text 15"/>
          <p:cNvSpPr txBox="1"/>
          <p:nvPr/>
        </p:nvSpPr>
        <p:spPr>
          <a:xfrm>
            <a:off x="7796071" y="4114800"/>
            <a:ext cx="1645920" cy="256032"/>
          </a:xfrm>
          <a:prstGeom prst="rect">
            <a:avLst/>
          </a:prstGeom>
          <a:noFill/>
          <a:ln/>
        </p:spPr>
        <p:txBody>
          <a:bodyPr wrap="square" lIns="0" tIns="0" rIns="0" bIns="0" rtlCol="0" anchor="ctr"/>
          <a:lstStyle/>
          <a:p>
            <a:pPr algn="ctr" indent="0" marL="0">
              <a:buNone/>
            </a:pPr>
            <a:r>
              <a:rPr lang="en-US" sz="1000" b="1" dirty="0">
                <a:solidFill>
                  <a:srgbClr val="141A17"/>
                </a:solidFill>
              </a:rPr>
              <a:t>│ Cours 659 ¥</a:t>
            </a:r>
            <a:endParaRPr lang="en-US" sz="1000" dirty="0"/>
          </a:p>
        </p:txBody>
      </p:sp>
      <p:sp>
        <p:nvSpPr>
          <p:cNvPr id="19" name="Text 16"/>
          <p:cNvSpPr txBox="1"/>
          <p:nvPr/>
        </p:nvSpPr>
        <p:spPr>
          <a:xfrm>
            <a:off x="9063267" y="4389120"/>
            <a:ext cx="1645920" cy="256032"/>
          </a:xfrm>
          <a:prstGeom prst="rect">
            <a:avLst/>
          </a:prstGeom>
          <a:noFill/>
          <a:ln/>
        </p:spPr>
        <p:txBody>
          <a:bodyPr wrap="square" lIns="0" tIns="0" rIns="0" bIns="0" rtlCol="0" anchor="ctr"/>
          <a:lstStyle/>
          <a:p>
            <a:pPr algn="ctr" indent="0" marL="0">
              <a:buNone/>
            </a:pPr>
            <a:r>
              <a:rPr lang="en-US" sz="1000" b="1" dirty="0">
                <a:solidFill>
                  <a:srgbClr val="0E6B4F"/>
                </a:solidFill>
              </a:rPr>
              <a:t>┆ Scénario central 916 ¥</a:t>
            </a:r>
            <a:endParaRPr lang="en-US" sz="1000" dirty="0"/>
          </a:p>
        </p:txBody>
      </p:sp>
      <p:sp>
        <p:nvSpPr>
          <p:cNvPr id="20" name="Text 17"/>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30" i="1" dirty="0">
                <a:solidFill>
                  <a:schemeClr val="tx2"/>
                </a:solidFill>
              </a:rPr>
              <a:t>Source : valorisation propre ; plage 52 semaines et consensus issus de données tierces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09  CATALYSEURS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6" b="1" dirty="0">
                <a:solidFill>
                  <a:schemeClr val="tx1"/>
                </a:solidFill>
              </a:rPr>
              <a:t>Ce qui peut faire bouger le titre dans les 12-18 prochains mois</a:t>
            </a:r>
            <a:endParaRPr lang="en-US" sz="2600" dirty="0"/>
          </a:p>
        </p:txBody>
      </p:sp>
      <p:sp>
        <p:nvSpPr>
          <p:cNvPr id="4" name="Shape 2"/>
          <p:cNvSpPr/>
          <p:nvPr/>
        </p:nvSpPr>
        <p:spPr>
          <a:xfrm>
            <a:off x="731520" y="2395728"/>
            <a:ext cx="10728655" cy="0"/>
          </a:xfrm>
          <a:prstGeom prst="line">
            <a:avLst/>
          </a:prstGeom>
          <a:noFill/>
          <a:ln w="25400">
            <a:solidFill>
              <a:srgbClr val="D5DBD6"/>
            </a:solidFill>
            <a:prstDash val="solid"/>
          </a:ln>
        </p:spPr>
        <p:txBody>
          <a:bodyPr/>
          <a:p/>
        </p:txBody>
      </p:sp>
      <p:sp>
        <p:nvSpPr>
          <p:cNvPr id="5" name="Shape 3"/>
          <p:cNvSpPr/>
          <p:nvPr/>
        </p:nvSpPr>
        <p:spPr>
          <a:xfrm>
            <a:off x="640080" y="2240280"/>
            <a:ext cx="310896" cy="310896"/>
          </a:xfrm>
          <a:prstGeom prst="ellipse">
            <a:avLst/>
          </a:prstGeom>
          <a:solidFill>
            <a:srgbClr val="0E6B4F"/>
          </a:solidFill>
          <a:ln w="25400">
            <a:solidFill>
              <a:srgbClr val="FFFFFF"/>
            </a:solidFill>
            <a:prstDash val="solid"/>
          </a:ln>
        </p:spPr>
        <p:txBody>
          <a:bodyPr/>
          <a:p/>
        </p:txBody>
      </p:sp>
      <p:sp>
        <p:nvSpPr>
          <p:cNvPr id="6" name="Text 4"/>
          <p:cNvSpPr txBox="1"/>
          <p:nvPr/>
        </p:nvSpPr>
        <p:spPr>
          <a:xfrm>
            <a:off x="548640"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Début nov. 2026</a:t>
            </a:r>
            <a:endParaRPr lang="en-US" sz="1400" dirty="0"/>
          </a:p>
        </p:txBody>
      </p:sp>
      <p:sp>
        <p:nvSpPr>
          <p:cNvPr id="7" name="Text 5"/>
          <p:cNvSpPr txBox="1"/>
          <p:nvPr/>
        </p:nvSpPr>
        <p:spPr>
          <a:xfrm>
            <a:off x="548640" y="2788920"/>
            <a:ext cx="1990283" cy="1737360"/>
          </a:xfrm>
          <a:prstGeom prst="rect">
            <a:avLst/>
          </a:prstGeom>
          <a:noFill/>
          <a:ln/>
        </p:spPr>
        <p:txBody>
          <a:bodyPr wrap="square" lIns="0" tIns="0" rIns="0" bIns="0" rtlCol="0" anchor="t">
            <a:normAutofit/>
          </a:bodyPr>
          <a:lstStyle/>
          <a:p>
            <a:pPr indent="0" marL="0">
              <a:buNone/>
            </a:pPr>
            <a:r>
              <a:rPr lang="en-US" sz="1322" dirty="0">
                <a:solidFill>
                  <a:srgbClr val="141A17"/>
                </a:solidFill>
              </a:rPr>
              <a:t>Résultats du S1 2026 : le profit sous-jacent atteint-il 250 Md¥ ?</a:t>
            </a:r>
            <a:endParaRPr lang="en-US" sz="1400" dirty="0"/>
          </a:p>
        </p:txBody>
      </p:sp>
      <p:sp>
        <p:nvSpPr>
          <p:cNvPr id="8" name="Shape 6"/>
          <p:cNvSpPr/>
          <p:nvPr/>
        </p:nvSpPr>
        <p:spPr>
          <a:xfrm>
            <a:off x="2858963" y="2240280"/>
            <a:ext cx="310896" cy="310896"/>
          </a:xfrm>
          <a:prstGeom prst="ellipse">
            <a:avLst/>
          </a:prstGeom>
          <a:solidFill>
            <a:srgbClr val="0E6B4F"/>
          </a:solidFill>
          <a:ln w="25400">
            <a:solidFill>
              <a:srgbClr val="FFFFFF"/>
            </a:solidFill>
            <a:prstDash val="solid"/>
          </a:ln>
        </p:spPr>
        <p:txBody>
          <a:bodyPr/>
          <a:p/>
        </p:txBody>
      </p:sp>
      <p:sp>
        <p:nvSpPr>
          <p:cNvPr id="9" name="Text 7"/>
          <p:cNvSpPr txBox="1"/>
          <p:nvPr/>
        </p:nvSpPr>
        <p:spPr>
          <a:xfrm>
            <a:off x="2767523"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S2 2026</a:t>
            </a:r>
            <a:endParaRPr lang="en-US" sz="1400" dirty="0"/>
          </a:p>
        </p:txBody>
      </p:sp>
      <p:sp>
        <p:nvSpPr>
          <p:cNvPr id="10" name="Text 8"/>
          <p:cNvSpPr txBox="1"/>
          <p:nvPr/>
        </p:nvSpPr>
        <p:spPr>
          <a:xfrm>
            <a:off x="2767523" y="2788920"/>
            <a:ext cx="1990283" cy="1737360"/>
          </a:xfrm>
          <a:prstGeom prst="rect">
            <a:avLst/>
          </a:prstGeom>
          <a:noFill/>
          <a:ln/>
        </p:spPr>
        <p:txBody>
          <a:bodyPr wrap="square" lIns="0" tIns="0" rIns="0" bIns="0" rtlCol="0" anchor="t">
            <a:normAutofit/>
          </a:bodyPr>
          <a:lstStyle/>
          <a:p>
            <a:pPr indent="0" marL="0">
              <a:buNone/>
            </a:pPr>
            <a:r>
              <a:rPr lang="en-US" sz="1299" dirty="0">
                <a:solidFill>
                  <a:srgbClr val="141A17"/>
                </a:solidFill>
              </a:rPr>
              <a:t>Retour du haut fourneau de Gary ; montée en cadence de Big River 2 ; laminoir de Nagoya</a:t>
            </a:r>
            <a:endParaRPr lang="en-US" sz="1400" dirty="0"/>
          </a:p>
        </p:txBody>
      </p:sp>
      <p:sp>
        <p:nvSpPr>
          <p:cNvPr id="11" name="Shape 9"/>
          <p:cNvSpPr/>
          <p:nvPr/>
        </p:nvSpPr>
        <p:spPr>
          <a:xfrm>
            <a:off x="5077846" y="2240280"/>
            <a:ext cx="310896" cy="310896"/>
          </a:xfrm>
          <a:prstGeom prst="ellipse">
            <a:avLst/>
          </a:prstGeom>
          <a:solidFill>
            <a:srgbClr val="0E6B4F"/>
          </a:solidFill>
          <a:ln w="25400">
            <a:solidFill>
              <a:srgbClr val="FFFFFF"/>
            </a:solidFill>
            <a:prstDash val="solid"/>
          </a:ln>
        </p:spPr>
        <p:txBody>
          <a:bodyPr/>
          <a:p/>
        </p:txBody>
      </p:sp>
      <p:sp>
        <p:nvSpPr>
          <p:cNvPr id="12" name="Text 10"/>
          <p:cNvSpPr txBox="1"/>
          <p:nvPr/>
        </p:nvSpPr>
        <p:spPr>
          <a:xfrm>
            <a:off x="4986406"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Exercice 2026</a:t>
            </a:r>
            <a:endParaRPr lang="en-US" sz="1400" dirty="0"/>
          </a:p>
        </p:txBody>
      </p:sp>
      <p:sp>
        <p:nvSpPr>
          <p:cNvPr id="13" name="Text 11"/>
          <p:cNvSpPr txBox="1"/>
          <p:nvPr/>
        </p:nvSpPr>
        <p:spPr>
          <a:xfrm>
            <a:off x="4986406" y="2788920"/>
            <a:ext cx="1990283" cy="1737360"/>
          </a:xfrm>
          <a:prstGeom prst="rect">
            <a:avLst/>
          </a:prstGeom>
          <a:noFill/>
          <a:ln/>
        </p:spPr>
        <p:txBody>
          <a:bodyPr wrap="square" lIns="0" tIns="0" rIns="0" bIns="0" rtlCol="0" anchor="t">
            <a:normAutofit/>
          </a:bodyPr>
          <a:lstStyle/>
          <a:p>
            <a:pPr indent="0" marL="0">
              <a:buNone/>
            </a:pPr>
            <a:r>
              <a:rPr lang="en-US" sz="1278" dirty="0">
                <a:solidFill>
                  <a:srgbClr val="141A17"/>
                </a:solidFill>
              </a:rPr>
              <a:t>Cessions d'actifs d'au moins 100 Md¥</a:t>
            </a:r>
            <a:endParaRPr lang="en-US" sz="1400" dirty="0"/>
          </a:p>
        </p:txBody>
      </p:sp>
      <p:sp>
        <p:nvSpPr>
          <p:cNvPr id="14" name="Shape 12"/>
          <p:cNvSpPr/>
          <p:nvPr/>
        </p:nvSpPr>
        <p:spPr>
          <a:xfrm>
            <a:off x="7296729" y="2240280"/>
            <a:ext cx="310896" cy="310896"/>
          </a:xfrm>
          <a:prstGeom prst="ellipse">
            <a:avLst/>
          </a:prstGeom>
          <a:solidFill>
            <a:srgbClr val="0E6B4F"/>
          </a:solidFill>
          <a:ln w="25400">
            <a:solidFill>
              <a:srgbClr val="FFFFFF"/>
            </a:solidFill>
            <a:prstDash val="solid"/>
          </a:ln>
        </p:spPr>
        <p:txBody>
          <a:bodyPr/>
          <a:p/>
        </p:txBody>
      </p:sp>
      <p:sp>
        <p:nvSpPr>
          <p:cNvPr id="15" name="Text 13"/>
          <p:cNvSpPr txBox="1"/>
          <p:nvPr/>
        </p:nvSpPr>
        <p:spPr>
          <a:xfrm>
            <a:off x="7205289"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Mai 2027</a:t>
            </a:r>
            <a:endParaRPr lang="en-US" sz="1400" dirty="0"/>
          </a:p>
        </p:txBody>
      </p:sp>
      <p:sp>
        <p:nvSpPr>
          <p:cNvPr id="16" name="Text 14"/>
          <p:cNvSpPr txBox="1"/>
          <p:nvPr/>
        </p:nvSpPr>
        <p:spPr>
          <a:xfrm>
            <a:off x="7205289" y="2788920"/>
            <a:ext cx="1990283" cy="1737360"/>
          </a:xfrm>
          <a:prstGeom prst="rect">
            <a:avLst/>
          </a:prstGeom>
          <a:noFill/>
          <a:ln/>
        </p:spPr>
        <p:txBody>
          <a:bodyPr wrap="square" lIns="0" tIns="0" rIns="0" bIns="0" rtlCol="0" anchor="t">
            <a:normAutofit/>
          </a:bodyPr>
          <a:lstStyle/>
          <a:p>
            <a:pPr indent="0" marL="0">
              <a:buNone/>
            </a:pPr>
            <a:r>
              <a:rPr lang="en-US" sz="1400" dirty="0">
                <a:solidFill>
                  <a:srgbClr val="141A17"/>
                </a:solidFill>
              </a:rPr>
              <a:t>Résultats 2026 et première prévision 2027</a:t>
            </a:r>
            <a:endParaRPr lang="en-US" sz="1400" dirty="0"/>
          </a:p>
        </p:txBody>
      </p:sp>
      <p:sp>
        <p:nvSpPr>
          <p:cNvPr id="17" name="Shape 15"/>
          <p:cNvSpPr/>
          <p:nvPr/>
        </p:nvSpPr>
        <p:spPr>
          <a:xfrm>
            <a:off x="9515612" y="2240280"/>
            <a:ext cx="310896" cy="310896"/>
          </a:xfrm>
          <a:prstGeom prst="ellipse">
            <a:avLst/>
          </a:prstGeom>
          <a:solidFill>
            <a:srgbClr val="0E6B4F"/>
          </a:solidFill>
          <a:ln w="25400">
            <a:solidFill>
              <a:srgbClr val="FFFFFF"/>
            </a:solidFill>
            <a:prstDash val="solid"/>
          </a:ln>
        </p:spPr>
        <p:txBody>
          <a:bodyPr/>
          <a:p/>
        </p:txBody>
      </p:sp>
      <p:sp>
        <p:nvSpPr>
          <p:cNvPr id="18" name="Text 16"/>
          <p:cNvSpPr txBox="1"/>
          <p:nvPr/>
        </p:nvSpPr>
        <p:spPr>
          <a:xfrm>
            <a:off x="9424172"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2026-2028</a:t>
            </a:r>
            <a:endParaRPr lang="en-US" sz="1400" dirty="0"/>
          </a:p>
        </p:txBody>
      </p:sp>
      <p:sp>
        <p:nvSpPr>
          <p:cNvPr id="19" name="Text 17"/>
          <p:cNvSpPr txBox="1"/>
          <p:nvPr/>
        </p:nvSpPr>
        <p:spPr>
          <a:xfrm>
            <a:off x="9424172" y="2788920"/>
            <a:ext cx="1990283" cy="1737360"/>
          </a:xfrm>
          <a:prstGeom prst="rect">
            <a:avLst/>
          </a:prstGeom>
          <a:noFill/>
          <a:ln/>
        </p:spPr>
        <p:txBody>
          <a:bodyPr wrap="square" lIns="0" tIns="0" rIns="0" bIns="0" rtlCol="0" anchor="t">
            <a:normAutofit/>
          </a:bodyPr>
          <a:lstStyle/>
          <a:p>
            <a:pPr indent="0" marL="0">
              <a:buNone/>
            </a:pPr>
            <a:r>
              <a:rPr lang="en-US" sz="1215" dirty="0">
                <a:solidFill>
                  <a:srgbClr val="141A17"/>
                </a:solidFill>
              </a:rPr>
              <a:t>Les ~7 Md$ restants du programme d'investissement américain de 11 Md$</a:t>
            </a:r>
            <a:endParaRPr lang="en-US" sz="1400" dirty="0"/>
          </a:p>
        </p:txBody>
      </p:sp>
      <p:sp>
        <p:nvSpPr>
          <p:cNvPr id="20" name="Shape 18"/>
          <p:cNvSpPr/>
          <p:nvPr/>
        </p:nvSpPr>
        <p:spPr>
          <a:xfrm>
            <a:off x="548640" y="4800600"/>
            <a:ext cx="11094415" cy="868680"/>
          </a:xfrm>
          <a:prstGeom prst="rect">
            <a:avLst/>
          </a:prstGeom>
          <a:solidFill>
            <a:srgbClr val="F2F4F1"/>
          </a:solidFill>
          <a:ln w="12700">
            <a:solidFill>
              <a:srgbClr val="F2F4F1"/>
            </a:solidFill>
            <a:prstDash val="solid"/>
          </a:ln>
        </p:spPr>
        <p:txBody>
          <a:bodyPr/>
          <a:p/>
        </p:txBody>
      </p:sp>
      <p:sp>
        <p:nvSpPr>
          <p:cNvPr id="21" name="Text 19"/>
          <p:cNvSpPr txBox="1"/>
          <p:nvPr/>
        </p:nvSpPr>
        <p:spPr>
          <a:xfrm>
            <a:off x="822960" y="4800600"/>
            <a:ext cx="10545775" cy="868680"/>
          </a:xfrm>
          <a:prstGeom prst="rect">
            <a:avLst/>
          </a:prstGeom>
          <a:noFill/>
          <a:ln/>
        </p:spPr>
        <p:txBody>
          <a:bodyPr wrap="square" lIns="0" tIns="0" rIns="0" bIns="0" rtlCol="0" anchor="ctr"/>
          <a:lstStyle/>
          <a:p>
            <a:pPr indent="0" marL="0">
              <a:buNone/>
            </a:pPr>
            <a:r>
              <a:rPr lang="en-US" sz="1500" b="1" dirty="0">
                <a:solidFill>
                  <a:srgbClr val="0E6B4F"/>
                </a:solidFill>
              </a:rPr>
              <a:t>Le chiffre à suivre : </a:t>
            </a:r>
            <a:pPr indent="0" marL="0">
              <a:buNone/>
            </a:pPr>
            <a:r>
              <a:rPr lang="en-US" sz="1363" dirty="0">
                <a:solidFill>
                  <a:srgbClr val="141A17"/>
                </a:solidFill>
              </a:rPr>
              <a:t>Profit sous-jacent du S2 2026 nettement sous 900 Md¥ en rythme annuel</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015" b="1" spc="150" kern="0" dirty="0">
                <a:solidFill>
                  <a:schemeClr val="accent1"/>
                </a:solidFill>
              </a:rPr>
              <a:t>10  RISQUES ET DISCIPLINE DE VENTE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39" b="1" dirty="0">
                <a:solidFill>
                  <a:schemeClr val="tx1"/>
                </a:solidFill>
              </a:rPr>
              <a:t>Risques, atténuations et ce qui nous ferait vendre</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766560" cy="914400"/>
        </p:xfrm>
        <a:graphic>
          <a:graphicData uri="http://schemas.openxmlformats.org/drawingml/2006/table">
            <a:tbl>
              <a:tblPr/>
              <a:tblGrid>
                <a:gridCol w="3566160"/>
                <a:gridCol w="3200400"/>
              </a:tblGrid>
              <a:tr h="713232">
                <a:tc>
                  <a:txBody>
                    <a:bodyPr/>
                    <a:lstStyle/>
                    <a:p>
                      <a:pPr indent="0" marL="0">
                        <a:buNone/>
                      </a:pPr>
                      <a:r>
                        <a:rPr lang="en-US" sz="1300" b="1" dirty="0">
                          <a:solidFill>
                            <a:srgbClr val="FFFFFF"/>
                          </a:solidFill>
                          <a:latin typeface="Arial" pitchFamily="34" charset="0"/>
                          <a:ea typeface="Arial" pitchFamily="34" charset="-122"/>
                          <a:cs typeface="Arial" pitchFamily="34" charset="-120"/>
                        </a:rPr>
                        <a:t>Risque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Atténuation</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r>
              <a:tr h="713232">
                <a:tc>
                  <a:txBody>
                    <a:bodyPr/>
                    <a:lstStyle/>
                    <a:p>
                      <a:pPr indent="0" marL="0">
                        <a:buNone/>
                      </a:pPr>
                      <a:r>
                        <a:rPr lang="en-US" sz="1118" b="1" dirty="0">
                          <a:solidFill>
                            <a:srgbClr val="141A17"/>
                          </a:solidFill>
                          <a:latin typeface="Arial" pitchFamily="34" charset="0"/>
                          <a:ea typeface="Arial" pitchFamily="34" charset="-122"/>
                          <a:cs typeface="Arial" pitchFamily="34" charset="-120"/>
                        </a:rPr>
                        <a:t>Exécution chez U.S. Steel et dépassement des investissements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145" dirty="0">
                          <a:solidFill>
                            <a:srgbClr val="2A322E"/>
                          </a:solidFill>
                          <a:latin typeface="Arial" pitchFamily="34" charset="0"/>
                          <a:ea typeface="Arial" pitchFamily="34" charset="-122"/>
                          <a:cs typeface="Arial" pitchFamily="34" charset="-120"/>
                        </a:rPr>
                        <a:t>Protection douanière ; 0,3 Md$ de synergies sur l'ex. 2026</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Levier et dilution des convertibles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86" dirty="0">
                          <a:solidFill>
                            <a:srgbClr val="2A322E"/>
                          </a:solidFill>
                          <a:latin typeface="Arial" pitchFamily="34" charset="0"/>
                          <a:ea typeface="Arial" pitchFamily="34" charset="-122"/>
                          <a:cs typeface="Arial" pitchFamily="34" charset="-120"/>
                        </a:rPr>
                        <a:t>Financement long ; prix de conversion de 730 ¥ et plus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Surcapacités chinoises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300" dirty="0">
                          <a:solidFill>
                            <a:srgbClr val="2A322E"/>
                          </a:solidFill>
                          <a:latin typeface="Arial" pitchFamily="34" charset="0"/>
                          <a:ea typeface="Arial" pitchFamily="34" charset="-122"/>
                          <a:cs typeface="Arial" pitchFamily="34" charset="-120"/>
                        </a:rPr>
                        <a:t>Base de coûts au Japon remise à plat</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230" b="1" dirty="0">
                          <a:solidFill>
                            <a:srgbClr val="141A17"/>
                          </a:solidFill>
                          <a:latin typeface="Arial" pitchFamily="34" charset="0"/>
                          <a:ea typeface="Arial" pitchFamily="34" charset="-122"/>
                          <a:cs typeface="Arial" pitchFamily="34" charset="-120"/>
                        </a:rPr>
                        <a:t>Profit flatté par le yen et les gains sur stocks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18" dirty="0">
                          <a:solidFill>
                            <a:srgbClr val="2A322E"/>
                          </a:solidFill>
                          <a:latin typeface="Arial" pitchFamily="34" charset="0"/>
                          <a:ea typeface="Arial" pitchFamily="34" charset="-122"/>
                          <a:cs typeface="Arial" pitchFamily="34" charset="-120"/>
                        </a:rPr>
                        <a:t>Scénario central sur le rythme opérationnel</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7680960" y="1691640"/>
            <a:ext cx="3962095" cy="4160520"/>
          </a:xfrm>
          <a:prstGeom prst="rect">
            <a:avLst/>
          </a:prstGeom>
          <a:solidFill>
            <a:srgbClr val="FBEDEB"/>
          </a:solidFill>
          <a:ln w="12700">
            <a:solidFill>
              <a:srgbClr val="F2C9C3"/>
            </a:solidFill>
            <a:prstDash val="solid"/>
          </a:ln>
        </p:spPr>
        <p:txBody>
          <a:bodyPr/>
          <a:p/>
        </p:txBody>
      </p:sp>
      <p:sp>
        <p:nvSpPr>
          <p:cNvPr id="6" name="Text 3"/>
          <p:cNvSpPr txBox="1"/>
          <p:nvPr/>
        </p:nvSpPr>
        <p:spPr>
          <a:xfrm>
            <a:off x="7955280" y="1874520"/>
            <a:ext cx="3413455" cy="320040"/>
          </a:xfrm>
          <a:prstGeom prst="rect">
            <a:avLst/>
          </a:prstGeom>
          <a:noFill/>
          <a:ln/>
        </p:spPr>
        <p:txBody>
          <a:bodyPr wrap="square" lIns="0" tIns="0" rIns="0" bIns="0" rtlCol="0" anchor="ctr"/>
          <a:lstStyle/>
          <a:p>
            <a:pPr indent="0" marL="0">
              <a:buNone/>
            </a:pPr>
            <a:r>
              <a:rPr lang="en-US" sz="1200" b="1" spc="100" kern="0" dirty="0">
                <a:solidFill>
                  <a:srgbClr val="B23A2E"/>
                </a:solidFill>
              </a:rPr>
              <a:t>NOUS VENDONS SI</a:t>
            </a:r>
            <a:endParaRPr lang="en-US" sz="1200" dirty="0"/>
          </a:p>
        </p:txBody>
      </p:sp>
      <p:sp>
        <p:nvSpPr>
          <p:cNvPr id="7" name="Text 4"/>
          <p:cNvSpPr txBox="1"/>
          <p:nvPr/>
        </p:nvSpPr>
        <p:spPr>
          <a:xfrm>
            <a:off x="7955280" y="2286000"/>
            <a:ext cx="3413455" cy="338328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272" dirty="0">
                <a:solidFill>
                  <a:srgbClr val="141A17"/>
                </a:solidFill>
              </a:rPr>
              <a:t>Profit sous-jacent du S2 2026 nettement sous 900 Md¥ en rythme annuel</a:t>
            </a:r>
            <a:endParaRPr lang="en-US" sz="1400" dirty="0"/>
          </a:p>
          <a:p>
            <a:pPr marL="342900" indent="-342900">
              <a:spcAft>
                <a:spcPts val="1000"/>
              </a:spcAft>
              <a:buSzPct val="100000"/>
              <a:buChar char="•"/>
            </a:pPr>
            <a:r>
              <a:rPr lang="en-US" sz="1214" dirty="0">
                <a:solidFill>
                  <a:srgbClr val="141A17"/>
                </a:solidFill>
              </a:rPr>
              <a:t>Profit d'U.S. Steel retombant vers zéro, ou dette/fonds propres au-dessus de ~1,0</a:t>
            </a:r>
            <a:endParaRPr lang="en-US" sz="1400" dirty="0"/>
          </a:p>
          <a:p>
            <a:pPr marL="342900" indent="-342900">
              <a:spcAft>
                <a:spcPts val="1000"/>
              </a:spcAft>
              <a:buSzPct val="100000"/>
              <a:buChar char="•"/>
            </a:pPr>
            <a:r>
              <a:rPr lang="en-US" sz="1303" dirty="0">
                <a:solidFill>
                  <a:srgbClr val="141A17"/>
                </a:solidFill>
              </a:rPr>
              <a:t>Baisse du dividende minimum de 24 ¥ ou nouvelles dépréciations à l'étranger</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11  SOURCES ET AVERTISSEMENTS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Sources</a:t>
            </a:r>
            <a:endParaRPr lang="en-US" sz="2600" dirty="0"/>
          </a:p>
        </p:txBody>
      </p:sp>
      <p:sp>
        <p:nvSpPr>
          <p:cNvPr id="4" name="Text 2"/>
          <p:cNvSpPr txBox="1"/>
          <p:nvPr/>
        </p:nvSpPr>
        <p:spPr>
          <a:xfrm>
            <a:off x="548640"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[N1] Nippon Steel Corp., "T1 FY2026 Financial Results" (presentation), 4 Aug 2026</a:t>
            </a:r>
            <a:endParaRPr lang="en-US" sz="1000" dirty="0"/>
          </a:p>
          <a:p>
            <a:pPr indent="0" marL="0">
              <a:spcAft>
                <a:spcPts val="500"/>
              </a:spcAft>
              <a:buNone/>
            </a:pPr>
            <a:r>
              <a:rPr lang="en-US" sz="1000" dirty="0">
                <a:solidFill>
                  <a:srgbClr val="2A322E"/>
                </a:solidFill>
              </a:rPr>
              <a:t>[N2] Nippon Steel Corp., "FY2025 Financial Results" (presentation), 13 May 2026</a:t>
            </a:r>
            <a:endParaRPr lang="en-US" sz="1000" dirty="0"/>
          </a:p>
          <a:p>
            <a:pPr indent="0" marL="0">
              <a:spcAft>
                <a:spcPts val="500"/>
              </a:spcAft>
              <a:buNone/>
            </a:pPr>
            <a:r>
              <a:rPr lang="en-US" sz="1000" dirty="0">
                <a:solidFill>
                  <a:srgbClr val="2A322E"/>
                </a:solidFill>
              </a:rPr>
              <a:t>[N3] Nippon Steel Corp., IR presentation for individual investors, 23 Jun 2026 (not read in full)</a:t>
            </a:r>
            <a:endParaRPr lang="en-US" sz="1000" dirty="0"/>
          </a:p>
          <a:p>
            <a:pPr indent="0" marL="0">
              <a:spcAft>
                <a:spcPts val="500"/>
              </a:spcAft>
              <a:buNone/>
            </a:pPr>
            <a:r>
              <a:rPr lang="en-US" sz="1000" dirty="0">
                <a:solidFill>
                  <a:srgbClr val="2A322E"/>
                </a:solidFill>
              </a:rPr>
              <a:t>[N4] Nippon Steel Corp., 2030 Medium- to Long-term Management Plan, 12 Dec 2025</a:t>
            </a:r>
            <a:endParaRPr lang="en-US" sz="1000" dirty="0"/>
          </a:p>
          <a:p>
            <a:pPr indent="0" marL="0">
              <a:spcAft>
                <a:spcPts val="500"/>
              </a:spcAft>
              <a:buNone/>
            </a:pPr>
            <a:r>
              <a:rPr lang="en-US" sz="1000" dirty="0">
                <a:solidFill>
                  <a:srgbClr val="2A322E"/>
                </a:solidFill>
              </a:rPr>
              <a:t>[N5] Nippon Steel newsroom 2026 (press releases index)</a:t>
            </a:r>
            <a:endParaRPr lang="en-US" sz="1000" dirty="0"/>
          </a:p>
          <a:p>
            <a:pPr indent="0" marL="0">
              <a:spcAft>
                <a:spcPts val="500"/>
              </a:spcAft>
              <a:buNone/>
            </a:pPr>
            <a:r>
              <a:rPr lang="en-US" sz="1000" dirty="0">
                <a:solidFill>
                  <a:srgbClr val="2A322E"/>
                </a:solidFill>
              </a:rPr>
              <a:t>[N6] Hunton Andrews Kurth, "Nippon Steel Completes Acquisition of US Steel Under National Security Agreement", Jun 2025</a:t>
            </a:r>
            <a:endParaRPr lang="en-US" sz="1000" dirty="0"/>
          </a:p>
          <a:p>
            <a:pPr indent="0" marL="0">
              <a:spcAft>
                <a:spcPts val="500"/>
              </a:spcAft>
              <a:buNone/>
            </a:pPr>
            <a:r>
              <a:rPr lang="en-US" sz="1000" dirty="0">
                <a:solidFill>
                  <a:srgbClr val="2A322E"/>
                </a:solidFill>
              </a:rPr>
              <a:t>[N7] BusinessDay / Reuters (K. Golubkova), "Nippon Steel plans Japan's biggest convertible bond offer yet", 24 Feb 2026</a:t>
            </a:r>
            <a:endParaRPr lang="en-US" sz="1000" dirty="0"/>
          </a:p>
        </p:txBody>
      </p:sp>
      <p:sp>
        <p:nvSpPr>
          <p:cNvPr id="5" name="Text 3"/>
          <p:cNvSpPr txBox="1"/>
          <p:nvPr/>
        </p:nvSpPr>
        <p:spPr>
          <a:xfrm>
            <a:off x="6187288"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[N8] MarketScreener, Nippon Steel quotes and valuation pages (close 29 Oct 2026, 52-week range, market cap, multiples)</a:t>
            </a:r>
            <a:endParaRPr lang="en-US" sz="1000" dirty="0"/>
          </a:p>
          <a:p>
            <a:pPr indent="0" marL="0">
              <a:spcAft>
                <a:spcPts val="500"/>
              </a:spcAft>
              <a:buNone/>
            </a:pPr>
            <a:r>
              <a:rPr lang="en-US" sz="1000" dirty="0">
                <a:solidFill>
                  <a:srgbClr val="2A322E"/>
                </a:solidFill>
              </a:rPr>
              <a:t>[N9] SteelOrbis, "Nippon Steel to strengthen European and specialty steel operations with new strategic moves", May 2026</a:t>
            </a:r>
            <a:endParaRPr lang="en-US" sz="1000" dirty="0"/>
          </a:p>
          <a:p>
            <a:pPr indent="0" marL="0">
              <a:spcAft>
                <a:spcPts val="500"/>
              </a:spcAft>
              <a:buNone/>
            </a:pPr>
            <a:r>
              <a:rPr lang="en-US" sz="1000" dirty="0">
                <a:solidFill>
                  <a:srgbClr val="2A322E"/>
                </a:solidFill>
              </a:rPr>
              <a:t>[N10] SteelOrbis, "Nippon Steel swings to net profit in T1 FY 2026-27…", 4 Aug 2026</a:t>
            </a:r>
            <a:endParaRPr lang="en-US" sz="1000" dirty="0"/>
          </a:p>
          <a:p>
            <a:pPr indent="0" marL="0">
              <a:spcAft>
                <a:spcPts val="500"/>
              </a:spcAft>
              <a:buNone/>
            </a:pPr>
            <a:r>
              <a:rPr lang="en-US" sz="1000" dirty="0">
                <a:solidFill>
                  <a:srgbClr val="2A322E"/>
                </a:solidFill>
              </a:rPr>
              <a:t>[N11] GMK Center, "Nippon Steel increased steel production by 27,5 % y/y in FY2025/2026", 14 May 2026</a:t>
            </a:r>
            <a:endParaRPr lang="en-US" sz="1000" dirty="0"/>
          </a:p>
          <a:p>
            <a:pPr indent="0" marL="0">
              <a:spcAft>
                <a:spcPts val="500"/>
              </a:spcAft>
              <a:buNone/>
            </a:pPr>
            <a:r>
              <a:rPr lang="en-US" sz="1000" dirty="0">
                <a:solidFill>
                  <a:srgbClr val="2A322E"/>
                </a:solidFill>
              </a:rPr>
              <a:t>[N12] GMK Center, "Nippon Steel to raise 5,6 $ billion to finance deal with U.S. Steel", 3 Jul 2025</a:t>
            </a:r>
            <a:endParaRPr lang="en-US" sz="1000" dirty="0"/>
          </a:p>
          <a:p>
            <a:pPr indent="0" marL="0">
              <a:spcAft>
                <a:spcPts val="500"/>
              </a:spcAft>
              <a:buNone/>
            </a:pPr>
            <a:r>
              <a:rPr lang="en-US" sz="940" dirty="0">
                <a:solidFill>
                  <a:srgbClr val="2A322E"/>
                </a:solidFill>
              </a:rPr>
              <a:t>Pipeline du Portfolio Project : scores, multiples, poids et rendements calculés à partir de données Bloomberg extraites sur le terminal de SKEMA (oct. 2026).</a:t>
            </a:r>
            <a:endParaRPr lang="en-US" sz="1000" dirty="0"/>
          </a:p>
        </p:txBody>
      </p:sp>
      <p:sp>
        <p:nvSpPr>
          <p:cNvPr id="6" name="Text 4"/>
          <p:cNvSpPr txBox="1"/>
          <p:nvPr/>
        </p:nvSpPr>
        <p:spPr>
          <a:xfrm>
            <a:off x="548640" y="5394960"/>
            <a:ext cx="11094415" cy="685800"/>
          </a:xfrm>
          <a:prstGeom prst="rect">
            <a:avLst/>
          </a:prstGeom>
          <a:noFill/>
          <a:ln/>
        </p:spPr>
        <p:txBody>
          <a:bodyPr wrap="square" lIns="0" tIns="0" rIns="0" bIns="0" rtlCol="0" anchor="t"/>
          <a:lstStyle/>
          <a:p>
            <a:pPr indent="0" marL="0">
              <a:buNone/>
            </a:pPr>
            <a:r>
              <a:rPr lang="en-US" sz="929" dirty="0">
                <a:solidFill>
                  <a:srgbClr val="5B6660"/>
                </a:solidFill>
              </a:rPr>
              <a:t>Avertissement : travail étudiant préparé à des fins pédagogiques et pour des entretiens. Ce n'est ni un conseil en investissement ni une sollicitation. Les données de marché tierces (cours, consensus, multiples prospectifs) sont signalées et ont été consultées le 29 octobre 2026 ; elles doivent être vérifiées dans les publications des sociétés ou sur un terminal Bloomberg avant usage. Les résultats de backtest sont hypothétiques.</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Research Ledger">
  <a:themeElements>
    <a:clrScheme name="Research Ledger">
      <a:dk1>
        <a:srgbClr val="141A17"/>
      </a:dk1>
      <a:lt1>
        <a:srgbClr val="FFFFFF"/>
      </a:lt1>
      <a:dk2>
        <a:srgbClr val="5B6660"/>
      </a:dk2>
      <a:lt2>
        <a:srgbClr val="F2F4F1"/>
      </a:lt2>
      <a:accent1>
        <a:srgbClr val="0E6B4F"/>
      </a:accent1>
      <a:accent2>
        <a:srgbClr val="D7EBE2"/>
      </a:accent2>
      <a:accent3>
        <a:srgbClr val="B23A2E"/>
      </a:accent3>
      <a:accent4>
        <a:srgbClr val="B07A12"/>
      </a:accent4>
      <a:accent5>
        <a:srgbClr val="9AAAA2"/>
      </a:accent5>
      <a:accent6>
        <a:srgbClr val="D5DBD6"/>
      </a:accent6>
      <a:hlink>
        <a:srgbClr val="0E6B4F"/>
      </a:hlink>
      <a:folHlink>
        <a:srgbClr val="5B6660"/>
      </a:folHlink>
    </a:clrScheme>
    <a:fontScheme name="Research Ledg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Noah Doose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Nippon Steel stock pitch</dc:title>
  <dc:subject>PptxGenJS Presentation</dc:subject>
  <dc:creator>Noah Doose</dc:creator>
  <cp:lastModifiedBy>Noah Doose</cp:lastModifiedBy>
  <cp:revision>1</cp:revision>
  <dcterms:created xsi:type="dcterms:W3CDTF">2026-10-30T06:38:33Z</dcterms:created>
  <dcterms:modified xsi:type="dcterms:W3CDTF">2026-10-30T06:38:33Z</dcterms:modified>
</cp:coreProperties>
</file>