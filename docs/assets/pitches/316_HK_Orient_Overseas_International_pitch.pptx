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5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8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e60a13b3-382a-7939-e91c-12a1218579ad}">
          <p14:sldIdLst>
            <p14:sldId id="256"/>
          </p14:sldIdLst>
        </p14:section>
        <p14:section name="Thesis" id="{8c06e2fe-6749-9db5-ee3e-491e31be4b7d}">
          <p14:sldIdLst>
            <p14:sldId id="257"/>
          </p14:sldIdLst>
        </p14:section>
        <p14:section name="Company" id="{24f975a0-74c1-b965-a2c8-ee52037d0c25}">
          <p14:sldIdLst>
            <p14:sldId id="258"/>
            <p14:sldId id="259"/>
          </p14:sldIdLst>
        </p14:section>
        <p14:section name="Screen" id="{f32115ef-5237-ebcb-621f-422722b34eca}">
          <p14:sldIdLst>
            <p14:sldId id="260"/>
            <p14:sldId id="261"/>
          </p14:sldIdLst>
        </p14:section>
        <p14:section name="Financials" id="{bbb05374-fb64-6c92-1f63-259161bc2e3c}">
          <p14:sldIdLst>
            <p14:sldId id="262"/>
            <p14:sldId id="263"/>
          </p14:sldIdLst>
        </p14:section>
        <p14:section name="Valuation" id="{2b26a3da-017c-582f-3c9e-0562d55041aa}">
          <p14:sldIdLst>
            <p14:sldId id="264"/>
          </p14:sldIdLst>
        </p14:section>
        <p14:section name="Catalysts and risks" id="{7d9f50e0-8ed3-4b74-9990-78be1cc8f66a}">
          <p14:sldIdLst>
            <p14:sldId id="265"/>
            <p14:sldId id="266"/>
          </p14:sldIdLst>
        </p14:section>
        <p14:section name="Sources" id="{9518dbc1-739a-2d0d-e102-6aab4eb9fb56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2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1A1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1A17"/>
                </a:solidFill>
                <a:latin typeface="+mn-lt"/>
              </a:rPr>
              <a:t>Liner revenue by trade lane, FY2025 (share of total)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Liner revenue by trade lane, FY2025</c:v>
                </c:pt>
              </c:strCache>
            </c:strRef>
          </c:tx>
          <c:spPr>
            <a:solidFill>
              <a:srgbClr val="0E6B4F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A1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Trans-Pacific</c:v>
                  </c:pt>
                  <c:pt idx="1">
                    <c:v>Intra-Asia / Australasia</c:v>
                  </c:pt>
                  <c:pt idx="2">
                    <c:v>Asia-Europe</c:v>
                  </c:pt>
                  <c:pt idx="3">
                    <c:v>Trans-Atlantic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0.3660704113022673</c:v>
                </c:pt>
                <c:pt idx="1">
                  <c:v>0.3429417796513615</c:v>
                </c:pt>
                <c:pt idx="2">
                  <c:v>0.21032243363335992</c:v>
                </c:pt>
                <c:pt idx="3">
                  <c:v>0.08066537541301128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200" u="none">
                  <a:solidFill>
                    <a:srgbClr val="141A1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1A1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1A17"/>
                </a:solidFill>
                <a:latin typeface="+mn-lt"/>
              </a:rPr>
              <a:t>Multiples at 31 Dec 2025 (last usable fiscal year)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Orient Overseas (International)</c:v>
                </c:pt>
              </c:strCache>
            </c:strRef>
          </c:tx>
          <c:spPr>
            <a:solidFill>
              <a:srgbClr val="0E6B4F"/>
            </a:solidFill>
            <a:effectLst/>
          </c:spPr>
          <c:invertIfNegative val="0"/>
          <c:dLbls>
            <c:numFmt formatCode="0.0&quot;x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1A1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EV/EBIT</c:v>
                  </c:pt>
                  <c:pt idx="1">
                    <c:v>P/E</c:v>
                  </c:pt>
                  <c:pt idx="2">
                    <c:v>P/B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1.63</c:v>
                </c:pt>
                <c:pt idx="1">
                  <c:v>3.8</c:v>
                </c:pt>
                <c:pt idx="2">
                  <c:v>0.71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Peer median</c:v>
                </c:pt>
              </c:strCache>
            </c:strRef>
          </c:tx>
          <c:spPr>
            <a:solidFill>
              <a:srgbClr val="9AAAA2"/>
            </a:solidFill>
            <a:effectLst/>
          </c:spPr>
          <c:invertIfNegative val="0"/>
          <c:dLbls>
            <c:numFmt formatCode="0.0&quot;x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1A1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EV/EBIT</c:v>
                  </c:pt>
                  <c:pt idx="1">
                    <c:v>P/E</c:v>
                  </c:pt>
                  <c:pt idx="2">
                    <c:v>P/B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13.03</c:v>
                </c:pt>
                <c:pt idx="1">
                  <c:v>4.08</c:v>
                </c:pt>
                <c:pt idx="2">
                  <c:v>0.62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Sector median</c:v>
                </c:pt>
              </c:strCache>
            </c:strRef>
          </c:tx>
          <c:spPr>
            <a:solidFill>
              <a:srgbClr val="D5DBD6"/>
            </a:solidFill>
            <a:effectLst/>
          </c:spPr>
          <c:invertIfNegative val="0"/>
          <c:dLbls>
            <c:numFmt formatCode="0.0&quot;x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1A1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EV/EBIT</c:v>
                  </c:pt>
                  <c:pt idx="1">
                    <c:v>P/E</c:v>
                  </c:pt>
                  <c:pt idx="2">
                    <c:v>P/B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21.25</c:v>
                </c:pt>
                <c:pt idx="1">
                  <c:v>23.54</c:v>
                </c:pt>
                <c:pt idx="2">
                  <c:v>4.44</c:v>
                </c:pt>
              </c:numCache>
            </c:numRef>
          </c:val>
        </c:ser>
        <c:dLbls>
          <c:numFmt formatCode="0.0&quot;x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41A1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66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1A1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1A17"/>
                </a:solidFill>
                <a:latin typeface="+mn-lt"/>
              </a:rPr>
              <a:t>Value z-scores within the sector (Dec 2025)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z-score</c:v>
                </c:pt>
              </c:strCache>
            </c:strRef>
          </c:tx>
          <c:spPr>
            <a:solidFill>
              <a:srgbClr val="0E6B4F"/>
            </a:solidFill>
            <a:effectLst/>
          </c:spPr>
          <c:invertIfNegative val="0"/>
          <c:dLbls>
            <c:numFmt formatCode="+0.0;−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1A1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6B4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6B4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6B4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E6B4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EBIT / EV</c:v>
                  </c:pt>
                  <c:pt idx="1">
                    <c:v>Book / price</c:v>
                  </c:pt>
                  <c:pt idx="2">
                    <c:v>FCF yield</c:v>
                  </c:pt>
                  <c:pt idx="3">
                    <c:v>Sales / EV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7.90190818073518</c:v>
                </c:pt>
                <c:pt idx="1">
                  <c:v>2.9340387294903496</c:v>
                </c:pt>
                <c:pt idx="2">
                  <c:v>4.59646191723744</c:v>
                </c:pt>
                <c:pt idx="3">
                  <c:v>6.737462523859864</c:v>
                </c:pt>
              </c:numCache>
            </c:numRef>
          </c:val>
        </c:ser>
        <c:dLbls>
          <c:numFmt formatCode="+0.0;−0.0" sourceLinked="0"/>
          <c:txPr>
            <a:bodyPr/>
            <a:lstStyle/>
            <a:p>
              <a:pPr>
                <a:defRPr b="0" i="0" strike="noStrike" sz="1100" u="none">
                  <a:solidFill>
                    <a:srgbClr val="141A1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1A1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1A17"/>
                </a:solidFill>
                <a:latin typeface="+mn-lt"/>
              </a:rPr>
              <a:t>Total return in EUR, rebased to 100 (Jun 2021 - Jun 2026, weekly)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Orient Overseas (International)</c:v>
                </c:pt>
              </c:strCache>
            </c:strRef>
          </c:tx>
          <c:spPr>
            <a:solidFill>
              <a:srgbClr val="0E6B4F"/>
            </a:solidFill>
            <a:ln w="25400" cap="flat">
              <a:solidFill>
                <a:srgbClr val="0E6B4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E6B4F"/>
              </a:solidFill>
              <a:ln w="9525" cap="flat">
                <a:solidFill>
                  <a:srgbClr val="0E6B4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Sheet1!$A$2:$A$263</c:f>
              <c:multiLvlStrCache>
                <c:ptCount val="262"/>
                <c:lvl>
                  <c:pt idx="0">
                    <c:v>2021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>2022</c:v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>2023</c:v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/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/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/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/>
                  </c:pt>
                  <c:pt idx="131">
                    <c:v/>
                  </c:pt>
                  <c:pt idx="132">
                    <c:v>2024</c:v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/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/>
                  </c:pt>
                  <c:pt idx="145">
                    <c:v/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/>
                  </c:pt>
                  <c:pt idx="151">
                    <c:v/>
                  </c:pt>
                  <c:pt idx="152">
                    <c:v/>
                  </c:pt>
                  <c:pt idx="153">
                    <c:v/>
                  </c:pt>
                  <c:pt idx="154">
                    <c:v/>
                  </c:pt>
                  <c:pt idx="155">
                    <c:v/>
                  </c:pt>
                  <c:pt idx="156">
                    <c:v/>
                  </c:pt>
                  <c:pt idx="157">
                    <c:v/>
                  </c:pt>
                  <c:pt idx="158">
                    <c:v/>
                  </c:pt>
                  <c:pt idx="159">
                    <c:v/>
                  </c:pt>
                  <c:pt idx="160">
                    <c:v/>
                  </c:pt>
                  <c:pt idx="161">
                    <c:v/>
                  </c:pt>
                  <c:pt idx="162">
                    <c:v/>
                  </c:pt>
                  <c:pt idx="163">
                    <c:v/>
                  </c:pt>
                  <c:pt idx="164">
                    <c:v/>
                  </c:pt>
                  <c:pt idx="165">
                    <c:v/>
                  </c:pt>
                  <c:pt idx="166">
                    <c:v/>
                  </c:pt>
                  <c:pt idx="167">
                    <c:v/>
                  </c:pt>
                  <c:pt idx="168">
                    <c:v/>
                  </c:pt>
                  <c:pt idx="169">
                    <c:v/>
                  </c:pt>
                  <c:pt idx="170">
                    <c:v/>
                  </c:pt>
                  <c:pt idx="171">
                    <c:v/>
                  </c:pt>
                  <c:pt idx="172">
                    <c:v/>
                  </c:pt>
                  <c:pt idx="173">
                    <c:v/>
                  </c:pt>
                  <c:pt idx="174">
                    <c:v/>
                  </c:pt>
                  <c:pt idx="175">
                    <c:v/>
                  </c:pt>
                  <c:pt idx="176">
                    <c:v/>
                  </c:pt>
                  <c:pt idx="177">
                    <c:v/>
                  </c:pt>
                  <c:pt idx="178">
                    <c:v/>
                  </c:pt>
                  <c:pt idx="179">
                    <c:v/>
                  </c:pt>
                  <c:pt idx="180">
                    <c:v/>
                  </c:pt>
                  <c:pt idx="181">
                    <c:v/>
                  </c:pt>
                  <c:pt idx="182">
                    <c:v/>
                  </c:pt>
                  <c:pt idx="183">
                    <c:v/>
                  </c:pt>
                  <c:pt idx="184">
                    <c:v>2025</c:v>
                  </c:pt>
                  <c:pt idx="185">
                    <c:v/>
                  </c:pt>
                  <c:pt idx="186">
                    <c:v/>
                  </c:pt>
                  <c:pt idx="187">
                    <c:v/>
                  </c:pt>
                  <c:pt idx="188">
                    <c:v/>
                  </c:pt>
                  <c:pt idx="189">
                    <c:v/>
                  </c:pt>
                  <c:pt idx="190">
                    <c:v/>
                  </c:pt>
                  <c:pt idx="191">
                    <c:v/>
                  </c:pt>
                  <c:pt idx="192">
                    <c:v/>
                  </c:pt>
                  <c:pt idx="193">
                    <c:v/>
                  </c:pt>
                  <c:pt idx="194">
                    <c:v/>
                  </c:pt>
                  <c:pt idx="195">
                    <c:v/>
                  </c:pt>
                  <c:pt idx="196">
                    <c:v/>
                  </c:pt>
                  <c:pt idx="197">
                    <c:v/>
                  </c:pt>
                  <c:pt idx="198">
                    <c:v/>
                  </c:pt>
                  <c:pt idx="199">
                    <c:v/>
                  </c:pt>
                  <c:pt idx="200">
                    <c:v/>
                  </c:pt>
                  <c:pt idx="201">
                    <c:v/>
                  </c:pt>
                  <c:pt idx="202">
                    <c:v/>
                  </c:pt>
                  <c:pt idx="203">
                    <c:v/>
                  </c:pt>
                  <c:pt idx="204">
                    <c:v/>
                  </c:pt>
                  <c:pt idx="205">
                    <c:v/>
                  </c:pt>
                  <c:pt idx="206">
                    <c:v/>
                  </c:pt>
                  <c:pt idx="207">
                    <c:v/>
                  </c:pt>
                  <c:pt idx="208">
                    <c:v/>
                  </c:pt>
                  <c:pt idx="209">
                    <c:v/>
                  </c:pt>
                  <c:pt idx="210">
                    <c:v/>
                  </c:pt>
                  <c:pt idx="211">
                    <c:v/>
                  </c:pt>
                  <c:pt idx="212">
                    <c:v/>
                  </c:pt>
                  <c:pt idx="213">
                    <c:v/>
                  </c:pt>
                  <c:pt idx="214">
                    <c:v/>
                  </c:pt>
                  <c:pt idx="215">
                    <c:v/>
                  </c:pt>
                  <c:pt idx="216">
                    <c:v/>
                  </c:pt>
                  <c:pt idx="217">
                    <c:v/>
                  </c:pt>
                  <c:pt idx="218">
                    <c:v/>
                  </c:pt>
                  <c:pt idx="219">
                    <c:v/>
                  </c:pt>
                  <c:pt idx="220">
                    <c:v/>
                  </c:pt>
                  <c:pt idx="221">
                    <c:v/>
                  </c:pt>
                  <c:pt idx="222">
                    <c:v/>
                  </c:pt>
                  <c:pt idx="223">
                    <c:v/>
                  </c:pt>
                  <c:pt idx="224">
                    <c:v/>
                  </c:pt>
                  <c:pt idx="225">
                    <c:v/>
                  </c:pt>
                  <c:pt idx="226">
                    <c:v/>
                  </c:pt>
                  <c:pt idx="227">
                    <c:v/>
                  </c:pt>
                  <c:pt idx="228">
                    <c:v/>
                  </c:pt>
                  <c:pt idx="229">
                    <c:v/>
                  </c:pt>
                  <c:pt idx="230">
                    <c:v/>
                  </c:pt>
                  <c:pt idx="231">
                    <c:v/>
                  </c:pt>
                  <c:pt idx="232">
                    <c:v/>
                  </c:pt>
                  <c:pt idx="233">
                    <c:v/>
                  </c:pt>
                  <c:pt idx="234">
                    <c:v/>
                  </c:pt>
                  <c:pt idx="235">
                    <c:v/>
                  </c:pt>
                  <c:pt idx="236">
                    <c:v>2026</c:v>
                  </c:pt>
                  <c:pt idx="237">
                    <c:v/>
                  </c:pt>
                  <c:pt idx="238">
                    <c:v/>
                  </c:pt>
                  <c:pt idx="239">
                    <c:v/>
                  </c:pt>
                  <c:pt idx="240">
                    <c:v/>
                  </c:pt>
                  <c:pt idx="241">
                    <c:v/>
                  </c:pt>
                  <c:pt idx="242">
                    <c:v/>
                  </c:pt>
                  <c:pt idx="243">
                    <c:v/>
                  </c:pt>
                  <c:pt idx="244">
                    <c:v/>
                  </c:pt>
                  <c:pt idx="245">
                    <c:v/>
                  </c:pt>
                  <c:pt idx="246">
                    <c:v/>
                  </c:pt>
                  <c:pt idx="247">
                    <c:v/>
                  </c:pt>
                  <c:pt idx="248">
                    <c:v/>
                  </c:pt>
                  <c:pt idx="249">
                    <c:v/>
                  </c:pt>
                  <c:pt idx="250">
                    <c:v/>
                  </c:pt>
                  <c:pt idx="251">
                    <c:v/>
                  </c:pt>
                  <c:pt idx="252">
                    <c:v/>
                  </c:pt>
                  <c:pt idx="253">
                    <c:v/>
                  </c:pt>
                  <c:pt idx="254">
                    <c:v/>
                  </c:pt>
                  <c:pt idx="255">
                    <c:v/>
                  </c:pt>
                  <c:pt idx="256">
                    <c:v/>
                  </c:pt>
                  <c:pt idx="257">
                    <c:v/>
                  </c:pt>
                  <c:pt idx="258">
                    <c:v/>
                  </c:pt>
                  <c:pt idx="259">
                    <c:v/>
                  </c:pt>
                  <c:pt idx="260">
                    <c:v/>
                  </c:pt>
                  <c:pt idx="261">
                    <c:v/>
                  </c:pt>
                </c:lvl>
              </c:multiLvlStrCache>
            </c:multiLvlStrRef>
          </c:cat>
          <c:val>
            <c:numRef>
              <c:f>Sheet1!$B$2:$B$263</c:f>
              <c:numCache>
                <c:formatCode>General</c:formatCode>
                <c:ptCount val="262"/>
                <c:pt idx="0">
                  <c:v>100</c:v>
                </c:pt>
                <c:pt idx="1">
                  <c:v>109.31</c:v>
                </c:pt>
                <c:pt idx="2">
                  <c:v>102.53</c:v>
                </c:pt>
                <c:pt idx="3">
                  <c:v>95.39</c:v>
                </c:pt>
                <c:pt idx="4">
                  <c:v>93.4</c:v>
                </c:pt>
                <c:pt idx="5">
                  <c:v>92.98</c:v>
                </c:pt>
                <c:pt idx="6">
                  <c:v>111.39</c:v>
                </c:pt>
                <c:pt idx="7">
                  <c:v>115.02</c:v>
                </c:pt>
                <c:pt idx="8">
                  <c:v>122.69</c:v>
                </c:pt>
                <c:pt idx="9">
                  <c:v>120.52</c:v>
                </c:pt>
                <c:pt idx="10">
                  <c:v>133.18</c:v>
                </c:pt>
                <c:pt idx="11">
                  <c:v>125.53</c:v>
                </c:pt>
                <c:pt idx="12">
                  <c:v>129.45</c:v>
                </c:pt>
                <c:pt idx="13">
                  <c:v>126.77</c:v>
                </c:pt>
                <c:pt idx="14">
                  <c:v>109.62</c:v>
                </c:pt>
                <c:pt idx="15">
                  <c:v>98.83</c:v>
                </c:pt>
                <c:pt idx="16">
                  <c:v>91.12</c:v>
                </c:pt>
                <c:pt idx="17">
                  <c:v>107.21</c:v>
                </c:pt>
                <c:pt idx="18">
                  <c:v>116.93</c:v>
                </c:pt>
                <c:pt idx="19">
                  <c:v>107.17</c:v>
                </c:pt>
                <c:pt idx="20">
                  <c:v>106.94</c:v>
                </c:pt>
                <c:pt idx="21">
                  <c:v>112.94</c:v>
                </c:pt>
                <c:pt idx="22">
                  <c:v>113.18</c:v>
                </c:pt>
                <c:pt idx="23">
                  <c:v>125.51</c:v>
                </c:pt>
                <c:pt idx="24">
                  <c:v>144.38</c:v>
                </c:pt>
                <c:pt idx="25">
                  <c:v>143.08</c:v>
                </c:pt>
                <c:pt idx="26">
                  <c:v>148.81</c:v>
                </c:pt>
                <c:pt idx="27">
                  <c:v>157.39</c:v>
                </c:pt>
                <c:pt idx="28">
                  <c:v>157.2</c:v>
                </c:pt>
                <c:pt idx="29">
                  <c:v>175.29</c:v>
                </c:pt>
                <c:pt idx="30">
                  <c:v>155.62</c:v>
                </c:pt>
                <c:pt idx="31">
                  <c:v>154.25</c:v>
                </c:pt>
                <c:pt idx="32">
                  <c:v>163.49</c:v>
                </c:pt>
                <c:pt idx="33">
                  <c:v>167.15</c:v>
                </c:pt>
                <c:pt idx="34">
                  <c:v>172.18</c:v>
                </c:pt>
                <c:pt idx="35">
                  <c:v>169.92</c:v>
                </c:pt>
                <c:pt idx="36">
                  <c:v>195.05</c:v>
                </c:pt>
                <c:pt idx="37">
                  <c:v>195.22</c:v>
                </c:pt>
                <c:pt idx="38">
                  <c:v>206.67</c:v>
                </c:pt>
                <c:pt idx="39">
                  <c:v>185.92</c:v>
                </c:pt>
                <c:pt idx="40">
                  <c:v>185.45</c:v>
                </c:pt>
                <c:pt idx="41">
                  <c:v>168.67</c:v>
                </c:pt>
                <c:pt idx="42">
                  <c:v>174.46</c:v>
                </c:pt>
                <c:pt idx="43">
                  <c:v>176.18</c:v>
                </c:pt>
                <c:pt idx="44">
                  <c:v>194.67</c:v>
                </c:pt>
                <c:pt idx="45">
                  <c:v>193.87</c:v>
                </c:pt>
                <c:pt idx="46">
                  <c:v>198.09</c:v>
                </c:pt>
                <c:pt idx="47">
                  <c:v>214.74</c:v>
                </c:pt>
                <c:pt idx="48">
                  <c:v>238.52</c:v>
                </c:pt>
                <c:pt idx="49">
                  <c:v>256.14</c:v>
                </c:pt>
                <c:pt idx="50">
                  <c:v>231.1</c:v>
                </c:pt>
                <c:pt idx="51">
                  <c:v>226.65</c:v>
                </c:pt>
                <c:pt idx="52">
                  <c:v>212.45</c:v>
                </c:pt>
                <c:pt idx="53">
                  <c:v>204.93</c:v>
                </c:pt>
                <c:pt idx="54">
                  <c:v>226.69</c:v>
                </c:pt>
                <c:pt idx="55">
                  <c:v>239.65</c:v>
                </c:pt>
                <c:pt idx="56">
                  <c:v>268.24</c:v>
                </c:pt>
                <c:pt idx="57">
                  <c:v>276.41</c:v>
                </c:pt>
                <c:pt idx="58">
                  <c:v>278.82</c:v>
                </c:pt>
                <c:pt idx="59">
                  <c:v>267.13</c:v>
                </c:pt>
                <c:pt idx="60">
                  <c:v>241.88</c:v>
                </c:pt>
                <c:pt idx="61">
                  <c:v>227.48</c:v>
                </c:pt>
                <c:pt idx="62">
                  <c:v>197.54</c:v>
                </c:pt>
                <c:pt idx="63">
                  <c:v>188.98</c:v>
                </c:pt>
                <c:pt idx="64">
                  <c:v>186.84</c:v>
                </c:pt>
                <c:pt idx="65">
                  <c:v>189.22</c:v>
                </c:pt>
                <c:pt idx="66">
                  <c:v>184.4</c:v>
                </c:pt>
                <c:pt idx="67">
                  <c:v>178.89</c:v>
                </c:pt>
                <c:pt idx="68">
                  <c:v>181.3</c:v>
                </c:pt>
                <c:pt idx="69">
                  <c:v>172.27</c:v>
                </c:pt>
                <c:pt idx="70">
                  <c:v>151.12</c:v>
                </c:pt>
                <c:pt idx="71">
                  <c:v>160.89</c:v>
                </c:pt>
                <c:pt idx="72">
                  <c:v>164.17</c:v>
                </c:pt>
                <c:pt idx="73">
                  <c:v>156.95</c:v>
                </c:pt>
                <c:pt idx="74">
                  <c:v>170.54</c:v>
                </c:pt>
                <c:pt idx="75">
                  <c:v>172.49</c:v>
                </c:pt>
                <c:pt idx="76">
                  <c:v>173.14</c:v>
                </c:pt>
                <c:pt idx="77">
                  <c:v>190.28</c:v>
                </c:pt>
                <c:pt idx="78">
                  <c:v>177.19</c:v>
                </c:pt>
                <c:pt idx="79">
                  <c:v>173.9</c:v>
                </c:pt>
                <c:pt idx="80">
                  <c:v>168.39</c:v>
                </c:pt>
                <c:pt idx="81">
                  <c:v>169.76</c:v>
                </c:pt>
                <c:pt idx="82">
                  <c:v>161.5</c:v>
                </c:pt>
                <c:pt idx="83">
                  <c:v>155.91</c:v>
                </c:pt>
                <c:pt idx="84">
                  <c:v>163.08</c:v>
                </c:pt>
                <c:pt idx="85">
                  <c:v>168.48</c:v>
                </c:pt>
                <c:pt idx="86">
                  <c:v>155.38</c:v>
                </c:pt>
                <c:pt idx="87">
                  <c:v>162.6</c:v>
                </c:pt>
                <c:pt idx="88">
                  <c:v>169.54</c:v>
                </c:pt>
                <c:pt idx="89">
                  <c:v>164.05</c:v>
                </c:pt>
                <c:pt idx="90">
                  <c:v>164.85</c:v>
                </c:pt>
                <c:pt idx="91">
                  <c:v>183.61</c:v>
                </c:pt>
                <c:pt idx="92">
                  <c:v>181.43</c:v>
                </c:pt>
                <c:pt idx="93">
                  <c:v>178.91</c:v>
                </c:pt>
                <c:pt idx="94">
                  <c:v>190.99</c:v>
                </c:pt>
                <c:pt idx="95">
                  <c:v>200.01</c:v>
                </c:pt>
                <c:pt idx="96">
                  <c:v>189.01</c:v>
                </c:pt>
                <c:pt idx="97">
                  <c:v>190.59</c:v>
                </c:pt>
                <c:pt idx="98">
                  <c:v>191.1</c:v>
                </c:pt>
                <c:pt idx="99">
                  <c:v>183.03</c:v>
                </c:pt>
                <c:pt idx="100">
                  <c:v>161.26</c:v>
                </c:pt>
                <c:pt idx="101">
                  <c:v>152.09</c:v>
                </c:pt>
                <c:pt idx="102">
                  <c:v>162.08</c:v>
                </c:pt>
                <c:pt idx="103">
                  <c:v>160.91</c:v>
                </c:pt>
                <c:pt idx="104">
                  <c:v>153.65</c:v>
                </c:pt>
                <c:pt idx="105">
                  <c:v>163.01</c:v>
                </c:pt>
                <c:pt idx="106">
                  <c:v>175.52</c:v>
                </c:pt>
                <c:pt idx="107">
                  <c:v>173.92</c:v>
                </c:pt>
                <c:pt idx="108">
                  <c:v>182.06</c:v>
                </c:pt>
                <c:pt idx="109">
                  <c:v>198.02</c:v>
                </c:pt>
                <c:pt idx="110">
                  <c:v>195.71</c:v>
                </c:pt>
                <c:pt idx="111">
                  <c:v>202.98</c:v>
                </c:pt>
                <c:pt idx="112">
                  <c:v>188.11</c:v>
                </c:pt>
                <c:pt idx="113">
                  <c:v>181.47</c:v>
                </c:pt>
                <c:pt idx="114">
                  <c:v>174.27</c:v>
                </c:pt>
                <c:pt idx="115">
                  <c:v>168.85</c:v>
                </c:pt>
                <c:pt idx="116">
                  <c:v>174.31</c:v>
                </c:pt>
                <c:pt idx="117">
                  <c:v>178.27</c:v>
                </c:pt>
                <c:pt idx="118">
                  <c:v>177.67</c:v>
                </c:pt>
                <c:pt idx="119">
                  <c:v>177.64</c:v>
                </c:pt>
                <c:pt idx="120">
                  <c:v>169.66</c:v>
                </c:pt>
                <c:pt idx="121">
                  <c:v>169.19</c:v>
                </c:pt>
                <c:pt idx="122">
                  <c:v>173.86</c:v>
                </c:pt>
                <c:pt idx="123">
                  <c:v>169.31</c:v>
                </c:pt>
                <c:pt idx="124">
                  <c:v>158.03</c:v>
                </c:pt>
                <c:pt idx="125">
                  <c:v>156.72</c:v>
                </c:pt>
                <c:pt idx="126">
                  <c:v>156.42</c:v>
                </c:pt>
                <c:pt idx="127">
                  <c:v>154.96</c:v>
                </c:pt>
                <c:pt idx="128">
                  <c:v>156.23</c:v>
                </c:pt>
                <c:pt idx="129">
                  <c:v>170.87</c:v>
                </c:pt>
                <c:pt idx="130">
                  <c:v>184.91</c:v>
                </c:pt>
                <c:pt idx="131">
                  <c:v>177.63</c:v>
                </c:pt>
                <c:pt idx="132">
                  <c:v>193.74</c:v>
                </c:pt>
                <c:pt idx="133">
                  <c:v>184.7</c:v>
                </c:pt>
                <c:pt idx="134">
                  <c:v>186.25</c:v>
                </c:pt>
                <c:pt idx="135">
                  <c:v>196.91</c:v>
                </c:pt>
                <c:pt idx="136">
                  <c:v>188.53</c:v>
                </c:pt>
                <c:pt idx="137">
                  <c:v>176.15</c:v>
                </c:pt>
                <c:pt idx="138">
                  <c:v>188.95</c:v>
                </c:pt>
                <c:pt idx="139">
                  <c:v>207.83</c:v>
                </c:pt>
                <c:pt idx="140">
                  <c:v>201.17</c:v>
                </c:pt>
                <c:pt idx="141">
                  <c:v>206.25</c:v>
                </c:pt>
                <c:pt idx="142">
                  <c:v>201.31</c:v>
                </c:pt>
                <c:pt idx="143">
                  <c:v>166.13</c:v>
                </c:pt>
                <c:pt idx="144">
                  <c:v>155.84</c:v>
                </c:pt>
                <c:pt idx="145">
                  <c:v>159.54</c:v>
                </c:pt>
                <c:pt idx="146">
                  <c:v>169.54</c:v>
                </c:pt>
                <c:pt idx="147">
                  <c:v>172.29</c:v>
                </c:pt>
                <c:pt idx="148">
                  <c:v>180.15</c:v>
                </c:pt>
                <c:pt idx="149">
                  <c:v>191.77</c:v>
                </c:pt>
                <c:pt idx="150">
                  <c:v>216.59</c:v>
                </c:pt>
                <c:pt idx="151">
                  <c:v>223.85</c:v>
                </c:pt>
                <c:pt idx="152">
                  <c:v>221.01</c:v>
                </c:pt>
                <c:pt idx="153">
                  <c:v>222.82</c:v>
                </c:pt>
                <c:pt idx="154">
                  <c:v>233.54</c:v>
                </c:pt>
                <c:pt idx="155">
                  <c:v>213</c:v>
                </c:pt>
                <c:pt idx="156">
                  <c:v>221.74</c:v>
                </c:pt>
                <c:pt idx="157">
                  <c:v>215.52</c:v>
                </c:pt>
                <c:pt idx="158">
                  <c:v>216.09</c:v>
                </c:pt>
                <c:pt idx="159">
                  <c:v>192.25</c:v>
                </c:pt>
                <c:pt idx="160">
                  <c:v>179.48</c:v>
                </c:pt>
                <c:pt idx="161">
                  <c:v>176.01</c:v>
                </c:pt>
                <c:pt idx="162">
                  <c:v>183.47</c:v>
                </c:pt>
                <c:pt idx="163">
                  <c:v>170.51</c:v>
                </c:pt>
                <c:pt idx="164">
                  <c:v>181.35</c:v>
                </c:pt>
                <c:pt idx="165">
                  <c:v>173.86</c:v>
                </c:pt>
                <c:pt idx="166">
                  <c:v>179.25</c:v>
                </c:pt>
                <c:pt idx="167">
                  <c:v>170.81</c:v>
                </c:pt>
                <c:pt idx="168">
                  <c:v>163.32</c:v>
                </c:pt>
                <c:pt idx="169">
                  <c:v>175.79</c:v>
                </c:pt>
                <c:pt idx="170">
                  <c:v>192.06</c:v>
                </c:pt>
                <c:pt idx="171">
                  <c:v>184.33</c:v>
                </c:pt>
                <c:pt idx="172">
                  <c:v>184.97</c:v>
                </c:pt>
                <c:pt idx="173">
                  <c:v>191.87</c:v>
                </c:pt>
                <c:pt idx="174">
                  <c:v>198.82</c:v>
                </c:pt>
                <c:pt idx="175">
                  <c:v>196.66</c:v>
                </c:pt>
                <c:pt idx="176">
                  <c:v>197.79</c:v>
                </c:pt>
                <c:pt idx="177">
                  <c:v>194.16</c:v>
                </c:pt>
                <c:pt idx="178">
                  <c:v>194.4</c:v>
                </c:pt>
                <c:pt idx="179">
                  <c:v>180.51</c:v>
                </c:pt>
                <c:pt idx="180">
                  <c:v>184.25</c:v>
                </c:pt>
                <c:pt idx="181">
                  <c:v>192.09</c:v>
                </c:pt>
                <c:pt idx="182">
                  <c:v>186.83</c:v>
                </c:pt>
                <c:pt idx="183">
                  <c:v>211.91</c:v>
                </c:pt>
                <c:pt idx="184">
                  <c:v>222.16</c:v>
                </c:pt>
                <c:pt idx="185">
                  <c:v>200.84</c:v>
                </c:pt>
                <c:pt idx="186">
                  <c:v>200.54</c:v>
                </c:pt>
                <c:pt idx="187">
                  <c:v>194.26</c:v>
                </c:pt>
                <c:pt idx="188">
                  <c:v>191.38</c:v>
                </c:pt>
                <c:pt idx="189">
                  <c:v>201.83</c:v>
                </c:pt>
                <c:pt idx="190">
                  <c:v>199.94</c:v>
                </c:pt>
                <c:pt idx="191">
                  <c:v>198.37</c:v>
                </c:pt>
                <c:pt idx="192">
                  <c:v>192.22</c:v>
                </c:pt>
                <c:pt idx="193">
                  <c:v>189.74</c:v>
                </c:pt>
                <c:pt idx="194">
                  <c:v>198.39</c:v>
                </c:pt>
                <c:pt idx="195">
                  <c:v>203.75</c:v>
                </c:pt>
                <c:pt idx="196">
                  <c:v>204.37</c:v>
                </c:pt>
                <c:pt idx="197">
                  <c:v>194.43</c:v>
                </c:pt>
                <c:pt idx="198">
                  <c:v>177.41</c:v>
                </c:pt>
                <c:pt idx="199">
                  <c:v>179.77</c:v>
                </c:pt>
                <c:pt idx="200">
                  <c:v>182.35</c:v>
                </c:pt>
                <c:pt idx="201">
                  <c:v>189.59</c:v>
                </c:pt>
                <c:pt idx="202">
                  <c:v>196.07</c:v>
                </c:pt>
                <c:pt idx="203">
                  <c:v>235.25</c:v>
                </c:pt>
                <c:pt idx="204">
                  <c:v>246.24</c:v>
                </c:pt>
                <c:pt idx="205">
                  <c:v>244.11</c:v>
                </c:pt>
                <c:pt idx="206">
                  <c:v>229.81</c:v>
                </c:pt>
                <c:pt idx="207">
                  <c:v>242.89</c:v>
                </c:pt>
                <c:pt idx="208">
                  <c:v>236.89</c:v>
                </c:pt>
                <c:pt idx="209">
                  <c:v>233.12</c:v>
                </c:pt>
                <c:pt idx="210">
                  <c:v>237.82</c:v>
                </c:pt>
                <c:pt idx="211">
                  <c:v>235.82</c:v>
                </c:pt>
                <c:pt idx="212">
                  <c:v>237.17</c:v>
                </c:pt>
                <c:pt idx="213">
                  <c:v>256.04</c:v>
                </c:pt>
                <c:pt idx="214">
                  <c:v>248.89</c:v>
                </c:pt>
                <c:pt idx="215">
                  <c:v>252.2</c:v>
                </c:pt>
                <c:pt idx="216">
                  <c:v>254.25</c:v>
                </c:pt>
                <c:pt idx="217">
                  <c:v>258.8</c:v>
                </c:pt>
                <c:pt idx="218">
                  <c:v>240.3</c:v>
                </c:pt>
                <c:pt idx="219">
                  <c:v>232.68</c:v>
                </c:pt>
                <c:pt idx="220">
                  <c:v>244.02</c:v>
                </c:pt>
                <c:pt idx="221">
                  <c:v>245.15</c:v>
                </c:pt>
                <c:pt idx="222">
                  <c:v>234.28</c:v>
                </c:pt>
                <c:pt idx="223">
                  <c:v>231.12</c:v>
                </c:pt>
                <c:pt idx="224">
                  <c:v>228.35</c:v>
                </c:pt>
                <c:pt idx="225">
                  <c:v>237.11</c:v>
                </c:pt>
                <c:pt idx="226">
                  <c:v>237.98</c:v>
                </c:pt>
                <c:pt idx="227">
                  <c:v>251.81</c:v>
                </c:pt>
                <c:pt idx="228">
                  <c:v>250.24</c:v>
                </c:pt>
                <c:pt idx="229">
                  <c:v>250.41</c:v>
                </c:pt>
                <c:pt idx="230">
                  <c:v>236.22</c:v>
                </c:pt>
                <c:pt idx="231">
                  <c:v>234.63</c:v>
                </c:pt>
                <c:pt idx="232">
                  <c:v>247.15</c:v>
                </c:pt>
                <c:pt idx="233">
                  <c:v>232.34</c:v>
                </c:pt>
                <c:pt idx="234">
                  <c:v>227.28</c:v>
                </c:pt>
                <c:pt idx="235">
                  <c:v>227.42</c:v>
                </c:pt>
                <c:pt idx="236">
                  <c:v>233.01</c:v>
                </c:pt>
                <c:pt idx="237">
                  <c:v>234.5</c:v>
                </c:pt>
                <c:pt idx="238">
                  <c:v>222.7</c:v>
                </c:pt>
                <c:pt idx="239">
                  <c:v>226.09</c:v>
                </c:pt>
                <c:pt idx="240">
                  <c:v>231.31</c:v>
                </c:pt>
                <c:pt idx="241">
                  <c:v>240.44</c:v>
                </c:pt>
                <c:pt idx="242">
                  <c:v>245.11</c:v>
                </c:pt>
                <c:pt idx="243">
                  <c:v>256.64</c:v>
                </c:pt>
                <c:pt idx="244">
                  <c:v>271.22</c:v>
                </c:pt>
                <c:pt idx="245">
                  <c:v>288.58</c:v>
                </c:pt>
                <c:pt idx="246">
                  <c:v>267.15</c:v>
                </c:pt>
                <c:pt idx="247">
                  <c:v>272.05</c:v>
                </c:pt>
                <c:pt idx="248">
                  <c:v>263.29</c:v>
                </c:pt>
                <c:pt idx="249">
                  <c:v>256.82</c:v>
                </c:pt>
                <c:pt idx="250">
                  <c:v>262.67</c:v>
                </c:pt>
                <c:pt idx="251">
                  <c:v>250.84</c:v>
                </c:pt>
                <c:pt idx="252">
                  <c:v>249.13</c:v>
                </c:pt>
                <c:pt idx="253">
                  <c:v>249.18</c:v>
                </c:pt>
                <c:pt idx="254">
                  <c:v>256.04</c:v>
                </c:pt>
                <c:pt idx="255">
                  <c:v>260</c:v>
                </c:pt>
                <c:pt idx="256">
                  <c:v>266.87</c:v>
                </c:pt>
                <c:pt idx="257">
                  <c:v>255.29</c:v>
                </c:pt>
                <c:pt idx="258">
                  <c:v>271.94</c:v>
                </c:pt>
                <c:pt idx="259">
                  <c:v>247.24</c:v>
                </c:pt>
                <c:pt idx="260">
                  <c:v>235.24</c:v>
                </c:pt>
                <c:pt idx="261">
                  <c:v>233.97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MSCI World Net EUR</c:v>
                </c:pt>
              </c:strCache>
            </c:strRef>
          </c:tx>
          <c:spPr>
            <a:solidFill>
              <a:srgbClr val="9AAAA2"/>
            </a:solidFill>
            <a:ln w="25400" cap="flat">
              <a:solidFill>
                <a:srgbClr val="9AAAA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AA2"/>
              </a:solidFill>
              <a:ln w="9525" cap="flat">
                <a:solidFill>
                  <a:srgbClr val="9AAAA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Sheet1!$A$2:$A$263</c:f>
              <c:multiLvlStrCache>
                <c:ptCount val="262"/>
                <c:lvl>
                  <c:pt idx="0">
                    <c:v>2021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>2022</c:v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>2023</c:v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/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/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/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/>
                  </c:pt>
                  <c:pt idx="131">
                    <c:v/>
                  </c:pt>
                  <c:pt idx="132">
                    <c:v>2024</c:v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/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/>
                  </c:pt>
                  <c:pt idx="145">
                    <c:v/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/>
                  </c:pt>
                  <c:pt idx="151">
                    <c:v/>
                  </c:pt>
                  <c:pt idx="152">
                    <c:v/>
                  </c:pt>
                  <c:pt idx="153">
                    <c:v/>
                  </c:pt>
                  <c:pt idx="154">
                    <c:v/>
                  </c:pt>
                  <c:pt idx="155">
                    <c:v/>
                  </c:pt>
                  <c:pt idx="156">
                    <c:v/>
                  </c:pt>
                  <c:pt idx="157">
                    <c:v/>
                  </c:pt>
                  <c:pt idx="158">
                    <c:v/>
                  </c:pt>
                  <c:pt idx="159">
                    <c:v/>
                  </c:pt>
                  <c:pt idx="160">
                    <c:v/>
                  </c:pt>
                  <c:pt idx="161">
                    <c:v/>
                  </c:pt>
                  <c:pt idx="162">
                    <c:v/>
                  </c:pt>
                  <c:pt idx="163">
                    <c:v/>
                  </c:pt>
                  <c:pt idx="164">
                    <c:v/>
                  </c:pt>
                  <c:pt idx="165">
                    <c:v/>
                  </c:pt>
                  <c:pt idx="166">
                    <c:v/>
                  </c:pt>
                  <c:pt idx="167">
                    <c:v/>
                  </c:pt>
                  <c:pt idx="168">
                    <c:v/>
                  </c:pt>
                  <c:pt idx="169">
                    <c:v/>
                  </c:pt>
                  <c:pt idx="170">
                    <c:v/>
                  </c:pt>
                  <c:pt idx="171">
                    <c:v/>
                  </c:pt>
                  <c:pt idx="172">
                    <c:v/>
                  </c:pt>
                  <c:pt idx="173">
                    <c:v/>
                  </c:pt>
                  <c:pt idx="174">
                    <c:v/>
                  </c:pt>
                  <c:pt idx="175">
                    <c:v/>
                  </c:pt>
                  <c:pt idx="176">
                    <c:v/>
                  </c:pt>
                  <c:pt idx="177">
                    <c:v/>
                  </c:pt>
                  <c:pt idx="178">
                    <c:v/>
                  </c:pt>
                  <c:pt idx="179">
                    <c:v/>
                  </c:pt>
                  <c:pt idx="180">
                    <c:v/>
                  </c:pt>
                  <c:pt idx="181">
                    <c:v/>
                  </c:pt>
                  <c:pt idx="182">
                    <c:v/>
                  </c:pt>
                  <c:pt idx="183">
                    <c:v/>
                  </c:pt>
                  <c:pt idx="184">
                    <c:v>2025</c:v>
                  </c:pt>
                  <c:pt idx="185">
                    <c:v/>
                  </c:pt>
                  <c:pt idx="186">
                    <c:v/>
                  </c:pt>
                  <c:pt idx="187">
                    <c:v/>
                  </c:pt>
                  <c:pt idx="188">
                    <c:v/>
                  </c:pt>
                  <c:pt idx="189">
                    <c:v/>
                  </c:pt>
                  <c:pt idx="190">
                    <c:v/>
                  </c:pt>
                  <c:pt idx="191">
                    <c:v/>
                  </c:pt>
                  <c:pt idx="192">
                    <c:v/>
                  </c:pt>
                  <c:pt idx="193">
                    <c:v/>
                  </c:pt>
                  <c:pt idx="194">
                    <c:v/>
                  </c:pt>
                  <c:pt idx="195">
                    <c:v/>
                  </c:pt>
                  <c:pt idx="196">
                    <c:v/>
                  </c:pt>
                  <c:pt idx="197">
                    <c:v/>
                  </c:pt>
                  <c:pt idx="198">
                    <c:v/>
                  </c:pt>
                  <c:pt idx="199">
                    <c:v/>
                  </c:pt>
                  <c:pt idx="200">
                    <c:v/>
                  </c:pt>
                  <c:pt idx="201">
                    <c:v/>
                  </c:pt>
                  <c:pt idx="202">
                    <c:v/>
                  </c:pt>
                  <c:pt idx="203">
                    <c:v/>
                  </c:pt>
                  <c:pt idx="204">
                    <c:v/>
                  </c:pt>
                  <c:pt idx="205">
                    <c:v/>
                  </c:pt>
                  <c:pt idx="206">
                    <c:v/>
                  </c:pt>
                  <c:pt idx="207">
                    <c:v/>
                  </c:pt>
                  <c:pt idx="208">
                    <c:v/>
                  </c:pt>
                  <c:pt idx="209">
                    <c:v/>
                  </c:pt>
                  <c:pt idx="210">
                    <c:v/>
                  </c:pt>
                  <c:pt idx="211">
                    <c:v/>
                  </c:pt>
                  <c:pt idx="212">
                    <c:v/>
                  </c:pt>
                  <c:pt idx="213">
                    <c:v/>
                  </c:pt>
                  <c:pt idx="214">
                    <c:v/>
                  </c:pt>
                  <c:pt idx="215">
                    <c:v/>
                  </c:pt>
                  <c:pt idx="216">
                    <c:v/>
                  </c:pt>
                  <c:pt idx="217">
                    <c:v/>
                  </c:pt>
                  <c:pt idx="218">
                    <c:v/>
                  </c:pt>
                  <c:pt idx="219">
                    <c:v/>
                  </c:pt>
                  <c:pt idx="220">
                    <c:v/>
                  </c:pt>
                  <c:pt idx="221">
                    <c:v/>
                  </c:pt>
                  <c:pt idx="222">
                    <c:v/>
                  </c:pt>
                  <c:pt idx="223">
                    <c:v/>
                  </c:pt>
                  <c:pt idx="224">
                    <c:v/>
                  </c:pt>
                  <c:pt idx="225">
                    <c:v/>
                  </c:pt>
                  <c:pt idx="226">
                    <c:v/>
                  </c:pt>
                  <c:pt idx="227">
                    <c:v/>
                  </c:pt>
                  <c:pt idx="228">
                    <c:v/>
                  </c:pt>
                  <c:pt idx="229">
                    <c:v/>
                  </c:pt>
                  <c:pt idx="230">
                    <c:v/>
                  </c:pt>
                  <c:pt idx="231">
                    <c:v/>
                  </c:pt>
                  <c:pt idx="232">
                    <c:v/>
                  </c:pt>
                  <c:pt idx="233">
                    <c:v/>
                  </c:pt>
                  <c:pt idx="234">
                    <c:v/>
                  </c:pt>
                  <c:pt idx="235">
                    <c:v/>
                  </c:pt>
                  <c:pt idx="236">
                    <c:v>2026</c:v>
                  </c:pt>
                  <c:pt idx="237">
                    <c:v/>
                  </c:pt>
                  <c:pt idx="238">
                    <c:v/>
                  </c:pt>
                  <c:pt idx="239">
                    <c:v/>
                  </c:pt>
                  <c:pt idx="240">
                    <c:v/>
                  </c:pt>
                  <c:pt idx="241">
                    <c:v/>
                  </c:pt>
                  <c:pt idx="242">
                    <c:v/>
                  </c:pt>
                  <c:pt idx="243">
                    <c:v/>
                  </c:pt>
                  <c:pt idx="244">
                    <c:v/>
                  </c:pt>
                  <c:pt idx="245">
                    <c:v/>
                  </c:pt>
                  <c:pt idx="246">
                    <c:v/>
                  </c:pt>
                  <c:pt idx="247">
                    <c:v/>
                  </c:pt>
                  <c:pt idx="248">
                    <c:v/>
                  </c:pt>
                  <c:pt idx="249">
                    <c:v/>
                  </c:pt>
                  <c:pt idx="250">
                    <c:v/>
                  </c:pt>
                  <c:pt idx="251">
                    <c:v/>
                  </c:pt>
                  <c:pt idx="252">
                    <c:v/>
                  </c:pt>
                  <c:pt idx="253">
                    <c:v/>
                  </c:pt>
                  <c:pt idx="254">
                    <c:v/>
                  </c:pt>
                  <c:pt idx="255">
                    <c:v/>
                  </c:pt>
                  <c:pt idx="256">
                    <c:v/>
                  </c:pt>
                  <c:pt idx="257">
                    <c:v/>
                  </c:pt>
                  <c:pt idx="258">
                    <c:v/>
                  </c:pt>
                  <c:pt idx="259">
                    <c:v/>
                  </c:pt>
                  <c:pt idx="260">
                    <c:v/>
                  </c:pt>
                  <c:pt idx="261">
                    <c:v/>
                  </c:pt>
                </c:lvl>
              </c:multiLvlStrCache>
            </c:multiLvlStrRef>
          </c:cat>
          <c:val>
            <c:numRef>
              <c:f>Sheet1!$C$2:$C$263</c:f>
              <c:numCache>
                <c:formatCode>General</c:formatCode>
                <c:ptCount val="262"/>
                <c:pt idx="0">
                  <c:v>100</c:v>
                </c:pt>
                <c:pt idx="1">
                  <c:v>101.65</c:v>
                </c:pt>
                <c:pt idx="2">
                  <c:v>101.72</c:v>
                </c:pt>
                <c:pt idx="3">
                  <c:v>101.25</c:v>
                </c:pt>
                <c:pt idx="4">
                  <c:v>103.28</c:v>
                </c:pt>
                <c:pt idx="5">
                  <c:v>102.35</c:v>
                </c:pt>
                <c:pt idx="6">
                  <c:v>104.19</c:v>
                </c:pt>
                <c:pt idx="7">
                  <c:v>104.86</c:v>
                </c:pt>
                <c:pt idx="8">
                  <c:v>104.39</c:v>
                </c:pt>
                <c:pt idx="9">
                  <c:v>105.27</c:v>
                </c:pt>
                <c:pt idx="10">
                  <c:v>105.49</c:v>
                </c:pt>
                <c:pt idx="11">
                  <c:v>104.52</c:v>
                </c:pt>
                <c:pt idx="12">
                  <c:v>104.54</c:v>
                </c:pt>
                <c:pt idx="13">
                  <c:v>104.99</c:v>
                </c:pt>
                <c:pt idx="14">
                  <c:v>103.36</c:v>
                </c:pt>
                <c:pt idx="15">
                  <c:v>104.31</c:v>
                </c:pt>
                <c:pt idx="16">
                  <c:v>106.29</c:v>
                </c:pt>
                <c:pt idx="17">
                  <c:v>107.34</c:v>
                </c:pt>
                <c:pt idx="18">
                  <c:v>108.86</c:v>
                </c:pt>
                <c:pt idx="19">
                  <c:v>111.02</c:v>
                </c:pt>
                <c:pt idx="20">
                  <c:v>111.83</c:v>
                </c:pt>
                <c:pt idx="21">
                  <c:v>112.98</c:v>
                </c:pt>
                <c:pt idx="22">
                  <c:v>109.93</c:v>
                </c:pt>
                <c:pt idx="23">
                  <c:v>108.71</c:v>
                </c:pt>
                <c:pt idx="24">
                  <c:v>112.07</c:v>
                </c:pt>
                <c:pt idx="25">
                  <c:v>110.68</c:v>
                </c:pt>
                <c:pt idx="26">
                  <c:v>112.51</c:v>
                </c:pt>
                <c:pt idx="27">
                  <c:v>112.98</c:v>
                </c:pt>
                <c:pt idx="28">
                  <c:v>111.35</c:v>
                </c:pt>
                <c:pt idx="29">
                  <c:v>110.37</c:v>
                </c:pt>
                <c:pt idx="30">
                  <c:v>106.03</c:v>
                </c:pt>
                <c:pt idx="31">
                  <c:v>107.08</c:v>
                </c:pt>
                <c:pt idx="32">
                  <c:v>106.43</c:v>
                </c:pt>
                <c:pt idx="33">
                  <c:v>106.05</c:v>
                </c:pt>
                <c:pt idx="34">
                  <c:v>104.72</c:v>
                </c:pt>
                <c:pt idx="35">
                  <c:v>105.54</c:v>
                </c:pt>
                <c:pt idx="36">
                  <c:v>105.67</c:v>
                </c:pt>
                <c:pt idx="37">
                  <c:v>103.22</c:v>
                </c:pt>
                <c:pt idx="38">
                  <c:v>108.65</c:v>
                </c:pt>
                <c:pt idx="39">
                  <c:v>110.71</c:v>
                </c:pt>
                <c:pt idx="40">
                  <c:v>110.56</c:v>
                </c:pt>
                <c:pt idx="41">
                  <c:v>110.61</c:v>
                </c:pt>
                <c:pt idx="42">
                  <c:v>109.69</c:v>
                </c:pt>
                <c:pt idx="43">
                  <c:v>106.87</c:v>
                </c:pt>
                <c:pt idx="44">
                  <c:v>105.92</c:v>
                </c:pt>
                <c:pt idx="45">
                  <c:v>104.38</c:v>
                </c:pt>
                <c:pt idx="46">
                  <c:v>104</c:v>
                </c:pt>
                <c:pt idx="47">
                  <c:v>100.73</c:v>
                </c:pt>
                <c:pt idx="48">
                  <c:v>104.83</c:v>
                </c:pt>
                <c:pt idx="49">
                  <c:v>103.87</c:v>
                </c:pt>
                <c:pt idx="50">
                  <c:v>100.55</c:v>
                </c:pt>
                <c:pt idx="51">
                  <c:v>95.31</c:v>
                </c:pt>
                <c:pt idx="52">
                  <c:v>99.62</c:v>
                </c:pt>
                <c:pt idx="53">
                  <c:v>98.82</c:v>
                </c:pt>
                <c:pt idx="54">
                  <c:v>102.69</c:v>
                </c:pt>
                <c:pt idx="55">
                  <c:v>102.26</c:v>
                </c:pt>
                <c:pt idx="56">
                  <c:v>103.99</c:v>
                </c:pt>
                <c:pt idx="57">
                  <c:v>108.12</c:v>
                </c:pt>
                <c:pt idx="58">
                  <c:v>108.7</c:v>
                </c:pt>
                <c:pt idx="59">
                  <c:v>111.15</c:v>
                </c:pt>
                <c:pt idx="60">
                  <c:v>111.57</c:v>
                </c:pt>
                <c:pt idx="61">
                  <c:v>108.14</c:v>
                </c:pt>
                <c:pt idx="62">
                  <c:v>104.5</c:v>
                </c:pt>
                <c:pt idx="63">
                  <c:v>107.49</c:v>
                </c:pt>
                <c:pt idx="64">
                  <c:v>103.08</c:v>
                </c:pt>
                <c:pt idx="65">
                  <c:v>101.13</c:v>
                </c:pt>
                <c:pt idx="66">
                  <c:v>97.81</c:v>
                </c:pt>
                <c:pt idx="67">
                  <c:v>99.55</c:v>
                </c:pt>
                <c:pt idx="68">
                  <c:v>98.19</c:v>
                </c:pt>
                <c:pt idx="69">
                  <c:v>101.3</c:v>
                </c:pt>
                <c:pt idx="70">
                  <c:v>103.75</c:v>
                </c:pt>
                <c:pt idx="71">
                  <c:v>102.15</c:v>
                </c:pt>
                <c:pt idx="72">
                  <c:v>104.43</c:v>
                </c:pt>
                <c:pt idx="73">
                  <c:v>103.55</c:v>
                </c:pt>
                <c:pt idx="74">
                  <c:v>104.86</c:v>
                </c:pt>
                <c:pt idx="75">
                  <c:v>105.36</c:v>
                </c:pt>
                <c:pt idx="76">
                  <c:v>102.02</c:v>
                </c:pt>
                <c:pt idx="77">
                  <c:v>99.16</c:v>
                </c:pt>
                <c:pt idx="78">
                  <c:v>99.16</c:v>
                </c:pt>
                <c:pt idx="79">
                  <c:v>98.55</c:v>
                </c:pt>
                <c:pt idx="80">
                  <c:v>101.01</c:v>
                </c:pt>
                <c:pt idx="81">
                  <c:v>102.12</c:v>
                </c:pt>
                <c:pt idx="82">
                  <c:v>101.73</c:v>
                </c:pt>
                <c:pt idx="83">
                  <c:v>103.91</c:v>
                </c:pt>
                <c:pt idx="84">
                  <c:v>105.06</c:v>
                </c:pt>
                <c:pt idx="85">
                  <c:v>105.47</c:v>
                </c:pt>
                <c:pt idx="86">
                  <c:v>105.5</c:v>
                </c:pt>
                <c:pt idx="87">
                  <c:v>103.95</c:v>
                </c:pt>
                <c:pt idx="88">
                  <c:v>105.4</c:v>
                </c:pt>
                <c:pt idx="89">
                  <c:v>100.76</c:v>
                </c:pt>
                <c:pt idx="90">
                  <c:v>101.15</c:v>
                </c:pt>
                <c:pt idx="91">
                  <c:v>101.45</c:v>
                </c:pt>
                <c:pt idx="92">
                  <c:v>104.29</c:v>
                </c:pt>
                <c:pt idx="93">
                  <c:v>103.73</c:v>
                </c:pt>
                <c:pt idx="94">
                  <c:v>104.27</c:v>
                </c:pt>
                <c:pt idx="95">
                  <c:v>104.51</c:v>
                </c:pt>
                <c:pt idx="96">
                  <c:v>104.43</c:v>
                </c:pt>
                <c:pt idx="97">
                  <c:v>104.28</c:v>
                </c:pt>
                <c:pt idx="98">
                  <c:v>105.27</c:v>
                </c:pt>
                <c:pt idx="99">
                  <c:v>107.33</c:v>
                </c:pt>
                <c:pt idx="100">
                  <c:v>107.63</c:v>
                </c:pt>
                <c:pt idx="101">
                  <c:v>109.2</c:v>
                </c:pt>
                <c:pt idx="102">
                  <c:v>109.37</c:v>
                </c:pt>
                <c:pt idx="103">
                  <c:v>110.58</c:v>
                </c:pt>
                <c:pt idx="104">
                  <c:v>108.79</c:v>
                </c:pt>
                <c:pt idx="105">
                  <c:v>110.94</c:v>
                </c:pt>
                <c:pt idx="106">
                  <c:v>108.99</c:v>
                </c:pt>
                <c:pt idx="107">
                  <c:v>109.57</c:v>
                </c:pt>
                <c:pt idx="108">
                  <c:v>111.24</c:v>
                </c:pt>
                <c:pt idx="109">
                  <c:v>113.13</c:v>
                </c:pt>
                <c:pt idx="110">
                  <c:v>110.64</c:v>
                </c:pt>
                <c:pt idx="111">
                  <c:v>110.69</c:v>
                </c:pt>
                <c:pt idx="112">
                  <c:v>108.92</c:v>
                </c:pt>
                <c:pt idx="113">
                  <c:v>110.53</c:v>
                </c:pt>
                <c:pt idx="114">
                  <c:v>113.13</c:v>
                </c:pt>
                <c:pt idx="115">
                  <c:v>112.58</c:v>
                </c:pt>
                <c:pt idx="116">
                  <c:v>113.59</c:v>
                </c:pt>
                <c:pt idx="117">
                  <c:v>110.58</c:v>
                </c:pt>
                <c:pt idx="118">
                  <c:v>110.37</c:v>
                </c:pt>
                <c:pt idx="119">
                  <c:v>110.59</c:v>
                </c:pt>
                <c:pt idx="120">
                  <c:v>111.64</c:v>
                </c:pt>
                <c:pt idx="121">
                  <c:v>108.01</c:v>
                </c:pt>
                <c:pt idx="122">
                  <c:v>105.82</c:v>
                </c:pt>
                <c:pt idx="123">
                  <c:v>110.11</c:v>
                </c:pt>
                <c:pt idx="124">
                  <c:v>111.45</c:v>
                </c:pt>
                <c:pt idx="125">
                  <c:v>112.48</c:v>
                </c:pt>
                <c:pt idx="126">
                  <c:v>113.09</c:v>
                </c:pt>
                <c:pt idx="127">
                  <c:v>115.18</c:v>
                </c:pt>
                <c:pt idx="128">
                  <c:v>116.17</c:v>
                </c:pt>
                <c:pt idx="129">
                  <c:v>117.6</c:v>
                </c:pt>
                <c:pt idx="130">
                  <c:v>117.55</c:v>
                </c:pt>
                <c:pt idx="131">
                  <c:v>117.86</c:v>
                </c:pt>
                <c:pt idx="132">
                  <c:v>116.78</c:v>
                </c:pt>
                <c:pt idx="133">
                  <c:v>118.73</c:v>
                </c:pt>
                <c:pt idx="134">
                  <c:v>119.91</c:v>
                </c:pt>
                <c:pt idx="135">
                  <c:v>121.69</c:v>
                </c:pt>
                <c:pt idx="136">
                  <c:v>123.59</c:v>
                </c:pt>
                <c:pt idx="137">
                  <c:v>125.08</c:v>
                </c:pt>
                <c:pt idx="138">
                  <c:v>125.45</c:v>
                </c:pt>
                <c:pt idx="139">
                  <c:v>126.75</c:v>
                </c:pt>
                <c:pt idx="140">
                  <c:v>127.77</c:v>
                </c:pt>
                <c:pt idx="141">
                  <c:v>126.99</c:v>
                </c:pt>
                <c:pt idx="142">
                  <c:v>127.23</c:v>
                </c:pt>
                <c:pt idx="143">
                  <c:v>130.6</c:v>
                </c:pt>
                <c:pt idx="144">
                  <c:v>131.25</c:v>
                </c:pt>
                <c:pt idx="145">
                  <c:v>129.7</c:v>
                </c:pt>
                <c:pt idx="146">
                  <c:v>130.05</c:v>
                </c:pt>
                <c:pt idx="147">
                  <c:v>125.9</c:v>
                </c:pt>
                <c:pt idx="148">
                  <c:v>128.92</c:v>
                </c:pt>
                <c:pt idx="149">
                  <c:v>128.93</c:v>
                </c:pt>
                <c:pt idx="150">
                  <c:v>131.31</c:v>
                </c:pt>
                <c:pt idx="151">
                  <c:v>132.05</c:v>
                </c:pt>
                <c:pt idx="152">
                  <c:v>132.06</c:v>
                </c:pt>
                <c:pt idx="153">
                  <c:v>131.34</c:v>
                </c:pt>
                <c:pt idx="154">
                  <c:v>133.2</c:v>
                </c:pt>
                <c:pt idx="155">
                  <c:v>135.3</c:v>
                </c:pt>
                <c:pt idx="156">
                  <c:v>136</c:v>
                </c:pt>
                <c:pt idx="157">
                  <c:v>135.74</c:v>
                </c:pt>
                <c:pt idx="158">
                  <c:v>137.07</c:v>
                </c:pt>
                <c:pt idx="159">
                  <c:v>137.79</c:v>
                </c:pt>
                <c:pt idx="160">
                  <c:v>135.24</c:v>
                </c:pt>
                <c:pt idx="161">
                  <c:v>134.55</c:v>
                </c:pt>
                <c:pt idx="162">
                  <c:v>130.89</c:v>
                </c:pt>
                <c:pt idx="163">
                  <c:v>130.88</c:v>
                </c:pt>
                <c:pt idx="164">
                  <c:v>135.29</c:v>
                </c:pt>
                <c:pt idx="165">
                  <c:v>135.47</c:v>
                </c:pt>
                <c:pt idx="166">
                  <c:v>137.28</c:v>
                </c:pt>
                <c:pt idx="167">
                  <c:v>131.36</c:v>
                </c:pt>
                <c:pt idx="168">
                  <c:v>136.13</c:v>
                </c:pt>
                <c:pt idx="169">
                  <c:v>137.06</c:v>
                </c:pt>
                <c:pt idx="170">
                  <c:v>138.55</c:v>
                </c:pt>
                <c:pt idx="171">
                  <c:v>140.15</c:v>
                </c:pt>
                <c:pt idx="172">
                  <c:v>141.77</c:v>
                </c:pt>
                <c:pt idx="173">
                  <c:v>143.72</c:v>
                </c:pt>
                <c:pt idx="174">
                  <c:v>142.27</c:v>
                </c:pt>
                <c:pt idx="175">
                  <c:v>140.3</c:v>
                </c:pt>
                <c:pt idx="176">
                  <c:v>146.72</c:v>
                </c:pt>
                <c:pt idx="177">
                  <c:v>146.56</c:v>
                </c:pt>
                <c:pt idx="178">
                  <c:v>150.59</c:v>
                </c:pt>
                <c:pt idx="179">
                  <c:v>150.19</c:v>
                </c:pt>
                <c:pt idx="180">
                  <c:v>151.97</c:v>
                </c:pt>
                <c:pt idx="181">
                  <c:v>151.58</c:v>
                </c:pt>
                <c:pt idx="182">
                  <c:v>149.15</c:v>
                </c:pt>
                <c:pt idx="183">
                  <c:v>150.12</c:v>
                </c:pt>
                <c:pt idx="184">
                  <c:v>151.37</c:v>
                </c:pt>
                <c:pt idx="185">
                  <c:v>149.57</c:v>
                </c:pt>
                <c:pt idx="186">
                  <c:v>152.87</c:v>
                </c:pt>
                <c:pt idx="187">
                  <c:v>152.86</c:v>
                </c:pt>
                <c:pt idx="188">
                  <c:v>153.86</c:v>
                </c:pt>
                <c:pt idx="189">
                  <c:v>154.48</c:v>
                </c:pt>
                <c:pt idx="190">
                  <c:v>154.75</c:v>
                </c:pt>
                <c:pt idx="191">
                  <c:v>153.36</c:v>
                </c:pt>
                <c:pt idx="192">
                  <c:v>152.69</c:v>
                </c:pt>
                <c:pt idx="193">
                  <c:v>143.65</c:v>
                </c:pt>
                <c:pt idx="194">
                  <c:v>140.81</c:v>
                </c:pt>
                <c:pt idx="195">
                  <c:v>142.61</c:v>
                </c:pt>
                <c:pt idx="196">
                  <c:v>140.41</c:v>
                </c:pt>
                <c:pt idx="197">
                  <c:v>126.6</c:v>
                </c:pt>
                <c:pt idx="198">
                  <c:v>128.09</c:v>
                </c:pt>
                <c:pt idx="199">
                  <c:v>128.15</c:v>
                </c:pt>
                <c:pt idx="200">
                  <c:v>133.26</c:v>
                </c:pt>
                <c:pt idx="201">
                  <c:v>137.2</c:v>
                </c:pt>
                <c:pt idx="202">
                  <c:v>138.02</c:v>
                </c:pt>
                <c:pt idx="203">
                  <c:v>145.22</c:v>
                </c:pt>
                <c:pt idx="204">
                  <c:v>140.63</c:v>
                </c:pt>
                <c:pt idx="205">
                  <c:v>142.82</c:v>
                </c:pt>
                <c:pt idx="206">
                  <c:v>144.29</c:v>
                </c:pt>
                <c:pt idx="207">
                  <c:v>141.88</c:v>
                </c:pt>
                <c:pt idx="208">
                  <c:v>141.56</c:v>
                </c:pt>
                <c:pt idx="209">
                  <c:v>143.7</c:v>
                </c:pt>
                <c:pt idx="210">
                  <c:v>144.86</c:v>
                </c:pt>
                <c:pt idx="211">
                  <c:v>145.41</c:v>
                </c:pt>
                <c:pt idx="212">
                  <c:v>146.68</c:v>
                </c:pt>
                <c:pt idx="213">
                  <c:v>147.87</c:v>
                </c:pt>
                <c:pt idx="214">
                  <c:v>146.33</c:v>
                </c:pt>
                <c:pt idx="215">
                  <c:v>148.78</c:v>
                </c:pt>
                <c:pt idx="216">
                  <c:v>149.9</c:v>
                </c:pt>
                <c:pt idx="217">
                  <c:v>150.52</c:v>
                </c:pt>
                <c:pt idx="218">
                  <c:v>150.18</c:v>
                </c:pt>
                <c:pt idx="219">
                  <c:v>150.3</c:v>
                </c:pt>
                <c:pt idx="220">
                  <c:v>152.65</c:v>
                </c:pt>
                <c:pt idx="221">
                  <c:v>153.75</c:v>
                </c:pt>
                <c:pt idx="222">
                  <c:v>154</c:v>
                </c:pt>
                <c:pt idx="223">
                  <c:v>155.65</c:v>
                </c:pt>
                <c:pt idx="224">
                  <c:v>154.21</c:v>
                </c:pt>
                <c:pt idx="225">
                  <c:v>155.19</c:v>
                </c:pt>
                <c:pt idx="226">
                  <c:v>158.47</c:v>
                </c:pt>
                <c:pt idx="227">
                  <c:v>160.34</c:v>
                </c:pt>
                <c:pt idx="228">
                  <c:v>157.57</c:v>
                </c:pt>
                <c:pt idx="229">
                  <c:v>157.75</c:v>
                </c:pt>
                <c:pt idx="230">
                  <c:v>155.62</c:v>
                </c:pt>
                <c:pt idx="231">
                  <c:v>159.91</c:v>
                </c:pt>
                <c:pt idx="232">
                  <c:v>160.1</c:v>
                </c:pt>
                <c:pt idx="233">
                  <c:v>158.5</c:v>
                </c:pt>
                <c:pt idx="234">
                  <c:v>159.12</c:v>
                </c:pt>
                <c:pt idx="235">
                  <c:v>160.36</c:v>
                </c:pt>
                <c:pt idx="236">
                  <c:v>159.74</c:v>
                </c:pt>
                <c:pt idx="237">
                  <c:v>163.66</c:v>
                </c:pt>
                <c:pt idx="238">
                  <c:v>164.49</c:v>
                </c:pt>
                <c:pt idx="239">
                  <c:v>161.87</c:v>
                </c:pt>
                <c:pt idx="240">
                  <c:v>160.78</c:v>
                </c:pt>
                <c:pt idx="241">
                  <c:v>161.89</c:v>
                </c:pt>
                <c:pt idx="242">
                  <c:v>160.84</c:v>
                </c:pt>
                <c:pt idx="243">
                  <c:v>163.37</c:v>
                </c:pt>
                <c:pt idx="244">
                  <c:v>163.19</c:v>
                </c:pt>
                <c:pt idx="245">
                  <c:v>160.99</c:v>
                </c:pt>
                <c:pt idx="246">
                  <c:v>160.1</c:v>
                </c:pt>
                <c:pt idx="247">
                  <c:v>155.6</c:v>
                </c:pt>
                <c:pt idx="248">
                  <c:v>153.66</c:v>
                </c:pt>
                <c:pt idx="249">
                  <c:v>158.32</c:v>
                </c:pt>
                <c:pt idx="250">
                  <c:v>161.68</c:v>
                </c:pt>
                <c:pt idx="251">
                  <c:v>166.87</c:v>
                </c:pt>
                <c:pt idx="252">
                  <c:v>167.84</c:v>
                </c:pt>
                <c:pt idx="253">
                  <c:v>168.5</c:v>
                </c:pt>
                <c:pt idx="254">
                  <c:v>171.47</c:v>
                </c:pt>
                <c:pt idx="255">
                  <c:v>173.12</c:v>
                </c:pt>
                <c:pt idx="256">
                  <c:v>175.85</c:v>
                </c:pt>
                <c:pt idx="257">
                  <c:v>177.13</c:v>
                </c:pt>
                <c:pt idx="258">
                  <c:v>174.88</c:v>
                </c:pt>
                <c:pt idx="259">
                  <c:v>175.86</c:v>
                </c:pt>
                <c:pt idx="260">
                  <c:v>178.96</c:v>
                </c:pt>
                <c:pt idx="261">
                  <c:v>177.04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300"/>
          <c:min val="80"/>
        </c:scaling>
        <c:delete val="0"/>
        <c:axPos val="l"/>
        <c:majorGridlines>
          <c:spPr>
            <a:ln w="6350" cap="flat">
              <a:solidFill>
                <a:srgbClr val="D5DB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66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4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5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Orient Overseas (International) (HKEX: 316)  ·  Noah Doose  ·  Student research, not investment advice  ·  Data as of 29 Oct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6.xml"/><Relationship Id="rId2" Type="http://schemas.openxmlformats.org/officeDocument/2006/relationships/chart" Target="/ppt/charts/chart27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8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7EBE2"/>
                </a:solidFill>
              </a:rPr>
              <a:t>STOCK PITCH  ·  SYSTEMATIC VALUE PORTFOLIO  ·  29 OCTOBER 2026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406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Orient Overseas (International)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4BE"/>
                </a:solidFill>
              </a:rPr>
              <a:t>HKEX: 316  ·  Industrials / Container shipping  ·  Hong Kong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0604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The highest value score in our universe, on peak-cycle earnings: a call on freight rates, not a cheap compounder</a:t>
            </a:r>
            <a:endParaRPr lang="en-US" sz="2000" dirty="0"/>
          </a:p>
        </p:txBody>
      </p:sp>
      <p:sp>
        <p:nvSpPr>
          <p:cNvPr id="6" name="rating card"/>
          <p:cNvSpPr/>
          <p:nvPr/>
        </p:nvSpPr>
        <p:spPr>
          <a:xfrm>
            <a:off x="8138160" y="960120"/>
            <a:ext cx="3504895" cy="3154680"/>
          </a:xfrm>
          <a:prstGeom prst="roundRect">
            <a:avLst>
              <a:gd name="adj" fmla="val 2319"/>
            </a:avLst>
          </a:prstGeom>
          <a:solidFill>
            <a:srgbClr val="2A322E"/>
          </a:solidFill>
          <a:ln w="9525">
            <a:solidFill>
              <a:srgbClr val="3A45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0" y="123444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B23A2E"/>
          </a:solidFill>
          <a:ln w="12700">
            <a:solidFill>
              <a:srgbClr val="B23A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0" y="12344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UNDERWEIGHT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378440" y="1234440"/>
            <a:ext cx="11274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4BE"/>
                </a:solidFill>
              </a:rPr>
              <a:t>Case study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1828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4BE"/>
                </a:solidFill>
              </a:rPr>
              <a:t>Price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0" y="1828800"/>
            <a:ext cx="1310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HK$153.30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0" y="2331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4BE"/>
                </a:solidFill>
              </a:rPr>
              <a:t>Target (base case)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0" y="2331720"/>
            <a:ext cx="1310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HK$123.92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2834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4BE"/>
                </a:solidFill>
              </a:rPr>
              <a:t>Upside / downside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0" y="2834640"/>
            <a:ext cx="1310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08A7E"/>
                </a:solidFill>
              </a:rPr>
              <a:t>−19%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3337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4BE"/>
                </a:solidFill>
              </a:rPr>
              <a:t>Horizon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0" y="3337560"/>
            <a:ext cx="1310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12 months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785616"/>
            <a:ext cx="2956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A94"/>
                </a:solidFill>
              </a:rPr>
              <a:t>Price: close, 29 Oct 2026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617720"/>
            <a:ext cx="24992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HK$101bn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303520"/>
            <a:ext cx="24992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4BE"/>
                </a:solidFill>
              </a:rPr>
              <a:t>Market cap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322244" y="4617720"/>
            <a:ext cx="24992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US$4.5bn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3322244" y="5303520"/>
            <a:ext cx="24992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4BE"/>
                </a:solidFill>
              </a:rPr>
              <a:t>Net cash (Jun 2026)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095848" y="4617720"/>
            <a:ext cx="24992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8.0x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6095848" y="5303520"/>
            <a:ext cx="24992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4BE"/>
                </a:solidFill>
              </a:rPr>
              <a:t>Forward P/E (third-party)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869451" y="4617720"/>
            <a:ext cx="24992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5.8%</a:t>
            </a:r>
            <a:endParaRPr lang="en-US" sz="2800" dirty="0"/>
          </a:p>
        </p:txBody>
      </p:sp>
      <p:sp>
        <p:nvSpPr>
          <p:cNvPr id="26" name="Text 24"/>
          <p:cNvSpPr txBox="1"/>
          <p:nvPr/>
        </p:nvSpPr>
        <p:spPr>
          <a:xfrm>
            <a:off x="8869451" y="5303520"/>
            <a:ext cx="24992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4BE"/>
                </a:solidFill>
              </a:rPr>
              <a:t>Dividend yield (trailing)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2636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A94"/>
                </a:solidFill>
              </a:rPr>
              <a:t>Noah Doose  ·  MSc Financial Markets &amp; Investments, SKEMA Business School  ·  Student research for educational purposes, not investment advice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01  EXECUTIVE SUMMARY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Case study: The highest value score in our universe, on peak-cycle earnings</a:t>
            </a:r>
            <a:endParaRPr lang="en-US" sz="2600" dirty="0"/>
          </a:p>
        </p:txBody>
      </p:sp>
      <p:sp>
        <p:nvSpPr>
          <p:cNvPr id="4" name="view panel"/>
          <p:cNvSpPr/>
          <p:nvPr/>
        </p:nvSpPr>
        <p:spPr>
          <a:xfrm>
            <a:off x="548640" y="1691640"/>
            <a:ext cx="3657600" cy="4206240"/>
          </a:xfrm>
          <a:prstGeom prst="rect">
            <a:avLst/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2024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B23A2E"/>
          </a:solidFill>
          <a:ln w="12700">
            <a:solidFill>
              <a:srgbClr val="B23A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20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UNDERWEIGHT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231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A17"/>
                </a:solidFill>
              </a:rPr>
              <a:t>HK$123.92</a:t>
            </a:r>
            <a:endParaRPr lang="en-US" sz="3000" dirty="0"/>
          </a:p>
          <a:p>
            <a:pPr indent="0" marL="0">
              <a:buNone/>
            </a:pPr>
            <a:r>
              <a:rPr lang="en-US" sz="1300" dirty="0">
                <a:solidFill>
                  <a:srgbClr val="5B6660"/>
                </a:solidFill>
              </a:rPr>
              <a:t>base-case value, −19% vs HK$153.30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74720"/>
            <a:ext cx="3154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1A17"/>
                </a:solidFill>
              </a:rPr>
              <a:t>OOIL (OOCL) had the top score of our entire universe in December 2025. The screen saw a P/E under 4x on FY2024 profit; FY2025 profit then fell 41% and H1 2026 another 24%. A 2026 war shock lifted freight rates again, but on normalised earnings the stock is not cheap. We hold the model weight floor and expect mean reversion.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26280" y="1737360"/>
            <a:ext cx="457200" cy="457200"/>
          </a:xfrm>
          <a:prstGeom prst="ellipse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1691640"/>
            <a:ext cx="6476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A17"/>
                </a:solidFill>
              </a:rPr>
              <a:t>Why the model bought it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2075688"/>
            <a:ext cx="6476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With a six-month lag, the December 2025 score used FY2024 accounts: EBIT of US$2.6bn. FY2025 then delivered US$1.5bn. On the earnings actually being produced the stock was about 40% less cheap than the screen showed.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26280" y="3172968"/>
            <a:ext cx="457200" cy="457200"/>
          </a:xfrm>
          <a:prstGeom prst="ellipse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2628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166360" y="3127248"/>
            <a:ext cx="6476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A17"/>
                </a:solidFill>
              </a:rPr>
              <a:t>Earnings are a freight rate times a volume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166360" y="3511296"/>
            <a:ext cx="6476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Profit rose more than 60-fold from the 2019 operating base to the 2022 peak, then fell 86% in a year. A screen that buys the lowest trailing P/E in shipping buys just after peak earnings.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26280" y="4608576"/>
            <a:ext cx="457200" cy="457200"/>
          </a:xfrm>
          <a:prstGeom prst="ellipse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26280" y="4608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166360" y="4562856"/>
            <a:ext cx="6476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A17"/>
                </a:solidFill>
              </a:rPr>
              <a:t>2026 was rescued by a war, not by value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166360" y="4946904"/>
            <a:ext cx="6476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The US-Iran war and Hormuz disruption pushed Asia-US rates up 109% by June 2026 and Q3 liner revenue up 45%. Fleet growth (4.6%) still runs ahead of demand (4.1%), and ships are returning to Suez.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02  COMPANY SNAPSHOT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Orient Overseas (International) at a glance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B4F"/>
                </a:solidFill>
              </a:rPr>
              <a:t>Container shipping (OOCL)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93392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A pure-play liner: 139 vessels and 1.15m TEU of capacity at end-2025, member of the Ocean Alliance.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B4F"/>
                </a:solidFill>
              </a:rPr>
              <a:t>Trade lanes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44952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Trans-Pacific (most US policy exposure), Asia-Europe, Trans-Atlantic and Intra-Asia (most volume).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9476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B4F"/>
                </a:solidFill>
              </a:rPr>
              <a:t>Control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96512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COSCO Shipping holds 71.07% and Shanghai International Port Group 9.06%: the free float is about 20%.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84632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B4F"/>
                </a:solidFill>
              </a:rPr>
              <a:t>Balance sheet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148072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No bank debt; US$5.8bn of cash against US$1.3bn of lease liabilities at June 2026.</a:t>
            </a:r>
            <a:endParaRPr lang="en-US" sz="13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6766560" y="1645920"/>
          <a:ext cx="4876495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548640" y="608990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tx2"/>
                </a:solidFill>
              </a:rPr>
              <a:t>Source: company filings; Liner revenue by trade lane, FY2025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03  INDUSTRY AND MACRO BACKDROP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What moves the stock beyond the company</a:t>
            </a:r>
            <a:endParaRPr lang="en-US" sz="2600" dirty="0"/>
          </a:p>
        </p:txBody>
      </p:sp>
      <p:sp>
        <p:nvSpPr>
          <p:cNvPr id="4" name="macro card 1"/>
          <p:cNvSpPr/>
          <p:nvPr/>
        </p:nvSpPr>
        <p:spPr>
          <a:xfrm>
            <a:off x="548640" y="1691640"/>
            <a:ext cx="5364328" cy="1965960"/>
          </a:xfrm>
          <a:prstGeom prst="rect">
            <a:avLst/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E6B4F"/>
                </a:solidFill>
              </a:rPr>
              <a:t>+109%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920240"/>
            <a:ext cx="2346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17"/>
                </a:solidFill>
              </a:rPr>
              <a:t>Freight rates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48156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Asia-US spot rates by early June 2026 after the Hormuz disruption (Cape routing again).</a:t>
            </a:r>
            <a:endParaRPr lang="en-US" sz="1300" dirty="0"/>
          </a:p>
        </p:txBody>
      </p:sp>
      <p:sp>
        <p:nvSpPr>
          <p:cNvPr id="8" name="macro card 2"/>
          <p:cNvSpPr/>
          <p:nvPr/>
        </p:nvSpPr>
        <p:spPr>
          <a:xfrm>
            <a:off x="6278728" y="1691640"/>
            <a:ext cx="5364328" cy="1965960"/>
          </a:xfrm>
          <a:prstGeom prst="rect">
            <a:avLst/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53048" y="18745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E6B4F"/>
                </a:solidFill>
              </a:rPr>
              <a:t>4.6% vs 4.1%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9021928" y="1920240"/>
            <a:ext cx="2346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17"/>
                </a:solidFill>
              </a:rPr>
              <a:t>Fleet vs demand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553048" y="2697480"/>
            <a:ext cx="48156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2026 fleet growth ahead of demand growth: the structural pressure on rates.</a:t>
            </a:r>
            <a:endParaRPr lang="en-US" sz="1300" dirty="0"/>
          </a:p>
        </p:txBody>
      </p:sp>
      <p:sp>
        <p:nvSpPr>
          <p:cNvPr id="12" name="macro card 3"/>
          <p:cNvSpPr/>
          <p:nvPr/>
        </p:nvSpPr>
        <p:spPr>
          <a:xfrm>
            <a:off x="548640" y="3886200"/>
            <a:ext cx="5364328" cy="1965960"/>
          </a:xfrm>
          <a:prstGeom prst="rect">
            <a:avLst/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069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E6B4F"/>
                </a:solidFill>
              </a:rPr>
              <a:t>10 Nov 2026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4114800"/>
            <a:ext cx="2346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17"/>
                </a:solidFill>
              </a:rPr>
              <a:t>US port fees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892040"/>
            <a:ext cx="48156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Section 301 fees on Chinese operators (US$50 per net ton) resume unless extended.</a:t>
            </a:r>
            <a:endParaRPr lang="en-US" sz="1300" dirty="0"/>
          </a:p>
        </p:txBody>
      </p:sp>
      <p:sp>
        <p:nvSpPr>
          <p:cNvPr id="16" name="macro card 4"/>
          <p:cNvSpPr/>
          <p:nvPr/>
        </p:nvSpPr>
        <p:spPr>
          <a:xfrm>
            <a:off x="6278728" y="3886200"/>
            <a:ext cx="5364328" cy="1965960"/>
          </a:xfrm>
          <a:prstGeom prst="rect">
            <a:avLst/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53048" y="4069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E6B4F"/>
                </a:solidFill>
              </a:rPr>
              <a:t>US$582/t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9021928" y="4114800"/>
            <a:ext cx="2346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17"/>
                </a:solidFill>
              </a:rPr>
              <a:t>Bunker fuel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553048" y="4892040"/>
            <a:ext cx="48156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Average H1 2026 cost (+8%): the largest variable cost.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08990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tx2"/>
                </a:solidFill>
              </a:rPr>
              <a:t>Source: company releases and research brief (see Sources slide)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04  WHY THE SYSTEMATIC SCREEN PICKED IT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Ranked 1 of 199 in Industrials on our value score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56692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492240" y="1645920"/>
          <a:ext cx="5150815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492240" y="4251960"/>
            <a:ext cx="51508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A322E"/>
                </a:solidFill>
              </a:rPr>
              <a:t>Composite score 5.54, first of 199 in its sector. </a:t>
            </a:r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The score averages the z-scores above (four ratios as yields). Accounts are used only from fiscal year end + 6 months, so in December 2025 the screen read the accounts for the fiscal year ended December 2024.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08990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tx2"/>
                </a:solidFill>
              </a:rPr>
              <a:t>Source: Portfolio Project pipeline (Bloomberg data); peers: Maersk, NYK, Mitsui OSK, Kawasaki Kisen (pipeline peer set); COSCO Shipping, Hapag-Lloyd, Evergreen for context.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05  TRACK RECORD IN THE PORTFOLIO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Held at 4 of 10 rebalances since December 2022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863840" y="1691640"/>
            <a:ext cx="3779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B23A2E"/>
                </a:solidFill>
              </a:rPr>
              <a:t>+0.4%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7863840" y="2240280"/>
            <a:ext cx="3779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60"/>
                </a:solidFill>
              </a:rPr>
              <a:t>H1 2026 return (EUR)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2743200"/>
            <a:ext cx="3779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41A17"/>
                </a:solidFill>
              </a:rPr>
              <a:t>+10.8%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3291840"/>
            <a:ext cx="3779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60"/>
                </a:solidFill>
              </a:rPr>
              <a:t>MSCI World Net EUR, H1 2026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3794760"/>
            <a:ext cx="3779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41A17"/>
                </a:solidFill>
              </a:rPr>
              <a:t>2.0%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4343400"/>
            <a:ext cx="3779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60"/>
                </a:solidFill>
              </a:rPr>
              <a:t>Weight, equal weight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863840" y="4846320"/>
            <a:ext cx="3779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41A17"/>
                </a:solidFill>
              </a:rPr>
              <a:t>1.8% / 4.0%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7863840" y="5394960"/>
            <a:ext cx="3779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60"/>
                </a:solidFill>
              </a:rPr>
              <a:t>Min-variance / mean-variance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08990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tx2"/>
                </a:solidFill>
              </a:rPr>
              <a:t>Source: pipeline weekly total returns (EUR, net of withholding tax) and portfolio weights at the 31 Dec 2025 rebalance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06  FINANCIAL SNAPSHOT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Reported numbers and guidance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3776472"/>
                <a:gridCol w="1828800"/>
                <a:gridCol w="1828800"/>
                <a:gridCol w="1828800"/>
                <a:gridCol w="182880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6B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6B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6B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H1 2026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6B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6B4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US$10.7bn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US$9.7bn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US$5.2bn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Q3 liner rev. +45%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Operating profit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US$2.62bn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US$1.54bn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US$0.72bn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Operating margin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24.6%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15.9%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13.9%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Profit attributable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US$2.58bn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US$1.51bn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US$0.73bn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US$3.90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US$2.29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US$1.10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US$1.95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US$1.14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US$0.55 interim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payout ~50%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cash (cash − leases)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US$4.96bn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US$4.51bn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385816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60"/>
                </a:solidFill>
              </a:rPr>
              <a:t>No numeric guidance. FCF after lease payments was about −US$0.69bn in 2025 and −US$0.35bn in H1 2026 (derived). Sources: OOIL annual report 2025 and interim report 2026.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07  VARIANT PERCEPTION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What the bulls say, and what the evidence says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36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B6660"/>
                </a:solidFill>
              </a:rPr>
              <a:t>THE BULL ARGUMENT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278728" y="1645920"/>
            <a:ext cx="536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6B4F"/>
                </a:solidFill>
              </a:rPr>
              <a:t>WHAT THE EVIDENCE SAYS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364328" cy="1203960"/>
          </a:xfrm>
          <a:prstGeom prst="rect">
            <a:avLst/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057400"/>
            <a:ext cx="4907128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141A17"/>
                </a:solidFill>
              </a:rPr>
              <a:t>“Net cash of US$4.5bn makes it safe”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78728" y="2057400"/>
            <a:ext cx="5364328" cy="1203960"/>
          </a:xfrm>
          <a:prstGeom prst="rect">
            <a:avLst/>
          </a:prstGeom>
          <a:solidFill>
            <a:srgbClr val="EEF2EF"/>
          </a:solidFill>
          <a:ln w="12700">
            <a:solidFill>
              <a:srgbClr val="D7EB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07328" y="2057400"/>
            <a:ext cx="4907128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1A17"/>
                </a:solidFill>
              </a:rPr>
              <a:t>Yard and charter commitments (~US$7.5bn) exceed net cash; FCF after leases was negative in 2025 and H1 2026.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398520"/>
            <a:ext cx="5364328" cy="1203960"/>
          </a:xfrm>
          <a:prstGeom prst="rect">
            <a:avLst/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398520"/>
            <a:ext cx="4907128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141A17"/>
                </a:solidFill>
              </a:rPr>
              <a:t>“The dividend yield is attractive”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78728" y="3398520"/>
            <a:ext cx="5364328" cy="1203960"/>
          </a:xfrm>
          <a:prstGeom prst="rect">
            <a:avLst/>
          </a:prstGeom>
          <a:solidFill>
            <a:srgbClr val="EEF2EF"/>
          </a:solidFill>
          <a:ln w="12700">
            <a:solidFill>
              <a:srgbClr val="D7EB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07328" y="3398520"/>
            <a:ext cx="4907128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1A17"/>
                </a:solidFill>
              </a:rPr>
              <a:t>Dividends follow profits: US$10.56 per share in 2022, US$1.14 in 2025. A trailing yield overstates future income.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739640"/>
            <a:ext cx="5364328" cy="1203960"/>
          </a:xfrm>
          <a:prstGeom prst="rect">
            <a:avLst/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739640"/>
            <a:ext cx="4907128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141A17"/>
                </a:solidFill>
              </a:rPr>
              <a:t>“Q3 2026 shows a new up-cycle”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78728" y="4739640"/>
            <a:ext cx="5364328" cy="1203960"/>
          </a:xfrm>
          <a:prstGeom prst="rect">
            <a:avLst/>
          </a:prstGeom>
          <a:solidFill>
            <a:srgbClr val="EEF2EF"/>
          </a:solidFill>
          <a:ln w="12700">
            <a:solidFill>
              <a:srgbClr val="D7EB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07328" y="4739640"/>
            <a:ext cx="4907128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1A17"/>
                </a:solidFill>
              </a:rPr>
              <a:t>The spike is geopolitical. Port fees on Chinese operators may return on 10 November 2026.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08  VALUATION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Base-case value HK$123.92 per share, −19% vs today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6B4F"/>
                </a:solidFill>
              </a:rPr>
              <a:t>Method: P/E on normalised earnings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5836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291840"/>
                <a:gridCol w="1234440"/>
                <a:gridCol w="9601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Scenario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inputs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 / share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vs price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4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US$1.39 EPS × 7x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Suez reopens fully; overcapacity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HK$75.90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B23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−50%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B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US$1.99 EPS × 8x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Normalised earnings, normal multiple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B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HK$123.92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B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B23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−19%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BE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US$2.98 EPS × 9x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Disruption persists; capacity absorbed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HK$209.11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E6B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754880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A322E"/>
                </a:solidFill>
              </a:rPr>
              <a:t>For a liner, value the average year, not the last one. We average profit over 2019-2025 excluding the 2021-22 supercycle and the 2019 one-off gain (about US$1.3bn, or US$1.99 per share), then apply 7-9x and convert at HK$7.8 per US$.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406640" y="16459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A17"/>
                </a:solidFill>
              </a:rPr>
              <a:t>Valuation range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406640" y="22402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60"/>
                </a:solidFill>
              </a:rPr>
              <a:t>52-week range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900650" y="2542032"/>
            <a:ext cx="1498153" cy="310896"/>
          </a:xfrm>
          <a:prstGeom prst="rect">
            <a:avLst/>
          </a:prstGeom>
          <a:solidFill>
            <a:srgbClr val="9AAAA2"/>
          </a:solidFill>
          <a:ln w="12700">
            <a:solidFill>
              <a:srgbClr val="9AAAA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06640" y="288036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A17"/>
                </a:solidFill>
              </a:rPr>
              <a:t>HK$117.90 - HK$178.90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9770070" y="2478024"/>
            <a:ext cx="0" cy="438912"/>
          </a:xfrm>
          <a:prstGeom prst="line">
            <a:avLst/>
          </a:prstGeom>
          <a:noFill/>
          <a:ln w="25400">
            <a:solidFill>
              <a:srgbClr val="141A1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048500" y="2478024"/>
            <a:ext cx="0" cy="438912"/>
          </a:xfrm>
          <a:prstGeom prst="line">
            <a:avLst/>
          </a:prstGeom>
          <a:noFill/>
          <a:ln w="25400">
            <a:solidFill>
              <a:srgbClr val="0E6B4F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7406640" y="320040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60"/>
                </a:solidFill>
              </a:rPr>
              <a:t>Scenario range (bear - bull)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869134" y="3502152"/>
            <a:ext cx="3271623" cy="310896"/>
          </a:xfrm>
          <a:prstGeom prst="rect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406640" y="38404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A17"/>
                </a:solidFill>
              </a:rPr>
              <a:t>HK$75.90 - HK$209.11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9770070" y="3438144"/>
            <a:ext cx="0" cy="438912"/>
          </a:xfrm>
          <a:prstGeom prst="line">
            <a:avLst/>
          </a:prstGeom>
          <a:noFill/>
          <a:ln w="25400">
            <a:solidFill>
              <a:srgbClr val="141A1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048500" y="3438144"/>
            <a:ext cx="0" cy="438912"/>
          </a:xfrm>
          <a:prstGeom prst="line">
            <a:avLst/>
          </a:prstGeom>
          <a:noFill/>
          <a:ln w="25400">
            <a:solidFill>
              <a:srgbClr val="0E6B4F"/>
            </a:solidFill>
            <a:prstDash val="dash"/>
          </a:ln>
        </p:spPr>
      </p:sp>
      <p:sp>
        <p:nvSpPr>
          <p:cNvPr id="18" name="Text 15"/>
          <p:cNvSpPr txBox="1"/>
          <p:nvPr/>
        </p:nvSpPr>
        <p:spPr>
          <a:xfrm>
            <a:off x="7406640" y="41605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60"/>
                </a:solidFill>
              </a:rPr>
              <a:t>Consensus target (third-party)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9509735" y="4462272"/>
            <a:ext cx="73152" cy="310896"/>
          </a:xfrm>
          <a:prstGeom prst="rect">
            <a:avLst/>
          </a:prstGeom>
          <a:solidFill>
            <a:srgbClr val="9AAAA2"/>
          </a:solidFill>
          <a:ln w="12700">
            <a:solidFill>
              <a:srgbClr val="9AAAA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406640" y="48006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A17"/>
                </a:solidFill>
              </a:rPr>
              <a:t>HK$142.70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9770070" y="4398264"/>
            <a:ext cx="0" cy="438912"/>
          </a:xfrm>
          <a:prstGeom prst="line">
            <a:avLst/>
          </a:prstGeom>
          <a:noFill/>
          <a:ln w="25400">
            <a:solidFill>
              <a:srgbClr val="141A1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048500" y="4398264"/>
            <a:ext cx="0" cy="438912"/>
          </a:xfrm>
          <a:prstGeom prst="line">
            <a:avLst/>
          </a:prstGeom>
          <a:noFill/>
          <a:ln w="25400">
            <a:solidFill>
              <a:srgbClr val="0E6B4F"/>
            </a:solidFill>
            <a:prstDash val="dash"/>
          </a:ln>
        </p:spPr>
      </p:sp>
      <p:sp>
        <p:nvSpPr>
          <p:cNvPr id="23" name="Text 20"/>
          <p:cNvSpPr txBox="1"/>
          <p:nvPr/>
        </p:nvSpPr>
        <p:spPr>
          <a:xfrm>
            <a:off x="8947110" y="50749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A17"/>
                </a:solidFill>
              </a:rPr>
              <a:t>│ Price HK$153.30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8225540" y="53492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6B4F"/>
                </a:solidFill>
              </a:rPr>
              <a:t>┆ Base case HK$123.92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608990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tx2"/>
                </a:solidFill>
              </a:rPr>
              <a:t>Source: own valuation; 52-week range and consensus from third-party data (29 Oct 2026)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09  CATALYSTS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What could move the stock in the next 12-18 months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2395728"/>
            <a:ext cx="10728655" cy="0"/>
          </a:xfrm>
          <a:prstGeom prst="line">
            <a:avLst/>
          </a:prstGeom>
          <a:noFill/>
          <a:ln w="25400">
            <a:solidFill>
              <a:srgbClr val="D5DB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240280"/>
            <a:ext cx="310896" cy="310896"/>
          </a:xfrm>
          <a:prstGeom prst="ellipse">
            <a:avLst/>
          </a:prstGeom>
          <a:solidFill>
            <a:srgbClr val="0E6B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91640"/>
            <a:ext cx="20360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E6B4F"/>
                </a:solidFill>
              </a:rPr>
              <a:t>10 Nov 2026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88920"/>
            <a:ext cx="1990283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A17"/>
                </a:solidFill>
              </a:rPr>
              <a:t>US port fees on Chinese operators resume or are extended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858963" y="2240280"/>
            <a:ext cx="310896" cy="310896"/>
          </a:xfrm>
          <a:prstGeom prst="ellipse">
            <a:avLst/>
          </a:prstGeom>
          <a:solidFill>
            <a:srgbClr val="0E6B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67523" y="1691640"/>
            <a:ext cx="20360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E6B4F"/>
                </a:solidFill>
              </a:rPr>
              <a:t>10 Jan 2027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767523" y="2788920"/>
            <a:ext cx="1990283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A17"/>
                </a:solidFill>
              </a:rPr>
              <a:t>US-China truce expiry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77846" y="2240280"/>
            <a:ext cx="310896" cy="310896"/>
          </a:xfrm>
          <a:prstGeom prst="ellipse">
            <a:avLst/>
          </a:prstGeom>
          <a:solidFill>
            <a:srgbClr val="0E6B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86406" y="1691640"/>
            <a:ext cx="20360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E6B4F"/>
                </a:solidFill>
              </a:rPr>
              <a:t>Mid-Jan 2027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986406" y="2788920"/>
            <a:ext cx="1990283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A17"/>
                </a:solidFill>
              </a:rPr>
              <a:t>Q4 2026 operational update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296729" y="2240280"/>
            <a:ext cx="310896" cy="310896"/>
          </a:xfrm>
          <a:prstGeom prst="ellipse">
            <a:avLst/>
          </a:prstGeom>
          <a:solidFill>
            <a:srgbClr val="0E6B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05289" y="1691640"/>
            <a:ext cx="20360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E6B4F"/>
                </a:solidFill>
              </a:rPr>
              <a:t>Mar 2027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205289" y="2788920"/>
            <a:ext cx="1990283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A17"/>
                </a:solidFill>
              </a:rPr>
              <a:t>FY2026 results and new dividend policy for 2027+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515612" y="2240280"/>
            <a:ext cx="310896" cy="310896"/>
          </a:xfrm>
          <a:prstGeom prst="ellipse">
            <a:avLst/>
          </a:prstGeom>
          <a:solidFill>
            <a:srgbClr val="0E6B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424172" y="1691640"/>
            <a:ext cx="20360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E6B4F"/>
                </a:solidFill>
              </a:rPr>
              <a:t>Spring 2027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424172" y="2788920"/>
            <a:ext cx="1990283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A17"/>
                </a:solidFill>
              </a:rPr>
              <a:t>Trans-Pacific annual contract season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800600"/>
            <a:ext cx="11094415" cy="868680"/>
          </a:xfrm>
          <a:prstGeom prst="rect">
            <a:avLst/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8006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B4F"/>
                </a:solidFill>
              </a:rPr>
              <a:t>The number to watch: </a:t>
            </a:r>
            <a:pPr indent="0" marL="0">
              <a:buNone/>
            </a:pPr>
            <a:r>
              <a:rPr lang="en-US" sz="1500" dirty="0">
                <a:solidFill>
                  <a:srgbClr val="141A17"/>
                </a:solidFill>
              </a:rPr>
              <a:t>We would turn positive if the price fell below normalised value (about HK$124)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10  RISKS AND SELL DISCIPLINE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What would change our view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76656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320040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A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A1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Disruption lasts longer (Hormuz, Cape routing)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Underweight, not short: we hold the model weight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Special dividend from the cash pile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Possible under the payout policy; would narrow the gap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COSCO-related capital allocation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Governance set by the parent; thin float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US-China policy swings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Fees and tariffs cut both ways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691640"/>
            <a:ext cx="3962095" cy="4160520"/>
          </a:xfrm>
          <a:prstGeom prst="rect">
            <a:avLst/>
          </a:prstGeom>
          <a:solidFill>
            <a:srgbClr val="EEF2EF"/>
          </a:solidFill>
          <a:ln w="12700">
            <a:solidFill>
              <a:srgbClr val="D7EBE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955280" y="1874520"/>
            <a:ext cx="3413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6B4F"/>
                </a:solidFill>
              </a:rPr>
              <a:t>WE WOULD CHANGE OUR VIEW IF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2286000"/>
            <a:ext cx="3413455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41A17"/>
                </a:solidFill>
              </a:rPr>
              <a:t>We would turn positive if the price fell below normalised value (about HK$124)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41A17"/>
                </a:solidFill>
              </a:rPr>
              <a:t>Or if the orderbook were cut and the cash returned to shareholders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41A17"/>
                </a:solidFill>
              </a:rPr>
              <a:t>Or if structural capacity discipline emerged across the industry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11  SOURCES AND DISCLOSURES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Sources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36432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[O1] OOIL, *Announcement of Interim Results for the six months ended 30 June 2026*, HKEX, 27 Aug 2026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[O2] OOIL, *Annual Report 2025*: financial highlights, Chairman's statement, ship operations, dividend policy, 10-year summary, substantial shareholders. HKEX, 22 Apr 2026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[O3] OOIL, *2019 Annual Results Announcement*, HKEX, 20 Mar 2020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[O4] OOIL, *2022 Annual Results Announcement*, HKEX, 22 Mar 2023 (cross-check of 2021–22 profit)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[O5] OOIL, *2024 Annual Results Announcement*, HKEX, 13 Mar 2025 (not opened; 2023–24 figures taken from [O2])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[O6] Container News, "OOCL reports 45% revenue surge in third quarter of 2026", 9 Oct 2026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[O7] Tiger Brokers news, OOIL shares after the Q3 update, 12 Oct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187288" y="1691640"/>
            <a:ext cx="536432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[O8] Container News, FY2025 results (13 Mar 2026) and H1 2026 results (28 Aug 2026)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[O9] Tiger Brokers news, "Faulkner sells 469 million shares to COSCO SHIP HOLD Hong Kong", 11 Dec 2025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[O10] Holland &amp; Knight, "USTR Port Fee Suspension: What You Need to Know", 12 Nov 2025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[O11] FreightWaves, "No mention of U.S.-China ship taxes in trade truce", 28 Sep 2026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[O12] gCaptain / Bloomberg, "Asia-to-US container rates spike 109% since Iran war started", 6 Jun 2026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Portfolio Project pipeline: scores, multiples, weights and returns computed from Bloomberg data extracted on the SKEMA terminal (Oct 2026).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3949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60"/>
                </a:solidFill>
              </a:rPr>
              <a:t>Disclosure: student research prepared for educational purposes and job interviews. It is not investment advice or a solicitation. Third-party market data (prices, consensus, forward multiples) is labelled and was accessed on 29 October 2026; third-party figures should be checked against company filings or a Bloomberg terminal before use. Backtest results are hypothetical.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search Ledger">
  <a:themeElements>
    <a:clrScheme name="Research Ledger">
      <a:dk1>
        <a:srgbClr val="141A17"/>
      </a:dk1>
      <a:lt1>
        <a:srgbClr val="FFFFFF"/>
      </a:lt1>
      <a:dk2>
        <a:srgbClr val="5B6660"/>
      </a:dk2>
      <a:lt2>
        <a:srgbClr val="F2F4F1"/>
      </a:lt2>
      <a:accent1>
        <a:srgbClr val="0E6B4F"/>
      </a:accent1>
      <a:accent2>
        <a:srgbClr val="D7EBE2"/>
      </a:accent2>
      <a:accent3>
        <a:srgbClr val="B23A2E"/>
      </a:accent3>
      <a:accent4>
        <a:srgbClr val="B07A12"/>
      </a:accent4>
      <a:accent5>
        <a:srgbClr val="9AAAA2"/>
      </a:accent5>
      <a:accent6>
        <a:srgbClr val="D5DBD6"/>
      </a:accent6>
      <a:hlink>
        <a:srgbClr val="0E6B4F"/>
      </a:hlink>
      <a:folHlink>
        <a:srgbClr val="5B6660"/>
      </a:folHlink>
    </a:clrScheme>
    <a:fontScheme name="Research Ledge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Noah Doose Research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Orient Overseas (International) stock pitch</dc:title>
  <dc:subject>PptxGenJS Presentation</dc:subject>
  <dc:creator>Noah Doose</dc:creator>
  <cp:lastModifiedBy>Noah Doose</cp:lastModifiedBy>
  <cp:revision>1</cp:revision>
  <dcterms:created xsi:type="dcterms:W3CDTF">2026-10-30T06:38:34Z</dcterms:created>
  <dcterms:modified xsi:type="dcterms:W3CDTF">2026-10-30T06:38:34Z</dcterms:modified>
</cp:coreProperties>
</file>