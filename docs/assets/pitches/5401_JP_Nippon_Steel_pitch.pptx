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2e15663-c440-3298-623c-b26cf750cecc}">
          <p14:sldIdLst>
            <p14:sldId id="256"/>
          </p14:sldIdLst>
        </p14:section>
        <p14:section name="Thesis" id="{9e3d2a70-3b95-5613-4a62-fd1928742974}">
          <p14:sldIdLst>
            <p14:sldId id="257"/>
          </p14:sldIdLst>
        </p14:section>
        <p14:section name="Company" id="{d99786a2-5fa0-4cc9-2203-934a507682d4}">
          <p14:sldIdLst>
            <p14:sldId id="258"/>
            <p14:sldId id="259"/>
          </p14:sldIdLst>
        </p14:section>
        <p14:section name="Screen" id="{3060ab9f-bd2c-59b6-1b22-a3ba8ededb88}">
          <p14:sldIdLst>
            <p14:sldId id="260"/>
            <p14:sldId id="261"/>
          </p14:sldIdLst>
        </p14:section>
        <p14:section name="Financials" id="{e3f80158-a038-333f-5ff0-15201165c93d}">
          <p14:sldIdLst>
            <p14:sldId id="262"/>
            <p14:sldId id="263"/>
          </p14:sldIdLst>
        </p14:section>
        <p14:section name="Valuation" id="{81d29011-f784-1dae-fdbc-d8fc8e51b0ec}">
          <p14:sldIdLst>
            <p14:sldId id="264"/>
          </p14:sldIdLst>
        </p14:section>
        <p14:section name="Catalysts and risks" id="{53b3bcc8-10c9-27c4-4c63-6488f0c24140}">
          <p14:sldIdLst>
            <p14:sldId id="265"/>
            <p14:sldId id="266"/>
          </p14:sldIdLst>
        </p14:section>
        <p14:section name="Sources" id="{cfa99553-23ad-1109-4e45-e7ba03ecd89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Underlying business profit (¥bn): FY2025 actual vs FY2026 forecast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FY2025</c:v>
                </c:pt>
              </c:strCache>
            </c:strRef>
          </c:tx>
          <c:spPr>
            <a:solidFill>
              <a:srgbClr val="9AAA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Domestic</c:v>
                  </c:pt>
                  <c:pt idx="1">
                    <c:v>Overseas incl. raw materials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527.6</c:v>
                </c:pt>
                <c:pt idx="1">
                  <c:v>122.8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FY2026f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Domestic</c:v>
                  </c:pt>
                  <c:pt idx="1">
                    <c:v>Overseas incl. raw materials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380</c:v>
                </c:pt>
                <c:pt idx="1">
                  <c:v>320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Multiples at 31 Dec 2025 (last usable fiscal year)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Nippon Steel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13.58</c:v>
                </c:pt>
                <c:pt idx="1">
                  <c:v>8.76</c:v>
                </c:pt>
                <c:pt idx="2">
                  <c:v>0.56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solidFill>
              <a:srgbClr val="9AAAA2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13.14</c:v>
                </c:pt>
                <c:pt idx="1">
                  <c:v>16.97</c:v>
                </c:pt>
                <c:pt idx="2">
                  <c:v>1.62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Sector median</c:v>
                </c:pt>
              </c:strCache>
            </c:strRef>
          </c:tx>
          <c:spPr>
            <a:solidFill>
              <a:srgbClr val="D5DBD6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17.73</c:v>
                </c:pt>
                <c:pt idx="1">
                  <c:v>24.47</c:v>
                </c:pt>
                <c:pt idx="2">
                  <c:v>2.28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Value z-scores within the sector (Dec 2025)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z-score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EBIT / EV</c:v>
                  </c:pt>
                  <c:pt idx="1">
                    <c:v>Book / price</c:v>
                  </c:pt>
                  <c:pt idx="2">
                    <c:v>FCF yield</c:v>
                  </c:pt>
                  <c:pt idx="3">
                    <c:v>Sales / EV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0.5432131038547534</c:v>
                </c:pt>
                <c:pt idx="1">
                  <c:v>3.3174243360173397</c:v>
                </c:pt>
                <c:pt idx="2">
                  <c:v>2.3337569191656296</c:v>
                </c:pt>
                <c:pt idx="3">
                  <c:v>2.2661527273656694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11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Total return in EUR, rebased to 100 (Jun 2021 - Jun 2026, weekly)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Nippon Steel</c:v>
                </c:pt>
              </c:strCache>
            </c:strRef>
          </c:tx>
          <c:spPr>
            <a:solidFill>
              <a:srgbClr val="0E6B4F"/>
            </a:solidFill>
            <a:ln w="25400" cap="flat">
              <a:solidFill>
                <a:srgbClr val="0E6B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6B4F"/>
              </a:solidFill>
              <a:ln w="9525" cap="flat">
                <a:solidFill>
                  <a:srgbClr val="0E6B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100</c:v>
                </c:pt>
                <c:pt idx="1">
                  <c:v>99.72</c:v>
                </c:pt>
                <c:pt idx="2">
                  <c:v>94.48</c:v>
                </c:pt>
                <c:pt idx="3">
                  <c:v>98.19</c:v>
                </c:pt>
                <c:pt idx="4">
                  <c:v>93.07</c:v>
                </c:pt>
                <c:pt idx="5">
                  <c:v>100.68</c:v>
                </c:pt>
                <c:pt idx="6">
                  <c:v>113.01</c:v>
                </c:pt>
                <c:pt idx="7">
                  <c:v>120.17</c:v>
                </c:pt>
                <c:pt idx="8">
                  <c:v>102.57</c:v>
                </c:pt>
                <c:pt idx="9">
                  <c:v>110.15</c:v>
                </c:pt>
                <c:pt idx="10">
                  <c:v>120.51</c:v>
                </c:pt>
                <c:pt idx="11">
                  <c:v>122.7</c:v>
                </c:pt>
                <c:pt idx="12">
                  <c:v>115.67</c:v>
                </c:pt>
                <c:pt idx="13">
                  <c:v>112.51</c:v>
                </c:pt>
                <c:pt idx="14">
                  <c:v>110.37</c:v>
                </c:pt>
                <c:pt idx="15">
                  <c:v>105.81</c:v>
                </c:pt>
                <c:pt idx="16">
                  <c:v>106.06</c:v>
                </c:pt>
                <c:pt idx="17">
                  <c:v>105.35</c:v>
                </c:pt>
                <c:pt idx="18">
                  <c:v>108.79</c:v>
                </c:pt>
                <c:pt idx="19">
                  <c:v>105.42</c:v>
                </c:pt>
                <c:pt idx="20">
                  <c:v>106.44</c:v>
                </c:pt>
                <c:pt idx="21">
                  <c:v>102.52</c:v>
                </c:pt>
                <c:pt idx="22">
                  <c:v>101.27</c:v>
                </c:pt>
                <c:pt idx="23">
                  <c:v>100.72</c:v>
                </c:pt>
                <c:pt idx="24">
                  <c:v>102.74</c:v>
                </c:pt>
                <c:pt idx="25">
                  <c:v>106.03</c:v>
                </c:pt>
                <c:pt idx="26">
                  <c:v>103.79</c:v>
                </c:pt>
                <c:pt idx="27">
                  <c:v>103.27</c:v>
                </c:pt>
                <c:pt idx="28">
                  <c:v>110.33</c:v>
                </c:pt>
                <c:pt idx="29">
                  <c:v>120.61</c:v>
                </c:pt>
                <c:pt idx="30">
                  <c:v>105.83</c:v>
                </c:pt>
                <c:pt idx="31">
                  <c:v>100.61</c:v>
                </c:pt>
                <c:pt idx="32">
                  <c:v>105.19</c:v>
                </c:pt>
                <c:pt idx="33">
                  <c:v>111.69</c:v>
                </c:pt>
                <c:pt idx="34">
                  <c:v>112.25</c:v>
                </c:pt>
                <c:pt idx="35">
                  <c:v>112.28</c:v>
                </c:pt>
                <c:pt idx="36">
                  <c:v>122.62</c:v>
                </c:pt>
                <c:pt idx="37">
                  <c:v>117.83</c:v>
                </c:pt>
                <c:pt idx="38">
                  <c:v>117.33</c:v>
                </c:pt>
                <c:pt idx="39">
                  <c:v>121.92</c:v>
                </c:pt>
                <c:pt idx="40">
                  <c:v>117.62</c:v>
                </c:pt>
                <c:pt idx="41">
                  <c:v>113.05</c:v>
                </c:pt>
                <c:pt idx="42">
                  <c:v>115.79</c:v>
                </c:pt>
                <c:pt idx="43">
                  <c:v>111.77</c:v>
                </c:pt>
                <c:pt idx="44">
                  <c:v>112.12</c:v>
                </c:pt>
                <c:pt idx="45">
                  <c:v>112.37</c:v>
                </c:pt>
                <c:pt idx="46">
                  <c:v>115</c:v>
                </c:pt>
                <c:pt idx="47">
                  <c:v>119.36</c:v>
                </c:pt>
                <c:pt idx="48">
                  <c:v>120.66</c:v>
                </c:pt>
                <c:pt idx="49">
                  <c:v>117.34</c:v>
                </c:pt>
                <c:pt idx="50">
                  <c:v>113.55</c:v>
                </c:pt>
                <c:pt idx="51">
                  <c:v>103.96</c:v>
                </c:pt>
                <c:pt idx="52">
                  <c:v>98.48</c:v>
                </c:pt>
                <c:pt idx="53">
                  <c:v>100.7</c:v>
                </c:pt>
                <c:pt idx="54">
                  <c:v>104</c:v>
                </c:pt>
                <c:pt idx="55">
                  <c:v>105.19</c:v>
                </c:pt>
                <c:pt idx="56">
                  <c:v>105.83</c:v>
                </c:pt>
                <c:pt idx="57">
                  <c:v>108.11</c:v>
                </c:pt>
                <c:pt idx="58">
                  <c:v>113.03</c:v>
                </c:pt>
                <c:pt idx="59">
                  <c:v>116.26</c:v>
                </c:pt>
                <c:pt idx="60">
                  <c:v>116.54</c:v>
                </c:pt>
                <c:pt idx="61">
                  <c:v>118.3</c:v>
                </c:pt>
                <c:pt idx="62">
                  <c:v>116.85</c:v>
                </c:pt>
                <c:pt idx="63">
                  <c:v>118.57</c:v>
                </c:pt>
                <c:pt idx="64">
                  <c:v>116.02</c:v>
                </c:pt>
                <c:pt idx="65">
                  <c:v>119.39</c:v>
                </c:pt>
                <c:pt idx="66">
                  <c:v>110.33</c:v>
                </c:pt>
                <c:pt idx="67">
                  <c:v>114.58</c:v>
                </c:pt>
                <c:pt idx="68">
                  <c:v>115.2</c:v>
                </c:pt>
                <c:pt idx="69">
                  <c:v>112.37</c:v>
                </c:pt>
                <c:pt idx="70">
                  <c:v>107.61</c:v>
                </c:pt>
                <c:pt idx="71">
                  <c:v>112.94</c:v>
                </c:pt>
                <c:pt idx="72">
                  <c:v>118.79</c:v>
                </c:pt>
                <c:pt idx="73">
                  <c:v>118.09</c:v>
                </c:pt>
                <c:pt idx="74">
                  <c:v>121.51</c:v>
                </c:pt>
                <c:pt idx="75">
                  <c:v>119.82</c:v>
                </c:pt>
                <c:pt idx="76">
                  <c:v>123.2</c:v>
                </c:pt>
                <c:pt idx="77">
                  <c:v>121.74</c:v>
                </c:pt>
                <c:pt idx="78">
                  <c:v>122.88</c:v>
                </c:pt>
                <c:pt idx="79">
                  <c:v>127.25</c:v>
                </c:pt>
                <c:pt idx="80">
                  <c:v>126.78</c:v>
                </c:pt>
                <c:pt idx="81">
                  <c:v>143.12</c:v>
                </c:pt>
                <c:pt idx="82">
                  <c:v>145.52</c:v>
                </c:pt>
                <c:pt idx="83">
                  <c:v>152.14</c:v>
                </c:pt>
                <c:pt idx="84">
                  <c:v>147.29</c:v>
                </c:pt>
                <c:pt idx="85">
                  <c:v>154.58</c:v>
                </c:pt>
                <c:pt idx="86">
                  <c:v>165.71</c:v>
                </c:pt>
                <c:pt idx="87">
                  <c:v>166.19</c:v>
                </c:pt>
                <c:pt idx="88">
                  <c:v>169.58</c:v>
                </c:pt>
                <c:pt idx="89">
                  <c:v>174.61</c:v>
                </c:pt>
                <c:pt idx="90">
                  <c:v>165.85</c:v>
                </c:pt>
                <c:pt idx="91">
                  <c:v>166.13</c:v>
                </c:pt>
                <c:pt idx="92">
                  <c:v>173.59</c:v>
                </c:pt>
                <c:pt idx="93">
                  <c:v>163.64</c:v>
                </c:pt>
                <c:pt idx="94">
                  <c:v>163.79</c:v>
                </c:pt>
                <c:pt idx="95">
                  <c:v>163.95</c:v>
                </c:pt>
                <c:pt idx="96">
                  <c:v>154.74</c:v>
                </c:pt>
                <c:pt idx="97">
                  <c:v>155.02</c:v>
                </c:pt>
                <c:pt idx="98">
                  <c:v>155.92</c:v>
                </c:pt>
                <c:pt idx="99">
                  <c:v>153.12</c:v>
                </c:pt>
                <c:pt idx="100">
                  <c:v>148.62</c:v>
                </c:pt>
                <c:pt idx="101">
                  <c:v>149.89</c:v>
                </c:pt>
                <c:pt idx="102">
                  <c:v>155.18</c:v>
                </c:pt>
                <c:pt idx="103">
                  <c:v>154.49</c:v>
                </c:pt>
                <c:pt idx="104">
                  <c:v>149.57</c:v>
                </c:pt>
                <c:pt idx="105">
                  <c:v>153.06</c:v>
                </c:pt>
                <c:pt idx="106">
                  <c:v>154.15</c:v>
                </c:pt>
                <c:pt idx="107">
                  <c:v>154.42</c:v>
                </c:pt>
                <c:pt idx="108">
                  <c:v>156.15</c:v>
                </c:pt>
                <c:pt idx="109">
                  <c:v>164.13</c:v>
                </c:pt>
                <c:pt idx="110">
                  <c:v>167.7</c:v>
                </c:pt>
                <c:pt idx="111">
                  <c:v>170.24</c:v>
                </c:pt>
                <c:pt idx="112">
                  <c:v>165.28</c:v>
                </c:pt>
                <c:pt idx="113">
                  <c:v>170.27</c:v>
                </c:pt>
                <c:pt idx="114">
                  <c:v>178.61</c:v>
                </c:pt>
                <c:pt idx="115">
                  <c:v>179.73</c:v>
                </c:pt>
                <c:pt idx="116">
                  <c:v>185.5</c:v>
                </c:pt>
                <c:pt idx="117">
                  <c:v>188.91</c:v>
                </c:pt>
                <c:pt idx="118">
                  <c:v>181.77</c:v>
                </c:pt>
                <c:pt idx="119">
                  <c:v>172.61</c:v>
                </c:pt>
                <c:pt idx="120">
                  <c:v>167.75</c:v>
                </c:pt>
                <c:pt idx="121">
                  <c:v>166.26</c:v>
                </c:pt>
                <c:pt idx="122">
                  <c:v>168.37</c:v>
                </c:pt>
                <c:pt idx="123">
                  <c:v>164.17</c:v>
                </c:pt>
                <c:pt idx="124">
                  <c:v>164.73</c:v>
                </c:pt>
                <c:pt idx="125">
                  <c:v>172.95</c:v>
                </c:pt>
                <c:pt idx="126">
                  <c:v>173.79</c:v>
                </c:pt>
                <c:pt idx="127">
                  <c:v>178.44</c:v>
                </c:pt>
                <c:pt idx="128">
                  <c:v>173.7</c:v>
                </c:pt>
                <c:pt idx="129">
                  <c:v>173.16</c:v>
                </c:pt>
                <c:pt idx="130">
                  <c:v>166.91</c:v>
                </c:pt>
                <c:pt idx="131">
                  <c:v>169.89</c:v>
                </c:pt>
                <c:pt idx="132">
                  <c:v>175.05</c:v>
                </c:pt>
                <c:pt idx="133">
                  <c:v>171.9</c:v>
                </c:pt>
                <c:pt idx="134">
                  <c:v>175</c:v>
                </c:pt>
                <c:pt idx="135">
                  <c:v>176.79</c:v>
                </c:pt>
                <c:pt idx="136">
                  <c:v>181.66</c:v>
                </c:pt>
                <c:pt idx="137">
                  <c:v>180.98</c:v>
                </c:pt>
                <c:pt idx="138">
                  <c:v>177.27</c:v>
                </c:pt>
                <c:pt idx="139">
                  <c:v>180.46</c:v>
                </c:pt>
                <c:pt idx="140">
                  <c:v>190.59</c:v>
                </c:pt>
                <c:pt idx="141">
                  <c:v>192.17</c:v>
                </c:pt>
                <c:pt idx="142">
                  <c:v>180.78</c:v>
                </c:pt>
                <c:pt idx="143">
                  <c:v>188.64</c:v>
                </c:pt>
                <c:pt idx="144">
                  <c:v>188.4</c:v>
                </c:pt>
                <c:pt idx="145">
                  <c:v>183.54</c:v>
                </c:pt>
                <c:pt idx="146">
                  <c:v>185.17</c:v>
                </c:pt>
                <c:pt idx="147">
                  <c:v>173.73</c:v>
                </c:pt>
                <c:pt idx="148">
                  <c:v>171.29</c:v>
                </c:pt>
                <c:pt idx="149">
                  <c:v>176.72</c:v>
                </c:pt>
                <c:pt idx="150">
                  <c:v>165.29</c:v>
                </c:pt>
                <c:pt idx="151">
                  <c:v>162.7</c:v>
                </c:pt>
                <c:pt idx="152">
                  <c:v>164.35</c:v>
                </c:pt>
                <c:pt idx="153">
                  <c:v>168.8</c:v>
                </c:pt>
                <c:pt idx="154">
                  <c:v>166.74</c:v>
                </c:pt>
                <c:pt idx="155">
                  <c:v>166.57</c:v>
                </c:pt>
                <c:pt idx="156">
                  <c:v>163.86</c:v>
                </c:pt>
                <c:pt idx="157">
                  <c:v>165.46</c:v>
                </c:pt>
                <c:pt idx="158">
                  <c:v>166.72</c:v>
                </c:pt>
                <c:pt idx="159">
                  <c:v>168.13</c:v>
                </c:pt>
                <c:pt idx="160">
                  <c:v>164.14</c:v>
                </c:pt>
                <c:pt idx="161">
                  <c:v>159.04</c:v>
                </c:pt>
                <c:pt idx="162">
                  <c:v>167.56</c:v>
                </c:pt>
                <c:pt idx="163">
                  <c:v>166</c:v>
                </c:pt>
                <c:pt idx="164">
                  <c:v>168.53</c:v>
                </c:pt>
                <c:pt idx="165">
                  <c:v>167.08</c:v>
                </c:pt>
                <c:pt idx="166">
                  <c:v>171.78</c:v>
                </c:pt>
                <c:pt idx="167">
                  <c:v>163.79</c:v>
                </c:pt>
                <c:pt idx="168">
                  <c:v>161.24</c:v>
                </c:pt>
                <c:pt idx="169">
                  <c:v>166.33</c:v>
                </c:pt>
                <c:pt idx="170">
                  <c:v>175.57</c:v>
                </c:pt>
                <c:pt idx="171">
                  <c:v>170.41</c:v>
                </c:pt>
                <c:pt idx="172">
                  <c:v>165.04</c:v>
                </c:pt>
                <c:pt idx="173">
                  <c:v>161.15</c:v>
                </c:pt>
                <c:pt idx="174">
                  <c:v>156.11</c:v>
                </c:pt>
                <c:pt idx="175">
                  <c:v>158.39</c:v>
                </c:pt>
                <c:pt idx="176">
                  <c:v>168.68</c:v>
                </c:pt>
                <c:pt idx="177">
                  <c:v>163.52</c:v>
                </c:pt>
                <c:pt idx="178">
                  <c:v>166.59</c:v>
                </c:pt>
                <c:pt idx="179">
                  <c:v>166.32</c:v>
                </c:pt>
                <c:pt idx="180">
                  <c:v>164.78</c:v>
                </c:pt>
                <c:pt idx="181">
                  <c:v>163.59</c:v>
                </c:pt>
                <c:pt idx="182">
                  <c:v>157.49</c:v>
                </c:pt>
                <c:pt idx="183">
                  <c:v>164.37</c:v>
                </c:pt>
                <c:pt idx="184">
                  <c:v>167.46</c:v>
                </c:pt>
                <c:pt idx="185">
                  <c:v>161.93</c:v>
                </c:pt>
                <c:pt idx="186">
                  <c:v>163.73</c:v>
                </c:pt>
                <c:pt idx="187">
                  <c:v>163.93</c:v>
                </c:pt>
                <c:pt idx="188">
                  <c:v>172.12</c:v>
                </c:pt>
                <c:pt idx="189">
                  <c:v>184.38</c:v>
                </c:pt>
                <c:pt idx="190">
                  <c:v>181.51</c:v>
                </c:pt>
                <c:pt idx="191">
                  <c:v>185.21</c:v>
                </c:pt>
                <c:pt idx="192">
                  <c:v>183.04</c:v>
                </c:pt>
                <c:pt idx="193">
                  <c:v>184.74</c:v>
                </c:pt>
                <c:pt idx="194">
                  <c:v>181.94</c:v>
                </c:pt>
                <c:pt idx="195">
                  <c:v>184.84</c:v>
                </c:pt>
                <c:pt idx="196">
                  <c:v>178.37</c:v>
                </c:pt>
                <c:pt idx="197">
                  <c:v>161.32</c:v>
                </c:pt>
                <c:pt idx="198">
                  <c:v>159.55</c:v>
                </c:pt>
                <c:pt idx="199">
                  <c:v>161.98</c:v>
                </c:pt>
                <c:pt idx="200">
                  <c:v>160.88</c:v>
                </c:pt>
                <c:pt idx="201">
                  <c:v>160.94</c:v>
                </c:pt>
                <c:pt idx="202">
                  <c:v>161.3</c:v>
                </c:pt>
                <c:pt idx="203">
                  <c:v>156.48</c:v>
                </c:pt>
                <c:pt idx="204">
                  <c:v>155.85</c:v>
                </c:pt>
                <c:pt idx="205">
                  <c:v>156.69</c:v>
                </c:pt>
                <c:pt idx="206">
                  <c:v>154.61</c:v>
                </c:pt>
                <c:pt idx="207">
                  <c:v>149.59</c:v>
                </c:pt>
                <c:pt idx="208">
                  <c:v>142.94</c:v>
                </c:pt>
                <c:pt idx="209">
                  <c:v>141.38</c:v>
                </c:pt>
                <c:pt idx="210">
                  <c:v>143.82</c:v>
                </c:pt>
                <c:pt idx="211">
                  <c:v>145.8</c:v>
                </c:pt>
                <c:pt idx="212">
                  <c:v>140.78</c:v>
                </c:pt>
                <c:pt idx="213">
                  <c:v>148.84</c:v>
                </c:pt>
                <c:pt idx="214">
                  <c:v>151.32</c:v>
                </c:pt>
                <c:pt idx="215">
                  <c:v>152.55</c:v>
                </c:pt>
                <c:pt idx="216">
                  <c:v>153.96</c:v>
                </c:pt>
                <c:pt idx="217">
                  <c:v>158.03</c:v>
                </c:pt>
                <c:pt idx="218">
                  <c:v>159.46</c:v>
                </c:pt>
                <c:pt idx="219">
                  <c:v>172.57</c:v>
                </c:pt>
                <c:pt idx="220">
                  <c:v>167.68</c:v>
                </c:pt>
                <c:pt idx="221">
                  <c:v>163.28</c:v>
                </c:pt>
                <c:pt idx="222">
                  <c:v>158.83</c:v>
                </c:pt>
                <c:pt idx="223">
                  <c:v>156.9</c:v>
                </c:pt>
                <c:pt idx="224">
                  <c:v>152.55</c:v>
                </c:pt>
                <c:pt idx="225">
                  <c:v>153.75</c:v>
                </c:pt>
                <c:pt idx="226">
                  <c:v>157.75</c:v>
                </c:pt>
                <c:pt idx="227">
                  <c:v>160.72</c:v>
                </c:pt>
                <c:pt idx="228">
                  <c:v>154.26</c:v>
                </c:pt>
                <c:pt idx="229">
                  <c:v>155.65</c:v>
                </c:pt>
                <c:pt idx="230">
                  <c:v>155.14</c:v>
                </c:pt>
                <c:pt idx="231">
                  <c:v>156.38</c:v>
                </c:pt>
                <c:pt idx="232">
                  <c:v>154.2</c:v>
                </c:pt>
                <c:pt idx="233">
                  <c:v>154.9</c:v>
                </c:pt>
                <c:pt idx="234">
                  <c:v>147.89</c:v>
                </c:pt>
                <c:pt idx="235">
                  <c:v>154.54</c:v>
                </c:pt>
                <c:pt idx="236">
                  <c:v>156.64</c:v>
                </c:pt>
                <c:pt idx="237">
                  <c:v>157.52</c:v>
                </c:pt>
                <c:pt idx="238">
                  <c:v>162.93</c:v>
                </c:pt>
                <c:pt idx="239">
                  <c:v>163.43</c:v>
                </c:pt>
                <c:pt idx="240">
                  <c:v>158.01</c:v>
                </c:pt>
                <c:pt idx="241">
                  <c:v>163.54</c:v>
                </c:pt>
                <c:pt idx="242">
                  <c:v>160.18</c:v>
                </c:pt>
                <c:pt idx="243">
                  <c:v>165.55</c:v>
                </c:pt>
                <c:pt idx="244">
                  <c:v>154.7</c:v>
                </c:pt>
                <c:pt idx="245">
                  <c:v>148.01</c:v>
                </c:pt>
                <c:pt idx="246">
                  <c:v>145.74</c:v>
                </c:pt>
                <c:pt idx="247">
                  <c:v>145.74</c:v>
                </c:pt>
                <c:pt idx="248">
                  <c:v>145.09</c:v>
                </c:pt>
                <c:pt idx="249">
                  <c:v>145.63</c:v>
                </c:pt>
                <c:pt idx="250">
                  <c:v>147.18</c:v>
                </c:pt>
                <c:pt idx="251">
                  <c:v>146.06</c:v>
                </c:pt>
                <c:pt idx="252">
                  <c:v>140.48</c:v>
                </c:pt>
                <c:pt idx="253">
                  <c:v>142.11</c:v>
                </c:pt>
                <c:pt idx="254">
                  <c:v>141.68</c:v>
                </c:pt>
                <c:pt idx="255">
                  <c:v>138.86</c:v>
                </c:pt>
                <c:pt idx="256">
                  <c:v>137.09</c:v>
                </c:pt>
                <c:pt idx="257">
                  <c:v>139.58</c:v>
                </c:pt>
                <c:pt idx="258">
                  <c:v>135.47</c:v>
                </c:pt>
                <c:pt idx="259">
                  <c:v>136.14</c:v>
                </c:pt>
                <c:pt idx="260">
                  <c:v>138.49</c:v>
                </c:pt>
                <c:pt idx="261">
                  <c:v>134.98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World Net EUR</c:v>
                </c:pt>
              </c:strCache>
            </c:strRef>
          </c:tx>
          <c:spPr>
            <a:solidFill>
              <a:srgbClr val="9AAAA2"/>
            </a:solidFill>
            <a:ln w="25400" cap="flat">
              <a:solidFill>
                <a:srgbClr val="9AAAA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AA2"/>
              </a:solidFill>
              <a:ln w="9525" cap="flat">
                <a:solidFill>
                  <a:srgbClr val="9AAAA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100</c:v>
                </c:pt>
                <c:pt idx="1">
                  <c:v>101.65</c:v>
                </c:pt>
                <c:pt idx="2">
                  <c:v>101.72</c:v>
                </c:pt>
                <c:pt idx="3">
                  <c:v>101.25</c:v>
                </c:pt>
                <c:pt idx="4">
                  <c:v>103.28</c:v>
                </c:pt>
                <c:pt idx="5">
                  <c:v>102.35</c:v>
                </c:pt>
                <c:pt idx="6">
                  <c:v>104.19</c:v>
                </c:pt>
                <c:pt idx="7">
                  <c:v>104.86</c:v>
                </c:pt>
                <c:pt idx="8">
                  <c:v>104.39</c:v>
                </c:pt>
                <c:pt idx="9">
                  <c:v>105.27</c:v>
                </c:pt>
                <c:pt idx="10">
                  <c:v>105.49</c:v>
                </c:pt>
                <c:pt idx="11">
                  <c:v>104.52</c:v>
                </c:pt>
                <c:pt idx="12">
                  <c:v>104.54</c:v>
                </c:pt>
                <c:pt idx="13">
                  <c:v>104.99</c:v>
                </c:pt>
                <c:pt idx="14">
                  <c:v>103.36</c:v>
                </c:pt>
                <c:pt idx="15">
                  <c:v>104.31</c:v>
                </c:pt>
                <c:pt idx="16">
                  <c:v>106.29</c:v>
                </c:pt>
                <c:pt idx="17">
                  <c:v>107.34</c:v>
                </c:pt>
                <c:pt idx="18">
                  <c:v>108.86</c:v>
                </c:pt>
                <c:pt idx="19">
                  <c:v>111.02</c:v>
                </c:pt>
                <c:pt idx="20">
                  <c:v>111.83</c:v>
                </c:pt>
                <c:pt idx="21">
                  <c:v>112.98</c:v>
                </c:pt>
                <c:pt idx="22">
                  <c:v>109.93</c:v>
                </c:pt>
                <c:pt idx="23">
                  <c:v>108.71</c:v>
                </c:pt>
                <c:pt idx="24">
                  <c:v>112.07</c:v>
                </c:pt>
                <c:pt idx="25">
                  <c:v>110.68</c:v>
                </c:pt>
                <c:pt idx="26">
                  <c:v>112.51</c:v>
                </c:pt>
                <c:pt idx="27">
                  <c:v>112.98</c:v>
                </c:pt>
                <c:pt idx="28">
                  <c:v>111.35</c:v>
                </c:pt>
                <c:pt idx="29">
                  <c:v>110.37</c:v>
                </c:pt>
                <c:pt idx="30">
                  <c:v>106.03</c:v>
                </c:pt>
                <c:pt idx="31">
                  <c:v>107.08</c:v>
                </c:pt>
                <c:pt idx="32">
                  <c:v>106.43</c:v>
                </c:pt>
                <c:pt idx="33">
                  <c:v>106.05</c:v>
                </c:pt>
                <c:pt idx="34">
                  <c:v>104.72</c:v>
                </c:pt>
                <c:pt idx="35">
                  <c:v>105.54</c:v>
                </c:pt>
                <c:pt idx="36">
                  <c:v>105.67</c:v>
                </c:pt>
                <c:pt idx="37">
                  <c:v>103.22</c:v>
                </c:pt>
                <c:pt idx="38">
                  <c:v>108.65</c:v>
                </c:pt>
                <c:pt idx="39">
                  <c:v>110.71</c:v>
                </c:pt>
                <c:pt idx="40">
                  <c:v>110.56</c:v>
                </c:pt>
                <c:pt idx="41">
                  <c:v>110.61</c:v>
                </c:pt>
                <c:pt idx="42">
                  <c:v>109.69</c:v>
                </c:pt>
                <c:pt idx="43">
                  <c:v>106.87</c:v>
                </c:pt>
                <c:pt idx="44">
                  <c:v>105.92</c:v>
                </c:pt>
                <c:pt idx="45">
                  <c:v>104.38</c:v>
                </c:pt>
                <c:pt idx="46">
                  <c:v>104</c:v>
                </c:pt>
                <c:pt idx="47">
                  <c:v>100.73</c:v>
                </c:pt>
                <c:pt idx="48">
                  <c:v>104.83</c:v>
                </c:pt>
                <c:pt idx="49">
                  <c:v>103.87</c:v>
                </c:pt>
                <c:pt idx="50">
                  <c:v>100.55</c:v>
                </c:pt>
                <c:pt idx="51">
                  <c:v>95.31</c:v>
                </c:pt>
                <c:pt idx="52">
                  <c:v>99.62</c:v>
                </c:pt>
                <c:pt idx="53">
                  <c:v>98.82</c:v>
                </c:pt>
                <c:pt idx="54">
                  <c:v>102.69</c:v>
                </c:pt>
                <c:pt idx="55">
                  <c:v>102.26</c:v>
                </c:pt>
                <c:pt idx="56">
                  <c:v>103.99</c:v>
                </c:pt>
                <c:pt idx="57">
                  <c:v>108.12</c:v>
                </c:pt>
                <c:pt idx="58">
                  <c:v>108.7</c:v>
                </c:pt>
                <c:pt idx="59">
                  <c:v>111.15</c:v>
                </c:pt>
                <c:pt idx="60">
                  <c:v>111.57</c:v>
                </c:pt>
                <c:pt idx="61">
                  <c:v>108.14</c:v>
                </c:pt>
                <c:pt idx="62">
                  <c:v>104.5</c:v>
                </c:pt>
                <c:pt idx="63">
                  <c:v>107.49</c:v>
                </c:pt>
                <c:pt idx="64">
                  <c:v>103.08</c:v>
                </c:pt>
                <c:pt idx="65">
                  <c:v>101.13</c:v>
                </c:pt>
                <c:pt idx="66">
                  <c:v>97.81</c:v>
                </c:pt>
                <c:pt idx="67">
                  <c:v>99.55</c:v>
                </c:pt>
                <c:pt idx="68">
                  <c:v>98.19</c:v>
                </c:pt>
                <c:pt idx="69">
                  <c:v>101.3</c:v>
                </c:pt>
                <c:pt idx="70">
                  <c:v>103.75</c:v>
                </c:pt>
                <c:pt idx="71">
                  <c:v>102.15</c:v>
                </c:pt>
                <c:pt idx="72">
                  <c:v>104.43</c:v>
                </c:pt>
                <c:pt idx="73">
                  <c:v>103.55</c:v>
                </c:pt>
                <c:pt idx="74">
                  <c:v>104.86</c:v>
                </c:pt>
                <c:pt idx="75">
                  <c:v>105.36</c:v>
                </c:pt>
                <c:pt idx="76">
                  <c:v>102.02</c:v>
                </c:pt>
                <c:pt idx="77">
                  <c:v>99.16</c:v>
                </c:pt>
                <c:pt idx="78">
                  <c:v>99.16</c:v>
                </c:pt>
                <c:pt idx="79">
                  <c:v>98.55</c:v>
                </c:pt>
                <c:pt idx="80">
                  <c:v>101.01</c:v>
                </c:pt>
                <c:pt idx="81">
                  <c:v>102.12</c:v>
                </c:pt>
                <c:pt idx="82">
                  <c:v>101.73</c:v>
                </c:pt>
                <c:pt idx="83">
                  <c:v>103.91</c:v>
                </c:pt>
                <c:pt idx="84">
                  <c:v>105.06</c:v>
                </c:pt>
                <c:pt idx="85">
                  <c:v>105.47</c:v>
                </c:pt>
                <c:pt idx="86">
                  <c:v>105.5</c:v>
                </c:pt>
                <c:pt idx="87">
                  <c:v>103.95</c:v>
                </c:pt>
                <c:pt idx="88">
                  <c:v>105.4</c:v>
                </c:pt>
                <c:pt idx="89">
                  <c:v>100.76</c:v>
                </c:pt>
                <c:pt idx="90">
                  <c:v>101.15</c:v>
                </c:pt>
                <c:pt idx="91">
                  <c:v>101.45</c:v>
                </c:pt>
                <c:pt idx="92">
                  <c:v>104.29</c:v>
                </c:pt>
                <c:pt idx="93">
                  <c:v>103.73</c:v>
                </c:pt>
                <c:pt idx="94">
                  <c:v>104.27</c:v>
                </c:pt>
                <c:pt idx="95">
                  <c:v>104.51</c:v>
                </c:pt>
                <c:pt idx="96">
                  <c:v>104.43</c:v>
                </c:pt>
                <c:pt idx="97">
                  <c:v>104.28</c:v>
                </c:pt>
                <c:pt idx="98">
                  <c:v>105.27</c:v>
                </c:pt>
                <c:pt idx="99">
                  <c:v>107.33</c:v>
                </c:pt>
                <c:pt idx="100">
                  <c:v>107.63</c:v>
                </c:pt>
                <c:pt idx="101">
                  <c:v>109.2</c:v>
                </c:pt>
                <c:pt idx="102">
                  <c:v>109.37</c:v>
                </c:pt>
                <c:pt idx="103">
                  <c:v>110.58</c:v>
                </c:pt>
                <c:pt idx="104">
                  <c:v>108.79</c:v>
                </c:pt>
                <c:pt idx="105">
                  <c:v>110.94</c:v>
                </c:pt>
                <c:pt idx="106">
                  <c:v>108.99</c:v>
                </c:pt>
                <c:pt idx="107">
                  <c:v>109.57</c:v>
                </c:pt>
                <c:pt idx="108">
                  <c:v>111.24</c:v>
                </c:pt>
                <c:pt idx="109">
                  <c:v>113.13</c:v>
                </c:pt>
                <c:pt idx="110">
                  <c:v>110.64</c:v>
                </c:pt>
                <c:pt idx="111">
                  <c:v>110.69</c:v>
                </c:pt>
                <c:pt idx="112">
                  <c:v>108.92</c:v>
                </c:pt>
                <c:pt idx="113">
                  <c:v>110.53</c:v>
                </c:pt>
                <c:pt idx="114">
                  <c:v>113.13</c:v>
                </c:pt>
                <c:pt idx="115">
                  <c:v>112.58</c:v>
                </c:pt>
                <c:pt idx="116">
                  <c:v>113.59</c:v>
                </c:pt>
                <c:pt idx="117">
                  <c:v>110.58</c:v>
                </c:pt>
                <c:pt idx="118">
                  <c:v>110.37</c:v>
                </c:pt>
                <c:pt idx="119">
                  <c:v>110.59</c:v>
                </c:pt>
                <c:pt idx="120">
                  <c:v>111.64</c:v>
                </c:pt>
                <c:pt idx="121">
                  <c:v>108.01</c:v>
                </c:pt>
                <c:pt idx="122">
                  <c:v>105.82</c:v>
                </c:pt>
                <c:pt idx="123">
                  <c:v>110.11</c:v>
                </c:pt>
                <c:pt idx="124">
                  <c:v>111.45</c:v>
                </c:pt>
                <c:pt idx="125">
                  <c:v>112.48</c:v>
                </c:pt>
                <c:pt idx="126">
                  <c:v>113.09</c:v>
                </c:pt>
                <c:pt idx="127">
                  <c:v>115.18</c:v>
                </c:pt>
                <c:pt idx="128">
                  <c:v>116.17</c:v>
                </c:pt>
                <c:pt idx="129">
                  <c:v>117.6</c:v>
                </c:pt>
                <c:pt idx="130">
                  <c:v>117.55</c:v>
                </c:pt>
                <c:pt idx="131">
                  <c:v>117.86</c:v>
                </c:pt>
                <c:pt idx="132">
                  <c:v>116.78</c:v>
                </c:pt>
                <c:pt idx="133">
                  <c:v>118.73</c:v>
                </c:pt>
                <c:pt idx="134">
                  <c:v>119.91</c:v>
                </c:pt>
                <c:pt idx="135">
                  <c:v>121.69</c:v>
                </c:pt>
                <c:pt idx="136">
                  <c:v>123.59</c:v>
                </c:pt>
                <c:pt idx="137">
                  <c:v>125.08</c:v>
                </c:pt>
                <c:pt idx="138">
                  <c:v>125.45</c:v>
                </c:pt>
                <c:pt idx="139">
                  <c:v>126.75</c:v>
                </c:pt>
                <c:pt idx="140">
                  <c:v>127.77</c:v>
                </c:pt>
                <c:pt idx="141">
                  <c:v>126.99</c:v>
                </c:pt>
                <c:pt idx="142">
                  <c:v>127.23</c:v>
                </c:pt>
                <c:pt idx="143">
                  <c:v>130.6</c:v>
                </c:pt>
                <c:pt idx="144">
                  <c:v>131.25</c:v>
                </c:pt>
                <c:pt idx="145">
                  <c:v>129.7</c:v>
                </c:pt>
                <c:pt idx="146">
                  <c:v>130.05</c:v>
                </c:pt>
                <c:pt idx="147">
                  <c:v>125.9</c:v>
                </c:pt>
                <c:pt idx="148">
                  <c:v>128.92</c:v>
                </c:pt>
                <c:pt idx="149">
                  <c:v>128.93</c:v>
                </c:pt>
                <c:pt idx="150">
                  <c:v>131.31</c:v>
                </c:pt>
                <c:pt idx="151">
                  <c:v>132.05</c:v>
                </c:pt>
                <c:pt idx="152">
                  <c:v>132.06</c:v>
                </c:pt>
                <c:pt idx="153">
                  <c:v>131.34</c:v>
                </c:pt>
                <c:pt idx="154">
                  <c:v>133.2</c:v>
                </c:pt>
                <c:pt idx="155">
                  <c:v>135.3</c:v>
                </c:pt>
                <c:pt idx="156">
                  <c:v>136</c:v>
                </c:pt>
                <c:pt idx="157">
                  <c:v>135.74</c:v>
                </c:pt>
                <c:pt idx="158">
                  <c:v>137.07</c:v>
                </c:pt>
                <c:pt idx="159">
                  <c:v>137.79</c:v>
                </c:pt>
                <c:pt idx="160">
                  <c:v>135.24</c:v>
                </c:pt>
                <c:pt idx="161">
                  <c:v>134.55</c:v>
                </c:pt>
                <c:pt idx="162">
                  <c:v>130.89</c:v>
                </c:pt>
                <c:pt idx="163">
                  <c:v>130.88</c:v>
                </c:pt>
                <c:pt idx="164">
                  <c:v>135.29</c:v>
                </c:pt>
                <c:pt idx="165">
                  <c:v>135.47</c:v>
                </c:pt>
                <c:pt idx="166">
                  <c:v>137.28</c:v>
                </c:pt>
                <c:pt idx="167">
                  <c:v>131.36</c:v>
                </c:pt>
                <c:pt idx="168">
                  <c:v>136.13</c:v>
                </c:pt>
                <c:pt idx="169">
                  <c:v>137.06</c:v>
                </c:pt>
                <c:pt idx="170">
                  <c:v>138.55</c:v>
                </c:pt>
                <c:pt idx="171">
                  <c:v>140.15</c:v>
                </c:pt>
                <c:pt idx="172">
                  <c:v>141.77</c:v>
                </c:pt>
                <c:pt idx="173">
                  <c:v>143.72</c:v>
                </c:pt>
                <c:pt idx="174">
                  <c:v>142.27</c:v>
                </c:pt>
                <c:pt idx="175">
                  <c:v>140.3</c:v>
                </c:pt>
                <c:pt idx="176">
                  <c:v>146.72</c:v>
                </c:pt>
                <c:pt idx="177">
                  <c:v>146.56</c:v>
                </c:pt>
                <c:pt idx="178">
                  <c:v>150.59</c:v>
                </c:pt>
                <c:pt idx="179">
                  <c:v>150.19</c:v>
                </c:pt>
                <c:pt idx="180">
                  <c:v>151.97</c:v>
                </c:pt>
                <c:pt idx="181">
                  <c:v>151.58</c:v>
                </c:pt>
                <c:pt idx="182">
                  <c:v>149.15</c:v>
                </c:pt>
                <c:pt idx="183">
                  <c:v>150.12</c:v>
                </c:pt>
                <c:pt idx="184">
                  <c:v>151.37</c:v>
                </c:pt>
                <c:pt idx="185">
                  <c:v>149.57</c:v>
                </c:pt>
                <c:pt idx="186">
                  <c:v>152.87</c:v>
                </c:pt>
                <c:pt idx="187">
                  <c:v>152.86</c:v>
                </c:pt>
                <c:pt idx="188">
                  <c:v>153.86</c:v>
                </c:pt>
                <c:pt idx="189">
                  <c:v>154.48</c:v>
                </c:pt>
                <c:pt idx="190">
                  <c:v>154.75</c:v>
                </c:pt>
                <c:pt idx="191">
                  <c:v>153.36</c:v>
                </c:pt>
                <c:pt idx="192">
                  <c:v>152.69</c:v>
                </c:pt>
                <c:pt idx="193">
                  <c:v>143.65</c:v>
                </c:pt>
                <c:pt idx="194">
                  <c:v>140.81</c:v>
                </c:pt>
                <c:pt idx="195">
                  <c:v>142.61</c:v>
                </c:pt>
                <c:pt idx="196">
                  <c:v>140.41</c:v>
                </c:pt>
                <c:pt idx="197">
                  <c:v>126.6</c:v>
                </c:pt>
                <c:pt idx="198">
                  <c:v>128.09</c:v>
                </c:pt>
                <c:pt idx="199">
                  <c:v>128.15</c:v>
                </c:pt>
                <c:pt idx="200">
                  <c:v>133.26</c:v>
                </c:pt>
                <c:pt idx="201">
                  <c:v>137.2</c:v>
                </c:pt>
                <c:pt idx="202">
                  <c:v>138.02</c:v>
                </c:pt>
                <c:pt idx="203">
                  <c:v>145.22</c:v>
                </c:pt>
                <c:pt idx="204">
                  <c:v>140.63</c:v>
                </c:pt>
                <c:pt idx="205">
                  <c:v>142.82</c:v>
                </c:pt>
                <c:pt idx="206">
                  <c:v>144.29</c:v>
                </c:pt>
                <c:pt idx="207">
                  <c:v>141.88</c:v>
                </c:pt>
                <c:pt idx="208">
                  <c:v>141.56</c:v>
                </c:pt>
                <c:pt idx="209">
                  <c:v>143.7</c:v>
                </c:pt>
                <c:pt idx="210">
                  <c:v>144.86</c:v>
                </c:pt>
                <c:pt idx="211">
                  <c:v>145.41</c:v>
                </c:pt>
                <c:pt idx="212">
                  <c:v>146.68</c:v>
                </c:pt>
                <c:pt idx="213">
                  <c:v>147.87</c:v>
                </c:pt>
                <c:pt idx="214">
                  <c:v>146.33</c:v>
                </c:pt>
                <c:pt idx="215">
                  <c:v>148.78</c:v>
                </c:pt>
                <c:pt idx="216">
                  <c:v>149.9</c:v>
                </c:pt>
                <c:pt idx="217">
                  <c:v>150.52</c:v>
                </c:pt>
                <c:pt idx="218">
                  <c:v>150.18</c:v>
                </c:pt>
                <c:pt idx="219">
                  <c:v>150.3</c:v>
                </c:pt>
                <c:pt idx="220">
                  <c:v>152.65</c:v>
                </c:pt>
                <c:pt idx="221">
                  <c:v>153.75</c:v>
                </c:pt>
                <c:pt idx="222">
                  <c:v>154</c:v>
                </c:pt>
                <c:pt idx="223">
                  <c:v>155.65</c:v>
                </c:pt>
                <c:pt idx="224">
                  <c:v>154.21</c:v>
                </c:pt>
                <c:pt idx="225">
                  <c:v>155.19</c:v>
                </c:pt>
                <c:pt idx="226">
                  <c:v>158.47</c:v>
                </c:pt>
                <c:pt idx="227">
                  <c:v>160.34</c:v>
                </c:pt>
                <c:pt idx="228">
                  <c:v>157.57</c:v>
                </c:pt>
                <c:pt idx="229">
                  <c:v>157.75</c:v>
                </c:pt>
                <c:pt idx="230">
                  <c:v>155.62</c:v>
                </c:pt>
                <c:pt idx="231">
                  <c:v>159.91</c:v>
                </c:pt>
                <c:pt idx="232">
                  <c:v>160.1</c:v>
                </c:pt>
                <c:pt idx="233">
                  <c:v>158.5</c:v>
                </c:pt>
                <c:pt idx="234">
                  <c:v>159.12</c:v>
                </c:pt>
                <c:pt idx="235">
                  <c:v>160.36</c:v>
                </c:pt>
                <c:pt idx="236">
                  <c:v>159.74</c:v>
                </c:pt>
                <c:pt idx="237">
                  <c:v>163.66</c:v>
                </c:pt>
                <c:pt idx="238">
                  <c:v>164.49</c:v>
                </c:pt>
                <c:pt idx="239">
                  <c:v>161.87</c:v>
                </c:pt>
                <c:pt idx="240">
                  <c:v>160.78</c:v>
                </c:pt>
                <c:pt idx="241">
                  <c:v>161.89</c:v>
                </c:pt>
                <c:pt idx="242">
                  <c:v>160.84</c:v>
                </c:pt>
                <c:pt idx="243">
                  <c:v>163.37</c:v>
                </c:pt>
                <c:pt idx="244">
                  <c:v>163.19</c:v>
                </c:pt>
                <c:pt idx="245">
                  <c:v>160.99</c:v>
                </c:pt>
                <c:pt idx="246">
                  <c:v>160.1</c:v>
                </c:pt>
                <c:pt idx="247">
                  <c:v>155.6</c:v>
                </c:pt>
                <c:pt idx="248">
                  <c:v>153.66</c:v>
                </c:pt>
                <c:pt idx="249">
                  <c:v>158.32</c:v>
                </c:pt>
                <c:pt idx="250">
                  <c:v>161.68</c:v>
                </c:pt>
                <c:pt idx="251">
                  <c:v>166.87</c:v>
                </c:pt>
                <c:pt idx="252">
                  <c:v>167.84</c:v>
                </c:pt>
                <c:pt idx="253">
                  <c:v>168.5</c:v>
                </c:pt>
                <c:pt idx="254">
                  <c:v>171.47</c:v>
                </c:pt>
                <c:pt idx="255">
                  <c:v>173.12</c:v>
                </c:pt>
                <c:pt idx="256">
                  <c:v>175.85</c:v>
                </c:pt>
                <c:pt idx="257">
                  <c:v>177.13</c:v>
                </c:pt>
                <c:pt idx="258">
                  <c:v>174.88</c:v>
                </c:pt>
                <c:pt idx="259">
                  <c:v>175.86</c:v>
                </c:pt>
                <c:pt idx="260">
                  <c:v>178.96</c:v>
                </c:pt>
                <c:pt idx="261">
                  <c:v>177.04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00"/>
          <c:min val="80"/>
        </c:scaling>
        <c:delete val="0"/>
        <c:axPos val="l"/>
        <c:majorGridlines>
          <c:spPr>
            <a:ln w="6350" cap="flat">
              <a:solidFill>
                <a:srgbClr val="D5DB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Nippon Steel (Tokyo Stock Exchange: 5401)  ·  Noah Doose  ·  Student research, not investment advice  ·  Data as of 29 Oct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chart" Target="/ppt/charts/chart19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7EBE2"/>
                </a:solidFill>
              </a:rPr>
              <a:t>STOCK PITCH  ·  SYSTEMATIC VALUE PORTFOLIO  ·  29 OCTOBER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Nippon Steel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BE"/>
                </a:solidFill>
              </a:rPr>
              <a:t>Tokyo Stock Exchange: 5401  ·  Materials / Steel  ·  Japan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Priced as a declining Japanese steelmaker; becoming a global producer with overseas profit set to more than double</a:t>
            </a:r>
            <a:endParaRPr lang="en-US" sz="2000" dirty="0"/>
          </a:p>
        </p:txBody>
      </p:sp>
      <p:sp>
        <p:nvSpPr>
          <p:cNvPr id="6" name="rating card"/>
          <p:cNvSpPr/>
          <p:nvPr/>
        </p:nvSpPr>
        <p:spPr>
          <a:xfrm>
            <a:off x="8138160" y="960120"/>
            <a:ext cx="3504895" cy="3154680"/>
          </a:xfrm>
          <a:prstGeom prst="roundRect">
            <a:avLst>
              <a:gd name="adj" fmla="val 2319"/>
            </a:avLst>
          </a:prstGeom>
          <a:solidFill>
            <a:srgbClr val="2A322E"/>
          </a:solidFill>
          <a:ln w="9525">
            <a:solidFill>
              <a:srgbClr val="3A4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2344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OVERWEIGHT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378440" y="1234440"/>
            <a:ext cx="1127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Medium conviction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Price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0" y="182880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¥659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Target (base case)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33172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¥916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Upside / downside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283464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FD1AE"/>
                </a:solidFill>
              </a:rPr>
              <a:t>+39%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Horizon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333756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2-3 years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85616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Price: close, 29 Oct 2026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¥3.43tn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Market cap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22244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0.54x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322244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P/B (third-party)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≥ ¥700bn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095848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FY26 underlying profit guide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869451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3.6%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869451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Yield on ¥24 floor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Noah Doose  ·  MSc Financial Markets &amp; Investments, SKEMA Business School  ·  Student research for educational purposes, not investment advice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 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Priced as a declining Japanese steelmaker; becoming a global producer with overseas profit set to more than double</a:t>
            </a:r>
            <a:endParaRPr lang="en-US" sz="2600" dirty="0"/>
          </a:p>
        </p:txBody>
      </p:sp>
      <p:sp>
        <p:nvSpPr>
          <p:cNvPr id="4" name="view panel"/>
          <p:cNvSpPr/>
          <p:nvPr/>
        </p:nvSpPr>
        <p:spPr>
          <a:xfrm>
            <a:off x="548640" y="1691640"/>
            <a:ext cx="3657600" cy="420624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OVERWEIGHT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17"/>
                </a:solidFill>
              </a:rPr>
              <a:t>¥916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</a:rPr>
              <a:t>base-case value, +39% vs ¥659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Nippon Steel trades at about 0.54x book. The market sees a domestic steelmaker hit by Chinese exports. We see a group whose overseas profit is guided from ¥123bn to ¥320bn in one year, led by U.S. Steel behind US tariffs, with permanent financing in place and a ¥24 minimum dividend.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Overseas profit is about to more than double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075688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Overseas steel and raw materials made ¥123bn of underlying business profit in FY2025; the FY2026 forecast is ¥320bn. U.S. Steel alone swings from a ¥6bn loss to at least ¥180bn.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317296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3127248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The domestic base is restructured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511296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Kashima upstream closure and contract-price reform cut the domestic break-even by 40%. The H2 FY2026 run-rate target was raised to at least ¥900bn of annualised underlying profit.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4608576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4562856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Financing risk is gone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946904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¥600bn of convertible bonds, a ¥500bn hybrid loan and ¥900bn of JBIC-led loans refinanced the U.S. Steel bridge loan by March 2026. The 2030 plan sets a ¥24 minimum dividend and a D/E target of about 0.7.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02  COMPANY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Nippon Steel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Domestic steel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Japan's largest integrated steelmaker: ¥528bn of underlying business profit in FY2025, restructured.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U.S. Steel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4495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100% owned since June 2025 (~$14.9bn), under a National Security Agreement with a US golden share.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India and other overseas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965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AM/NS India JV with ArcelorMittal (capacity 9 to 15 Mt/yr), Thai and ASEAN operations, Ovako, Nippon Steel Slovakia.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Raw materials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4807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Coking coal interests: a partial hedge on input costs.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766560" y="1645920"/>
          <a:ext cx="48764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filings; Underlying business profit (¥bn): FY2025 actual vs FY2026 forecast (FY2026 domestic derived as total guide minus overseas guide)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03  INDUSTRY AND MACRO BACKDROP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moves the stock beyond the company</a:t>
            </a:r>
            <a:endParaRPr lang="en-US" sz="2600" dirty="0"/>
          </a:p>
        </p:txBody>
      </p:sp>
      <p:sp>
        <p:nvSpPr>
          <p:cNvPr id="4" name="macro card 1"/>
          <p:cNvSpPr/>
          <p:nvPr/>
        </p:nvSpPr>
        <p:spPr>
          <a:xfrm>
            <a:off x="548640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~119 Mt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Chinese steel exports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Record in 2025 per the company: the main pressure on Asian spreads.</a:t>
            </a:r>
            <a:endParaRPr lang="en-US" sz="1300" dirty="0"/>
          </a:p>
        </p:txBody>
      </p:sp>
      <p:sp>
        <p:nvSpPr>
          <p:cNvPr id="8" name="macro card 2"/>
          <p:cNvSpPr/>
          <p:nvPr/>
        </p:nvSpPr>
        <p:spPr>
          <a:xfrm>
            <a:off x="6278728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Section 232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9021928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US steel tariffs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Protect U.S. Steel's pricing; the investment case leans on them.</a:t>
            </a:r>
            <a:endParaRPr lang="en-US" sz="1300" dirty="0"/>
          </a:p>
        </p:txBody>
      </p:sp>
      <p:sp>
        <p:nvSpPr>
          <p:cNvPr id="12" name="macro card 3"/>
          <p:cNvSpPr/>
          <p:nvPr/>
        </p:nvSpPr>
        <p:spPr>
          <a:xfrm>
            <a:off x="548640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¥160/$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Yen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FY2026 assumption: a weak yen lifts overseas profits in yen and inventory valuation gains (¥80bn).</a:t>
            </a:r>
            <a:endParaRPr lang="en-US" sz="1300" dirty="0"/>
          </a:p>
        </p:txBody>
      </p:sp>
      <p:sp>
        <p:nvSpPr>
          <p:cNvPr id="16" name="macro card 4"/>
          <p:cNvSpPr/>
          <p:nvPr/>
        </p:nvSpPr>
        <p:spPr>
          <a:xfrm>
            <a:off x="6278728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3048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−¥60bn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021928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Middle East costs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FY2026 impact from raw materials, fuel, logistics and lost exports, absorbed in the guide.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releases and research brief (see Sources slide)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 WHY THE SYSTEMATIC SCREEN PICKED 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Ranked 1 of 62 in Materials on our value score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92240" y="1645920"/>
          <a:ext cx="5150815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92240" y="4251960"/>
            <a:ext cx="5150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322E"/>
                </a:solidFill>
              </a:rPr>
              <a:t>Composite score 2.12, first of 62 in its sector. </a:t>
            </a:r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The score averages the z-scores above (four ratios as yields). Accounts are used only from fiscal year end + 6 months, so in December 2025 the screen read the accounts for the fiscal year ended March 2025.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Portfolio Project pipeline (Bloomberg data); peers: ArcelorMittal, Nucor, Steel Dynamics (pipeline peer set); JFE, POSCO, Kobe Steel for regional context.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05  TRACK RECORD IN THE PORTFOLIO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Held at 2 of 10 rebalances since June 2025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69164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23A2E"/>
                </a:solidFill>
              </a:rPr>
              <a:t>−14.1%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24028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H1 2026 return (EUR)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74320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+10.8%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29184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MSCI World Net EUR, H1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79476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2.0%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3434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Weight, equal weight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84632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2.0% / 4.0%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539496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Min-variance / mean-variance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pipeline weekly total returns (EUR, net of withholding tax) and portfolio weights at the 31 Dec 2025 rebalance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06  FINANCIAL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Reported numbers and guidance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828800"/>
                <a:gridCol w="182880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FY2026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 guide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¥8,696bn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¥10,063bn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¥2,821bn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¥11,200bn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Underlying business profit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¥794bn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¥650bn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¥108bn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¥700bn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 which U.S. Steel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−¥6bn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¥32bn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¥180bn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to owners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¥17bn*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¥75bn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¥290bn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 (post-split)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 (post-split)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¥24 (minimum)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4690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*After ¥271bn of impairments and transfer losses (AM/NS Calvert, Usiminas). Fiscal year ends 31 March (FY2025 = Apr 2025-Mar 2026). Per-share data after the five-for-one split. Sources: Nippon Steel FY2025 and Q1 FY2026 materials.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07  VARIANT PERCEPTION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Where we differ from the market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660"/>
                </a:solidFill>
              </a:rPr>
              <a:t>WHAT THE MARKET BELIEVES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78728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6B4F"/>
                </a:solidFill>
              </a:rPr>
              <a:t>OUR 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“Chinese steel exports will keep crushing spreads”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205740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205740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They hit the domestic business, which is why we focus on overseas: U.S. Steel sells behind Section 232 tariffs and India grows with local demand.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9852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9852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“U.S. Steel was overpriced and is politically constrained”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8728" y="339852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339852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The golden share limits closures, but FY2026 guidance already assumes U.S. Steel at ≥ ¥180bn after the Gary relining.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3964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73964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“The balance sheet is stretched”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473964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7328" y="473964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Adjusted D/E is 0.71 and the debt is now long-dated; the CEO calls ~1.0 acceptable during heavy investment.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08  VALUATION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Base-case value ¥916 per share, +39% vs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4F"/>
                </a:solidFill>
              </a:rPr>
              <a:t>Method: Price to book against the return path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123444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inputs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/ share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price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0.45x book (¥1,221 BVPS)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Steel turnaround stalls; equity raise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0.75x book (¥1,221 BVPS)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 guide delivered; H2 run-rate ≥ ¥900bn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¥916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0.95x book (¥1,221 BVPS)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 for ≥ ¥1tn and ROE ~10% by FY2030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¥1,160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5488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A322E"/>
                </a:solidFill>
              </a:rPr>
              <a:t>Steelmakers trade on book value adjusted for returns. The 2030 plan targets ROE of about 10%, which would justify roughly 1x book; FY2025 ROE was 0.3%. We apply 0.45x (no recovery), 0.75x (FY2026 guide delivered) and 0.95x (path to the 2030 plan) to book value per share implied by the 0.54x third-party P/B.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17"/>
                </a:solidFill>
              </a:rPr>
              <a:t>Valuation range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240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52-week range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82862" y="2542032"/>
            <a:ext cx="929291" cy="310896"/>
          </a:xfrm>
          <a:prstGeom prst="rect">
            <a:avLst/>
          </a:prstGeom>
          <a:solidFill>
            <a:srgbClr val="9AAAA2"/>
          </a:solidFill>
          <a:ln w="12700">
            <a:solidFill>
              <a:srgbClr val="9AAAA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¥531 - ¥719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19031" y="247802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86227" y="247802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7406640" y="3200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Scenario range (bear - bull)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75939" y="3502152"/>
            <a:ext cx="3017081" cy="310896"/>
          </a:xfrm>
          <a:prstGeom prst="rect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3840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¥549 - ¥1,160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619031" y="343814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86227" y="343814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7796071" y="4114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17"/>
                </a:solidFill>
              </a:rPr>
              <a:t>│ Price ¥659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063267" y="4389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B4F"/>
                </a:solidFill>
              </a:rPr>
              <a:t>┆ Base case ¥916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own valuation; 52-week range and consensus from third-party data (29 Oct 2026)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09  CATALYSTS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could move the stock in the next 12-18 months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395728"/>
            <a:ext cx="10728655" cy="0"/>
          </a:xfrm>
          <a:prstGeom prst="line">
            <a:avLst/>
          </a:prstGeom>
          <a:noFill/>
          <a:ln w="25400">
            <a:solidFill>
              <a:srgbClr val="D5D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Early Nov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H1 FY2026 results: does H1 underlying profit reach ¥250bn?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58963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7523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H2 FY2026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67523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Gary furnace back from relining; Big River 2 ramp-up; Nagoya hot strip mill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7846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6406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FY2026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6406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Asset sales of at least ¥100bn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96729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05289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May 2027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05289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FY2026 results and first FY2027 forecast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15612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24172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2026-2028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24172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Remaining ~$7bn of the $11bn US investment programme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94415" cy="86868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006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4F"/>
                </a:solidFill>
              </a:rPr>
              <a:t>The number to watch: </a:t>
            </a:r>
            <a:pPr indent="0" marL="0">
              <a:buNone/>
            </a:pPr>
            <a:r>
              <a:rPr lang="en-US" sz="1500" dirty="0">
                <a:solidFill>
                  <a:srgbClr val="141A17"/>
                </a:solidFill>
              </a:rPr>
              <a:t>H2 FY2026 underlying profit annualising well below ¥900bn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10  RISKS AND SELL DISCIPLINE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Risks, mitigants and what would make us sell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2004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Steel execution and capex overrun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Tariff protection; $0.3bn synergies in FY2026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Leverage and convertible dilution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Long-dated financing; ¥730+ conversion prices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Chinese oversupply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Domestic cost base reset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flattered by yen and inventory gains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case on operating run-rate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962095" cy="4160520"/>
          </a:xfrm>
          <a:prstGeom prst="rect">
            <a:avLst/>
          </a:prstGeom>
          <a:solidFill>
            <a:srgbClr val="FBEDEB"/>
          </a:solidFill>
          <a:ln w="12700">
            <a:solidFill>
              <a:srgbClr val="F2C9C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8745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2E"/>
                </a:solidFill>
              </a:rPr>
              <a:t>WE SELL IF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286000"/>
            <a:ext cx="34134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H2 FY2026 underlying profit annualising well below ¥900bn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U.S. Steel profit falling back toward zero, or D/E above ~1.0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A cut to the ¥24 minimum dividend or further overseas impairments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11  SOURCES AND DISCLOSURES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[N1] Nippon Steel Corp., "Q1 FY2026 Financial Results" (presentation), 4 Aug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[N2] Nippon Steel Corp., "FY2025 Financial Results" (presentation), 13 May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[N3] Nippon Steel Corp., IR presentation for individual investors, 23 Jun 2026 (not read in full)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[N4] Nippon Steel Corp., 2030 Medium- to Long-term Management Plan, 12 Dec 2025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[N5] Nippon Steel newsroom 2026 (press releases index)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[N6] Hunton Andrews Kurth, "Nippon Steel Completes Acquisition of US Steel Under National Security Agreement", Jun 2025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[N7] BusinessDay / Reuters (K. Golubkova), "Nippon Steel plans Japan's biggest convertible bond offer yet", 24 Feb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87288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[N8] MarketScreener, Nippon Steel quotes and valuation pages (close 29 Oct 2026, 52-week range, market cap, multiples)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[N9] SteelOrbis, "Nippon Steel to strengthen European and specialty steel operations with new strategic moves", May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[N10] SteelOrbis, "Nippon Steel swings to net profit in Q1 FY 2026-27…", 4 Aug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[N11] GMK Center, "Nippon Steel increased steel production by 27.5% y/y in FY2025/2026", 14 May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[N12] GMK Center, "Nippon Steel to raise $5.6 billion to finance deal with U.S. Steel", 3 Jul 2025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Portfolio Project pipeline: scores, multiples, weights and returns computed from Bloomberg data extracted on the SKEMA terminal (Oct 2026).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</a:rPr>
              <a:t>Disclosure: student research prepared for educational purposes and job interviews. It is not investment advice or a solicitation. Third-party market data (prices, consensus, forward multiples) is labelled and was accessed on 29 October 2026; third-party figures should be checked against company filings or a Bloomberg terminal before use. Backtest results are hypothetical.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Ledger">
  <a:themeElements>
    <a:clrScheme name="Research Ledger">
      <a:dk1>
        <a:srgbClr val="141A17"/>
      </a:dk1>
      <a:lt1>
        <a:srgbClr val="FFFFFF"/>
      </a:lt1>
      <a:dk2>
        <a:srgbClr val="5B6660"/>
      </a:dk2>
      <a:lt2>
        <a:srgbClr val="F2F4F1"/>
      </a:lt2>
      <a:accent1>
        <a:srgbClr val="0E6B4F"/>
      </a:accent1>
      <a:accent2>
        <a:srgbClr val="D7EBE2"/>
      </a:accent2>
      <a:accent3>
        <a:srgbClr val="B23A2E"/>
      </a:accent3>
      <a:accent4>
        <a:srgbClr val="B07A12"/>
      </a:accent4>
      <a:accent5>
        <a:srgbClr val="9AAAA2"/>
      </a:accent5>
      <a:accent6>
        <a:srgbClr val="D5DBD6"/>
      </a:accent6>
      <a:hlink>
        <a:srgbClr val="0E6B4F"/>
      </a:hlink>
      <a:folHlink>
        <a:srgbClr val="5B6660"/>
      </a:folHlink>
    </a:clrScheme>
    <a:fontScheme name="Research Ledg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Noah Doose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Nippon Steel stock pitch</dc:title>
  <dc:subject>PptxGenJS Presentation</dc:subject>
  <dc:creator>Noah Doose</dc:creator>
  <cp:lastModifiedBy>Noah Doose</cp:lastModifiedBy>
  <cp:revision>1</cp:revision>
  <dcterms:created xsi:type="dcterms:W3CDTF">2026-10-30T06:38:33Z</dcterms:created>
  <dcterms:modified xsi:type="dcterms:W3CDTF">2026-10-30T06:38:33Z</dcterms:modified>
</cp:coreProperties>
</file>